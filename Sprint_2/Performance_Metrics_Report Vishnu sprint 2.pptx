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3D1D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C3D1D"/>
                </a:solidFill>
                <a:latin typeface="Arial"/>
              </a:rPr>
              <a:t>Sales Range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3D1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Min Sales</c:v>
                </c:pt>
                <c:pt idx="1">
                  <c:v>Avg Sales</c:v>
                </c:pt>
                <c:pt idx="2">
                  <c:v>Max Sales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2559</c:v>
                </c:pt>
                <c:pt idx="2">
                  <c:v>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B7-45CA-92FE-BD9DD38C4E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5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3D1D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C3D1D"/>
                </a:solidFill>
                <a:latin typeface="Arial"/>
              </a:rPr>
              <a:t>Profit Range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(₹)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3D1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Min Profit</c:v>
                </c:pt>
                <c:pt idx="1">
                  <c:v>Avg Profit</c:v>
                </c:pt>
                <c:pt idx="2">
                  <c:v>Max 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448</c:v>
                </c:pt>
                <c:pt idx="2">
                  <c:v>1487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A7-4C8A-B062-E150C9C4A0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5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3D1D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C3D1D"/>
                </a:solidFill>
                <a:latin typeface="Arial"/>
              </a:rPr>
              <a:t>Sales Distribution (%)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1A-4406-8CCD-C18C426AF5A2}"/>
              </c:ext>
            </c:extLst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1A-4406-8CCD-C18C426AF5A2}"/>
              </c:ext>
            </c:extLst>
          </c:dPt>
          <c:dPt>
            <c:idx val="2"/>
            <c:bubble3D val="0"/>
            <c:spPr>
              <a:solidFill>
                <a:srgbClr val="5E8C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1A-4406-8CCD-C18C426AF5A2}"/>
              </c:ext>
            </c:extLst>
          </c:dPt>
          <c:dPt>
            <c:idx val="3"/>
            <c:bubble3D val="0"/>
            <c:spPr>
              <a:solidFill>
                <a:srgbClr val="BFD8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1A-4406-8CCD-C18C426AF5A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31A-4406-8CCD-C18C426AF5A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1A-4406-8CCD-C18C426AF5A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1A-4406-8CCD-C18C426AF5A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31A-4406-8CCD-C18C426AF5A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27</c:v>
                </c:pt>
                <c:pt idx="2">
                  <c:v>18</c:v>
                </c:pt>
                <c:pt idx="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1A-4406-8CCD-C18C426AF5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7F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3D1D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C3D1D"/>
                </a:solidFill>
                <a:latin typeface="Arial"/>
              </a:rPr>
              <a:t>Sales Volume by Region (₹ L)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Volume (₹ L)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3D1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11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C6-443E-94F0-C681B890C9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5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3D1D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C3D1D"/>
                </a:solidFill>
                <a:latin typeface="Arial"/>
              </a:rPr>
              <a:t>Profit Share by Region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684-4701-A7BB-BAC3F6FD91C3}"/>
              </c:ext>
            </c:extLst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84-4701-A7BB-BAC3F6FD91C3}"/>
              </c:ext>
            </c:extLst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84-4701-A7BB-BAC3F6FD91C3}"/>
              </c:ext>
            </c:extLst>
          </c:dPt>
          <c:dPt>
            <c:idx val="3"/>
            <c:bubble3D val="0"/>
            <c:spPr>
              <a:solidFill>
                <a:srgbClr val="5E8C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684-4701-A7BB-BAC3F6FD91C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684-4701-A7BB-BAC3F6FD91C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684-4701-A7BB-BAC3F6FD91C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684-4701-A7BB-BAC3F6FD91C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684-4701-A7BB-BAC3F6FD91C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28</c:v>
                </c:pt>
                <c:pt idx="2">
                  <c:v>17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684-4701-A7BB-BAC3F6FD9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7F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 L)</c:v>
                </c:pt>
              </c:strCache>
            </c:strRef>
          </c:tx>
          <c:spPr>
            <a:ln w="38100" cap="flat">
              <a:solidFill>
                <a:srgbClr val="2C5F2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28.5</c:v>
                </c:pt>
                <c:pt idx="1">
                  <c:v>22.3</c:v>
                </c:pt>
                <c:pt idx="2">
                  <c:v>31.1</c:v>
                </c:pt>
                <c:pt idx="3">
                  <c:v>26.6</c:v>
                </c:pt>
                <c:pt idx="4">
                  <c:v>35</c:v>
                </c:pt>
                <c:pt idx="5">
                  <c:v>30.2</c:v>
                </c:pt>
                <c:pt idx="6">
                  <c:v>33.700000000000003</c:v>
                </c:pt>
                <c:pt idx="7">
                  <c:v>29</c:v>
                </c:pt>
                <c:pt idx="8">
                  <c:v>38.5</c:v>
                </c:pt>
                <c:pt idx="9">
                  <c:v>34</c:v>
                </c:pt>
                <c:pt idx="10">
                  <c:v>42.5</c:v>
                </c:pt>
                <c:pt idx="11">
                  <c:v>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68A-4910-B27C-FADAE2D376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5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514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hart" Target="../charts/chart3.xm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114800" cy="4114800"/>
          </a:xfrm>
          <a:prstGeom prst="ellipse">
            <a:avLst/>
          </a:prstGeom>
          <a:solidFill>
            <a:srgbClr val="97BC62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2926080"/>
            <a:ext cx="2926080" cy="2926080"/>
          </a:xfrm>
          <a:prstGeom prst="ellipse">
            <a:avLst/>
          </a:prstGeom>
          <a:solidFill>
            <a:srgbClr val="2C5F2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3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Report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 &amp; KPI Analysis with Excel-Driven Insights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1371600"/>
            <a:ext cx="2377440" cy="23774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1031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3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summary of business performance 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1965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15,345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944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placed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6916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81965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₹3.93 Cr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461772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17720" y="2944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generated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296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58200" y="16916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181965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₹68.7 L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845820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58200" y="2944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earned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6118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3968496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7240" y="4389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777240" y="4846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Served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77240" y="5093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footprint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389120" y="36118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17720" y="38404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3968496"/>
            <a:ext cx="246888" cy="2468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617720" y="4389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32" name="Text 25"/>
          <p:cNvSpPr/>
          <p:nvPr/>
        </p:nvSpPr>
        <p:spPr>
          <a:xfrm>
            <a:off x="4617720" y="4846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617720" y="5093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cities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229600" y="36118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58200" y="38404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968496"/>
            <a:ext cx="246888" cy="2468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458200" y="4389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₹2,559</a:t>
            </a:r>
            <a:endParaRPr lang="en-US" sz="2800" dirty="0"/>
          </a:p>
        </p:txBody>
      </p:sp>
      <p:sp>
        <p:nvSpPr>
          <p:cNvPr id="38" name="Text 30"/>
          <p:cNvSpPr/>
          <p:nvPr/>
        </p:nvSpPr>
        <p:spPr>
          <a:xfrm>
            <a:off x="8458200" y="4846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Sale Value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458200" y="5093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average (AVERAGEIF)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3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Profit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max, and average values calculated using AVERAGEIF, MIN and MAX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14630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3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Region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breakdown computed using SUMIF across 4 markets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14630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F4F7F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5358384"/>
            <a:ext cx="256032" cy="2560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5285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1965960" y="5257800"/>
            <a:ext cx="457200" cy="457200"/>
          </a:xfrm>
          <a:prstGeom prst="ellipse">
            <a:avLst/>
          </a:prstGeom>
          <a:solidFill>
            <a:srgbClr val="F4F7F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6544" y="5358384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68880" y="5285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3383280" y="5257800"/>
            <a:ext cx="457200" cy="457200"/>
          </a:xfrm>
          <a:prstGeom prst="ellipse">
            <a:avLst/>
          </a:prstGeom>
          <a:solidFill>
            <a:srgbClr val="F4F7F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358384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86200" y="5285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4800600" y="5257800"/>
            <a:ext cx="457200" cy="457200"/>
          </a:xfrm>
          <a:prstGeom prst="ellipse">
            <a:avLst/>
          </a:prstGeom>
          <a:solidFill>
            <a:srgbClr val="F4F7F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184" y="5358384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303520" y="5285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3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Contribution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profit share derived via SUMIF and percentage formulas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12280" y="150876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F4F7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995160" y="170992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43800" y="1901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contributor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332720" y="15087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812280" y="2404872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F4F7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95160" y="260604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9"/>
          <p:cNvSpPr/>
          <p:nvPr/>
        </p:nvSpPr>
        <p:spPr>
          <a:xfrm>
            <a:off x="7543800" y="24780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43800" y="27980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second performer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332720" y="240487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6812280" y="3300984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F4F7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995160" y="3502152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4"/>
          <p:cNvSpPr/>
          <p:nvPr/>
        </p:nvSpPr>
        <p:spPr>
          <a:xfrm>
            <a:off x="7543800" y="3374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43800" y="36941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opportunity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332720" y="330098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6812280" y="4197096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F4F7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95160" y="4398264"/>
            <a:ext cx="384048" cy="384048"/>
          </a:xfrm>
          <a:prstGeom prst="ellipse">
            <a:avLst/>
          </a:prstGeom>
          <a:solidFill>
            <a:srgbClr val="5E8C31"/>
          </a:solidFill>
          <a:ln/>
        </p:spPr>
      </p:sp>
      <p:sp>
        <p:nvSpPr>
          <p:cNvPr id="22" name="Text 19"/>
          <p:cNvSpPr/>
          <p:nvPr/>
        </p:nvSpPr>
        <p:spPr>
          <a:xfrm>
            <a:off x="7543800" y="4270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543800" y="4590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market share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332720" y="4197096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8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3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Trend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sales pattern identifying seasonal peaks (Nov–Dec)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11064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3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Excel Formulas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 Document (FRD) — formula reference for the dashboard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200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300" dirty="0"/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 in Dashboard</a:t>
                      </a:r>
                      <a:endParaRPr lang="en-US" sz="1300" dirty="0"/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Formula</a:t>
                      </a:r>
                      <a:endParaRPr lang="en-US" sz="1300" dirty="0"/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sales/profit for a given 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D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=SUMIF(Region,"North",Sales)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3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₹1.26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orders placed in a 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D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=COUNTIF(Region,"South")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3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1,688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sale value for a 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D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=AVERAGEIF(Region,"East",Sales)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3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profit for high-margin orders (&gt;₹1,000)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D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=SUMIF(Profit,"&gt;1000",Profit)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3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₹22.4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with profit above 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D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=COUNTIF(Profit,"&gt;448")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3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4,210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983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formulas matter: </a:t>
            </a:r>
            <a:r>
              <a:rPr lang="en-US" sz="1300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SUMIF, COUNTIF and AVERAGEIF allow region- and condition-based aggregation directly within Excel, removing the need for manual filtering and enabling real-time, self-updating KPI dashboards.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389120"/>
            <a:ext cx="2743200" cy="274320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3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performance metrics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4F7F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6537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09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Insights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63040" y="21031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15,345 orders processed across 4 regions and 6 cities, generating ₹3.93 Cr in total revenue.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4F7F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186537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709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178040" y="21031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₹68.7 L total profit, with seasonal peaks in Nov–Dec signaling strong year-end demand.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2918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4F7F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520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64845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493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Reach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463040" y="38862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leads with 31% profit share; East shows the strongest emerging growth potential.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63640" y="32918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4F7F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3520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3648456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3493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178040" y="38862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SUMIF, COUNTIF and AVERAGEIF power real-time, condition-based KPI calculations for the dashboard.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4983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418</Words>
  <Application>Microsoft Office PowerPoint</Application>
  <PresentationFormat>Widescreen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Metrics Report</dc:title>
  <dc:subject>PptxGenJS Presentation</dc:subject>
  <dc:creator>D-MART</dc:creator>
  <cp:lastModifiedBy>visxnugosali123@gmail.com</cp:lastModifiedBy>
  <cp:revision>3</cp:revision>
  <dcterms:created xsi:type="dcterms:W3CDTF">2026-06-14T07:15:48Z</dcterms:created>
  <dcterms:modified xsi:type="dcterms:W3CDTF">2026-06-14T07:43:21Z</dcterms:modified>
</cp:coreProperties>
</file>