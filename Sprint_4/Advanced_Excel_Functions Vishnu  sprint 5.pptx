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0476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258999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77184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72878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52828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681892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6167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66995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9263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55520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50571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407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5526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171141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2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20.png"/><Relationship Id="rId4" Type="http://schemas.openxmlformats.org/officeDocument/2006/relationships/image" Target="../media/image27.png"/><Relationship Id="rId9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5" Type="http://schemas.openxmlformats.org/officeDocument/2006/relationships/image" Target="../media/image12.png"/><Relationship Id="rId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3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36.png"/><Relationship Id="rId4" Type="http://schemas.openxmlformats.org/officeDocument/2006/relationships/image" Target="../media/image39.png"/><Relationship Id="rId9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1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png"/><Relationship Id="rId5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46.png"/><Relationship Id="rId7" Type="http://schemas.openxmlformats.org/officeDocument/2006/relationships/image" Target="../media/image41.png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11" Type="http://schemas.openxmlformats.org/officeDocument/2006/relationships/image" Target="../media/image38.png"/><Relationship Id="rId5" Type="http://schemas.openxmlformats.org/officeDocument/2006/relationships/image" Target="../media/image47.png"/><Relationship Id="rId10" Type="http://schemas.openxmlformats.org/officeDocument/2006/relationships/image" Target="../media/image6.png"/><Relationship Id="rId4" Type="http://schemas.openxmlformats.org/officeDocument/2006/relationships/image" Target="../media/image42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0"/>
            <a:ext cx="0" cy="6858000"/>
          </a:xfrm>
          <a:prstGeom prst="line">
            <a:avLst/>
          </a:prstGeom>
          <a:noFill/>
          <a:ln w="9525">
            <a:solidFill>
              <a:srgbClr val="1A5C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0"/>
            <a:ext cx="0" cy="6858000"/>
          </a:xfrm>
          <a:prstGeom prst="line">
            <a:avLst/>
          </a:prstGeom>
          <a:noFill/>
          <a:ln w="9525">
            <a:solidFill>
              <a:srgbClr val="1A5C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9525">
            <a:solidFill>
              <a:srgbClr val="1A5C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9525">
            <a:solidFill>
              <a:srgbClr val="1A5C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9525">
            <a:solidFill>
              <a:srgbClr val="1A5C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9525">
            <a:solidFill>
              <a:srgbClr val="1A5C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9525">
            <a:solidFill>
              <a:srgbClr val="1A5C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9525">
            <a:solidFill>
              <a:srgbClr val="1A5C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194560"/>
            <a:ext cx="12191695" cy="0"/>
          </a:xfrm>
          <a:prstGeom prst="line">
            <a:avLst/>
          </a:prstGeom>
          <a:noFill/>
          <a:ln w="9525">
            <a:solidFill>
              <a:srgbClr val="1A5C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9525">
            <a:solidFill>
              <a:srgbClr val="1A5C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389120"/>
            <a:ext cx="12191695" cy="0"/>
          </a:xfrm>
          <a:prstGeom prst="line">
            <a:avLst/>
          </a:prstGeom>
          <a:noFill/>
          <a:ln w="9525">
            <a:solidFill>
              <a:srgbClr val="1A5C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9525">
            <a:solidFill>
              <a:srgbClr val="1A5C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69680" y="914400"/>
            <a:ext cx="3840480" cy="3840480"/>
          </a:xfrm>
          <a:prstGeom prst="ellipse">
            <a:avLst/>
          </a:prstGeom>
          <a:solidFill>
            <a:srgbClr val="165E3E"/>
          </a:solidFill>
          <a:ln/>
        </p:spPr>
      </p:sp>
      <p:sp>
        <p:nvSpPr>
          <p:cNvPr id="15" name="Shape 13"/>
          <p:cNvSpPr/>
          <p:nvPr/>
        </p:nvSpPr>
        <p:spPr>
          <a:xfrm>
            <a:off x="9692640" y="1737360"/>
            <a:ext cx="2194560" cy="2194560"/>
          </a:xfrm>
          <a:prstGeom prst="ellipse">
            <a:avLst/>
          </a:prstGeom>
          <a:solidFill>
            <a:srgbClr val="1E7F4F"/>
          </a:solidFill>
          <a:ln/>
        </p:spPr>
      </p:sp>
      <p:sp>
        <p:nvSpPr>
          <p:cNvPr id="16" name="Shape 14"/>
          <p:cNvSpPr/>
          <p:nvPr/>
        </p:nvSpPr>
        <p:spPr>
          <a:xfrm>
            <a:off x="10287000" y="2331720"/>
            <a:ext cx="1005840" cy="1005840"/>
          </a:xfrm>
          <a:prstGeom prst="ellipse">
            <a:avLst/>
          </a:prstGeom>
          <a:solidFill>
            <a:srgbClr val="2FA66B"/>
          </a:solidFill>
          <a:ln/>
        </p:spPr>
      </p:sp>
      <p:pic>
        <p:nvPicPr>
          <p:cNvPr id="17" name="Image 0" descr="icons/chartbar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8518" y="2593238"/>
            <a:ext cx="482803" cy="482803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8503920" y="640080"/>
            <a:ext cx="640080" cy="640080"/>
          </a:xfrm>
          <a:prstGeom prst="ellipse">
            <a:avLst/>
          </a:prstGeom>
          <a:solidFill>
            <a:srgbClr val="1E7F4F"/>
          </a:solidFill>
          <a:ln/>
        </p:spPr>
      </p:sp>
      <p:pic>
        <p:nvPicPr>
          <p:cNvPr id="19" name="Image 1" descr="icons/check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0341" y="806501"/>
            <a:ext cx="307238" cy="307238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11338560" y="822960"/>
            <a:ext cx="640080" cy="640080"/>
          </a:xfrm>
          <a:prstGeom prst="ellipse">
            <a:avLst/>
          </a:prstGeom>
          <a:solidFill>
            <a:srgbClr val="2FA66B"/>
          </a:solidFill>
          <a:ln/>
        </p:spPr>
      </p:sp>
      <p:pic>
        <p:nvPicPr>
          <p:cNvPr id="21" name="Image 2" descr="icons/search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04981" y="989381"/>
            <a:ext cx="307238" cy="307238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9601200" y="5852160"/>
            <a:ext cx="594360" cy="594360"/>
          </a:xfrm>
          <a:prstGeom prst="ellipse">
            <a:avLst/>
          </a:prstGeom>
          <a:solidFill>
            <a:srgbClr val="2FA66B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23" name="Image 3" descr="icons/link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5734" y="6006694"/>
            <a:ext cx="285293" cy="285293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11155680" y="4480560"/>
            <a:ext cx="640080" cy="640080"/>
          </a:xfrm>
          <a:prstGeom prst="ellipse">
            <a:avLst/>
          </a:prstGeom>
          <a:solidFill>
            <a:srgbClr val="1E7F4F"/>
          </a:solidFill>
          <a:ln/>
        </p:spPr>
      </p:sp>
      <p:pic>
        <p:nvPicPr>
          <p:cNvPr id="25" name="Image 4" descr="icons/palette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22101" y="4646981"/>
            <a:ext cx="307238" cy="307238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640080" y="100584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1E7F4F"/>
          </a:solidFill>
          <a:ln/>
        </p:spPr>
      </p:sp>
      <p:sp>
        <p:nvSpPr>
          <p:cNvPr id="27" name="Text 20"/>
          <p:cNvSpPr/>
          <p:nvPr/>
        </p:nvSpPr>
        <p:spPr>
          <a:xfrm>
            <a:off x="640080" y="1005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MASTERY SERIES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640080" y="169164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Excel Functions</a:t>
            </a:r>
            <a:endParaRPr lang="en-US" sz="4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Data Management</a:t>
            </a:r>
            <a:endParaRPr lang="en-US" sz="4600" dirty="0"/>
          </a:p>
        </p:txBody>
      </p:sp>
      <p:sp>
        <p:nvSpPr>
          <p:cNvPr id="29" name="Text 22"/>
          <p:cNvSpPr/>
          <p:nvPr/>
        </p:nvSpPr>
        <p:spPr>
          <a:xfrm>
            <a:off x="640080" y="35204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BF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practical, executive-level guide to building accurate, automated, and insight-driven spreadsheets.</a:t>
            </a:r>
            <a:endParaRPr lang="en-US" sz="1500" dirty="0"/>
          </a:p>
        </p:txBody>
      </p:sp>
      <p:sp>
        <p:nvSpPr>
          <p:cNvPr id="30" name="Shape 23"/>
          <p:cNvSpPr/>
          <p:nvPr/>
        </p:nvSpPr>
        <p:spPr>
          <a:xfrm>
            <a:off x="640080" y="457200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14573A"/>
          </a:solidFill>
          <a:ln/>
        </p:spPr>
      </p:sp>
      <p:sp>
        <p:nvSpPr>
          <p:cNvPr id="31" name="Shape 24"/>
          <p:cNvSpPr/>
          <p:nvPr/>
        </p:nvSpPr>
        <p:spPr>
          <a:xfrm>
            <a:off x="804672" y="4777740"/>
            <a:ext cx="457200" cy="457200"/>
          </a:xfrm>
          <a:prstGeom prst="ellipse">
            <a:avLst/>
          </a:prstGeom>
          <a:solidFill>
            <a:srgbClr val="1E7F4F"/>
          </a:solidFill>
          <a:ln/>
        </p:spPr>
      </p:sp>
      <p:pic>
        <p:nvPicPr>
          <p:cNvPr id="32" name="Image 5" descr="icons/check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4896612"/>
            <a:ext cx="219456" cy="21945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353312" y="457200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250" dirty="0"/>
          </a:p>
        </p:txBody>
      </p:sp>
      <p:sp>
        <p:nvSpPr>
          <p:cNvPr id="34" name="Shape 26"/>
          <p:cNvSpPr/>
          <p:nvPr/>
        </p:nvSpPr>
        <p:spPr>
          <a:xfrm>
            <a:off x="2788920" y="457200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14573A"/>
          </a:solidFill>
          <a:ln/>
        </p:spPr>
      </p:sp>
      <p:sp>
        <p:nvSpPr>
          <p:cNvPr id="35" name="Shape 27"/>
          <p:cNvSpPr/>
          <p:nvPr/>
        </p:nvSpPr>
        <p:spPr>
          <a:xfrm>
            <a:off x="2953512" y="4777740"/>
            <a:ext cx="457200" cy="457200"/>
          </a:xfrm>
          <a:prstGeom prst="ellipse">
            <a:avLst/>
          </a:prstGeom>
          <a:solidFill>
            <a:srgbClr val="1E7F4F"/>
          </a:solidFill>
          <a:ln/>
        </p:spPr>
      </p:sp>
      <p:pic>
        <p:nvPicPr>
          <p:cNvPr id="36" name="Image 6" descr="icons/palette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2384" y="4896612"/>
            <a:ext cx="219456" cy="21945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3502152" y="457200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Formatting</a:t>
            </a:r>
            <a:endParaRPr lang="en-US" sz="1250" dirty="0"/>
          </a:p>
        </p:txBody>
      </p:sp>
      <p:sp>
        <p:nvSpPr>
          <p:cNvPr id="38" name="Shape 29"/>
          <p:cNvSpPr/>
          <p:nvPr/>
        </p:nvSpPr>
        <p:spPr>
          <a:xfrm>
            <a:off x="4937760" y="457200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14573A"/>
          </a:solidFill>
          <a:ln/>
        </p:spPr>
      </p:sp>
      <p:sp>
        <p:nvSpPr>
          <p:cNvPr id="39" name="Shape 30"/>
          <p:cNvSpPr/>
          <p:nvPr/>
        </p:nvSpPr>
        <p:spPr>
          <a:xfrm>
            <a:off x="5102352" y="4777740"/>
            <a:ext cx="457200" cy="457200"/>
          </a:xfrm>
          <a:prstGeom prst="ellipse">
            <a:avLst/>
          </a:prstGeom>
          <a:solidFill>
            <a:srgbClr val="1E7F4F"/>
          </a:solidFill>
          <a:ln/>
        </p:spPr>
      </p:sp>
      <p:pic>
        <p:nvPicPr>
          <p:cNvPr id="40" name="Image 7" descr="icons/search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1224" y="4896612"/>
            <a:ext cx="219456" cy="219456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5650992" y="457200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Functions</a:t>
            </a:r>
            <a:endParaRPr lang="en-US" sz="1250" dirty="0"/>
          </a:p>
        </p:txBody>
      </p:sp>
      <p:sp>
        <p:nvSpPr>
          <p:cNvPr id="42" name="Shape 32"/>
          <p:cNvSpPr/>
          <p:nvPr/>
        </p:nvSpPr>
        <p:spPr>
          <a:xfrm>
            <a:off x="7086600" y="457200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14573A"/>
          </a:solidFill>
          <a:ln/>
        </p:spPr>
      </p:sp>
      <p:sp>
        <p:nvSpPr>
          <p:cNvPr id="43" name="Shape 33"/>
          <p:cNvSpPr/>
          <p:nvPr/>
        </p:nvSpPr>
        <p:spPr>
          <a:xfrm>
            <a:off x="7251192" y="4777740"/>
            <a:ext cx="457200" cy="457200"/>
          </a:xfrm>
          <a:prstGeom prst="ellipse">
            <a:avLst/>
          </a:prstGeom>
          <a:solidFill>
            <a:srgbClr val="1E7F4F"/>
          </a:solidFill>
          <a:ln/>
        </p:spPr>
      </p:sp>
      <p:pic>
        <p:nvPicPr>
          <p:cNvPr id="44" name="Image 8" descr="icons/tags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70064" y="4896612"/>
            <a:ext cx="219456" cy="219456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7799832" y="457200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Ranges</a:t>
            </a:r>
            <a:endParaRPr lang="en-US" sz="1250" dirty="0"/>
          </a:p>
        </p:txBody>
      </p:sp>
      <p:sp>
        <p:nvSpPr>
          <p:cNvPr id="46" name="Text 35"/>
          <p:cNvSpPr/>
          <p:nvPr/>
        </p:nvSpPr>
        <p:spPr>
          <a:xfrm>
            <a:off x="1572769" y="6172199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DCF0E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4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7496" y="8412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17496" y="13441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focus areas — from data entry control to modern lookup architecture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F1F8F4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737360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1417320" y="192938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icons/check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192" y="2048256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057400" y="18288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057400" y="2249424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and control data entry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2688336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F1F8F4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13232" y="2688336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417320" y="28803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icons/tags-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6192" y="2999232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057400" y="2779776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Ranges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2057400" y="32004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Readable, maintainable references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48640" y="3639312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F1F8F4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713232" y="3639312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" name="Shape 16"/>
          <p:cNvSpPr/>
          <p:nvPr/>
        </p:nvSpPr>
        <p:spPr>
          <a:xfrm>
            <a:off x="1417320" y="383133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2" descr="icons/palette-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6192" y="3950208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057400" y="373075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Formatting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2057400" y="415137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rules and color coding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548640" y="4590288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F1F8F4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713232" y="4590288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6" name="Shape 21"/>
          <p:cNvSpPr/>
          <p:nvPr/>
        </p:nvSpPr>
        <p:spPr>
          <a:xfrm>
            <a:off x="1417320" y="478231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3" descr="icons/search-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6192" y="4901184"/>
            <a:ext cx="219456" cy="2194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057400" y="468172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Functions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2057400" y="510235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search &amp; retrieve tools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548640" y="5541264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F1F8F4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713232" y="5541264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2" name="Shape 26"/>
          <p:cNvSpPr/>
          <p:nvPr/>
        </p:nvSpPr>
        <p:spPr>
          <a:xfrm>
            <a:off x="1417320" y="573328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4" descr="icons/arrowsv-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6192" y="5852160"/>
            <a:ext cx="219456" cy="21945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2057400" y="5632704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VLOOKUP</a:t>
            </a:r>
            <a:endParaRPr lang="en-US" sz="1500" dirty="0"/>
          </a:p>
        </p:txBody>
      </p:sp>
      <p:sp>
        <p:nvSpPr>
          <p:cNvPr id="35" name="Text 28"/>
          <p:cNvSpPr/>
          <p:nvPr/>
        </p:nvSpPr>
        <p:spPr>
          <a:xfrm>
            <a:off x="2057400" y="605332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lookups, exact &amp; approximate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6217920" y="1737360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F1F8F4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Text 30"/>
          <p:cNvSpPr/>
          <p:nvPr/>
        </p:nvSpPr>
        <p:spPr>
          <a:xfrm>
            <a:off x="6382512" y="1737360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8" name="Shape 31"/>
          <p:cNvSpPr/>
          <p:nvPr/>
        </p:nvSpPr>
        <p:spPr>
          <a:xfrm>
            <a:off x="7086600" y="192938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9" name="Image 5" descr="icons/arrowsh-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05472" y="2048256"/>
            <a:ext cx="219456" cy="219456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7726680" y="18288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HLOOKUP</a:t>
            </a:r>
            <a:endParaRPr lang="en-US" sz="1500" dirty="0"/>
          </a:p>
        </p:txBody>
      </p:sp>
      <p:sp>
        <p:nvSpPr>
          <p:cNvPr id="41" name="Text 33"/>
          <p:cNvSpPr/>
          <p:nvPr/>
        </p:nvSpPr>
        <p:spPr>
          <a:xfrm>
            <a:off x="7726680" y="2249424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lookups across columns</a:t>
            </a:r>
            <a:endParaRPr lang="en-US" sz="1050" dirty="0"/>
          </a:p>
        </p:txBody>
      </p:sp>
      <p:sp>
        <p:nvSpPr>
          <p:cNvPr id="42" name="Shape 34"/>
          <p:cNvSpPr/>
          <p:nvPr/>
        </p:nvSpPr>
        <p:spPr>
          <a:xfrm>
            <a:off x="6217920" y="2688336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F1F8F4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Text 35"/>
          <p:cNvSpPr/>
          <p:nvPr/>
        </p:nvSpPr>
        <p:spPr>
          <a:xfrm>
            <a:off x="6382512" y="2688336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4" name="Shape 36"/>
          <p:cNvSpPr/>
          <p:nvPr/>
        </p:nvSpPr>
        <p:spPr>
          <a:xfrm>
            <a:off x="7086600" y="28803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5" name="Image 6" descr="icons/link-gree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05472" y="2999232"/>
            <a:ext cx="219456" cy="219456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7726680" y="2779776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+ MATCH</a:t>
            </a:r>
            <a:endParaRPr lang="en-US" sz="1500" dirty="0"/>
          </a:p>
        </p:txBody>
      </p:sp>
      <p:sp>
        <p:nvSpPr>
          <p:cNvPr id="47" name="Text 38"/>
          <p:cNvSpPr/>
          <p:nvPr/>
        </p:nvSpPr>
        <p:spPr>
          <a:xfrm>
            <a:off x="7726680" y="32004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position-based lookups</a:t>
            </a:r>
            <a:endParaRPr lang="en-US" sz="1050" dirty="0"/>
          </a:p>
        </p:txBody>
      </p:sp>
      <p:sp>
        <p:nvSpPr>
          <p:cNvPr id="48" name="Shape 39"/>
          <p:cNvSpPr/>
          <p:nvPr/>
        </p:nvSpPr>
        <p:spPr>
          <a:xfrm>
            <a:off x="6217920" y="3639312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F1F8F4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Text 40"/>
          <p:cNvSpPr/>
          <p:nvPr/>
        </p:nvSpPr>
        <p:spPr>
          <a:xfrm>
            <a:off x="6382512" y="3639312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0" name="Shape 41"/>
          <p:cNvSpPr/>
          <p:nvPr/>
        </p:nvSpPr>
        <p:spPr>
          <a:xfrm>
            <a:off x="7086600" y="383133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1" name="Image 7" descr="icons/bolt-gree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05472" y="3950208"/>
            <a:ext cx="219456" cy="219456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7726680" y="373075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XLOOKUP</a:t>
            </a:r>
            <a:endParaRPr lang="en-US" sz="1500" dirty="0"/>
          </a:p>
        </p:txBody>
      </p:sp>
      <p:sp>
        <p:nvSpPr>
          <p:cNvPr id="53" name="Text 43"/>
          <p:cNvSpPr/>
          <p:nvPr/>
        </p:nvSpPr>
        <p:spPr>
          <a:xfrm>
            <a:off x="7726680" y="415137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lookup standard</a:t>
            </a:r>
            <a:endParaRPr lang="en-US" sz="1050" dirty="0"/>
          </a:p>
        </p:txBody>
      </p:sp>
      <p:sp>
        <p:nvSpPr>
          <p:cNvPr id="54" name="Shape 44"/>
          <p:cNvSpPr/>
          <p:nvPr/>
        </p:nvSpPr>
        <p:spPr>
          <a:xfrm>
            <a:off x="6217920" y="4590288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F1F8F4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5" name="Text 45"/>
          <p:cNvSpPr/>
          <p:nvPr/>
        </p:nvSpPr>
        <p:spPr>
          <a:xfrm>
            <a:off x="6382512" y="4590288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6" name="Shape 46"/>
          <p:cNvSpPr/>
          <p:nvPr/>
        </p:nvSpPr>
        <p:spPr>
          <a:xfrm>
            <a:off x="7086600" y="478231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7" name="Image 8" descr="icons/balance-gree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05472" y="4901184"/>
            <a:ext cx="219456" cy="219456"/>
          </a:xfrm>
          <a:prstGeom prst="rect">
            <a:avLst/>
          </a:prstGeom>
        </p:spPr>
      </p:pic>
      <p:sp>
        <p:nvSpPr>
          <p:cNvPr id="58" name="Text 47"/>
          <p:cNvSpPr/>
          <p:nvPr/>
        </p:nvSpPr>
        <p:spPr>
          <a:xfrm>
            <a:off x="7726680" y="468172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Guide</a:t>
            </a:r>
            <a:endParaRPr lang="en-US" sz="1500" dirty="0"/>
          </a:p>
        </p:txBody>
      </p:sp>
      <p:sp>
        <p:nvSpPr>
          <p:cNvPr id="59" name="Text 48"/>
          <p:cNvSpPr/>
          <p:nvPr/>
        </p:nvSpPr>
        <p:spPr>
          <a:xfrm>
            <a:off x="7726680" y="510235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function</a:t>
            </a:r>
            <a:endParaRPr lang="en-US" sz="1050" dirty="0"/>
          </a:p>
        </p:txBody>
      </p:sp>
      <p:sp>
        <p:nvSpPr>
          <p:cNvPr id="60" name="Shape 49"/>
          <p:cNvSpPr/>
          <p:nvPr/>
        </p:nvSpPr>
        <p:spPr>
          <a:xfrm>
            <a:off x="6217920" y="5541264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F1F8F4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1" name="Text 50"/>
          <p:cNvSpPr/>
          <p:nvPr/>
        </p:nvSpPr>
        <p:spPr>
          <a:xfrm>
            <a:off x="6382512" y="5541264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2" name="Shape 51"/>
          <p:cNvSpPr/>
          <p:nvPr/>
        </p:nvSpPr>
        <p:spPr>
          <a:xfrm>
            <a:off x="7086600" y="573328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3" name="Image 9" descr="icons/rocket-gree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05472" y="5852160"/>
            <a:ext cx="219456" cy="219456"/>
          </a:xfrm>
          <a:prstGeom prst="rect">
            <a:avLst/>
          </a:prstGeom>
        </p:spPr>
      </p:pic>
      <p:sp>
        <p:nvSpPr>
          <p:cNvPr id="64" name="Text 52"/>
          <p:cNvSpPr/>
          <p:nvPr/>
        </p:nvSpPr>
        <p:spPr>
          <a:xfrm>
            <a:off x="7726680" y="5632704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500" dirty="0"/>
          </a:p>
        </p:txBody>
      </p:sp>
      <p:sp>
        <p:nvSpPr>
          <p:cNvPr id="65" name="Text 53"/>
          <p:cNvSpPr/>
          <p:nvPr/>
        </p:nvSpPr>
        <p:spPr>
          <a:xfrm>
            <a:off x="7726680" y="605332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performance, takeaways</a:t>
            </a:r>
            <a:endParaRPr lang="en-US" sz="1050" dirty="0"/>
          </a:p>
        </p:txBody>
      </p:sp>
      <p:sp>
        <p:nvSpPr>
          <p:cNvPr id="66" name="Text 5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67" name="Text 5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DCF0E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4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DATA VALIDATION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27760" y="80467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Validation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05678" y="13441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the type, range, or format of data entered into a cell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0F4D32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0299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a gatekeeper — keeping spreadsheets clean, consistent, and error-free by controlling exactly what users can type into a cell.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365760" cy="365760"/>
          </a:xfrm>
          <a:prstGeom prst="ellipse">
            <a:avLst/>
          </a:prstGeom>
          <a:solidFill>
            <a:srgbClr val="DCF0E4"/>
          </a:solidFill>
          <a:ln/>
        </p:spPr>
      </p:sp>
      <p:pic>
        <p:nvPicPr>
          <p:cNvPr id="10" name="Image 0" descr="icons/check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8" y="3615538"/>
            <a:ext cx="175565" cy="17556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51560" y="3483864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invalid dates, numbers &amp; text in financial models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4087368"/>
            <a:ext cx="365760" cy="365760"/>
          </a:xfrm>
          <a:prstGeom prst="ellipse">
            <a:avLst/>
          </a:prstGeom>
          <a:solidFill>
            <a:srgbClr val="DCF0E4"/>
          </a:solidFill>
          <a:ln/>
        </p:spPr>
      </p:sp>
      <p:pic>
        <p:nvPicPr>
          <p:cNvPr id="13" name="Image 1" descr="icons/check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8" y="4182466"/>
            <a:ext cx="175565" cy="17556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51560" y="405079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unique entries — no duplicate IDs or SKUs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4654296"/>
            <a:ext cx="365760" cy="365760"/>
          </a:xfrm>
          <a:prstGeom prst="ellipse">
            <a:avLst/>
          </a:prstGeom>
          <a:solidFill>
            <a:srgbClr val="DCF0E4"/>
          </a:solidFill>
          <a:ln/>
        </p:spPr>
      </p:sp>
      <p:pic>
        <p:nvPicPr>
          <p:cNvPr id="16" name="Image 2" descr="icons/check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8" y="4749394"/>
            <a:ext cx="175565" cy="1755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51560" y="461772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consistent, form-style data entry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4983480" y="18288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Validation Types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983480" y="2240280"/>
            <a:ext cx="2130552" cy="1417320"/>
          </a:xfrm>
          <a:prstGeom prst="roundRect">
            <a:avLst>
              <a:gd name="adj" fmla="val 5161"/>
            </a:avLst>
          </a:prstGeom>
          <a:solidFill>
            <a:srgbClr val="F1F8F4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148072" y="240487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icons/hashtag-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6944" y="2523744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148072" y="2953512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Number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5148072" y="3264408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4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Between 1 and 100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7278624" y="2240280"/>
            <a:ext cx="2130552" cy="1417320"/>
          </a:xfrm>
          <a:prstGeom prst="roundRect">
            <a:avLst>
              <a:gd name="adj" fmla="val 5161"/>
            </a:avLst>
          </a:prstGeom>
          <a:solidFill>
            <a:srgbClr val="F1F8F4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43216" y="240487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icons/chartline-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2523744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443216" y="2953512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7443216" y="3264408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4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Greater than 0.5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9573768" y="2240280"/>
            <a:ext cx="2130552" cy="1417320"/>
          </a:xfrm>
          <a:prstGeom prst="roundRect">
            <a:avLst>
              <a:gd name="adj" fmla="val 5161"/>
            </a:avLst>
          </a:prstGeom>
          <a:solidFill>
            <a:srgbClr val="F1F8F4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738360" y="240487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icons/list-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7232" y="2523744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738360" y="2953512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9738360" y="3264408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4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Dropdown: =DeptList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4983480" y="3822192"/>
            <a:ext cx="2130552" cy="1417320"/>
          </a:xfrm>
          <a:prstGeom prst="roundRect">
            <a:avLst>
              <a:gd name="adj" fmla="val 5161"/>
            </a:avLst>
          </a:prstGeom>
          <a:solidFill>
            <a:srgbClr val="F1F8F4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5148072" y="398678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6" descr="icons/calendar-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6944" y="4105656"/>
            <a:ext cx="219456" cy="21945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148072" y="4535424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5148072" y="484632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4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Between 01/01/2020–Today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7278624" y="3822192"/>
            <a:ext cx="2130552" cy="1417320"/>
          </a:xfrm>
          <a:prstGeom prst="roundRect">
            <a:avLst>
              <a:gd name="adj" fmla="val 5161"/>
            </a:avLst>
          </a:prstGeom>
          <a:solidFill>
            <a:srgbClr val="F1F8F4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7443216" y="398678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1" name="Image 7" descr="icons/font-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62088" y="4105656"/>
            <a:ext cx="219456" cy="21945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443216" y="4535424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Length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7443216" y="484632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4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≤ 50 characters</a:t>
            </a:r>
            <a:endParaRPr lang="en-US" sz="950" dirty="0"/>
          </a:p>
        </p:txBody>
      </p:sp>
      <p:sp>
        <p:nvSpPr>
          <p:cNvPr id="44" name="Shape 34"/>
          <p:cNvSpPr/>
          <p:nvPr/>
        </p:nvSpPr>
        <p:spPr>
          <a:xfrm>
            <a:off x="9573768" y="3822192"/>
            <a:ext cx="2130552" cy="1417320"/>
          </a:xfrm>
          <a:prstGeom prst="roundRect">
            <a:avLst>
              <a:gd name="adj" fmla="val 5161"/>
            </a:avLst>
          </a:prstGeom>
          <a:solidFill>
            <a:srgbClr val="F1F8F4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9738360" y="398678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6" name="Image 8" descr="icons/cogs-gree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57232" y="4105656"/>
            <a:ext cx="219456" cy="219456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9738360" y="4535424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Formula</a:t>
            </a:r>
            <a:endParaRPr lang="en-US" sz="1250" dirty="0"/>
          </a:p>
        </p:txBody>
      </p:sp>
      <p:sp>
        <p:nvSpPr>
          <p:cNvPr id="48" name="Text 37"/>
          <p:cNvSpPr/>
          <p:nvPr/>
        </p:nvSpPr>
        <p:spPr>
          <a:xfrm>
            <a:off x="9738360" y="484632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4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=COUNTIF(...)=1</a:t>
            </a:r>
            <a:endParaRPr lang="en-US" sz="950" dirty="0"/>
          </a:p>
        </p:txBody>
      </p:sp>
      <p:sp>
        <p:nvSpPr>
          <p:cNvPr id="49" name="Text 38"/>
          <p:cNvSpPr/>
          <p:nvPr/>
        </p:nvSpPr>
        <p:spPr>
          <a:xfrm>
            <a:off x="1105678" y="5184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Workflow</a:t>
            </a:r>
            <a:endParaRPr lang="en-US" sz="1300" dirty="0"/>
          </a:p>
        </p:txBody>
      </p:sp>
      <p:sp>
        <p:nvSpPr>
          <p:cNvPr id="50" name="Shape 39"/>
          <p:cNvSpPr/>
          <p:nvPr/>
        </p:nvSpPr>
        <p:spPr>
          <a:xfrm>
            <a:off x="548640" y="5532120"/>
            <a:ext cx="2606040" cy="566928"/>
          </a:xfrm>
          <a:prstGeom prst="roundRect">
            <a:avLst>
              <a:gd name="adj" fmla="val 50000"/>
            </a:avLst>
          </a:prstGeom>
          <a:solidFill>
            <a:srgbClr val="1E7F4F"/>
          </a:solidFill>
          <a:ln/>
        </p:spPr>
      </p:sp>
      <p:sp>
        <p:nvSpPr>
          <p:cNvPr id="51" name="Text 40"/>
          <p:cNvSpPr/>
          <p:nvPr/>
        </p:nvSpPr>
        <p:spPr>
          <a:xfrm>
            <a:off x="548640" y="553212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data</a:t>
            </a:r>
            <a:endParaRPr lang="en-US" sz="1150" dirty="0"/>
          </a:p>
        </p:txBody>
      </p:sp>
      <p:sp>
        <p:nvSpPr>
          <p:cNvPr id="52" name="Shape 41"/>
          <p:cNvSpPr/>
          <p:nvPr/>
        </p:nvSpPr>
        <p:spPr>
          <a:xfrm>
            <a:off x="3191256" y="5660136"/>
            <a:ext cx="310896" cy="310896"/>
          </a:xfrm>
          <a:prstGeom prst="ellipse">
            <a:avLst/>
          </a:prstGeom>
          <a:solidFill>
            <a:srgbClr val="DCF0E4"/>
          </a:solidFill>
          <a:ln/>
        </p:spPr>
      </p:sp>
      <p:pic>
        <p:nvPicPr>
          <p:cNvPr id="53" name="Image 9" descr="icons/arrowright-gree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72089" y="5740969"/>
            <a:ext cx="149230" cy="149230"/>
          </a:xfrm>
          <a:prstGeom prst="rect">
            <a:avLst/>
          </a:prstGeom>
        </p:spPr>
      </p:pic>
      <p:sp>
        <p:nvSpPr>
          <p:cNvPr id="54" name="Shape 42"/>
          <p:cNvSpPr/>
          <p:nvPr/>
        </p:nvSpPr>
        <p:spPr>
          <a:xfrm>
            <a:off x="3538728" y="5532120"/>
            <a:ext cx="2606040" cy="566928"/>
          </a:xfrm>
          <a:prstGeom prst="roundRect">
            <a:avLst>
              <a:gd name="adj" fmla="val 50000"/>
            </a:avLst>
          </a:prstGeom>
          <a:solidFill>
            <a:srgbClr val="1E7F4F"/>
          </a:solidFill>
          <a:ln/>
        </p:spPr>
      </p:sp>
      <p:sp>
        <p:nvSpPr>
          <p:cNvPr id="55" name="Text 43"/>
          <p:cNvSpPr/>
          <p:nvPr/>
        </p:nvSpPr>
        <p:spPr>
          <a:xfrm>
            <a:off x="3538728" y="553212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checks rule</a:t>
            </a:r>
            <a:endParaRPr lang="en-US" sz="1150" dirty="0"/>
          </a:p>
        </p:txBody>
      </p:sp>
      <p:sp>
        <p:nvSpPr>
          <p:cNvPr id="56" name="Shape 44"/>
          <p:cNvSpPr/>
          <p:nvPr/>
        </p:nvSpPr>
        <p:spPr>
          <a:xfrm>
            <a:off x="6181344" y="5660136"/>
            <a:ext cx="310896" cy="310896"/>
          </a:xfrm>
          <a:prstGeom prst="ellipse">
            <a:avLst/>
          </a:prstGeom>
          <a:solidFill>
            <a:srgbClr val="DCF0E4"/>
          </a:solidFill>
          <a:ln/>
        </p:spPr>
      </p:sp>
      <p:pic>
        <p:nvPicPr>
          <p:cNvPr id="57" name="Image 10" descr="icons/arrowright-gree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62177" y="5740969"/>
            <a:ext cx="149230" cy="149230"/>
          </a:xfrm>
          <a:prstGeom prst="rect">
            <a:avLst/>
          </a:prstGeom>
        </p:spPr>
      </p:pic>
      <p:sp>
        <p:nvSpPr>
          <p:cNvPr id="58" name="Shape 45"/>
          <p:cNvSpPr/>
          <p:nvPr/>
        </p:nvSpPr>
        <p:spPr>
          <a:xfrm>
            <a:off x="6528816" y="5532120"/>
            <a:ext cx="2606040" cy="566928"/>
          </a:xfrm>
          <a:prstGeom prst="roundRect">
            <a:avLst>
              <a:gd name="adj" fmla="val 50000"/>
            </a:avLst>
          </a:prstGeom>
          <a:solidFill>
            <a:srgbClr val="1E7F4F"/>
          </a:solidFill>
          <a:ln/>
        </p:spPr>
      </p:sp>
      <p:sp>
        <p:nvSpPr>
          <p:cNvPr id="59" name="Text 46"/>
          <p:cNvSpPr/>
          <p:nvPr/>
        </p:nvSpPr>
        <p:spPr>
          <a:xfrm>
            <a:off x="6528816" y="553212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→ Accepted</a:t>
            </a:r>
            <a:endParaRPr lang="en-US" sz="1150" dirty="0"/>
          </a:p>
        </p:txBody>
      </p:sp>
      <p:sp>
        <p:nvSpPr>
          <p:cNvPr id="60" name="Shape 47"/>
          <p:cNvSpPr/>
          <p:nvPr/>
        </p:nvSpPr>
        <p:spPr>
          <a:xfrm>
            <a:off x="9171432" y="5660136"/>
            <a:ext cx="310896" cy="310896"/>
          </a:xfrm>
          <a:prstGeom prst="ellipse">
            <a:avLst/>
          </a:prstGeom>
          <a:solidFill>
            <a:srgbClr val="DCF0E4"/>
          </a:solidFill>
          <a:ln/>
        </p:spPr>
      </p:sp>
      <p:pic>
        <p:nvPicPr>
          <p:cNvPr id="61" name="Image 11" descr="icons/arrowright-gree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52265" y="5740969"/>
            <a:ext cx="149230" cy="149230"/>
          </a:xfrm>
          <a:prstGeom prst="rect">
            <a:avLst/>
          </a:prstGeom>
        </p:spPr>
      </p:pic>
      <p:sp>
        <p:nvSpPr>
          <p:cNvPr id="62" name="Shape 48"/>
          <p:cNvSpPr/>
          <p:nvPr/>
        </p:nvSpPr>
        <p:spPr>
          <a:xfrm>
            <a:off x="9518904" y="5532120"/>
            <a:ext cx="2606040" cy="566928"/>
          </a:xfrm>
          <a:prstGeom prst="roundRect">
            <a:avLst>
              <a:gd name="adj" fmla="val 50000"/>
            </a:avLst>
          </a:prstGeom>
          <a:solidFill>
            <a:srgbClr val="0F4D32"/>
          </a:solidFill>
          <a:ln/>
        </p:spPr>
      </p:sp>
      <p:sp>
        <p:nvSpPr>
          <p:cNvPr id="63" name="Text 49"/>
          <p:cNvSpPr/>
          <p:nvPr/>
        </p:nvSpPr>
        <p:spPr>
          <a:xfrm>
            <a:off x="9518904" y="553212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→ Alert shown</a:t>
            </a:r>
            <a:endParaRPr lang="en-US" sz="1150" dirty="0"/>
          </a:p>
        </p:txBody>
      </p:sp>
      <p:sp>
        <p:nvSpPr>
          <p:cNvPr id="64" name="Text 50"/>
          <p:cNvSpPr/>
          <p:nvPr/>
        </p:nvSpPr>
        <p:spPr>
          <a:xfrm>
            <a:off x="1076566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65" name="Text 5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DCF0E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4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01–02  ·  EXAMPLES &amp; NAMED RANGES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27455" y="757123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Validation Examples &amp; Named Ranges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94206" y="136245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formulas plus a smarter way to manage reference ranges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486400" cy="1152144"/>
          </a:xfrm>
          <a:prstGeom prst="roundRect">
            <a:avLst>
              <a:gd name="adj" fmla="val 6349"/>
            </a:avLst>
          </a:prstGeom>
          <a:solidFill>
            <a:srgbClr val="F1F8F4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020824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icons/list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2151583"/>
            <a:ext cx="241402" cy="2414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94767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List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463040" y="22585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range as the Source for a clean dropdown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463040" y="2587752"/>
            <a:ext cx="4434840" cy="365760"/>
          </a:xfrm>
          <a:prstGeom prst="roundRect">
            <a:avLst>
              <a:gd name="adj" fmla="val 15000"/>
            </a:avLst>
          </a:prstGeom>
          <a:solidFill>
            <a:srgbClr val="0F4D32"/>
          </a:solidFill>
          <a:ln/>
        </p:spPr>
      </p:sp>
      <p:sp>
        <p:nvSpPr>
          <p:cNvPr id="12" name="Text 9"/>
          <p:cNvSpPr/>
          <p:nvPr/>
        </p:nvSpPr>
        <p:spPr>
          <a:xfrm>
            <a:off x="1554480" y="258775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F2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=DeptList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3172968"/>
            <a:ext cx="5486400" cy="1152144"/>
          </a:xfrm>
          <a:prstGeom prst="roundRect">
            <a:avLst>
              <a:gd name="adj" fmla="val 6349"/>
            </a:avLst>
          </a:prstGeom>
          <a:solidFill>
            <a:srgbClr val="F1F8F4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77240" y="331927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icons/warning-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999" y="3450031"/>
            <a:ext cx="241402" cy="24140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463040" y="3246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Duplicates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1463040" y="355701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repeat entries in a key column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1463040" y="3886200"/>
            <a:ext cx="4434840" cy="365760"/>
          </a:xfrm>
          <a:prstGeom prst="roundRect">
            <a:avLst>
              <a:gd name="adj" fmla="val 15000"/>
            </a:avLst>
          </a:prstGeom>
          <a:solidFill>
            <a:srgbClr val="0F4D32"/>
          </a:solidFill>
          <a:ln/>
        </p:spPr>
      </p:sp>
      <p:sp>
        <p:nvSpPr>
          <p:cNvPr id="19" name="Text 15"/>
          <p:cNvSpPr/>
          <p:nvPr/>
        </p:nvSpPr>
        <p:spPr>
          <a:xfrm>
            <a:off x="1554480" y="38862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F2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=COUNTIF($B$2:$B$100,B2)=1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48640" y="4471416"/>
            <a:ext cx="5486400" cy="1152144"/>
          </a:xfrm>
          <a:prstGeom prst="roundRect">
            <a:avLst>
              <a:gd name="adj" fmla="val 6349"/>
            </a:avLst>
          </a:prstGeom>
          <a:solidFill>
            <a:srgbClr val="F1F8F4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77240" y="46177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2" descr="icons/hashtag-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999" y="4748479"/>
            <a:ext cx="241402" cy="24140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463040" y="45445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Number Range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1463040" y="485546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only values between 1 and 100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1463040" y="5184648"/>
            <a:ext cx="4434840" cy="365760"/>
          </a:xfrm>
          <a:prstGeom prst="roundRect">
            <a:avLst>
              <a:gd name="adj" fmla="val 15000"/>
            </a:avLst>
          </a:prstGeom>
          <a:solidFill>
            <a:srgbClr val="0F4D32"/>
          </a:solidFill>
          <a:ln/>
        </p:spPr>
      </p:sp>
      <p:sp>
        <p:nvSpPr>
          <p:cNvPr id="26" name="Text 21"/>
          <p:cNvSpPr/>
          <p:nvPr/>
        </p:nvSpPr>
        <p:spPr>
          <a:xfrm>
            <a:off x="1554480" y="518464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F2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=AND(A1&gt;=1, A1&lt;=100)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355080" y="1874520"/>
            <a:ext cx="5285232" cy="2331720"/>
          </a:xfrm>
          <a:prstGeom prst="roundRect">
            <a:avLst>
              <a:gd name="adj" fmla="val 3137"/>
            </a:avLst>
          </a:prstGeom>
          <a:solidFill>
            <a:srgbClr val="0F4D32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583680" y="2084832"/>
            <a:ext cx="548640" cy="548640"/>
          </a:xfrm>
          <a:prstGeom prst="ellipse">
            <a:avLst/>
          </a:prstGeom>
          <a:solidFill>
            <a:srgbClr val="1E7F4F"/>
          </a:solidFill>
          <a:ln/>
        </p:spPr>
      </p:sp>
      <p:pic>
        <p:nvPicPr>
          <p:cNvPr id="29" name="Image 3" descr="icons/tags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6326" y="2227478"/>
            <a:ext cx="263347" cy="263347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269480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Range Concept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6583680" y="27432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C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descriptive name (e.g. 'DeptList') to a cell range. Use that name directly in formulas, validation rules, and dropdowns instead of cryptic cell references like $A$2:$A$10.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6583680" y="3703320"/>
            <a:ext cx="4846320" cy="411480"/>
          </a:xfrm>
          <a:prstGeom prst="roundRect">
            <a:avLst>
              <a:gd name="adj" fmla="val 13333"/>
            </a:avLst>
          </a:prstGeom>
          <a:solidFill>
            <a:srgbClr val="14573A"/>
          </a:solidFill>
          <a:ln/>
        </p:spPr>
      </p:sp>
      <p:sp>
        <p:nvSpPr>
          <p:cNvPr id="33" name="Text 27"/>
          <p:cNvSpPr/>
          <p:nvPr/>
        </p:nvSpPr>
        <p:spPr>
          <a:xfrm>
            <a:off x="6675120" y="37033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F2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Manager  →  DeptList = Sheet1!$A$2:$A$10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6355080" y="4434840"/>
            <a:ext cx="5285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of Named Ranges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6355080" y="4846320"/>
            <a:ext cx="411480" cy="411480"/>
          </a:xfrm>
          <a:prstGeom prst="ellipse">
            <a:avLst/>
          </a:prstGeom>
          <a:solidFill>
            <a:srgbClr val="DCF0E4"/>
          </a:solidFill>
          <a:ln/>
        </p:spPr>
      </p:sp>
      <p:pic>
        <p:nvPicPr>
          <p:cNvPr id="36" name="Image 4" descr="icons/sync-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2065" y="4953305"/>
            <a:ext cx="197510" cy="19751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903720" y="48006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range once — every formula &amp; dropdown refreshes</a:t>
            </a:r>
            <a:endParaRPr lang="en-US" sz="1150" dirty="0"/>
          </a:p>
        </p:txBody>
      </p:sp>
      <p:sp>
        <p:nvSpPr>
          <p:cNvPr id="38" name="Shape 31"/>
          <p:cNvSpPr/>
          <p:nvPr/>
        </p:nvSpPr>
        <p:spPr>
          <a:xfrm>
            <a:off x="6355080" y="5440680"/>
            <a:ext cx="411480" cy="411480"/>
          </a:xfrm>
          <a:prstGeom prst="ellipse">
            <a:avLst/>
          </a:prstGeom>
          <a:solidFill>
            <a:srgbClr val="DCF0E4"/>
          </a:solidFill>
          <a:ln/>
        </p:spPr>
      </p:sp>
      <p:pic>
        <p:nvPicPr>
          <p:cNvPr id="39" name="Image 5" descr="icons/font-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2065" y="5547665"/>
            <a:ext cx="197510" cy="19751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903720" y="53949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formulas: =SUM(SalesQ3) vs =SUM(B2:B45)</a:t>
            </a:r>
            <a:endParaRPr lang="en-US" sz="1150" dirty="0"/>
          </a:p>
        </p:txBody>
      </p:sp>
      <p:sp>
        <p:nvSpPr>
          <p:cNvPr id="41" name="Shape 33"/>
          <p:cNvSpPr/>
          <p:nvPr/>
        </p:nvSpPr>
        <p:spPr>
          <a:xfrm>
            <a:off x="548640" y="598932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DCF0E4"/>
          </a:solidFill>
          <a:ln/>
        </p:spPr>
      </p:sp>
      <p:sp>
        <p:nvSpPr>
          <p:cNvPr id="42" name="Shape 34"/>
          <p:cNvSpPr/>
          <p:nvPr/>
        </p:nvSpPr>
        <p:spPr>
          <a:xfrm>
            <a:off x="713232" y="6089904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3" name="Image 6" descr="icons/magic-gree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3575" y="6180247"/>
            <a:ext cx="166787" cy="166787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1234440" y="59893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4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Dropdown Example:  </a:t>
            </a:r>
            <a:r>
              <a:rPr lang="en-US" sz="11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DeptList as a Table column — adding a new department to the table automatically extends the dropdown, no edits required.</a:t>
            </a:r>
            <a:endParaRPr lang="en-US" sz="1150" dirty="0"/>
          </a:p>
        </p:txBody>
      </p:sp>
      <p:sp>
        <p:nvSpPr>
          <p:cNvPr id="45" name="Text 36"/>
          <p:cNvSpPr/>
          <p:nvPr/>
        </p:nvSpPr>
        <p:spPr>
          <a:xfrm>
            <a:off x="1060704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46" name="Text 3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DCF0E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4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CONDITIONAL FORMATTING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81381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 Formatting Overview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1399219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visual styles automatically based on the data itself — no manual formatting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4206240" cy="2286000"/>
          </a:xfrm>
          <a:prstGeom prst="roundRect">
            <a:avLst>
              <a:gd name="adj" fmla="val 3200"/>
            </a:avLst>
          </a:prstGeom>
          <a:solidFill>
            <a:srgbClr val="0F4D32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1E7F4F"/>
          </a:solidFill>
          <a:ln/>
        </p:spPr>
      </p:sp>
      <p:pic>
        <p:nvPicPr>
          <p:cNvPr id="8" name="Image 0" descr="icons/palette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2188159"/>
            <a:ext cx="241402" cy="2414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20756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26517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C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Formatting applies colors, icons, and data bars to cells based on rules — turning raw numbers into instant visual insight, without changing the underlying data.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77240" y="3520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3822192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C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spot outliers, trends, and exceptions at a glance — critical for fast decisions in dashboards.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937760" y="1874520"/>
            <a:ext cx="2240280" cy="2286000"/>
          </a:xfrm>
          <a:prstGeom prst="roundRect">
            <a:avLst>
              <a:gd name="adj" fmla="val 3265"/>
            </a:avLst>
          </a:prstGeom>
          <a:solidFill>
            <a:srgbClr val="F1F8F4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102352" y="20574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icons/chartbar-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111" y="2188159"/>
            <a:ext cx="241402" cy="24140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02352" y="2670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Bars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102352" y="3035808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or solid fill bars proportional to each cell's value — instant magnitude comparison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7360920" y="1874520"/>
            <a:ext cx="2240280" cy="2286000"/>
          </a:xfrm>
          <a:prstGeom prst="roundRect">
            <a:avLst>
              <a:gd name="adj" fmla="val 3265"/>
            </a:avLst>
          </a:prstGeom>
          <a:solidFill>
            <a:srgbClr val="F1F8F4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525512" y="20574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2" descr="icons/palette-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6271" y="2188159"/>
            <a:ext cx="241402" cy="24140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525512" y="2670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Scales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7525512" y="3035808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 or 3-color gradients spread across a range — heat-map style visualization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9784080" y="1874520"/>
            <a:ext cx="2240280" cy="2286000"/>
          </a:xfrm>
          <a:prstGeom prst="roundRect">
            <a:avLst>
              <a:gd name="adj" fmla="val 3265"/>
            </a:avLst>
          </a:prstGeom>
          <a:solidFill>
            <a:srgbClr val="F1F8F4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948672" y="20574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3" descr="icons/bullseye-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9431" y="2188159"/>
            <a:ext cx="241402" cy="24140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948672" y="2670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 Sets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9948672" y="3035808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Arrows, traffic lights, stars &amp; flags based on thresholds — quick status signals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1097280" y="430682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Example — Regional Sales Health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548640" y="47548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1737360" y="4828032"/>
            <a:ext cx="8686800" cy="237744"/>
          </a:xfrm>
          <a:prstGeom prst="roundRect">
            <a:avLst>
              <a:gd name="adj" fmla="val 15385"/>
            </a:avLst>
          </a:prstGeom>
          <a:solidFill>
            <a:srgbClr val="E3ECE7"/>
          </a:solidFill>
          <a:ln/>
        </p:spPr>
      </p:sp>
      <p:sp>
        <p:nvSpPr>
          <p:cNvPr id="31" name="Shape 25"/>
          <p:cNvSpPr/>
          <p:nvPr/>
        </p:nvSpPr>
        <p:spPr>
          <a:xfrm>
            <a:off x="1737360" y="4828032"/>
            <a:ext cx="7123176" cy="237744"/>
          </a:xfrm>
          <a:prstGeom prst="roundRect">
            <a:avLst>
              <a:gd name="adj" fmla="val 15385"/>
            </a:avLst>
          </a:prstGeom>
          <a:solidFill>
            <a:srgbClr val="1E7F4F"/>
          </a:solidFill>
          <a:ln/>
        </p:spPr>
      </p:sp>
      <p:sp>
        <p:nvSpPr>
          <p:cNvPr id="32" name="Text 26"/>
          <p:cNvSpPr/>
          <p:nvPr/>
        </p:nvSpPr>
        <p:spPr>
          <a:xfrm>
            <a:off x="10607040" y="475488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7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11384280" y="4782312"/>
            <a:ext cx="329184" cy="329184"/>
          </a:xfrm>
          <a:prstGeom prst="ellipse">
            <a:avLst/>
          </a:prstGeom>
          <a:solidFill>
            <a:srgbClr val="F1F8F4"/>
          </a:solidFill>
          <a:ln/>
        </p:spPr>
      </p:sp>
      <p:pic>
        <p:nvPicPr>
          <p:cNvPr id="34" name="Image 4" descr="icons/check-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69868" y="4867900"/>
            <a:ext cx="158008" cy="15800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48640" y="519379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</a:t>
            </a:r>
            <a:endParaRPr lang="en-US" sz="1150" dirty="0"/>
          </a:p>
        </p:txBody>
      </p:sp>
      <p:sp>
        <p:nvSpPr>
          <p:cNvPr id="36" name="Shape 29"/>
          <p:cNvSpPr/>
          <p:nvPr/>
        </p:nvSpPr>
        <p:spPr>
          <a:xfrm>
            <a:off x="1737360" y="5266944"/>
            <a:ext cx="8686800" cy="237744"/>
          </a:xfrm>
          <a:prstGeom prst="roundRect">
            <a:avLst>
              <a:gd name="adj" fmla="val 15385"/>
            </a:avLst>
          </a:prstGeom>
          <a:solidFill>
            <a:srgbClr val="E3ECE7"/>
          </a:solidFill>
          <a:ln/>
        </p:spPr>
      </p:sp>
      <p:sp>
        <p:nvSpPr>
          <p:cNvPr id="37" name="Shape 30"/>
          <p:cNvSpPr/>
          <p:nvPr/>
        </p:nvSpPr>
        <p:spPr>
          <a:xfrm>
            <a:off x="1737360" y="5266944"/>
            <a:ext cx="4777740" cy="237744"/>
          </a:xfrm>
          <a:prstGeom prst="roundRect">
            <a:avLst>
              <a:gd name="adj" fmla="val 15385"/>
            </a:avLst>
          </a:prstGeom>
          <a:solidFill>
            <a:srgbClr val="E8A33D"/>
          </a:solidFill>
          <a:ln/>
        </p:spPr>
      </p:sp>
      <p:sp>
        <p:nvSpPr>
          <p:cNvPr id="38" name="Text 31"/>
          <p:cNvSpPr/>
          <p:nvPr/>
        </p:nvSpPr>
        <p:spPr>
          <a:xfrm>
            <a:off x="10607040" y="519379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11384280" y="5221224"/>
            <a:ext cx="329184" cy="329184"/>
          </a:xfrm>
          <a:prstGeom prst="ellipse">
            <a:avLst/>
          </a:prstGeom>
          <a:solidFill>
            <a:srgbClr val="F1F8F4"/>
          </a:solidFill>
          <a:ln/>
        </p:spPr>
      </p:sp>
      <p:pic>
        <p:nvPicPr>
          <p:cNvPr id="40" name="Image 5" descr="icons/warning-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69868" y="5306812"/>
            <a:ext cx="158008" cy="158008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548640" y="563270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1150" dirty="0"/>
          </a:p>
        </p:txBody>
      </p:sp>
      <p:sp>
        <p:nvSpPr>
          <p:cNvPr id="42" name="Shape 34"/>
          <p:cNvSpPr/>
          <p:nvPr/>
        </p:nvSpPr>
        <p:spPr>
          <a:xfrm>
            <a:off x="1737360" y="5705856"/>
            <a:ext cx="8686800" cy="237744"/>
          </a:xfrm>
          <a:prstGeom prst="roundRect">
            <a:avLst>
              <a:gd name="adj" fmla="val 15385"/>
            </a:avLst>
          </a:prstGeom>
          <a:solidFill>
            <a:srgbClr val="E3ECE7"/>
          </a:solidFill>
          <a:ln/>
        </p:spPr>
      </p:sp>
      <p:sp>
        <p:nvSpPr>
          <p:cNvPr id="43" name="Shape 35"/>
          <p:cNvSpPr/>
          <p:nvPr/>
        </p:nvSpPr>
        <p:spPr>
          <a:xfrm>
            <a:off x="1737360" y="5705856"/>
            <a:ext cx="8165592" cy="237744"/>
          </a:xfrm>
          <a:prstGeom prst="roundRect">
            <a:avLst>
              <a:gd name="adj" fmla="val 15385"/>
            </a:avLst>
          </a:prstGeom>
          <a:solidFill>
            <a:srgbClr val="1E7F4F"/>
          </a:solidFill>
          <a:ln/>
        </p:spPr>
      </p:sp>
      <p:sp>
        <p:nvSpPr>
          <p:cNvPr id="44" name="Text 36"/>
          <p:cNvSpPr/>
          <p:nvPr/>
        </p:nvSpPr>
        <p:spPr>
          <a:xfrm>
            <a:off x="10607040" y="563270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7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1100" dirty="0"/>
          </a:p>
        </p:txBody>
      </p:sp>
      <p:sp>
        <p:nvSpPr>
          <p:cNvPr id="45" name="Shape 37"/>
          <p:cNvSpPr/>
          <p:nvPr/>
        </p:nvSpPr>
        <p:spPr>
          <a:xfrm>
            <a:off x="11384280" y="5660136"/>
            <a:ext cx="329184" cy="329184"/>
          </a:xfrm>
          <a:prstGeom prst="ellipse">
            <a:avLst/>
          </a:prstGeom>
          <a:solidFill>
            <a:srgbClr val="F1F8F4"/>
          </a:solidFill>
          <a:ln/>
        </p:spPr>
      </p:sp>
      <p:pic>
        <p:nvPicPr>
          <p:cNvPr id="46" name="Image 6" descr="icons/check-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69868" y="5745724"/>
            <a:ext cx="158008" cy="158008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548640" y="607161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1150" dirty="0"/>
          </a:p>
        </p:txBody>
      </p:sp>
      <p:sp>
        <p:nvSpPr>
          <p:cNvPr id="48" name="Shape 39"/>
          <p:cNvSpPr/>
          <p:nvPr/>
        </p:nvSpPr>
        <p:spPr>
          <a:xfrm>
            <a:off x="1737360" y="6144768"/>
            <a:ext cx="8686800" cy="237744"/>
          </a:xfrm>
          <a:prstGeom prst="roundRect">
            <a:avLst>
              <a:gd name="adj" fmla="val 15385"/>
            </a:avLst>
          </a:prstGeom>
          <a:solidFill>
            <a:srgbClr val="E3ECE7"/>
          </a:solidFill>
          <a:ln/>
        </p:spPr>
      </p:sp>
      <p:sp>
        <p:nvSpPr>
          <p:cNvPr id="49" name="Shape 40"/>
          <p:cNvSpPr/>
          <p:nvPr/>
        </p:nvSpPr>
        <p:spPr>
          <a:xfrm>
            <a:off x="1737360" y="6144768"/>
            <a:ext cx="3300984" cy="237744"/>
          </a:xfrm>
          <a:prstGeom prst="roundRect">
            <a:avLst>
              <a:gd name="adj" fmla="val 15385"/>
            </a:avLst>
          </a:prstGeom>
          <a:solidFill>
            <a:srgbClr val="D9534F"/>
          </a:solidFill>
          <a:ln/>
        </p:spPr>
      </p:sp>
      <p:sp>
        <p:nvSpPr>
          <p:cNvPr id="50" name="Text 41"/>
          <p:cNvSpPr/>
          <p:nvPr/>
        </p:nvSpPr>
        <p:spPr>
          <a:xfrm>
            <a:off x="10607040" y="607161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100" dirty="0"/>
          </a:p>
        </p:txBody>
      </p:sp>
      <p:sp>
        <p:nvSpPr>
          <p:cNvPr id="51" name="Shape 42"/>
          <p:cNvSpPr/>
          <p:nvPr/>
        </p:nvSpPr>
        <p:spPr>
          <a:xfrm>
            <a:off x="11384280" y="6099048"/>
            <a:ext cx="329184" cy="329184"/>
          </a:xfrm>
          <a:prstGeom prst="ellipse">
            <a:avLst/>
          </a:prstGeom>
          <a:solidFill>
            <a:srgbClr val="F1F8F4"/>
          </a:solidFill>
          <a:ln/>
        </p:spPr>
      </p:sp>
      <p:pic>
        <p:nvPicPr>
          <p:cNvPr id="52" name="Image 7" descr="icons/warning-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69868" y="6184636"/>
            <a:ext cx="158008" cy="158008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54" name="Text 4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DCF0E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4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BUSINESS APPLICATIONS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27760" y="7514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 Formatting — Business Applications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27760" y="1339447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high-impact scenarios where visual rules drive faster decisions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157984" cy="3931920"/>
          </a:xfrm>
          <a:prstGeom prst="roundRect">
            <a:avLst>
              <a:gd name="adj" fmla="val 3390"/>
            </a:avLst>
          </a:prstGeom>
          <a:solidFill>
            <a:srgbClr val="F1F8F4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0574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icons/gauge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" y="2188159"/>
            <a:ext cx="241402" cy="2414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232" y="2697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Tracking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13232" y="324612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/ amber / green traffic-light indicators on dashboards highlight performance against targets instantly.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13232" y="5093208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0F4D32"/>
          </a:solidFill>
          <a:ln/>
        </p:spPr>
      </p:sp>
      <p:sp>
        <p:nvSpPr>
          <p:cNvPr id="12" name="Text 9"/>
          <p:cNvSpPr/>
          <p:nvPr/>
        </p:nvSpPr>
        <p:spPr>
          <a:xfrm>
            <a:off x="786384" y="5093208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6F2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=$C2&gt;1000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852928" y="1874520"/>
            <a:ext cx="2157984" cy="3931920"/>
          </a:xfrm>
          <a:prstGeom prst="roundRect">
            <a:avLst>
              <a:gd name="adj" fmla="val 3390"/>
            </a:avLst>
          </a:prstGeom>
          <a:solidFill>
            <a:srgbClr val="F1F8F4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017520" y="20574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icons/chartline-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8279" y="2188159"/>
            <a:ext cx="241402" cy="24140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017520" y="2697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017520" y="324612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top and bottom performers across reps, products, or regions using Top/Bottom rules.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017520" y="5093208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0F4D32"/>
          </a:solidFill>
          <a:ln/>
        </p:spPr>
      </p:sp>
      <p:sp>
        <p:nvSpPr>
          <p:cNvPr id="19" name="Text 15"/>
          <p:cNvSpPr/>
          <p:nvPr/>
        </p:nvSpPr>
        <p:spPr>
          <a:xfrm>
            <a:off x="3090672" y="5093208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6F2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=RANK($B2,$B$2:$B$100)&lt;=3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5157216" y="1874520"/>
            <a:ext cx="2157984" cy="3931920"/>
          </a:xfrm>
          <a:prstGeom prst="roundRect">
            <a:avLst>
              <a:gd name="adj" fmla="val 3390"/>
            </a:avLst>
          </a:prstGeom>
          <a:solidFill>
            <a:srgbClr val="F1F8F4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321808" y="20574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2" descr="icons/project-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2567" y="2188159"/>
            <a:ext cx="241402" cy="24140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321808" y="2697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Monitoring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5321808" y="324612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overdue tasks or approaching deadlines automatically as dates pass thresholds.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321808" y="5093208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0F4D32"/>
          </a:solidFill>
          <a:ln/>
        </p:spPr>
      </p:sp>
      <p:sp>
        <p:nvSpPr>
          <p:cNvPr id="26" name="Text 21"/>
          <p:cNvSpPr/>
          <p:nvPr/>
        </p:nvSpPr>
        <p:spPr>
          <a:xfrm>
            <a:off x="5394960" y="5093208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6F2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=TODAY()-$B2&gt;30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7461504" y="1874520"/>
            <a:ext cx="2157984" cy="3931920"/>
          </a:xfrm>
          <a:prstGeom prst="roundRect">
            <a:avLst>
              <a:gd name="adj" fmla="val 3390"/>
            </a:avLst>
          </a:prstGeom>
          <a:solidFill>
            <a:srgbClr val="F1F8F4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7626096" y="20574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3" descr="icons/invoice-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6855" y="2188159"/>
            <a:ext cx="241402" cy="24140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626096" y="2697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Reporting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7626096" y="324612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negative values, budget overruns, or pending statuses for quick review by finance teams.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7626096" y="5093208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0F4D32"/>
          </a:solidFill>
          <a:ln/>
        </p:spPr>
      </p:sp>
      <p:sp>
        <p:nvSpPr>
          <p:cNvPr id="33" name="Text 27"/>
          <p:cNvSpPr/>
          <p:nvPr/>
        </p:nvSpPr>
        <p:spPr>
          <a:xfrm>
            <a:off x="7699248" y="5093208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6F2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=AND($C2&gt;0,$D2="Pending")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9765792" y="1874520"/>
            <a:ext cx="2157984" cy="3931920"/>
          </a:xfrm>
          <a:prstGeom prst="roundRect">
            <a:avLst>
              <a:gd name="adj" fmla="val 3390"/>
            </a:avLst>
          </a:prstGeom>
          <a:solidFill>
            <a:srgbClr val="F1F8F4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9930384" y="20574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4" descr="icons/broom-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1143" y="2188159"/>
            <a:ext cx="241402" cy="24140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9930384" y="2697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9930384" y="324612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blank cells, duplicate values, or stray leading/trailing spaces before analysis.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9930384" y="5093208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0F4D32"/>
          </a:solidFill>
          <a:ln/>
        </p:spPr>
      </p:sp>
      <p:sp>
        <p:nvSpPr>
          <p:cNvPr id="40" name="Text 33"/>
          <p:cNvSpPr/>
          <p:nvPr/>
        </p:nvSpPr>
        <p:spPr>
          <a:xfrm>
            <a:off x="10003536" y="5093208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6F2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=LEN(TRIM($A2))&lt;&gt;LEN($A2)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548640" y="598932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DCF0E4"/>
          </a:solidFill>
          <a:ln/>
        </p:spPr>
      </p:sp>
      <p:sp>
        <p:nvSpPr>
          <p:cNvPr id="42" name="Shape 35"/>
          <p:cNvSpPr/>
          <p:nvPr/>
        </p:nvSpPr>
        <p:spPr>
          <a:xfrm>
            <a:off x="713232" y="6089904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3" name="Image 5" descr="icons/warning-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575" y="6180247"/>
            <a:ext cx="166787" cy="166787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1234440" y="59893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4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tip:  </a:t>
            </a:r>
            <a:r>
              <a:rPr lang="en-US" sz="11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formatting can slow Excel significantly on very large datasets (100k+ rows) — apply rules to filtered ranges where possible.</a:t>
            </a:r>
            <a:endParaRPr lang="en-US" sz="1150" dirty="0"/>
          </a:p>
        </p:txBody>
      </p:sp>
      <p:sp>
        <p:nvSpPr>
          <p:cNvPr id="45" name="Text 3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46" name="Text 3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DCF0E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4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LOOKUP FUNCTIONS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75820" y="769439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Lookup Functions Overview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51560" y="12893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a value in one dataset and return related information from another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183794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Lookup Family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502920" cy="502920"/>
          </a:xfrm>
          <a:prstGeom prst="ellipse">
            <a:avLst/>
          </a:prstGeom>
          <a:solidFill>
            <a:srgbClr val="F1F8F4"/>
          </a:solidFill>
          <a:ln/>
        </p:spPr>
      </p:sp>
      <p:pic>
        <p:nvPicPr>
          <p:cNvPr id="8" name="Image 0" descr="icons/arrowsv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2462479"/>
            <a:ext cx="241402" cy="2414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0432" y="23134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VLOOKUP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70432" y="26243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search, returns from a column to the right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337560" y="2331720"/>
            <a:ext cx="502920" cy="502920"/>
          </a:xfrm>
          <a:prstGeom prst="ellipse">
            <a:avLst/>
          </a:prstGeom>
          <a:solidFill>
            <a:srgbClr val="F1F8F4"/>
          </a:solidFill>
          <a:ln/>
        </p:spPr>
      </p:sp>
      <p:pic>
        <p:nvPicPr>
          <p:cNvPr id="12" name="Image 1" descr="icons/arrowsh-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8319" y="246247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59352" y="23134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HLOOKUP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959352" y="26243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search, returns from a row below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48640" y="3291840"/>
            <a:ext cx="502920" cy="502920"/>
          </a:xfrm>
          <a:prstGeom prst="ellipse">
            <a:avLst/>
          </a:prstGeom>
          <a:solidFill>
            <a:srgbClr val="F1F8F4"/>
          </a:solidFill>
          <a:ln/>
        </p:spPr>
      </p:sp>
      <p:pic>
        <p:nvPicPr>
          <p:cNvPr id="16" name="Image 2" descr="icons/table-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99" y="342259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70432" y="32735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170432" y="35844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value at a row/column position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3337560" y="3291840"/>
            <a:ext cx="502920" cy="502920"/>
          </a:xfrm>
          <a:prstGeom prst="ellipse">
            <a:avLst/>
          </a:prstGeom>
          <a:solidFill>
            <a:srgbClr val="F1F8F4"/>
          </a:solidFill>
          <a:ln/>
        </p:spPr>
      </p:sp>
      <p:pic>
        <p:nvPicPr>
          <p:cNvPr id="20" name="Image 3" descr="icons/search-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8319" y="3422599"/>
            <a:ext cx="241402" cy="24140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959352" y="32735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3959352" y="35844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position of a value, not the value itself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548640" y="4251960"/>
            <a:ext cx="502920" cy="502920"/>
          </a:xfrm>
          <a:prstGeom prst="ellipse">
            <a:avLst/>
          </a:prstGeom>
          <a:solidFill>
            <a:srgbClr val="F1F8F4"/>
          </a:solidFill>
          <a:ln/>
        </p:spPr>
      </p:sp>
      <p:pic>
        <p:nvPicPr>
          <p:cNvPr id="24" name="Image 4" descr="icons/link-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399" y="4382719"/>
            <a:ext cx="241402" cy="24140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70432" y="42336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INDEX+MATCH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1170432" y="45445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both for flexible 2-way lookups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3337560" y="4251960"/>
            <a:ext cx="502920" cy="502920"/>
          </a:xfrm>
          <a:prstGeom prst="ellipse">
            <a:avLst/>
          </a:prstGeom>
          <a:solidFill>
            <a:srgbClr val="F1F8F4"/>
          </a:solidFill>
          <a:ln/>
        </p:spPr>
      </p:sp>
      <p:pic>
        <p:nvPicPr>
          <p:cNvPr id="28" name="Image 5" descr="icons/bolt-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68319" y="4382719"/>
            <a:ext cx="241402" cy="24140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959352" y="42336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XLOOKUP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3959352" y="45445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all-in-one replacement (Excel 365+)</a:t>
            </a:r>
            <a:endParaRPr lang="en-US" sz="950" dirty="0"/>
          </a:p>
        </p:txBody>
      </p:sp>
      <p:sp>
        <p:nvSpPr>
          <p:cNvPr id="31" name="Text 23"/>
          <p:cNvSpPr/>
          <p:nvPr/>
        </p:nvSpPr>
        <p:spPr>
          <a:xfrm>
            <a:off x="6355080" y="1874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Comparison</a:t>
            </a:r>
            <a:endParaRPr lang="en-US" sz="14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2331720"/>
          <a:ext cx="5285232" cy="210312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VLOOKUP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Vertical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by row key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HLOOKUP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 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by column header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+ MATCH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↕↔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flexible lookup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XLOOKUP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↕↔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 replacement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" name="Shape 24"/>
          <p:cNvSpPr/>
          <p:nvPr/>
        </p:nvSpPr>
        <p:spPr>
          <a:xfrm>
            <a:off x="6355080" y="4617720"/>
            <a:ext cx="5285232" cy="1463040"/>
          </a:xfrm>
          <a:prstGeom prst="roundRect">
            <a:avLst>
              <a:gd name="adj" fmla="val 5000"/>
            </a:avLst>
          </a:prstGeom>
          <a:solidFill>
            <a:srgbClr val="0F4D32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25"/>
          <p:cNvSpPr/>
          <p:nvPr/>
        </p:nvSpPr>
        <p:spPr>
          <a:xfrm>
            <a:off x="6583680" y="47731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35" name="Text 26"/>
          <p:cNvSpPr/>
          <p:nvPr/>
        </p:nvSpPr>
        <p:spPr>
          <a:xfrm>
            <a:off x="6583680" y="50749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C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lookup function affects formula reliability, maintenance effort, and performance — especially as datasets grow into thousands of rows.</a:t>
            </a:r>
            <a:endParaRPr lang="en-US" sz="1200" dirty="0"/>
          </a:p>
        </p:txBody>
      </p:sp>
      <p:sp>
        <p:nvSpPr>
          <p:cNvPr id="36" name="Shape 27"/>
          <p:cNvSpPr/>
          <p:nvPr/>
        </p:nvSpPr>
        <p:spPr>
          <a:xfrm>
            <a:off x="548640" y="598932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0F4D32"/>
          </a:solidFill>
          <a:ln/>
        </p:spPr>
      </p:sp>
      <p:sp>
        <p:nvSpPr>
          <p:cNvPr id="37" name="Text 28"/>
          <p:cNvSpPr/>
          <p:nvPr/>
        </p:nvSpPr>
        <p:spPr>
          <a:xfrm>
            <a:off x="621792" y="5989320"/>
            <a:ext cx="1636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6F2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=MATCH("Alice",A2:A100,0)</a:t>
            </a:r>
            <a:endParaRPr lang="en-US" sz="800" dirty="0"/>
          </a:p>
        </p:txBody>
      </p:sp>
      <p:sp>
        <p:nvSpPr>
          <p:cNvPr id="38" name="Shape 29"/>
          <p:cNvSpPr/>
          <p:nvPr/>
        </p:nvSpPr>
        <p:spPr>
          <a:xfrm>
            <a:off x="2423160" y="598932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0F4D32"/>
          </a:solidFill>
          <a:ln/>
        </p:spPr>
      </p:sp>
      <p:sp>
        <p:nvSpPr>
          <p:cNvPr id="39" name="Text 30"/>
          <p:cNvSpPr/>
          <p:nvPr/>
        </p:nvSpPr>
        <p:spPr>
          <a:xfrm>
            <a:off x="2496312" y="5989320"/>
            <a:ext cx="1636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6F2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=INDEX(A1:D100,5,3)</a:t>
            </a:r>
            <a:endParaRPr lang="en-US" sz="800" dirty="0"/>
          </a:p>
        </p:txBody>
      </p:sp>
      <p:sp>
        <p:nvSpPr>
          <p:cNvPr id="40" name="Shape 31"/>
          <p:cNvSpPr/>
          <p:nvPr/>
        </p:nvSpPr>
        <p:spPr>
          <a:xfrm>
            <a:off x="4297680" y="598932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0F4D32"/>
          </a:solidFill>
          <a:ln/>
        </p:spPr>
      </p:sp>
      <p:sp>
        <p:nvSpPr>
          <p:cNvPr id="41" name="Text 32"/>
          <p:cNvSpPr/>
          <p:nvPr/>
        </p:nvSpPr>
        <p:spPr>
          <a:xfrm>
            <a:off x="4370832" y="5989320"/>
            <a:ext cx="1636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6F2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=INDEX(C2:C100,MATCH("Alice",A2:A100,0))</a:t>
            </a:r>
            <a:endParaRPr lang="en-US" sz="800" dirty="0"/>
          </a:p>
        </p:txBody>
      </p:sp>
      <p:sp>
        <p:nvSpPr>
          <p:cNvPr id="42" name="Text 3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43" name="Text 3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DCF0E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4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VLOOKUP DEEP DIVE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9848" y="81381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VLOOKUP — Vertical Lookup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27760" y="1341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down the first column of a range and return a value from the same row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0F4D32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90195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6F2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=VLOOKUP(lookup_value, table_array, col_index_num, [range_lookup])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227685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— col_index_num: 1 = first column of table_array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92200" y="27233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Process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127248"/>
            <a:ext cx="365760" cy="365760"/>
          </a:xfrm>
          <a:prstGeom prst="ellipse">
            <a:avLst/>
          </a:prstGeom>
          <a:solidFill>
            <a:srgbClr val="1E7F4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308152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scans the first column of table_array, top to bottom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694176"/>
            <a:ext cx="365760" cy="365760"/>
          </a:xfrm>
          <a:prstGeom prst="ellipse">
            <a:avLst/>
          </a:prstGeom>
          <a:solidFill>
            <a:srgbClr val="1E7F4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24128" y="364845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 row matching lookup_value (FALSE = exact match)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261104"/>
            <a:ext cx="365760" cy="365760"/>
          </a:xfrm>
          <a:prstGeom prst="ellipse">
            <a:avLst/>
          </a:prstGeom>
          <a:solidFill>
            <a:srgbClr val="1E7F4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24128" y="421538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across to col_index_num within that same row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828032"/>
            <a:ext cx="365760" cy="365760"/>
          </a:xfrm>
          <a:prstGeom prst="ellipse">
            <a:avLst/>
          </a:prstGeom>
          <a:solidFill>
            <a:srgbClr val="1E7F4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828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24128" y="478231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that cell's value to the formula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55080" y="18288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Example — Employee Lookup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2194560"/>
          <a:ext cx="5285232" cy="142646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Shah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R. Khan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 Verma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69,200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6355080" y="3703320"/>
            <a:ext cx="5285232" cy="685800"/>
          </a:xfrm>
          <a:prstGeom prst="roundRect">
            <a:avLst>
              <a:gd name="adj" fmla="val 10667"/>
            </a:avLst>
          </a:prstGeom>
          <a:solidFill>
            <a:srgbClr val="0F4D32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492240" y="3776472"/>
            <a:ext cx="5010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6F2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=VLOOKUP("EMP002", EmployeeTable, 3, FALSE)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4059936"/>
            <a:ext cx="5010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"Marketing" — department of EMP002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548640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1F8F4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731520" y="56509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0" descr="icons/thumbsup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5769864"/>
            <a:ext cx="219456" cy="219456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1325880" y="55961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1325880" y="590702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syntax, widely supported across all Excel versions, ideal for straightforward ID-to-value lookups.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6355080" y="5486400"/>
            <a:ext cx="5285232" cy="1051560"/>
          </a:xfrm>
          <a:prstGeom prst="roundRect">
            <a:avLst>
              <a:gd name="adj" fmla="val 6957"/>
            </a:avLst>
          </a:prstGeom>
          <a:solidFill>
            <a:srgbClr val="F1F8F4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6537960" y="56509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1" descr="icons/warning-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5769864"/>
            <a:ext cx="219456" cy="219456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7132320" y="55961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50" dirty="0"/>
          </a:p>
        </p:txBody>
      </p:sp>
      <p:sp>
        <p:nvSpPr>
          <p:cNvPr id="36" name="Text 31"/>
          <p:cNvSpPr/>
          <p:nvPr/>
        </p:nvSpPr>
        <p:spPr>
          <a:xfrm>
            <a:off x="7132320" y="590702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Left-to-right lookup only; lookup column must be first; breaks if columns are inserted/reordered.</a:t>
            </a:r>
            <a:endParaRPr lang="en-US" sz="1050" dirty="0"/>
          </a:p>
        </p:txBody>
      </p:sp>
      <p:sp>
        <p:nvSpPr>
          <p:cNvPr id="37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DCF0E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4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HLOOKUP DEEP DIVE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24712" y="8412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HLOOKUP — Horizontal Lookup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27760" y="12893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across the first row of a range and return a value from a row below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0F4D32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90195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6F2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=HLOOKUP(lookup_value, table_array, row_index_num, [range_lookup])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227685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— row_index_num: 1 = header row itself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97280" y="27437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Process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127248"/>
            <a:ext cx="365760" cy="365760"/>
          </a:xfrm>
          <a:prstGeom prst="ellipse">
            <a:avLst/>
          </a:prstGeom>
          <a:solidFill>
            <a:srgbClr val="1E7F4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308152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scans the first row of table_array, left to right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694176"/>
            <a:ext cx="365760" cy="365760"/>
          </a:xfrm>
          <a:prstGeom prst="ellipse">
            <a:avLst/>
          </a:prstGeom>
          <a:solidFill>
            <a:srgbClr val="1E7F4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24128" y="364845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 column matching lookup_value (FALSE = exact match)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261104"/>
            <a:ext cx="365760" cy="365760"/>
          </a:xfrm>
          <a:prstGeom prst="ellipse">
            <a:avLst/>
          </a:prstGeom>
          <a:solidFill>
            <a:srgbClr val="1E7F4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24128" y="421538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down to row_index_num within that same column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828032"/>
            <a:ext cx="365760" cy="365760"/>
          </a:xfrm>
          <a:prstGeom prst="ellipse">
            <a:avLst/>
          </a:prstGeom>
          <a:solidFill>
            <a:srgbClr val="1E7F4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828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24128" y="478231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that cell's value to the formula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55080" y="18288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Monthly Sales by Region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2194560"/>
          <a:ext cx="5285232" cy="1783080"/>
        </p:xfrm>
        <a:graphic>
          <a:graphicData uri="http://schemas.openxmlformats.org/drawingml/2006/table">
            <a:tbl>
              <a:tblPr/>
              <a:tblGrid>
                <a:gridCol w="1170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51,300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48,700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145,200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38,900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55,600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136,600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62,400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70,100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190,700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29,800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6355080" y="4114800"/>
            <a:ext cx="5285232" cy="685800"/>
          </a:xfrm>
          <a:prstGeom prst="roundRect">
            <a:avLst>
              <a:gd name="adj" fmla="val 10667"/>
            </a:avLst>
          </a:prstGeom>
          <a:solidFill>
            <a:srgbClr val="0F4D32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492240" y="4187952"/>
            <a:ext cx="5010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6F2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=HLOOKUP("Feb", $A$1:$E$5, 3, FALSE)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4471416"/>
            <a:ext cx="5010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42,100 — South's February sales (row 3 = South)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548640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1F8F4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731520" y="56509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0" descr="icons/thumbsup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5769864"/>
            <a:ext cx="219456" cy="219456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1325880" y="55961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1325880" y="590702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financial models where time periods (Jan, Feb, Mar) sit as column headers and metrics run down as rows.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6355080" y="5486400"/>
            <a:ext cx="5285232" cy="1051560"/>
          </a:xfrm>
          <a:prstGeom prst="roundRect">
            <a:avLst>
              <a:gd name="adj" fmla="val 6957"/>
            </a:avLst>
          </a:prstGeom>
          <a:solidFill>
            <a:srgbClr val="F1F8F4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6537960" y="56509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1" descr="icons/warning-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5769864"/>
            <a:ext cx="219456" cy="219456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7132320" y="55961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50" dirty="0"/>
          </a:p>
        </p:txBody>
      </p:sp>
      <p:sp>
        <p:nvSpPr>
          <p:cNvPr id="36" name="Text 31"/>
          <p:cNvSpPr/>
          <p:nvPr/>
        </p:nvSpPr>
        <p:spPr>
          <a:xfrm>
            <a:off x="7132320" y="590702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Top-to-bottom return only; not ideal for vertically structured data or very large datasets.</a:t>
            </a:r>
            <a:endParaRPr lang="en-US" sz="1050" dirty="0"/>
          </a:p>
        </p:txBody>
      </p:sp>
      <p:sp>
        <p:nvSpPr>
          <p:cNvPr id="37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DCF0E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4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INDEX + MATCH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27760" y="7955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 + MATCH — The Power Combination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42593" y="13909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functions, combined, for the most flexible lookup in Excel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4297680" cy="3749040"/>
          </a:xfrm>
          <a:prstGeom prst="roundRect">
            <a:avLst>
              <a:gd name="adj" fmla="val 1951"/>
            </a:avLst>
          </a:prstGeom>
          <a:solidFill>
            <a:srgbClr val="0F4D32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029968"/>
            <a:ext cx="548640" cy="548640"/>
          </a:xfrm>
          <a:prstGeom prst="ellipse">
            <a:avLst/>
          </a:prstGeom>
          <a:solidFill>
            <a:srgbClr val="1E7F4F"/>
          </a:solidFill>
          <a:ln/>
        </p:spPr>
      </p:sp>
      <p:pic>
        <p:nvPicPr>
          <p:cNvPr id="8" name="Image 0" descr="icons/rocke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2172614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057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Better Than VLOOKUP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7240" y="2743200"/>
            <a:ext cx="457200" cy="457200"/>
          </a:xfrm>
          <a:prstGeom prst="ellipse">
            <a:avLst/>
          </a:prstGeom>
          <a:solidFill>
            <a:srgbClr val="14573A"/>
          </a:solidFill>
          <a:ln/>
        </p:spPr>
      </p:sp>
      <p:pic>
        <p:nvPicPr>
          <p:cNvPr id="11" name="Image 1" descr="icons/arrowsh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28620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7249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Lookup Capability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371600" y="29992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F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value can sit to the LEFT of the lookup column — impossible with VLOOKUP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77240" y="3456432"/>
            <a:ext cx="457200" cy="457200"/>
          </a:xfrm>
          <a:prstGeom prst="ellipse">
            <a:avLst/>
          </a:prstGeom>
          <a:solidFill>
            <a:srgbClr val="14573A"/>
          </a:solidFill>
          <a:ln/>
        </p:spPr>
      </p:sp>
      <p:pic>
        <p:nvPicPr>
          <p:cNvPr id="15" name="Image 2" descr="icons/magic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3575304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43814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Search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371600" y="371246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F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return arrays can be any column or row, in any order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777240" y="4169664"/>
            <a:ext cx="457200" cy="457200"/>
          </a:xfrm>
          <a:prstGeom prst="ellipse">
            <a:avLst/>
          </a:prstGeom>
          <a:solidFill>
            <a:srgbClr val="14573A"/>
          </a:solidFill>
          <a:ln/>
        </p:spPr>
      </p:sp>
      <p:pic>
        <p:nvPicPr>
          <p:cNvPr id="19" name="Image 3" descr="icons/bolt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" y="4288536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41513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Benefits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371600" y="442569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F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only the needed column/row — faster than VLOOKUP's full table scan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77240" y="4882896"/>
            <a:ext cx="457200" cy="457200"/>
          </a:xfrm>
          <a:prstGeom prst="ellipse">
            <a:avLst/>
          </a:prstGeom>
          <a:solidFill>
            <a:srgbClr val="14573A"/>
          </a:solidFill>
          <a:ln/>
        </p:spPr>
      </p:sp>
      <p:pic>
        <p:nvPicPr>
          <p:cNvPr id="23" name="Image 4" descr="icons/shield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" y="5001768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371600" y="48646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Insertion-Proof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1371600" y="51389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F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Unaffected by inserting or deleting columns within the table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5074920" y="18288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Breakdown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5074920" y="2194560"/>
            <a:ext cx="6565392" cy="777240"/>
          </a:xfrm>
          <a:prstGeom prst="roundRect">
            <a:avLst>
              <a:gd name="adj" fmla="val 9412"/>
            </a:avLst>
          </a:prstGeom>
          <a:solidFill>
            <a:srgbClr val="0F4D32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1"/>
          <p:cNvSpPr/>
          <p:nvPr/>
        </p:nvSpPr>
        <p:spPr>
          <a:xfrm>
            <a:off x="5212080" y="2267712"/>
            <a:ext cx="6291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6F2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=INDEX(C2:C100, MATCH("Alice", A2:A100, 0))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5212080" y="2642616"/>
            <a:ext cx="6291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salary (col C) for the row where col A = 'Alice'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5074920" y="3200400"/>
            <a:ext cx="3108960" cy="1417320"/>
          </a:xfrm>
          <a:prstGeom prst="roundRect">
            <a:avLst>
              <a:gd name="adj" fmla="val 5161"/>
            </a:avLst>
          </a:prstGeom>
          <a:solidFill>
            <a:srgbClr val="F1F8F4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5257800" y="33832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5" descr="icons/search-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76672" y="3502152"/>
            <a:ext cx="219456" cy="21945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806440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finds position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5257800" y="3886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MATCH("Alice", A2:A100, 0) → 14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("Alice" is the 14th row)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8293608" y="3717036"/>
            <a:ext cx="384048" cy="384048"/>
          </a:xfrm>
          <a:prstGeom prst="ellipse">
            <a:avLst/>
          </a:prstGeom>
          <a:solidFill>
            <a:srgbClr val="DCF0E4"/>
          </a:solidFill>
          <a:ln/>
        </p:spPr>
      </p:sp>
      <p:pic>
        <p:nvPicPr>
          <p:cNvPr id="36" name="Image 6" descr="icons/arrowright-gree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3460" y="3816888"/>
            <a:ext cx="184343" cy="184343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787384" y="3200400"/>
            <a:ext cx="3108960" cy="1417320"/>
          </a:xfrm>
          <a:prstGeom prst="roundRect">
            <a:avLst>
              <a:gd name="adj" fmla="val 5161"/>
            </a:avLst>
          </a:prstGeom>
          <a:solidFill>
            <a:srgbClr val="F1F8F4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29"/>
          <p:cNvSpPr/>
          <p:nvPr/>
        </p:nvSpPr>
        <p:spPr>
          <a:xfrm>
            <a:off x="8970264" y="33832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9" name="Image 7" descr="icons/table-gree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89136" y="3502152"/>
            <a:ext cx="219456" cy="219456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9518904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returns value</a:t>
            </a:r>
            <a:endParaRPr lang="en-US" sz="1200" dirty="0"/>
          </a:p>
        </p:txBody>
      </p:sp>
      <p:sp>
        <p:nvSpPr>
          <p:cNvPr id="41" name="Text 31"/>
          <p:cNvSpPr/>
          <p:nvPr/>
        </p:nvSpPr>
        <p:spPr>
          <a:xfrm>
            <a:off x="8970264" y="3886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INDEX(C2:C100, 14) → 92,500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(value at position 14 in col C)</a:t>
            </a:r>
            <a:endParaRPr lang="en-US" sz="1000" dirty="0"/>
          </a:p>
        </p:txBody>
      </p:sp>
      <p:sp>
        <p:nvSpPr>
          <p:cNvPr id="42" name="Text 32"/>
          <p:cNvSpPr/>
          <p:nvPr/>
        </p:nvSpPr>
        <p:spPr>
          <a:xfrm>
            <a:off x="5074920" y="48463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2D Lookup Example</a:t>
            </a:r>
            <a:endParaRPr lang="en-US" sz="1300" dirty="0"/>
          </a:p>
        </p:txBody>
      </p:sp>
      <p:sp>
        <p:nvSpPr>
          <p:cNvPr id="43" name="Shape 33"/>
          <p:cNvSpPr/>
          <p:nvPr/>
        </p:nvSpPr>
        <p:spPr>
          <a:xfrm>
            <a:off x="5074920" y="5212080"/>
            <a:ext cx="6565392" cy="777240"/>
          </a:xfrm>
          <a:prstGeom prst="roundRect">
            <a:avLst>
              <a:gd name="adj" fmla="val 9412"/>
            </a:avLst>
          </a:prstGeom>
          <a:solidFill>
            <a:srgbClr val="0F4D32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Text 34"/>
          <p:cNvSpPr/>
          <p:nvPr/>
        </p:nvSpPr>
        <p:spPr>
          <a:xfrm>
            <a:off x="5212080" y="5285232"/>
            <a:ext cx="6291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6F2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=INDEX(A2:D100, MATCH("Q3",A2:A100,0), MATCH("Revenue",A1:D1,0))</a:t>
            </a:r>
            <a:endParaRPr lang="en-US" sz="1250" dirty="0"/>
          </a:p>
        </p:txBody>
      </p:sp>
      <p:sp>
        <p:nvSpPr>
          <p:cNvPr id="45" name="Text 35"/>
          <p:cNvSpPr/>
          <p:nvPr/>
        </p:nvSpPr>
        <p:spPr>
          <a:xfrm>
            <a:off x="5212080" y="5660136"/>
            <a:ext cx="6291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row for 'Q3' AND the column for 'Revenue' — true two-way lookup</a:t>
            </a:r>
            <a:endParaRPr lang="en-US" sz="1050" dirty="0"/>
          </a:p>
        </p:txBody>
      </p:sp>
      <p:sp>
        <p:nvSpPr>
          <p:cNvPr id="46" name="Text 3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47" name="Text 3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DCF0E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4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07–08  ·  XLOOKUP &amp; COMPARISON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74968" y="81381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XLOOKUP &amp; Comparison Guide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74496" y="138074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Excel 365 standard — and how all four lookup tools stack up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4297680" cy="4069080"/>
          </a:xfrm>
          <a:prstGeom prst="roundRect">
            <a:avLst>
              <a:gd name="adj" fmla="val 1798"/>
            </a:avLst>
          </a:prstGeom>
          <a:solidFill>
            <a:srgbClr val="0F4D32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029968"/>
            <a:ext cx="548640" cy="548640"/>
          </a:xfrm>
          <a:prstGeom prst="ellipse">
            <a:avLst/>
          </a:prstGeom>
          <a:solidFill>
            <a:srgbClr val="1E7F4F"/>
          </a:solidFill>
          <a:ln/>
        </p:spPr>
      </p:sp>
      <p:pic>
        <p:nvPicPr>
          <p:cNvPr id="8" name="Image 0" descr="icons/bol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2172614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057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XLOOKUP — Modern Standard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25786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F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Microsoft's recommended replacement for both VLOOKUP and HLOOKUP in Excel 365 / 2021+.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77240" y="3127248"/>
            <a:ext cx="402336" cy="402336"/>
          </a:xfrm>
          <a:prstGeom prst="ellipse">
            <a:avLst/>
          </a:prstGeom>
          <a:solidFill>
            <a:srgbClr val="14573A"/>
          </a:solidFill>
          <a:ln/>
        </p:spPr>
      </p:sp>
      <p:pic>
        <p:nvPicPr>
          <p:cNvPr id="12" name="Image 1" descr="icons/shield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847" y="3231855"/>
            <a:ext cx="193121" cy="1931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5880" y="30998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Error Handling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1325880" y="33558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F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[not_found] argument removes the need for IFERROR()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777240" y="3730752"/>
            <a:ext cx="402336" cy="402336"/>
          </a:xfrm>
          <a:prstGeom prst="ellipse">
            <a:avLst/>
          </a:prstGeom>
          <a:solidFill>
            <a:srgbClr val="14573A"/>
          </a:solidFill>
          <a:ln/>
        </p:spPr>
      </p:sp>
      <p:pic>
        <p:nvPicPr>
          <p:cNvPr id="16" name="Image 2" descr="icons/arrowsh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847" y="3835359"/>
            <a:ext cx="193121" cy="1931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703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Any Direction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1325880" y="39593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F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or right lookups — no positional restrictions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777240" y="4334256"/>
            <a:ext cx="402336" cy="402336"/>
          </a:xfrm>
          <a:prstGeom prst="ellipse">
            <a:avLst/>
          </a:prstGeom>
          <a:solidFill>
            <a:srgbClr val="14573A"/>
          </a:solidFill>
          <a:ln/>
        </p:spPr>
      </p:sp>
      <p:pic>
        <p:nvPicPr>
          <p:cNvPr id="20" name="Image 3" descr="icons/layers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847" y="4438863"/>
            <a:ext cx="193121" cy="19312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25880" y="43068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Results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1325880" y="456285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F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several columns at once from a single formula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777240" y="4937760"/>
            <a:ext cx="402336" cy="402336"/>
          </a:xfrm>
          <a:prstGeom prst="ellipse">
            <a:avLst/>
          </a:prstGeom>
          <a:solidFill>
            <a:srgbClr val="14573A"/>
          </a:solidFill>
          <a:ln/>
        </p:spPr>
      </p:sp>
      <p:pic>
        <p:nvPicPr>
          <p:cNvPr id="24" name="Image 4" descr="icons/gauge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1847" y="5042367"/>
            <a:ext cx="193121" cy="193121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325880" y="49103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Performance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1325880" y="5166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F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only the lookup array, like INDEX+MATCH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777240" y="5440680"/>
            <a:ext cx="3840480" cy="384048"/>
          </a:xfrm>
          <a:prstGeom prst="roundRect">
            <a:avLst>
              <a:gd name="adj" fmla="val 19048"/>
            </a:avLst>
          </a:prstGeom>
          <a:solidFill>
            <a:srgbClr val="0F4D32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1"/>
          <p:cNvSpPr/>
          <p:nvPr/>
        </p:nvSpPr>
        <p:spPr>
          <a:xfrm>
            <a:off x="868680" y="54406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6F2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=XLOOKUP(A2,A2:A100,B2:B100,"Not Found")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5074920" y="18288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Table</a:t>
            </a:r>
            <a:endParaRPr lang="en-US" sz="13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2194560"/>
          <a:ext cx="6565392" cy="260604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VLOOKUP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HLOOKUP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INDEX+MATCH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XLOOKUP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Vertical 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 →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↕↔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↕↔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Lookup Col Position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be 1st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be 1st row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position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position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Not Found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IFERROR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IFERROR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IFERROR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param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Version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versions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versions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versions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365 / 2019+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1" name="Shape 23"/>
          <p:cNvSpPr/>
          <p:nvPr/>
        </p:nvSpPr>
        <p:spPr>
          <a:xfrm>
            <a:off x="5074920" y="4983480"/>
            <a:ext cx="6565392" cy="1234440"/>
          </a:xfrm>
          <a:prstGeom prst="roundRect">
            <a:avLst>
              <a:gd name="adj" fmla="val 5926"/>
            </a:avLst>
          </a:prstGeom>
          <a:solidFill>
            <a:srgbClr val="F1F8F4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5257800" y="513892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5" descr="icons/sitemap-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76672" y="5257800"/>
            <a:ext cx="219456" cy="21945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806440" y="51206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Decision Guide</a:t>
            </a:r>
            <a:endParaRPr lang="en-US" sz="1250" dirty="0"/>
          </a:p>
        </p:txBody>
      </p:sp>
      <p:sp>
        <p:nvSpPr>
          <p:cNvPr id="35" name="Text 26"/>
          <p:cNvSpPr/>
          <p:nvPr/>
        </p:nvSpPr>
        <p:spPr>
          <a:xfrm>
            <a:off x="5806440" y="54864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F4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column is first &amp; data is vertical?  </a:t>
            </a:r>
            <a:r>
              <a:rPr lang="en-US" sz="10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VLOOKUP.   </a:t>
            </a:r>
            <a:r>
              <a:rPr lang="en-US" sz="1050" b="1" dirty="0">
                <a:solidFill>
                  <a:srgbClr val="0F4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run across columns?  </a:t>
            </a:r>
            <a:r>
              <a:rPr lang="en-US" sz="10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HLOOKUP.   </a:t>
            </a:r>
            <a:r>
              <a:rPr lang="en-US" sz="1050" b="1" dirty="0">
                <a:solidFill>
                  <a:srgbClr val="0F4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left lookup or large data?  </a:t>
            </a:r>
            <a:r>
              <a:rPr lang="en-US" sz="10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INDEX+MATCH.   </a:t>
            </a:r>
            <a:r>
              <a:rPr lang="en-US" sz="1050" b="1" dirty="0">
                <a:solidFill>
                  <a:srgbClr val="0F4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Excel 365/2021+?  </a:t>
            </a:r>
            <a:r>
              <a:rPr lang="en-US" sz="105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XLOOKUP.</a:t>
            </a:r>
            <a:endParaRPr lang="en-US" sz="1050" dirty="0"/>
          </a:p>
        </p:txBody>
      </p:sp>
      <p:sp>
        <p:nvSpPr>
          <p:cNvPr id="36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4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0"/>
            <a:ext cx="0" cy="6858000"/>
          </a:xfrm>
          <a:prstGeom prst="line">
            <a:avLst/>
          </a:prstGeom>
          <a:noFill/>
          <a:ln w="9525">
            <a:solidFill>
              <a:srgbClr val="1A5C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0"/>
            <a:ext cx="0" cy="6858000"/>
          </a:xfrm>
          <a:prstGeom prst="line">
            <a:avLst/>
          </a:prstGeom>
          <a:noFill/>
          <a:ln w="9525">
            <a:solidFill>
              <a:srgbClr val="1A5C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9525">
            <a:solidFill>
              <a:srgbClr val="1A5C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9525">
            <a:solidFill>
              <a:srgbClr val="1A5C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9525">
            <a:solidFill>
              <a:srgbClr val="1A5C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9525">
            <a:solidFill>
              <a:srgbClr val="1A5C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9525">
            <a:solidFill>
              <a:srgbClr val="1A5C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9525">
            <a:solidFill>
              <a:srgbClr val="1A5C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194560"/>
            <a:ext cx="12191695" cy="0"/>
          </a:xfrm>
          <a:prstGeom prst="line">
            <a:avLst/>
          </a:prstGeom>
          <a:noFill/>
          <a:ln w="9525">
            <a:solidFill>
              <a:srgbClr val="1A5C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9525">
            <a:solidFill>
              <a:srgbClr val="1A5C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389120"/>
            <a:ext cx="12191695" cy="0"/>
          </a:xfrm>
          <a:prstGeom prst="line">
            <a:avLst/>
          </a:prstGeom>
          <a:noFill/>
          <a:ln w="9525">
            <a:solidFill>
              <a:srgbClr val="1A5C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9525">
            <a:solidFill>
              <a:srgbClr val="1A5C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Practices, Key Takeaways &amp; Q&amp;A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79268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F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habits for accurate formulas, and the outcomes they deliver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1691640"/>
            <a:ext cx="5577840" cy="4160520"/>
          </a:xfrm>
          <a:prstGeom prst="roundRect">
            <a:avLst>
              <a:gd name="adj" fmla="val 1758"/>
            </a:avLst>
          </a:prstGeom>
          <a:solidFill>
            <a:srgbClr val="14573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2960" y="2331720"/>
            <a:ext cx="457200" cy="457200"/>
          </a:xfrm>
          <a:prstGeom prst="ellipse">
            <a:avLst/>
          </a:prstGeom>
          <a:solidFill>
            <a:srgbClr val="1E7F4F"/>
          </a:solidFill>
          <a:ln/>
        </p:spPr>
      </p:sp>
      <p:pic>
        <p:nvPicPr>
          <p:cNvPr id="19" name="Image 0" descr="icons/bullseye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450592"/>
            <a:ext cx="219456" cy="21945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417320" y="23042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Exact Match (FALSE)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417320" y="258775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F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match silently returns wrong results on unsorted data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22960" y="3044952"/>
            <a:ext cx="457200" cy="457200"/>
          </a:xfrm>
          <a:prstGeom prst="ellipse">
            <a:avLst/>
          </a:prstGeom>
          <a:solidFill>
            <a:srgbClr val="1E7F4F"/>
          </a:solidFill>
          <a:ln/>
        </p:spPr>
      </p:sp>
      <p:pic>
        <p:nvPicPr>
          <p:cNvPr id="23" name="Image 1" descr="icons/shield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3163824"/>
            <a:ext cx="219456" cy="21945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417320" y="30175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IFERROR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1417320" y="330098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F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lookups to show clean messages instead of #N/A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822960" y="3758184"/>
            <a:ext cx="457200" cy="457200"/>
          </a:xfrm>
          <a:prstGeom prst="ellipse">
            <a:avLst/>
          </a:prstGeom>
          <a:solidFill>
            <a:srgbClr val="1E7F4F"/>
          </a:solidFill>
          <a:ln/>
        </p:spPr>
      </p:sp>
      <p:pic>
        <p:nvPicPr>
          <p:cNvPr id="27" name="Image 2" descr="icons/lock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3877056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417320" y="37307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References ($)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1417320" y="401421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F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references prevent shifting when copied down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822960" y="4471416"/>
            <a:ext cx="457200" cy="457200"/>
          </a:xfrm>
          <a:prstGeom prst="ellipse">
            <a:avLst/>
          </a:prstGeom>
          <a:solidFill>
            <a:srgbClr val="1E7F4F"/>
          </a:solidFill>
          <a:ln/>
        </p:spPr>
      </p:sp>
      <p:pic>
        <p:nvPicPr>
          <p:cNvPr id="31" name="Image 3" descr="icons/tags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4590288"/>
            <a:ext cx="219456" cy="21945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417320" y="444398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Named Ranges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1417320" y="47274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F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Readable, maintainable formulas across the workbook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822960" y="5184648"/>
            <a:ext cx="457200" cy="457200"/>
          </a:xfrm>
          <a:prstGeom prst="ellipse">
            <a:avLst/>
          </a:prstGeom>
          <a:solidFill>
            <a:srgbClr val="1E7F4F"/>
          </a:solidFill>
          <a:ln/>
        </p:spPr>
      </p:sp>
      <p:pic>
        <p:nvPicPr>
          <p:cNvPr id="35" name="Image 4" descr="icons/bolt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832" y="5303520"/>
            <a:ext cx="219456" cy="219456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417320" y="515721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INDEX+MATCH / XLOOKUP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1417320" y="54406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F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performance on large datasets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6355080" y="1691640"/>
            <a:ext cx="5285232" cy="2331720"/>
          </a:xfrm>
          <a:prstGeom prst="roundRect">
            <a:avLst>
              <a:gd name="adj" fmla="val 3137"/>
            </a:avLst>
          </a:prstGeom>
          <a:solidFill>
            <a:srgbClr val="1E7F4F"/>
          </a:solidFill>
          <a:ln/>
        </p:spPr>
      </p:sp>
      <p:sp>
        <p:nvSpPr>
          <p:cNvPr id="39" name="Text 32"/>
          <p:cNvSpPr/>
          <p:nvPr/>
        </p:nvSpPr>
        <p:spPr>
          <a:xfrm>
            <a:off x="662940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40" name="Shape 33"/>
          <p:cNvSpPr/>
          <p:nvPr/>
        </p:nvSpPr>
        <p:spPr>
          <a:xfrm>
            <a:off x="6629400" y="2331720"/>
            <a:ext cx="347472" cy="347472"/>
          </a:xfrm>
          <a:prstGeom prst="ellipse">
            <a:avLst/>
          </a:prstGeom>
          <a:solidFill>
            <a:srgbClr val="16A35E"/>
          </a:solidFill>
          <a:ln/>
        </p:spPr>
      </p:sp>
      <p:pic>
        <p:nvPicPr>
          <p:cNvPr id="41" name="Image 5" descr="icons/check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9743" y="2422063"/>
            <a:ext cx="166787" cy="166787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7114032" y="2295144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data accuracy through validation rules</a:t>
            </a:r>
            <a:endParaRPr lang="en-US" sz="1200" dirty="0"/>
          </a:p>
        </p:txBody>
      </p:sp>
      <p:sp>
        <p:nvSpPr>
          <p:cNvPr id="43" name="Shape 35"/>
          <p:cNvSpPr/>
          <p:nvPr/>
        </p:nvSpPr>
        <p:spPr>
          <a:xfrm>
            <a:off x="6629400" y="2752344"/>
            <a:ext cx="347472" cy="347472"/>
          </a:xfrm>
          <a:prstGeom prst="ellipse">
            <a:avLst/>
          </a:prstGeom>
          <a:solidFill>
            <a:srgbClr val="16A35E"/>
          </a:solidFill>
          <a:ln/>
        </p:spPr>
      </p:sp>
      <p:pic>
        <p:nvPicPr>
          <p:cNvPr id="44" name="Image 6" descr="icons/palette-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19743" y="2842687"/>
            <a:ext cx="166787" cy="166787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7114032" y="2715768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data visualization with conditional formatting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6629400" y="3172968"/>
            <a:ext cx="347472" cy="347472"/>
          </a:xfrm>
          <a:prstGeom prst="ellipse">
            <a:avLst/>
          </a:prstGeom>
          <a:solidFill>
            <a:srgbClr val="16A35E"/>
          </a:solidFill>
          <a:ln/>
        </p:spPr>
      </p:sp>
      <p:pic>
        <p:nvPicPr>
          <p:cNvPr id="47" name="Image 7" descr="icons/search-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19743" y="3263311"/>
            <a:ext cx="166787" cy="166787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7114032" y="3136392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efficient data retrieval with modern lookups</a:t>
            </a:r>
            <a:endParaRPr lang="en-US" sz="1200" dirty="0"/>
          </a:p>
        </p:txBody>
      </p:sp>
      <p:sp>
        <p:nvSpPr>
          <p:cNvPr id="49" name="Shape 39"/>
          <p:cNvSpPr/>
          <p:nvPr/>
        </p:nvSpPr>
        <p:spPr>
          <a:xfrm>
            <a:off x="6629400" y="3593592"/>
            <a:ext cx="347472" cy="347472"/>
          </a:xfrm>
          <a:prstGeom prst="ellipse">
            <a:avLst/>
          </a:prstGeom>
          <a:solidFill>
            <a:srgbClr val="16A35E"/>
          </a:solidFill>
          <a:ln/>
        </p:spPr>
      </p:sp>
      <p:pic>
        <p:nvPicPr>
          <p:cNvPr id="50" name="Image 8" descr="icons/rocket-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19743" y="3683935"/>
            <a:ext cx="166787" cy="166787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7114032" y="3557016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professional, audit-ready Excel reports</a:t>
            </a:r>
            <a:endParaRPr lang="en-US" sz="1200" dirty="0"/>
          </a:p>
        </p:txBody>
      </p:sp>
      <p:sp>
        <p:nvSpPr>
          <p:cNvPr id="52" name="Shape 41"/>
          <p:cNvSpPr/>
          <p:nvPr/>
        </p:nvSpPr>
        <p:spPr>
          <a:xfrm>
            <a:off x="6355080" y="4160520"/>
            <a:ext cx="5285232" cy="1691640"/>
          </a:xfrm>
          <a:prstGeom prst="roundRect">
            <a:avLst>
              <a:gd name="adj" fmla="val 4324"/>
            </a:avLst>
          </a:prstGeom>
          <a:solidFill>
            <a:srgbClr val="14573A"/>
          </a:solidFill>
          <a:ln/>
        </p:spPr>
      </p:sp>
      <p:sp>
        <p:nvSpPr>
          <p:cNvPr id="53" name="Shape 42"/>
          <p:cNvSpPr/>
          <p:nvPr/>
        </p:nvSpPr>
        <p:spPr>
          <a:xfrm>
            <a:off x="6629400" y="4389120"/>
            <a:ext cx="640080" cy="640080"/>
          </a:xfrm>
          <a:prstGeom prst="ellipse">
            <a:avLst/>
          </a:prstGeom>
          <a:solidFill>
            <a:srgbClr val="1E7F4F"/>
          </a:solidFill>
          <a:ln/>
        </p:spPr>
      </p:sp>
      <p:pic>
        <p:nvPicPr>
          <p:cNvPr id="54" name="Image 9" descr="icons/question-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95821" y="4555541"/>
            <a:ext cx="307238" cy="307238"/>
          </a:xfrm>
          <a:prstGeom prst="rect">
            <a:avLst/>
          </a:prstGeom>
        </p:spPr>
      </p:pic>
      <p:sp>
        <p:nvSpPr>
          <p:cNvPr id="55" name="Text 43"/>
          <p:cNvSpPr/>
          <p:nvPr/>
        </p:nvSpPr>
        <p:spPr>
          <a:xfrm>
            <a:off x="7406640" y="4434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&amp; Questions</a:t>
            </a:r>
            <a:endParaRPr lang="en-US" sz="2000" dirty="0"/>
          </a:p>
        </p:txBody>
      </p:sp>
      <p:sp>
        <p:nvSpPr>
          <p:cNvPr id="56" name="Text 44"/>
          <p:cNvSpPr/>
          <p:nvPr/>
        </p:nvSpPr>
        <p:spPr>
          <a:xfrm>
            <a:off x="6629400" y="50749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BF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floor for questions, formula walkthroughs, and live demonstrations on your own datasets.</a:t>
            </a:r>
            <a:endParaRPr lang="en-US" sz="1200" dirty="0"/>
          </a:p>
        </p:txBody>
      </p:sp>
      <p:sp>
        <p:nvSpPr>
          <p:cNvPr id="57" name="Text 45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82</TotalTime>
  <Words>1911</Words>
  <Application>Microsoft Office PowerPoint</Application>
  <PresentationFormat>Widescreen</PresentationFormat>
  <Paragraphs>365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Cambria</vt:lpstr>
      <vt:lpstr>Consolas</vt:lpstr>
      <vt:lpstr>MS Shell Dlg 2</vt:lpstr>
      <vt:lpstr>Wingdings</vt:lpstr>
      <vt:lpstr>Wingdings 3</vt:lpstr>
      <vt:lpstr>Madison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Excel Functions &amp; Data Management</dc:title>
  <dc:subject>PptxGenJS Presentation</dc:subject>
  <dc:creator>Excel Mastery Guide</dc:creator>
  <cp:lastModifiedBy>visxnugosali123@gmail.com</cp:lastModifiedBy>
  <cp:revision>3</cp:revision>
  <dcterms:created xsi:type="dcterms:W3CDTF">2026-06-15T10:08:46Z</dcterms:created>
  <dcterms:modified xsi:type="dcterms:W3CDTF">2026-06-16T10:32:51Z</dcterms:modified>
</cp:coreProperties>
</file>