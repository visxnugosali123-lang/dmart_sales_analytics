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34" y="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527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Excel Mastery Series session on Data Validation and Conditional Formatting. Introduce the agenda: we'll cover how to control what users enter into spreadsheets (Data Validation) and how to visually highlight data based on its values (Conditional Formatting). Emphasize the tagline: Automate, Validate, Visualize — these are the three outcomes attendees will be able to achieve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quickly so attendees know what to expect. The session is structured to first build a foundation in Data Validation, then move into Conditional Formatting, before combining both in advanced techniques and a quick reference guide they can keep for later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Data Validation in plain terms before showing the mechanics. Stress that this is a preventative control — it stops bad data before it ever enters the spreadsheet, which is far cheaper than cleaning it up later. Use the business benefits to connect the feature to real organizational outcomes: data quality, consistency, and audit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four-step process live in Excel if possible: select a cell, open the Data Validation dialog from the Data tab, configure the rule (e.g., Whole Number between 1 and 100), and then test by entering both a valid and invalid value to show the error alert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as a quick-reference catalogue of the seven core validation types. Highlight that 'Custom' is the most powerful — any rule expressible as a TRUE/FALSE formula can be used, making it suitable for cross-cell checks and complex business logic that the preset types can't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clearly between the three alert styles, since this is often confused. 'Stop' is for non-negotiable rules; 'Warning' allows exceptions with confirmation, useful for soft business rules; 'Information' is purely advisory. Pair this with Input Messages, which proactively guide the user before they even type — prevention is always better than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Conditional Formatting as the visual counterpart to Data Validation. Where DV controls what goes IN, CF controls how existing data LOOKS. Use the small dashboard example to show how a plain table of regional revenue becomes immediately scannable once status is color-coded — no formulas needed by the end user to interpret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categories cover the vast majority of real-world conditional formatting needs. Highlight Cell Rules and Top/Bottom Rules are the most commonly used for quick analysis, while Formula-Based Rules are the most flexible — anything that can be expressed as a TRUE/FALSE formula can drive a formatting rule, including cross-column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this workflow live: select a range of sales figures, open Conditional Formatting from the Home tab, apply a Color Scale, then open Manage Rules to show how rule order and 'Stop If True' control which formatting wins when multiple rules could apply to the same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conceptual takeaway of the deck. Data Validation acts as a gatekeeper before data enters a cell; Conditional Formatting acts as a lens applied to data already there. The two are complementary, not competing — used together they create both clean input and clear visual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techniques separate basic users from power users. Named Ranges and Dependent Dropdowns are essential for any form-style spreadsheet. Combining DV and CF on the same range is a favorite advanced pattern — restrict the input AND visually code the result. Always close with the Best Practices point: Clear All is destructive and removes ALL conditional formatting, not just the rule you intended to remove.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attendees to practice these shortcuts during the session. Alt-key sequences are pressed one after another, not simultaneously — Alt, then A, then V, then V. These two dialog shortcuts alone can save significant time for anyone who frequently builds or audits spreadsheet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technical content in tangible business scenarios. Pick the example most relevant to the audience — for finance teams, emphasize variance highlighting in Financial Reporting; for operations teams, emphasize Inventory Management's low-stock icon sets and data bars.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designed as a leave-behind reference — encourage attendees to take a photo or keep the exported deck. Walk through a couple of the less obvious rows live, particularly the Dependent Dropdown INDIRECT formula and the Formula Rule for highlighting values above the column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the four key takeaways: improved data quality, reduced errors, enhanced visualization, and increased productivity. End on the tagline — Smarter Data Entry, Better Decisions, Professional Results — and open the floor for questions or a short live Q&amp;A demo in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7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572000" cy="4572000"/>
          </a:xfrm>
          <a:prstGeom prst="ellipse">
            <a:avLst/>
          </a:prstGeom>
          <a:solidFill>
            <a:srgbClr val="00A86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389120"/>
            <a:ext cx="4206240" cy="4206240"/>
          </a:xfrm>
          <a:prstGeom prst="ellipse">
            <a:avLst/>
          </a:prstGeom>
          <a:solidFill>
            <a:srgbClr val="00A86B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 &amp;</a:t>
            </a:r>
            <a:endParaRPr lang="en-US" sz="48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Formatting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guide to smarter, cleaner, and more reliable spreadsheets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93776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0749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4937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4937760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5074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493776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50749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12280" y="4937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Criteria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823960" y="493776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8552" y="50749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26880" y="4937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 •  Validate  •  Visualize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149840" y="6126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session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79392" y="155448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07992" y="1783080"/>
            <a:ext cx="594360" cy="594360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39512" y="17830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10144" y="155448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38744" y="1783080"/>
            <a:ext cx="594360" cy="594360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38744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70264" y="17830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Types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337560"/>
            <a:ext cx="594360" cy="594360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33375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Messages &amp; Error Alerts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79392" y="31089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07992" y="3337560"/>
            <a:ext cx="594360" cy="594360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22" name="Text 20"/>
          <p:cNvSpPr/>
          <p:nvPr/>
        </p:nvSpPr>
        <p:spPr>
          <a:xfrm>
            <a:off x="4507992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39512" y="33375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10144" y="31089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8744" y="3337560"/>
            <a:ext cx="594360" cy="594360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26" name="Text 24"/>
          <p:cNvSpPr/>
          <p:nvPr/>
        </p:nvSpPr>
        <p:spPr>
          <a:xfrm>
            <a:off x="8238744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70264" y="33375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Categories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4892040"/>
            <a:ext cx="594360" cy="594360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892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08760" y="48920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Techniques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279392" y="46634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07992" y="4892040"/>
            <a:ext cx="594360" cy="594360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34" name="Text 32"/>
          <p:cNvSpPr/>
          <p:nvPr/>
        </p:nvSpPr>
        <p:spPr>
          <a:xfrm>
            <a:off x="4507992" y="4892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39512" y="48920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010144" y="46634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38744" y="4892040"/>
            <a:ext cx="594360" cy="594360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38" name="Text 36"/>
          <p:cNvSpPr/>
          <p:nvPr/>
        </p:nvSpPr>
        <p:spPr>
          <a:xfrm>
            <a:off x="8238744" y="4892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970264" y="48920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Guide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15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 Validation?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data quality at the point of entry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1371600"/>
          </a:xfrm>
          <a:prstGeom prst="roundRect">
            <a:avLst>
              <a:gd name="adj" fmla="val 5333"/>
            </a:avLst>
          </a:prstGeom>
          <a:solidFill>
            <a:srgbClr val="E6F7E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5648"/>
            <a:ext cx="502920" cy="50292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87634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55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is an Excel feature that restricts the type or range of values a user can enter in a cell — preventing errors, enforcing consistency, and guiding entry with messages and dropdown lists.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Benefits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520440"/>
            <a:ext cx="21214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3703320"/>
            <a:ext cx="457200" cy="457200"/>
          </a:xfrm>
          <a:prstGeom prst="ellipse">
            <a:avLst/>
          </a:prstGeom>
          <a:solidFill>
            <a:srgbClr val="E6F7E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130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Data Quality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13232" y="4617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typos, blanks, and out-of-range values.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88920" y="3520440"/>
            <a:ext cx="21214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953512" y="3703320"/>
            <a:ext cx="457200" cy="457200"/>
          </a:xfrm>
          <a:prstGeom prst="ellipse">
            <a:avLst/>
          </a:prstGeom>
          <a:solidFill>
            <a:srgbClr val="E6F7E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81304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953512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at Scale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53512" y="4617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entries across teams and forms.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029200" y="3520440"/>
            <a:ext cx="21214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193792" y="3703320"/>
            <a:ext cx="457200" cy="45720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81304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93792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Records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193792" y="4617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data for reporting and compliance.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315200" y="1554480"/>
            <a:ext cx="4297680" cy="4572000"/>
          </a:xfrm>
          <a:prstGeom prst="roundRect">
            <a:avLst>
              <a:gd name="adj" fmla="val 1702"/>
            </a:avLst>
          </a:prstGeom>
          <a:solidFill>
            <a:srgbClr val="00543A"/>
          </a:solidFill>
          <a:ln/>
        </p:spPr>
      </p:sp>
      <p:sp>
        <p:nvSpPr>
          <p:cNvPr id="26" name="Text 20"/>
          <p:cNvSpPr/>
          <p:nvPr/>
        </p:nvSpPr>
        <p:spPr>
          <a:xfrm>
            <a:off x="7589520" y="17556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Organizations Use It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589520" y="233172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correction effort downstream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forms across departments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non-technical staff with clear prompts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invalid dates, codes, or amounts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foundation for accurate dashboards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 in financial and HR data entry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15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Apply Data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4-step process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5780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48840"/>
            <a:ext cx="685800" cy="68580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92" y="23134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Cells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8660" y="3520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cell or range where you want to restrict entries.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50108" y="3154680"/>
            <a:ext cx="192024" cy="365760"/>
          </a:xfrm>
          <a:prstGeom prst="rightArrow">
            <a:avLst/>
          </a:prstGeom>
          <a:solidFill>
            <a:srgbClr val="00A86B"/>
          </a:solidFill>
          <a:ln/>
        </p:spPr>
      </p:sp>
      <p:sp>
        <p:nvSpPr>
          <p:cNvPr id="10" name="Shape 7"/>
          <p:cNvSpPr/>
          <p:nvPr/>
        </p:nvSpPr>
        <p:spPr>
          <a:xfrm>
            <a:off x="3360420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0540" y="2148840"/>
            <a:ext cx="685800" cy="68580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23134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75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 Data Validation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43300" y="3520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Data tab and click Data Validation.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84748" y="3154680"/>
            <a:ext cx="192024" cy="365760"/>
          </a:xfrm>
          <a:prstGeom prst="rightArrow">
            <a:avLst/>
          </a:prstGeom>
          <a:solidFill>
            <a:srgbClr val="00A86B"/>
          </a:solidFill>
          <a:ln/>
        </p:spPr>
      </p:sp>
      <p:sp>
        <p:nvSpPr>
          <p:cNvPr id="16" name="Shape 12"/>
          <p:cNvSpPr/>
          <p:nvPr/>
        </p:nvSpPr>
        <p:spPr>
          <a:xfrm>
            <a:off x="6195060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55180" y="2148840"/>
            <a:ext cx="685800" cy="68580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772" y="231343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3222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Configure Rules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77940" y="3520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validation type, criteria, input messages, and alerts.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819388" y="3154680"/>
            <a:ext cx="192024" cy="365760"/>
          </a:xfrm>
          <a:prstGeom prst="rightArrow">
            <a:avLst/>
          </a:prstGeom>
          <a:solidFill>
            <a:srgbClr val="00A86B"/>
          </a:solidFill>
          <a:ln/>
        </p:spPr>
      </p:sp>
      <p:sp>
        <p:nvSpPr>
          <p:cNvPr id="22" name="Shape 17"/>
          <p:cNvSpPr/>
          <p:nvPr/>
        </p:nvSpPr>
        <p:spPr>
          <a:xfrm>
            <a:off x="9029700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89820" y="2148840"/>
            <a:ext cx="685800" cy="68580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4412" y="231343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6686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&amp; Apply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212580" y="3520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OK, then test with valid and invalid sample entries.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15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Data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rule for each kind of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502920"/>
          </a:xfrm>
          <a:prstGeom prst="rect">
            <a:avLst/>
          </a:prstGeom>
          <a:solidFill>
            <a:srgbClr val="0054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0" y="1600200"/>
            <a:ext cx="3108960" cy="502920"/>
          </a:xfrm>
          <a:prstGeom prst="rect">
            <a:avLst/>
          </a:prstGeom>
          <a:solidFill>
            <a:srgbClr val="00543A"/>
          </a:solidFill>
          <a:ln/>
        </p:spPr>
      </p:sp>
      <p:sp>
        <p:nvSpPr>
          <p:cNvPr id="7" name="Text 5"/>
          <p:cNvSpPr/>
          <p:nvPr/>
        </p:nvSpPr>
        <p:spPr>
          <a:xfrm>
            <a:off x="4160520" y="1600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297680" cy="502920"/>
          </a:xfrm>
          <a:prstGeom prst="rect">
            <a:avLst/>
          </a:prstGeom>
          <a:solidFill>
            <a:srgbClr val="00543A"/>
          </a:solidFill>
          <a:ln/>
        </p:spPr>
      </p:sp>
      <p:sp>
        <p:nvSpPr>
          <p:cNvPr id="9" name="Text 7"/>
          <p:cNvSpPr/>
          <p:nvPr/>
        </p:nvSpPr>
        <p:spPr>
          <a:xfrm>
            <a:off x="7452360" y="1600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291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2103120"/>
            <a:ext cx="3108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2103120"/>
            <a:ext cx="4297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" y="2221992"/>
            <a:ext cx="365760" cy="365760"/>
          </a:xfrm>
          <a:prstGeom prst="ellipse">
            <a:avLst/>
          </a:prstGeom>
          <a:solidFill>
            <a:srgbClr val="E6F7EF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" y="2309774"/>
            <a:ext cx="190195" cy="19019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43000" y="210312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60520" y="210312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Limits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52360" y="210312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100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2706624"/>
            <a:ext cx="3291840" cy="60350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23360" y="2706624"/>
            <a:ext cx="3108960" cy="60350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0" y="2706624"/>
            <a:ext cx="4297680" cy="60350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7512" y="2825496"/>
            <a:ext cx="365760" cy="365760"/>
          </a:xfrm>
          <a:prstGeom prst="ellipse">
            <a:avLst/>
          </a:prstGeom>
          <a:solidFill>
            <a:srgbClr val="E6F7EF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" y="2913278"/>
            <a:ext cx="190195" cy="19019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43000" y="270662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160520" y="270662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&amp; Floats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7452360" y="270662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0.0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548640" y="3310128"/>
            <a:ext cx="3291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023360" y="3310128"/>
            <a:ext cx="3108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315200" y="3310128"/>
            <a:ext cx="4297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67512" y="3429000"/>
            <a:ext cx="365760" cy="365760"/>
          </a:xfrm>
          <a:prstGeom prst="ellipse">
            <a:avLst/>
          </a:prstGeom>
          <a:solidFill>
            <a:srgbClr val="E6F7EF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294" y="3516782"/>
            <a:ext cx="190195" cy="19019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43000" y="331012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4160520" y="33101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Menu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7452360" y="331012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/ Maybe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548640" y="3913632"/>
            <a:ext cx="3291840" cy="60350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023360" y="3913632"/>
            <a:ext cx="3108960" cy="60350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315200" y="3913632"/>
            <a:ext cx="4297680" cy="60350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67512" y="4032504"/>
            <a:ext cx="365760" cy="365760"/>
          </a:xfrm>
          <a:prstGeom prst="ellipse">
            <a:avLst/>
          </a:prstGeom>
          <a:solidFill>
            <a:srgbClr val="E6F7EF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" y="4120286"/>
            <a:ext cx="190195" cy="190195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143000" y="391363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4160520" y="391363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Control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7452360" y="391363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01-Jan-2024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548640" y="4517136"/>
            <a:ext cx="3291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023360" y="4517136"/>
            <a:ext cx="3108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7315200" y="4517136"/>
            <a:ext cx="4297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667512" y="4636008"/>
            <a:ext cx="365760" cy="365760"/>
          </a:xfrm>
          <a:prstGeom prst="ellipse">
            <a:avLst/>
          </a:prstGeom>
          <a:solidFill>
            <a:srgbClr val="E6F7EF"/>
          </a:solidFill>
          <a:ln/>
        </p:spPr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" y="4723790"/>
            <a:ext cx="190195" cy="190195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1143000" y="4517136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00" dirty="0"/>
          </a:p>
        </p:txBody>
      </p:sp>
      <p:sp>
        <p:nvSpPr>
          <p:cNvPr id="48" name="Text 41"/>
          <p:cNvSpPr/>
          <p:nvPr/>
        </p:nvSpPr>
        <p:spPr>
          <a:xfrm>
            <a:off x="4160520" y="451713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Restrictions</a:t>
            </a:r>
            <a:endParaRPr lang="en-US" sz="1250" dirty="0"/>
          </a:p>
        </p:txBody>
      </p:sp>
      <p:sp>
        <p:nvSpPr>
          <p:cNvPr id="49" name="Text 42"/>
          <p:cNvSpPr/>
          <p:nvPr/>
        </p:nvSpPr>
        <p:spPr>
          <a:xfrm>
            <a:off x="7452360" y="45171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17:00</a:t>
            </a:r>
            <a:endParaRPr lang="en-US" sz="1250" dirty="0"/>
          </a:p>
        </p:txBody>
      </p:sp>
      <p:sp>
        <p:nvSpPr>
          <p:cNvPr id="50" name="Shape 43"/>
          <p:cNvSpPr/>
          <p:nvPr/>
        </p:nvSpPr>
        <p:spPr>
          <a:xfrm>
            <a:off x="548640" y="5120640"/>
            <a:ext cx="3291840" cy="60350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4023360" y="5120640"/>
            <a:ext cx="3108960" cy="60350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7315200" y="5120640"/>
            <a:ext cx="4297680" cy="60350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67512" y="5239512"/>
            <a:ext cx="365760" cy="365760"/>
          </a:xfrm>
          <a:prstGeom prst="ellipse">
            <a:avLst/>
          </a:prstGeom>
          <a:solidFill>
            <a:srgbClr val="E6F7EF"/>
          </a:solidFill>
          <a:ln/>
        </p:spPr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294" y="5327294"/>
            <a:ext cx="190195" cy="190195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1143000" y="512064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Length</a:t>
            </a:r>
            <a:endParaRPr lang="en-US" sz="1300" dirty="0"/>
          </a:p>
        </p:txBody>
      </p:sp>
      <p:sp>
        <p:nvSpPr>
          <p:cNvPr id="56" name="Text 48"/>
          <p:cNvSpPr/>
          <p:nvPr/>
        </p:nvSpPr>
        <p:spPr>
          <a:xfrm>
            <a:off x="4160520" y="512064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Limits</a:t>
            </a:r>
            <a:endParaRPr lang="en-US" sz="1250" dirty="0"/>
          </a:p>
        </p:txBody>
      </p:sp>
      <p:sp>
        <p:nvSpPr>
          <p:cNvPr id="57" name="Text 49"/>
          <p:cNvSpPr/>
          <p:nvPr/>
        </p:nvSpPr>
        <p:spPr>
          <a:xfrm>
            <a:off x="7452360" y="512064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characters</a:t>
            </a:r>
            <a:endParaRPr lang="en-US" sz="1250" dirty="0"/>
          </a:p>
        </p:txBody>
      </p:sp>
      <p:sp>
        <p:nvSpPr>
          <p:cNvPr id="58" name="Shape 50"/>
          <p:cNvSpPr/>
          <p:nvPr/>
        </p:nvSpPr>
        <p:spPr>
          <a:xfrm>
            <a:off x="548640" y="5724144"/>
            <a:ext cx="3291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4023360" y="5724144"/>
            <a:ext cx="3108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7315200" y="5724144"/>
            <a:ext cx="4297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667512" y="5843016"/>
            <a:ext cx="365760" cy="365760"/>
          </a:xfrm>
          <a:prstGeom prst="ellipse">
            <a:avLst/>
          </a:prstGeom>
          <a:solidFill>
            <a:srgbClr val="E6F7EF"/>
          </a:solidFill>
          <a:ln/>
        </p:spPr>
      </p:sp>
      <p:pic>
        <p:nvPicPr>
          <p:cNvPr id="6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294" y="5930798"/>
            <a:ext cx="190195" cy="190195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1143000" y="572414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300" dirty="0"/>
          </a:p>
        </p:txBody>
      </p:sp>
      <p:sp>
        <p:nvSpPr>
          <p:cNvPr id="64" name="Text 55"/>
          <p:cNvSpPr/>
          <p:nvPr/>
        </p:nvSpPr>
        <p:spPr>
          <a:xfrm>
            <a:off x="4160520" y="572414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Formula-Based Rules</a:t>
            </a:r>
            <a:endParaRPr lang="en-US" sz="1250" dirty="0"/>
          </a:p>
        </p:txBody>
      </p:sp>
      <p:sp>
        <p:nvSpPr>
          <p:cNvPr id="65" name="Text 56"/>
          <p:cNvSpPr/>
          <p:nvPr/>
        </p:nvSpPr>
        <p:spPr>
          <a:xfrm>
            <a:off x="7452360" y="572414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=AND(A1&gt;0,A1&lt;1000)</a:t>
            </a:r>
            <a:endParaRPr lang="en-US" sz="1250" dirty="0"/>
          </a:p>
        </p:txBody>
      </p:sp>
      <p:sp>
        <p:nvSpPr>
          <p:cNvPr id="66" name="Text 57"/>
          <p:cNvSpPr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15</a:t>
            </a:r>
            <a:endParaRPr lang="en-US" sz="950" dirty="0"/>
          </a:p>
        </p:txBody>
      </p:sp>
      <p:sp>
        <p:nvSpPr>
          <p:cNvPr id="67" name="Text 5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Messages &amp; Error Alerts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users and prevent invalid entries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6F7E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90378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Message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tooltip when the cell is selected, guiding users on what to enter before they type.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Select cell → Data Validation → Input Message tab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6F7EF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1783080"/>
            <a:ext cx="502920" cy="50292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190378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783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Alert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44652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Stops, warns, or informs the user when invalid data is entered — with three style options.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Alert Styles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4572000"/>
            <a:ext cx="3611880" cy="1554480"/>
          </a:xfrm>
          <a:prstGeom prst="roundRect">
            <a:avLst>
              <a:gd name="adj" fmla="val 4118"/>
            </a:avLst>
          </a:prstGeom>
          <a:solidFill>
            <a:srgbClr val="00543A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" y="4709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31520" y="51206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the entry outright. Used for hard business rules — e.g., negative inventory counts.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279392" y="4572000"/>
            <a:ext cx="3611880" cy="1554480"/>
          </a:xfrm>
          <a:prstGeom prst="roundRect">
            <a:avLst>
              <a:gd name="adj" fmla="val 4118"/>
            </a:avLst>
          </a:prstGeom>
          <a:solidFill>
            <a:srgbClr val="00754A"/>
          </a:solidFill>
          <a:ln/>
        </p:spPr>
      </p:sp>
      <p:sp>
        <p:nvSpPr>
          <p:cNvPr id="20" name="Text 16"/>
          <p:cNvSpPr/>
          <p:nvPr/>
        </p:nvSpPr>
        <p:spPr>
          <a:xfrm>
            <a:off x="4462272" y="4709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462272" y="51206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entry after user confirmation. Good for unusual but possible values.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010144" y="4572000"/>
            <a:ext cx="3611880" cy="1554480"/>
          </a:xfrm>
          <a:prstGeom prst="roundRect">
            <a:avLst>
              <a:gd name="adj" fmla="val 4118"/>
            </a:avLst>
          </a:prstGeom>
          <a:solidFill>
            <a:srgbClr val="00A86B"/>
          </a:solidFill>
          <a:ln/>
        </p:spPr>
      </p:sp>
      <p:sp>
        <p:nvSpPr>
          <p:cNvPr id="23" name="Text 19"/>
          <p:cNvSpPr/>
          <p:nvPr/>
        </p:nvSpPr>
        <p:spPr>
          <a:xfrm>
            <a:off x="8193024" y="4709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193024" y="51206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the user but always allows entry. Best for guidance without restriction.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15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Formatting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numbers into visual insight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1371600"/>
          </a:xfrm>
          <a:prstGeom prst="roundRect">
            <a:avLst>
              <a:gd name="adj" fmla="val 5333"/>
            </a:avLst>
          </a:prstGeom>
          <a:solidFill>
            <a:srgbClr val="E6F7E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5648"/>
            <a:ext cx="502920" cy="50292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87634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55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applies visual styles — colors, icons, and data bars — to cells that meet specified criteria, letting you instantly spot trends, outliers, duplicates, and patterns without writing a single formula.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Cases &amp; Benefits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520440"/>
            <a:ext cx="21214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3703320"/>
            <a:ext cx="457200" cy="457200"/>
          </a:xfrm>
          <a:prstGeom prst="ellipse">
            <a:avLst/>
          </a:prstGeom>
          <a:solidFill>
            <a:srgbClr val="E6F7E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130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Outliers Instantly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13232" y="4617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values above or below thresholds in financial reports.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88920" y="3520440"/>
            <a:ext cx="21214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953512" y="3703320"/>
            <a:ext cx="457200" cy="457200"/>
          </a:xfrm>
          <a:prstGeom prst="ellipse">
            <a:avLst/>
          </a:prstGeom>
          <a:solidFill>
            <a:srgbClr val="E6F7E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381304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953512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at a Glance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53512" y="4617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 performance metrics for quick scanning.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029200" y="3520440"/>
            <a:ext cx="21214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193792" y="3703320"/>
            <a:ext cx="457200" cy="457200"/>
          </a:xfrm>
          <a:prstGeom prst="ellipse">
            <a:avLst/>
          </a:prstGeom>
          <a:solidFill>
            <a:srgbClr val="E6F7E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81304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93792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Review Time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193792" y="4617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exceptions so reviewers focus only where needed.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315200" y="1554480"/>
            <a:ext cx="4297680" cy="4572000"/>
          </a:xfrm>
          <a:prstGeom prst="roundRect">
            <a:avLst>
              <a:gd name="adj" fmla="val 1702"/>
            </a:avLst>
          </a:prstGeom>
          <a:solidFill>
            <a:srgbClr val="00543A"/>
          </a:solidFill>
          <a:ln/>
        </p:spPr>
      </p:sp>
      <p:sp>
        <p:nvSpPr>
          <p:cNvPr id="26" name="Text 20"/>
          <p:cNvSpPr/>
          <p:nvPr/>
        </p:nvSpPr>
        <p:spPr>
          <a:xfrm>
            <a:off x="758952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 Example</a:t>
            </a:r>
            <a:endParaRPr lang="en-US" sz="1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240280"/>
          <a:ext cx="3749040" cy="2359152"/>
        </p:xfrm>
        <a:graphic>
          <a:graphicData uri="http://schemas.openxmlformats.org/drawingml/2006/table">
            <a:tbl>
              <a:tblPr/>
              <a:tblGrid>
                <a:gridCol w="12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E6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E6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 21"/>
          <p:cNvSpPr/>
          <p:nvPr/>
        </p:nvSpPr>
        <p:spPr>
          <a:xfrm>
            <a:off x="7589520" y="48463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turns a plain table into an at-a-glance performance map.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15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Formatting Rule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categories to highlight your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00543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Cell Rules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than, Less than, Between, Equal to, Text Contains, Dates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79392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00543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62272" y="178308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946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8072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/ Bottom Rules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62272" y="2514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items/%, Bottom 10 items/%, Above/Below Average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10144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00543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93024" y="178308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698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78824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93024" y="2514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bars inside cells, proportional to cell value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00543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4" y="42007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Scales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4800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or 3-color gradient across a range; Min → Mid → Max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79392" y="3886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00543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62272" y="406908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3946" y="420075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48072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Sets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62272" y="4800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Arrows, traffic lights, star ratings, flags based on thresholds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10144" y="3886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00543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93024" y="406908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698" y="420075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78824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Formula-Based Rules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193024" y="4800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=MOD(ROW(),2)=0 for alternating banded rows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15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Conditional Formatting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5-step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34340" y="182880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103120"/>
            <a:ext cx="640080" cy="64008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39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4068" y="292608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Range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71500" y="34290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cells you want to format.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83180" y="3246120"/>
            <a:ext cx="146304" cy="320040"/>
          </a:xfrm>
          <a:prstGeom prst="rightArrow">
            <a:avLst/>
          </a:prstGeom>
          <a:solidFill>
            <a:srgbClr val="00A86B"/>
          </a:solidFill>
          <a:ln/>
        </p:spPr>
      </p:sp>
      <p:sp>
        <p:nvSpPr>
          <p:cNvPr id="10" name="Shape 7"/>
          <p:cNvSpPr/>
          <p:nvPr/>
        </p:nvSpPr>
        <p:spPr>
          <a:xfrm>
            <a:off x="2720340" y="182880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2103120"/>
            <a:ext cx="640080" cy="64008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339" y="225673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0068" y="292608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 CF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857500" y="34290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tab → Conditional Formatting.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69180" y="3246120"/>
            <a:ext cx="146304" cy="320040"/>
          </a:xfrm>
          <a:prstGeom prst="rightArrow">
            <a:avLst/>
          </a:prstGeom>
          <a:solidFill>
            <a:srgbClr val="00A86B"/>
          </a:solidFill>
          <a:ln/>
        </p:spPr>
      </p:sp>
      <p:sp>
        <p:nvSpPr>
          <p:cNvPr id="16" name="Shape 12"/>
          <p:cNvSpPr/>
          <p:nvPr/>
        </p:nvSpPr>
        <p:spPr>
          <a:xfrm>
            <a:off x="5006340" y="182880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60720" y="2103120"/>
            <a:ext cx="640080" cy="64008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339" y="225673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16068" y="292608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Choose Rule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143500" y="34290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preset or 'New Rule' for a formula.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155180" y="3246120"/>
            <a:ext cx="146304" cy="320040"/>
          </a:xfrm>
          <a:prstGeom prst="rightArrow">
            <a:avLst/>
          </a:prstGeom>
          <a:solidFill>
            <a:srgbClr val="00A86B"/>
          </a:solidFill>
          <a:ln/>
        </p:spPr>
      </p:sp>
      <p:sp>
        <p:nvSpPr>
          <p:cNvPr id="22" name="Shape 17"/>
          <p:cNvSpPr/>
          <p:nvPr/>
        </p:nvSpPr>
        <p:spPr>
          <a:xfrm>
            <a:off x="7292340" y="182880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46720" y="2103120"/>
            <a:ext cx="640080" cy="64008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39" y="225673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02068" y="292608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Define Format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429500" y="34290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fill color, font, and border style.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441180" y="3246120"/>
            <a:ext cx="146304" cy="320040"/>
          </a:xfrm>
          <a:prstGeom prst="rightArrow">
            <a:avLst/>
          </a:prstGeom>
          <a:solidFill>
            <a:srgbClr val="00A86B"/>
          </a:solidFill>
          <a:ln/>
        </p:spPr>
      </p:sp>
      <p:sp>
        <p:nvSpPr>
          <p:cNvPr id="28" name="Shape 22"/>
          <p:cNvSpPr/>
          <p:nvPr/>
        </p:nvSpPr>
        <p:spPr>
          <a:xfrm>
            <a:off x="9578340" y="182880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332720" y="2103120"/>
            <a:ext cx="640080" cy="64008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6339" y="2256739"/>
            <a:ext cx="332842" cy="33284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88068" y="292608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Manage Rules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9715500" y="34290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priority, scope, and 'Stop If True'.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of 15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 vs Conditional Formatting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controls — input vs. appearance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60520" cy="4297680"/>
          </a:xfrm>
          <a:prstGeom prst="roundRect">
            <a:avLst>
              <a:gd name="adj" fmla="val 1758"/>
            </a:avLst>
          </a:prstGeom>
          <a:solidFill>
            <a:srgbClr val="00543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194218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3611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Input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Errors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Lists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Before Entry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in: Data Tab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138928" y="3520440"/>
            <a:ext cx="868680" cy="868680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10" name="Text 7"/>
          <p:cNvSpPr/>
          <p:nvPr/>
        </p:nvSpPr>
        <p:spPr>
          <a:xfrm>
            <a:off x="5138928" y="3520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080760" y="1600200"/>
            <a:ext cx="4160520" cy="4297680"/>
          </a:xfrm>
          <a:prstGeom prst="roundRect">
            <a:avLst>
              <a:gd name="adj" fmla="val 1758"/>
            </a:avLst>
          </a:prstGeom>
          <a:solidFill>
            <a:srgbClr val="00A86B"/>
          </a:solidFill>
          <a:ln/>
        </p:spPr>
      </p:sp>
      <p:sp>
        <p:nvSpPr>
          <p:cNvPr id="12" name="Shape 9"/>
          <p:cNvSpPr/>
          <p:nvPr/>
        </p:nvSpPr>
        <p:spPr>
          <a:xfrm>
            <a:off x="6355080" y="1810512"/>
            <a:ext cx="548640" cy="548640"/>
          </a:xfrm>
          <a:prstGeom prst="ellipse">
            <a:avLst/>
          </a:prstGeom>
          <a:solidFill>
            <a:srgbClr val="00543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754" y="1942186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18105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355080" y="2560320"/>
            <a:ext cx="3611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Appearance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Trends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Indicators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Formatting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Existing Values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in: Home Tab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6035040"/>
            <a:ext cx="10607040" cy="502920"/>
          </a:xfrm>
          <a:prstGeom prst="roundRect">
            <a:avLst>
              <a:gd name="adj" fmla="val 10909"/>
            </a:avLst>
          </a:prstGeom>
          <a:solidFill>
            <a:srgbClr val="E6F7EF"/>
          </a:solidFill>
          <a:ln/>
        </p:spPr>
      </p:sp>
      <p:sp>
        <p:nvSpPr>
          <p:cNvPr id="17" name="Text 13"/>
          <p:cNvSpPr/>
          <p:nvPr/>
        </p:nvSpPr>
        <p:spPr>
          <a:xfrm>
            <a:off x="548640" y="6035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Data Validation = Control Input  |  Conditional Formatting = Visualize Output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of 15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Techniques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Power-user tips to combine and extend both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Ranges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named ranges as list sources in Data Validation so dropdowns update automatically when source data changes.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79392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62272" y="178308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946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8072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Dropdowns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62272" y="2514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INDIRECT() to create cascading dropdowns, e.g. selecting a Country filters the City list.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10144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93024" y="178308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698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78824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Formula-Based Formatting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93024" y="2514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=WEEKDAY(A1,2)&gt;5 highlights weekends automatically across any schedule.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4" y="42007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DV &amp; CF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4800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input with Data Validation AND color-code by status with Conditional Formatting simultaneously.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79392" y="3886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62272" y="406908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3946" y="420075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48072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Management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62272" y="4800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rules are evaluated top-down. Use 'Stop If True' in Manage Rules to prevent overlap.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10144" y="3886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2FBF7"/>
          </a:solidFill>
          <a:ln w="12700">
            <a:solidFill>
              <a:srgbClr val="E6F7EF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93024" y="406908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698" y="420075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78824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193024" y="4800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rules safely via Manage Rules — never use Clear All, which removes everything.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of 15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Keyboard Shortcuts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your workflow with these essential combinations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00543A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8026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22119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 + A, V, V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63040" y="23042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Validation dialog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79392" y="16459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00543A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62272" y="208026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946" y="22119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 + H, 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193792" y="23042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Conditional Formatting menu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10144" y="16459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00543A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93024" y="208026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698" y="22119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24544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Shift + 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924544" y="23042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AutoFilter (often paired with DV)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2461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00543A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68046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38121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4107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 → Special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463040" y="39044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cells with Data Validation rules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79392" y="32461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00543A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62272" y="3680460"/>
            <a:ext cx="548640" cy="5486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946" y="38121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4107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`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5193792" y="39044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Show Formulas (review CF formulas)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E6F7EF"/>
          </a:solidFill>
          <a:ln/>
        </p:spPr>
      </p:sp>
      <p:sp>
        <p:nvSpPr>
          <p:cNvPr id="30" name="Shape 23"/>
          <p:cNvSpPr/>
          <p:nvPr/>
        </p:nvSpPr>
        <p:spPr>
          <a:xfrm>
            <a:off x="731520" y="5303520"/>
            <a:ext cx="594360" cy="59436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5446166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63040" y="51663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Memorize the dialog shortcuts (Alt+A,V,V and Alt+H,L) — they eliminate menu navigation entirely and work in every version of Excel since 2007.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of 15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Applications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Validation &amp; Conditional Formatting create the most value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21408" cy="3931920"/>
          </a:xfrm>
          <a:prstGeom prst="roundRect">
            <a:avLst>
              <a:gd name="adj" fmla="val 3448"/>
            </a:avLst>
          </a:prstGeom>
          <a:solidFill>
            <a:srgbClr val="00543A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9304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923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9748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Forms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429000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employee IDs, departments, and date-of-joining fields; highlight pending approvals.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93492" y="1645920"/>
            <a:ext cx="2121408" cy="3931920"/>
          </a:xfrm>
          <a:prstGeom prst="roundRect">
            <a:avLst>
              <a:gd name="adj" fmla="val 3448"/>
            </a:avLst>
          </a:prstGeom>
          <a:solidFill>
            <a:srgbClr val="00A86B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4156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775" y="2028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0652" y="269748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30652" y="3429000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region and product codes via dropdowns; color-scale revenue performance by territory.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38344" y="1645920"/>
            <a:ext cx="2121408" cy="3931920"/>
          </a:xfrm>
          <a:prstGeom prst="roundRect">
            <a:avLst>
              <a:gd name="adj" fmla="val 3448"/>
            </a:avLst>
          </a:prstGeom>
          <a:solidFill>
            <a:srgbClr val="00543A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79008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627" y="2028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75504" y="269748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175504" y="3429000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stock-count ranges; flag low-stock items with icon sets and data bars.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283196" y="1645920"/>
            <a:ext cx="2121408" cy="3931920"/>
          </a:xfrm>
          <a:prstGeom prst="roundRect">
            <a:avLst>
              <a:gd name="adj" fmla="val 3448"/>
            </a:avLst>
          </a:prstGeom>
          <a:solidFill>
            <a:srgbClr val="00A86B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2386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7479" y="20281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0356" y="269748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20356" y="3429000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account codes and currency formats; highlight variances above tolerance thresholds.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528048" y="1645920"/>
            <a:ext cx="2121408" cy="3931920"/>
          </a:xfrm>
          <a:prstGeom prst="roundRect">
            <a:avLst>
              <a:gd name="adj" fmla="val 3448"/>
            </a:avLst>
          </a:prstGeom>
          <a:solidFill>
            <a:srgbClr val="00543A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68712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2331" y="202813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65208" y="269748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Systems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665208" y="3429000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operators with input messages; enforce text length and custom formula checks.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of 15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Cheat Sheet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+ Conditional Formatting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57200"/>
          </a:xfrm>
          <a:prstGeom prst="roundRect">
            <a:avLst>
              <a:gd name="adj" fmla="val 12000"/>
            </a:avLst>
          </a:prstGeom>
          <a:solidFill>
            <a:srgbClr val="0054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577840" cy="46634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Allow: Whole Number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42032" y="2103120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Data Validation → Allow: Whole Number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55778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569464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List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42032" y="2569464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Allow: List → Source: A1:A10 or type items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5577840" cy="46634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035808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Formula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42032" y="303580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Allow: Custom → =AND(A1&gt;0,A1&lt;=100)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502152"/>
            <a:ext cx="55778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502152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Message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42032" y="3502152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→ Input Message tab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968496"/>
            <a:ext cx="5577840" cy="46634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968496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Alert – Stop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42032" y="3968496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Stop → rejects invalid entry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55778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434840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Alert – Warning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42032" y="4434840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Warning → allows after confirm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901184"/>
            <a:ext cx="5577840" cy="46634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901184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Invalid Data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42032" y="4901184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Data Validation → Circle Invalid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5367528"/>
            <a:ext cx="55778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5367528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Dropdown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42032" y="53675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Allow: List → Source: =INDIRECT(B1)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833872"/>
            <a:ext cx="5577840" cy="46634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5833872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Validation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42032" y="5833872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Data Validation → Clear All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1554480"/>
            <a:ext cx="5577840" cy="457200"/>
          </a:xfrm>
          <a:prstGeom prst="roundRect">
            <a:avLst>
              <a:gd name="adj" fmla="val 12000"/>
            </a:avLst>
          </a:prstGeom>
          <a:solidFill>
            <a:srgbClr val="00A86B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1554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63640" y="2103120"/>
            <a:ext cx="5577840" cy="46634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3368" y="2103120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&gt; value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57032" y="2103120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CF → Highlight Cells → Greater Than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2569464"/>
            <a:ext cx="55778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2569464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items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57032" y="2569464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CF → Top/Bottom → Top 10 Items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63640" y="3035808"/>
            <a:ext cx="5577840" cy="46634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73368" y="3035808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Bars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257032" y="303580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CF → Data Bars → choose style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3502152"/>
            <a:ext cx="55778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73368" y="3502152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3-Color Scale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257032" y="3502152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CF → Color Scales → choose preset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63640" y="3968496"/>
            <a:ext cx="5577840" cy="46634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3968496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Icons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257032" y="3968496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CF → Icon Sets → 3 Traffic Lights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63640" y="4434840"/>
            <a:ext cx="55778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3368" y="4434840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Rule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257032" y="4434840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Rule → Use a formula → =A1&gt;AVERAGE($A$1:$A$10)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63640" y="4901184"/>
            <a:ext cx="5577840" cy="46634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73368" y="4901184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Duplicates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257032" y="4901184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CF → Highlight → Duplicate Values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63640" y="5367528"/>
            <a:ext cx="55778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73368" y="5367528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Weekends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257032" y="53675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=WEEKDAY(A1,2)&gt;5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63640" y="5833872"/>
            <a:ext cx="5577840" cy="466344"/>
          </a:xfrm>
          <a:prstGeom prst="rect">
            <a:avLst/>
          </a:prstGeom>
          <a:solidFill>
            <a:srgbClr val="F2FBF7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73368" y="5833872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Banded Rows via CF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257032" y="5833872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=MOD(ROW(),2)=0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of 15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5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572000" cy="4572000"/>
          </a:xfrm>
          <a:prstGeom prst="ellipse">
            <a:avLst/>
          </a:prstGeom>
          <a:solidFill>
            <a:srgbClr val="00A86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389120"/>
            <a:ext cx="4206240" cy="4206240"/>
          </a:xfrm>
          <a:prstGeom prst="ellipse">
            <a:avLst/>
          </a:prstGeom>
          <a:solidFill>
            <a:srgbClr val="00A86B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851660" y="1965960"/>
            <a:ext cx="640080" cy="64008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279" y="21195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743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Data Quality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stops bad data before it enters the sheet.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0" y="17373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686300" y="1965960"/>
            <a:ext cx="640080" cy="64008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919" y="21195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2743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Errors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94760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messages and alerts guide users to correct entries.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92240" y="17373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7520940" y="1965960"/>
            <a:ext cx="640080" cy="64008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559" y="211957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2743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Visualization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629400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turns numbers into instant insight.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326880" y="17373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10355580" y="1965960"/>
            <a:ext cx="640080" cy="64008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211957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64040" y="2743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Productivity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464040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they create faster, more reliable workflows.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822960" y="457200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00A86B">
              <a:alpha val="80000"/>
            </a:srgbClr>
          </a:solidFill>
          <a:ln/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2400" b="1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  <a:p>
            <a:pPr algn="ctr">
              <a:lnSpc>
                <a:spcPct val="250000"/>
              </a:lnSpc>
            </a:pPr>
            <a:endParaRPr lang="en-IN" dirty="0"/>
          </a:p>
        </p:txBody>
      </p:sp>
      <p:sp>
        <p:nvSpPr>
          <p:cNvPr id="26" name="Text 20"/>
          <p:cNvSpPr/>
          <p:nvPr/>
        </p:nvSpPr>
        <p:spPr>
          <a:xfrm>
            <a:off x="822960" y="4572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822960" y="5852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0149840" y="5852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6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of 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2393</Words>
  <Application>Microsoft Office PowerPoint</Application>
  <PresentationFormat>Widescreen</PresentationFormat>
  <Paragraphs>319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Validation &amp; Conditional Formatting</dc:title>
  <dc:subject>PptxGenJS Presentation</dc:subject>
  <dc:creator>Excel Mastery Series</dc:creator>
  <cp:lastModifiedBy>visxnugosali123@gmail.com</cp:lastModifiedBy>
  <cp:revision>2</cp:revision>
  <dcterms:created xsi:type="dcterms:W3CDTF">2026-06-15T02:30:53Z</dcterms:created>
  <dcterms:modified xsi:type="dcterms:W3CDTF">2026-06-15T09:19:37Z</dcterms:modified>
</cp:coreProperties>
</file>