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Power Query as Microsoft's built-in ETL engine — available in Excel, Power BI, and Azure. Set expectations: this session covers connecting, transforming, merging, and optimizing data pipelines using a no-code visual interface backed by the M language.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ETL stages left-to-right. Power Query is non-destructive — original data is never modified. The concept cards at the bottom are the four pillars of PQ mastery. Emphasize that every click generates M code automatically, and query folding can turn a 10-minute refresh into 10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Query connects to virtually any data source without writing import code. Highlight the three main categories. The 5-step workflow at the bottom shows how quick it is to get started — this process takes under 60 seconds for most data sources. PDF import is often surprising — PQ can extract tables directly from PDFs.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language is functional and case-sensitive. The good news: the Query Editor generates M automatically for every click. Understanding M lets you write custom columns, dynamic parameters, and complex conditional logic. The code block shows the let…in structure that all M queries follow. Each named step becomes a variable you can reference.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operations are where PQ replaces slow VLOOKUP workflows. Merge is SQL-equivalent JOIN — picks your join type, selects matching columns. Append is UNION ALL — perfect for monthly file consolidation. Pivot/Unpivot reshapes data: Excel pivot tables like wide format, Power BI DAX prefers long format.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Folding is the biggest performance lever in Power Query. A folded query on 100M rows can run in seconds vs minutes. The gold rule: keep filters and aggregations as early as possible, before any steps that break folding. Pro tip: right-click any Applied Step and choose 'View Native Query' — if it's greyed out, folding broke at that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practices separate amateur Power Query from enterprise-grade solutions. Parameters are the most impactful — they make queries dynamic, team-shareable, and environment-agnostic. The industry applications row shows Power Query's real-world ROI across different business functions.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an open Q&amp;A. The core ROI message: Power Query creates a documented, auditable, repeatable data pipeline that the whole team can trust and maintain. For next steps, direct attendees to Microsoft Learn for free Power BI courses. Homework: automate one real manual data task using Power Query this week.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06286" cy="164592"/>
          </a:xfrm>
          <a:prstGeom prst="rect">
            <a:avLst/>
          </a:prstGeom>
          <a:solidFill>
            <a:srgbClr val="6C3BD5"/>
          </a:solidFill>
          <a:ln w="12700">
            <a:solidFill>
              <a:srgbClr val="6C3BD5"/>
            </a:solidFill>
            <a:prstDash val="solid"/>
          </a:ln>
        </p:spPr>
      </p:sp>
      <p:sp>
        <p:nvSpPr>
          <p:cNvPr id="3" name="Shape 1"/>
          <p:cNvSpPr/>
          <p:nvPr/>
        </p:nvSpPr>
        <p:spPr>
          <a:xfrm>
            <a:off x="1306286" y="0"/>
            <a:ext cx="1306286" cy="164592"/>
          </a:xfrm>
          <a:prstGeom prst="rect">
            <a:avLst/>
          </a:prstGeom>
          <a:solidFill>
            <a:srgbClr val="0F6FE8"/>
          </a:solidFill>
          <a:ln w="12700">
            <a:solidFill>
              <a:srgbClr val="0F6FE8"/>
            </a:solidFill>
            <a:prstDash val="solid"/>
          </a:ln>
        </p:spPr>
      </p:sp>
      <p:sp>
        <p:nvSpPr>
          <p:cNvPr id="4" name="Shape 2"/>
          <p:cNvSpPr/>
          <p:nvPr/>
        </p:nvSpPr>
        <p:spPr>
          <a:xfrm>
            <a:off x="2612571" y="0"/>
            <a:ext cx="1306286" cy="164592"/>
          </a:xfrm>
          <a:prstGeom prst="rect">
            <a:avLst/>
          </a:prstGeom>
          <a:solidFill>
            <a:srgbClr val="0D9488"/>
          </a:solidFill>
          <a:ln w="12700">
            <a:solidFill>
              <a:srgbClr val="0D9488"/>
            </a:solidFill>
            <a:prstDash val="solid"/>
          </a:ln>
        </p:spPr>
      </p:sp>
      <p:sp>
        <p:nvSpPr>
          <p:cNvPr id="5" name="Shape 3"/>
          <p:cNvSpPr/>
          <p:nvPr/>
        </p:nvSpPr>
        <p:spPr>
          <a:xfrm>
            <a:off x="3918857" y="0"/>
            <a:ext cx="1306286" cy="164592"/>
          </a:xfrm>
          <a:prstGeom prst="rect">
            <a:avLst/>
          </a:prstGeom>
          <a:solidFill>
            <a:srgbClr val="059669"/>
          </a:solidFill>
          <a:ln w="12700">
            <a:solidFill>
              <a:srgbClr val="059669"/>
            </a:solidFill>
            <a:prstDash val="solid"/>
          </a:ln>
        </p:spPr>
      </p:sp>
      <p:sp>
        <p:nvSpPr>
          <p:cNvPr id="6" name="Shape 4"/>
          <p:cNvSpPr/>
          <p:nvPr/>
        </p:nvSpPr>
        <p:spPr>
          <a:xfrm>
            <a:off x="5225143" y="0"/>
            <a:ext cx="1306286" cy="164592"/>
          </a:xfrm>
          <a:prstGeom prst="rect">
            <a:avLst/>
          </a:prstGeom>
          <a:solidFill>
            <a:srgbClr val="D97706"/>
          </a:solidFill>
          <a:ln w="12700">
            <a:solidFill>
              <a:srgbClr val="D97706"/>
            </a:solidFill>
            <a:prstDash val="solid"/>
          </a:ln>
        </p:spPr>
      </p:sp>
      <p:sp>
        <p:nvSpPr>
          <p:cNvPr id="7" name="Shape 5"/>
          <p:cNvSpPr/>
          <p:nvPr/>
        </p:nvSpPr>
        <p:spPr>
          <a:xfrm>
            <a:off x="6531429" y="0"/>
            <a:ext cx="1306286" cy="164592"/>
          </a:xfrm>
          <a:prstGeom prst="rect">
            <a:avLst/>
          </a:prstGeom>
          <a:solidFill>
            <a:srgbClr val="EA580C"/>
          </a:solidFill>
          <a:ln w="12700">
            <a:solidFill>
              <a:srgbClr val="EA580C"/>
            </a:solidFill>
            <a:prstDash val="solid"/>
          </a:ln>
        </p:spPr>
      </p:sp>
      <p:sp>
        <p:nvSpPr>
          <p:cNvPr id="8" name="Shape 6"/>
          <p:cNvSpPr/>
          <p:nvPr/>
        </p:nvSpPr>
        <p:spPr>
          <a:xfrm>
            <a:off x="7837714" y="0"/>
            <a:ext cx="1306286" cy="164592"/>
          </a:xfrm>
          <a:prstGeom prst="rect">
            <a:avLst/>
          </a:prstGeom>
          <a:solidFill>
            <a:srgbClr val="DB2777"/>
          </a:solidFill>
          <a:ln w="12700">
            <a:solidFill>
              <a:srgbClr val="DB2777"/>
            </a:solidFill>
            <a:prstDash val="solid"/>
          </a:ln>
        </p:spPr>
      </p:sp>
      <p:sp>
        <p:nvSpPr>
          <p:cNvPr id="9" name="Shape 7"/>
          <p:cNvSpPr/>
          <p:nvPr/>
        </p:nvSpPr>
        <p:spPr>
          <a:xfrm>
            <a:off x="182880" y="365760"/>
            <a:ext cx="3200400" cy="4389120"/>
          </a:xfrm>
          <a:prstGeom prst="roundRect">
            <a:avLst>
              <a:gd name="adj" fmla="val 3429"/>
            </a:avLst>
          </a:prstGeom>
          <a:solidFill>
            <a:srgbClr val="6C3BD5"/>
          </a:solidFill>
          <a:ln w="12700">
            <a:solidFill>
              <a:srgbClr val="6C3BD5"/>
            </a:solidFill>
            <a:prstDash val="solid"/>
          </a:ln>
          <a:effectLst>
            <a:outerShdw blurRad="127000" dist="38100" dir="2700000" algn="bl" rotWithShape="0">
              <a:srgbClr val="000000">
                <a:alpha val="9000"/>
              </a:srgbClr>
            </a:outerShdw>
          </a:effectLst>
        </p:spPr>
      </p:sp>
      <p:sp>
        <p:nvSpPr>
          <p:cNvPr id="10" name="Shape 8"/>
          <p:cNvSpPr/>
          <p:nvPr/>
        </p:nvSpPr>
        <p:spPr>
          <a:xfrm>
            <a:off x="-365760" y="2926080"/>
            <a:ext cx="2011680" cy="2011680"/>
          </a:xfrm>
          <a:prstGeom prst="ellipse">
            <a:avLst/>
          </a:prstGeom>
          <a:solidFill>
            <a:srgbClr val="8B5CF6">
              <a:alpha val="50000"/>
            </a:srgbClr>
          </a:solidFill>
          <a:ln w="12700">
            <a:solidFill>
              <a:srgbClr val="8B5CF6">
                <a:alpha val="50000"/>
              </a:srgbClr>
            </a:solidFill>
            <a:prstDash val="solid"/>
          </a:ln>
        </p:spPr>
      </p:sp>
      <p:sp>
        <p:nvSpPr>
          <p:cNvPr id="11" name="Shape 9"/>
          <p:cNvSpPr/>
          <p:nvPr/>
        </p:nvSpPr>
        <p:spPr>
          <a:xfrm>
            <a:off x="2011680" y="182880"/>
            <a:ext cx="1371600" cy="1371600"/>
          </a:xfrm>
          <a:prstGeom prst="ellipse">
            <a:avLst/>
          </a:prstGeom>
          <a:solidFill>
            <a:srgbClr val="DB2777">
              <a:alpha val="60000"/>
            </a:srgbClr>
          </a:solidFill>
          <a:ln w="12700">
            <a:solidFill>
              <a:srgbClr val="DB2777">
                <a:alpha val="60000"/>
              </a:srgbClr>
            </a:solidFill>
            <a:prstDash val="solid"/>
          </a:ln>
        </p:spPr>
      </p:sp>
      <p:sp>
        <p:nvSpPr>
          <p:cNvPr id="12" name="Shape 10"/>
          <p:cNvSpPr/>
          <p:nvPr/>
        </p:nvSpPr>
        <p:spPr>
          <a:xfrm>
            <a:off x="685800" y="731520"/>
            <a:ext cx="2194560" cy="2194560"/>
          </a:xfrm>
          <a:prstGeom prst="ellipse">
            <a:avLst/>
          </a:prstGeom>
          <a:solidFill>
            <a:srgbClr val="FFFFFF">
              <a:alpha val="85000"/>
            </a:srgbClr>
          </a:solidFill>
          <a:ln w="12700">
            <a:solidFill>
              <a:srgbClr val="FFFFFF">
                <a:alpha val="70000"/>
              </a:srgbClr>
            </a:solidFill>
            <a:prstDash val="solid"/>
          </a:ln>
        </p:spPr>
      </p:sp>
      <p:sp>
        <p:nvSpPr>
          <p:cNvPr id="13" name="Text 11"/>
          <p:cNvSpPr/>
          <p:nvPr/>
        </p:nvSpPr>
        <p:spPr>
          <a:xfrm>
            <a:off x="685800" y="822960"/>
            <a:ext cx="2194560" cy="1463040"/>
          </a:xfrm>
          <a:prstGeom prst="rect">
            <a:avLst/>
          </a:prstGeom>
          <a:noFill/>
          <a:ln/>
        </p:spPr>
        <p:txBody>
          <a:bodyPr wrap="square" rtlCol="0" anchor="ctr"/>
          <a:lstStyle/>
          <a:p>
            <a:pPr marL="0" indent="0" algn="ctr">
              <a:buNone/>
            </a:pPr>
            <a:r>
              <a:rPr lang="en-US" sz="6400" b="1" dirty="0">
                <a:latin typeface="Cambria" pitchFamily="34" charset="0"/>
                <a:ea typeface="Cambria" pitchFamily="34" charset="-122"/>
                <a:cs typeface="Cambria" pitchFamily="34" charset="-120"/>
              </a:rPr>
              <a:t>PQ</a:t>
            </a:r>
            <a:endParaRPr lang="en-US" sz="6400" dirty="0"/>
          </a:p>
        </p:txBody>
      </p:sp>
      <p:sp>
        <p:nvSpPr>
          <p:cNvPr id="14" name="Text 12"/>
          <p:cNvSpPr/>
          <p:nvPr/>
        </p:nvSpPr>
        <p:spPr>
          <a:xfrm>
            <a:off x="274320" y="2743200"/>
            <a:ext cx="3017520" cy="365760"/>
          </a:xfrm>
          <a:prstGeom prst="rect">
            <a:avLst/>
          </a:prstGeom>
          <a:noFill/>
          <a:ln/>
        </p:spPr>
        <p:txBody>
          <a:bodyPr wrap="square" rtlCol="0" anchor="ctr"/>
          <a:lstStyle/>
          <a:p>
            <a:pPr marL="0" indent="0" algn="ctr">
              <a:buNone/>
            </a:pPr>
            <a:r>
              <a:rPr lang="en-US" sz="1100" b="1" kern="0" spc="300" dirty="0">
                <a:latin typeface="Calibri" pitchFamily="34" charset="0"/>
                <a:ea typeface="Calibri" pitchFamily="34" charset="-122"/>
                <a:cs typeface="Calibri" pitchFamily="34" charset="-120"/>
              </a:rPr>
              <a:t>POWER QUERY</a:t>
            </a:r>
            <a:endParaRPr lang="en-US" sz="1100" dirty="0"/>
          </a:p>
        </p:txBody>
      </p:sp>
      <p:sp>
        <p:nvSpPr>
          <p:cNvPr id="15" name="Shape 13"/>
          <p:cNvSpPr/>
          <p:nvPr/>
        </p:nvSpPr>
        <p:spPr>
          <a:xfrm>
            <a:off x="320040" y="3246120"/>
            <a:ext cx="2834640" cy="320040"/>
          </a:xfrm>
          <a:prstGeom prst="roundRect">
            <a:avLst>
              <a:gd name="adj" fmla="val 22857"/>
            </a:avLst>
          </a:prstGeom>
          <a:solidFill>
            <a:srgbClr val="059669"/>
          </a:solidFill>
          <a:ln w="12700">
            <a:solidFill>
              <a:srgbClr val="059669"/>
            </a:solidFill>
            <a:prstDash val="solid"/>
          </a:ln>
        </p:spPr>
      </p:sp>
      <p:sp>
        <p:nvSpPr>
          <p:cNvPr id="16" name="Text 14"/>
          <p:cNvSpPr/>
          <p:nvPr/>
        </p:nvSpPr>
        <p:spPr>
          <a:xfrm>
            <a:off x="320040" y="3246120"/>
            <a:ext cx="2834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Excel</a:t>
            </a:r>
            <a:endParaRPr lang="en-US" sz="1100" dirty="0"/>
          </a:p>
        </p:txBody>
      </p:sp>
      <p:sp>
        <p:nvSpPr>
          <p:cNvPr id="17" name="Shape 15"/>
          <p:cNvSpPr/>
          <p:nvPr/>
        </p:nvSpPr>
        <p:spPr>
          <a:xfrm>
            <a:off x="320040" y="3639312"/>
            <a:ext cx="2834640" cy="320040"/>
          </a:xfrm>
          <a:prstGeom prst="roundRect">
            <a:avLst>
              <a:gd name="adj" fmla="val 22857"/>
            </a:avLst>
          </a:prstGeom>
          <a:solidFill>
            <a:srgbClr val="0F6FE8"/>
          </a:solidFill>
          <a:ln w="12700">
            <a:solidFill>
              <a:srgbClr val="0F6FE8"/>
            </a:solidFill>
            <a:prstDash val="solid"/>
          </a:ln>
        </p:spPr>
      </p:sp>
      <p:sp>
        <p:nvSpPr>
          <p:cNvPr id="18" name="Text 16"/>
          <p:cNvSpPr/>
          <p:nvPr/>
        </p:nvSpPr>
        <p:spPr>
          <a:xfrm>
            <a:off x="320040" y="3639312"/>
            <a:ext cx="2834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19" name="Shape 17"/>
          <p:cNvSpPr/>
          <p:nvPr/>
        </p:nvSpPr>
        <p:spPr>
          <a:xfrm>
            <a:off x="320040" y="4032504"/>
            <a:ext cx="2834640" cy="320040"/>
          </a:xfrm>
          <a:prstGeom prst="roundRect">
            <a:avLst>
              <a:gd name="adj" fmla="val 22857"/>
            </a:avLst>
          </a:prstGeom>
          <a:solidFill>
            <a:srgbClr val="EA580C"/>
          </a:solidFill>
          <a:ln w="12700">
            <a:solidFill>
              <a:srgbClr val="EA580C"/>
            </a:solidFill>
            <a:prstDash val="solid"/>
          </a:ln>
        </p:spPr>
      </p:sp>
      <p:sp>
        <p:nvSpPr>
          <p:cNvPr id="20" name="Text 18"/>
          <p:cNvSpPr/>
          <p:nvPr/>
        </p:nvSpPr>
        <p:spPr>
          <a:xfrm>
            <a:off x="320040" y="4032504"/>
            <a:ext cx="2834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DF</a:t>
            </a:r>
            <a:endParaRPr lang="en-US" sz="1100" dirty="0"/>
          </a:p>
        </p:txBody>
      </p:sp>
      <p:sp>
        <p:nvSpPr>
          <p:cNvPr id="21" name="Shape 19"/>
          <p:cNvSpPr/>
          <p:nvPr/>
        </p:nvSpPr>
        <p:spPr>
          <a:xfrm>
            <a:off x="320040" y="4425696"/>
            <a:ext cx="2834640" cy="320040"/>
          </a:xfrm>
          <a:prstGeom prst="roundRect">
            <a:avLst>
              <a:gd name="adj" fmla="val 22857"/>
            </a:avLst>
          </a:prstGeom>
          <a:solidFill>
            <a:srgbClr val="DB2777"/>
          </a:solidFill>
          <a:ln w="12700">
            <a:solidFill>
              <a:srgbClr val="DB2777"/>
            </a:solidFill>
            <a:prstDash val="solid"/>
          </a:ln>
        </p:spPr>
      </p:sp>
      <p:sp>
        <p:nvSpPr>
          <p:cNvPr id="22" name="Text 20"/>
          <p:cNvSpPr/>
          <p:nvPr/>
        </p:nvSpPr>
        <p:spPr>
          <a:xfrm>
            <a:off x="320040" y="4425696"/>
            <a:ext cx="2834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 Language</a:t>
            </a:r>
            <a:endParaRPr lang="en-US" sz="1100" dirty="0"/>
          </a:p>
        </p:txBody>
      </p:sp>
      <p:sp>
        <p:nvSpPr>
          <p:cNvPr id="23" name="Text 21"/>
          <p:cNvSpPr/>
          <p:nvPr/>
        </p:nvSpPr>
        <p:spPr>
          <a:xfrm>
            <a:off x="3749040" y="502920"/>
            <a:ext cx="5212080" cy="457200"/>
          </a:xfrm>
          <a:prstGeom prst="rect">
            <a:avLst/>
          </a:prstGeom>
          <a:noFill/>
          <a:ln/>
        </p:spPr>
        <p:txBody>
          <a:bodyPr wrap="square" rtlCol="0" anchor="ctr"/>
          <a:lstStyle/>
          <a:p>
            <a:pPr marL="0" indent="0">
              <a:buNone/>
            </a:pPr>
            <a:r>
              <a:rPr lang="en-US" sz="1800" i="1" dirty="0">
                <a:solidFill>
                  <a:srgbClr val="7A7A9A"/>
                </a:solidFill>
                <a:latin typeface="Calibri" pitchFamily="34" charset="0"/>
                <a:ea typeface="Calibri" pitchFamily="34" charset="-122"/>
                <a:cs typeface="Calibri" pitchFamily="34" charset="-120"/>
              </a:rPr>
              <a:t>The Complete</a:t>
            </a:r>
            <a:endParaRPr lang="en-US" sz="1800" dirty="0"/>
          </a:p>
        </p:txBody>
      </p:sp>
      <p:sp>
        <p:nvSpPr>
          <p:cNvPr id="24" name="Text 22"/>
          <p:cNvSpPr/>
          <p:nvPr/>
        </p:nvSpPr>
        <p:spPr>
          <a:xfrm>
            <a:off x="3749040" y="914400"/>
            <a:ext cx="5212080" cy="868680"/>
          </a:xfrm>
          <a:prstGeom prst="rect">
            <a:avLst/>
          </a:prstGeom>
          <a:noFill/>
          <a:ln/>
        </p:spPr>
        <p:txBody>
          <a:bodyPr wrap="square" rtlCol="0" anchor="ctr"/>
          <a:lstStyle/>
          <a:p>
            <a:pPr marL="0" indent="0">
              <a:buNone/>
            </a:pPr>
            <a:r>
              <a:rPr lang="en-US" sz="5200" b="1" dirty="0">
                <a:solidFill>
                  <a:srgbClr val="6C3BD5"/>
                </a:solidFill>
                <a:latin typeface="Cambria" pitchFamily="34" charset="0"/>
                <a:ea typeface="Cambria" pitchFamily="34" charset="-122"/>
                <a:cs typeface="Cambria" pitchFamily="34" charset="-120"/>
              </a:rPr>
              <a:t>PRACTICAL</a:t>
            </a:r>
            <a:endParaRPr lang="en-US" sz="5200" dirty="0"/>
          </a:p>
        </p:txBody>
      </p:sp>
      <p:sp>
        <p:nvSpPr>
          <p:cNvPr id="25" name="Text 23"/>
          <p:cNvSpPr/>
          <p:nvPr/>
        </p:nvSpPr>
        <p:spPr>
          <a:xfrm>
            <a:off x="3749040" y="1737360"/>
            <a:ext cx="5212080" cy="868680"/>
          </a:xfrm>
          <a:prstGeom prst="rect">
            <a:avLst/>
          </a:prstGeom>
          <a:noFill/>
          <a:ln/>
        </p:spPr>
        <p:txBody>
          <a:bodyPr wrap="square" rtlCol="0" anchor="ctr"/>
          <a:lstStyle/>
          <a:p>
            <a:pPr marL="0" indent="0">
              <a:buNone/>
            </a:pPr>
            <a:r>
              <a:rPr lang="en-US" sz="5200" b="1" dirty="0">
                <a:solidFill>
                  <a:srgbClr val="0F6FE8"/>
                </a:solidFill>
                <a:latin typeface="Cambria" pitchFamily="34" charset="0"/>
                <a:ea typeface="Cambria" pitchFamily="34" charset="-122"/>
                <a:cs typeface="Cambria" pitchFamily="34" charset="-120"/>
              </a:rPr>
              <a:t>GUIDE</a:t>
            </a:r>
            <a:endParaRPr lang="en-US" sz="5200" dirty="0"/>
          </a:p>
        </p:txBody>
      </p:sp>
      <p:sp>
        <p:nvSpPr>
          <p:cNvPr id="26" name="Text 24"/>
          <p:cNvSpPr/>
          <p:nvPr/>
        </p:nvSpPr>
        <p:spPr>
          <a:xfrm>
            <a:off x="3749040" y="2697480"/>
            <a:ext cx="5212080" cy="411480"/>
          </a:xfrm>
          <a:prstGeom prst="rect">
            <a:avLst/>
          </a:prstGeom>
          <a:noFill/>
          <a:ln/>
        </p:spPr>
        <p:txBody>
          <a:bodyPr wrap="square" rtlCol="0" anchor="ctr"/>
          <a:lstStyle/>
          <a:p>
            <a:pPr marL="0" indent="0">
              <a:buNone/>
            </a:pPr>
            <a:r>
              <a:rPr lang="en-US" sz="1300" i="1" dirty="0">
                <a:solidFill>
                  <a:srgbClr val="4A4A6A"/>
                </a:solidFill>
                <a:latin typeface="Calibri" pitchFamily="34" charset="0"/>
                <a:ea typeface="Calibri" pitchFamily="34" charset="-122"/>
                <a:cs typeface="Calibri" pitchFamily="34" charset="-120"/>
              </a:rPr>
              <a:t>Microsoft's Powerful Data Transformation &amp; ETL Engine</a:t>
            </a:r>
            <a:endParaRPr lang="en-US" sz="1300" dirty="0"/>
          </a:p>
        </p:txBody>
      </p:sp>
      <p:sp>
        <p:nvSpPr>
          <p:cNvPr id="27" name="Shape 25"/>
          <p:cNvSpPr/>
          <p:nvPr/>
        </p:nvSpPr>
        <p:spPr>
          <a:xfrm>
            <a:off x="3749040" y="3200400"/>
            <a:ext cx="1298448" cy="54864"/>
          </a:xfrm>
          <a:prstGeom prst="rect">
            <a:avLst/>
          </a:prstGeom>
          <a:solidFill>
            <a:srgbClr val="6C3BD5"/>
          </a:solidFill>
          <a:ln w="12700">
            <a:solidFill>
              <a:srgbClr val="6C3BD5"/>
            </a:solidFill>
            <a:prstDash val="solid"/>
          </a:ln>
        </p:spPr>
      </p:sp>
      <p:sp>
        <p:nvSpPr>
          <p:cNvPr id="28" name="Shape 26"/>
          <p:cNvSpPr/>
          <p:nvPr/>
        </p:nvSpPr>
        <p:spPr>
          <a:xfrm>
            <a:off x="5047488" y="3200400"/>
            <a:ext cx="1298448" cy="54864"/>
          </a:xfrm>
          <a:prstGeom prst="rect">
            <a:avLst/>
          </a:prstGeom>
          <a:solidFill>
            <a:srgbClr val="0F6FE8"/>
          </a:solidFill>
          <a:ln w="12700">
            <a:solidFill>
              <a:srgbClr val="0F6FE8"/>
            </a:solidFill>
            <a:prstDash val="solid"/>
          </a:ln>
        </p:spPr>
      </p:sp>
      <p:sp>
        <p:nvSpPr>
          <p:cNvPr id="29" name="Shape 27"/>
          <p:cNvSpPr/>
          <p:nvPr/>
        </p:nvSpPr>
        <p:spPr>
          <a:xfrm>
            <a:off x="6345936" y="3200400"/>
            <a:ext cx="1298448" cy="54864"/>
          </a:xfrm>
          <a:prstGeom prst="rect">
            <a:avLst/>
          </a:prstGeom>
          <a:solidFill>
            <a:srgbClr val="0D9488"/>
          </a:solidFill>
          <a:ln w="12700">
            <a:solidFill>
              <a:srgbClr val="0D9488"/>
            </a:solidFill>
            <a:prstDash val="solid"/>
          </a:ln>
        </p:spPr>
      </p:sp>
      <p:sp>
        <p:nvSpPr>
          <p:cNvPr id="30" name="Shape 28"/>
          <p:cNvSpPr/>
          <p:nvPr/>
        </p:nvSpPr>
        <p:spPr>
          <a:xfrm>
            <a:off x="7644384" y="3200400"/>
            <a:ext cx="1298448" cy="54864"/>
          </a:xfrm>
          <a:prstGeom prst="rect">
            <a:avLst/>
          </a:prstGeom>
          <a:solidFill>
            <a:srgbClr val="059669"/>
          </a:solidFill>
          <a:ln w="12700">
            <a:solidFill>
              <a:srgbClr val="059669"/>
            </a:solidFill>
            <a:prstDash val="solid"/>
          </a:ln>
        </p:spPr>
      </p:sp>
      <p:sp>
        <p:nvSpPr>
          <p:cNvPr id="31" name="Shape 29"/>
          <p:cNvSpPr/>
          <p:nvPr/>
        </p:nvSpPr>
        <p:spPr>
          <a:xfrm>
            <a:off x="3794760" y="3383280"/>
            <a:ext cx="1188720" cy="868680"/>
          </a:xfrm>
          <a:prstGeom prst="roundRect">
            <a:avLst>
              <a:gd name="adj" fmla="val 7368"/>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sp>
      <p:sp>
        <p:nvSpPr>
          <p:cNvPr id="32" name="Text 30"/>
          <p:cNvSpPr/>
          <p:nvPr/>
        </p:nvSpPr>
        <p:spPr>
          <a:xfrm>
            <a:off x="3794760" y="3410712"/>
            <a:ext cx="1188720" cy="475488"/>
          </a:xfrm>
          <a:prstGeom prst="rect">
            <a:avLst/>
          </a:prstGeom>
          <a:noFill/>
          <a:ln/>
        </p:spPr>
        <p:txBody>
          <a:bodyPr wrap="square" rtlCol="0" anchor="ctr"/>
          <a:lstStyle/>
          <a:p>
            <a:pPr marL="0" indent="0" algn="ctr">
              <a:buNone/>
            </a:pPr>
            <a:r>
              <a:rPr lang="en-US" sz="2400" b="1" dirty="0">
                <a:solidFill>
                  <a:srgbClr val="6C3BD5"/>
                </a:solidFill>
                <a:latin typeface="Cambria" pitchFamily="34" charset="0"/>
                <a:ea typeface="Cambria" pitchFamily="34" charset="-122"/>
                <a:cs typeface="Cambria" pitchFamily="34" charset="-120"/>
              </a:rPr>
              <a:t>7+</a:t>
            </a:r>
            <a:endParaRPr lang="en-US" sz="2400" dirty="0"/>
          </a:p>
        </p:txBody>
      </p:sp>
      <p:sp>
        <p:nvSpPr>
          <p:cNvPr id="33" name="Text 31"/>
          <p:cNvSpPr/>
          <p:nvPr/>
        </p:nvSpPr>
        <p:spPr>
          <a:xfrm>
            <a:off x="3794760" y="3867912"/>
            <a:ext cx="1188720" cy="320040"/>
          </a:xfrm>
          <a:prstGeom prst="rect">
            <a:avLst/>
          </a:prstGeom>
          <a:noFill/>
          <a:ln/>
        </p:spPr>
        <p:txBody>
          <a:bodyPr wrap="square" rtlCol="0" anchor="ctr"/>
          <a:lstStyle/>
          <a:p>
            <a:pPr marL="0" indent="0" algn="ctr">
              <a:buNone/>
            </a:pPr>
            <a:r>
              <a:rPr lang="en-US" sz="950" dirty="0">
                <a:solidFill>
                  <a:srgbClr val="4A4A6A"/>
                </a:solidFill>
                <a:latin typeface="Calibri" pitchFamily="34" charset="0"/>
                <a:ea typeface="Calibri" pitchFamily="34" charset="-122"/>
                <a:cs typeface="Calibri" pitchFamily="34" charset="-120"/>
              </a:rPr>
              <a:t>Topics</a:t>
            </a:r>
            <a:endParaRPr lang="en-US" sz="950" dirty="0"/>
          </a:p>
        </p:txBody>
      </p:sp>
      <p:sp>
        <p:nvSpPr>
          <p:cNvPr id="34" name="Shape 32"/>
          <p:cNvSpPr/>
          <p:nvPr/>
        </p:nvSpPr>
        <p:spPr>
          <a:xfrm>
            <a:off x="5093208" y="3383280"/>
            <a:ext cx="1188720" cy="868680"/>
          </a:xfrm>
          <a:prstGeom prst="roundRect">
            <a:avLst>
              <a:gd name="adj" fmla="val 7368"/>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sp>
      <p:sp>
        <p:nvSpPr>
          <p:cNvPr id="35" name="Text 33"/>
          <p:cNvSpPr/>
          <p:nvPr/>
        </p:nvSpPr>
        <p:spPr>
          <a:xfrm>
            <a:off x="5093208" y="3410712"/>
            <a:ext cx="1188720" cy="475488"/>
          </a:xfrm>
          <a:prstGeom prst="rect">
            <a:avLst/>
          </a:prstGeom>
          <a:noFill/>
          <a:ln/>
        </p:spPr>
        <p:txBody>
          <a:bodyPr wrap="square" rtlCol="0" anchor="ctr"/>
          <a:lstStyle/>
          <a:p>
            <a:pPr marL="0" indent="0" algn="ctr">
              <a:buNone/>
            </a:pPr>
            <a:r>
              <a:rPr lang="en-US" sz="2400" b="1" dirty="0">
                <a:solidFill>
                  <a:srgbClr val="0F6FE8"/>
                </a:solidFill>
                <a:latin typeface="Cambria" pitchFamily="34" charset="0"/>
                <a:ea typeface="Cambria" pitchFamily="34" charset="-122"/>
                <a:cs typeface="Cambria" pitchFamily="34" charset="-120"/>
              </a:rPr>
              <a:t>40+</a:t>
            </a:r>
            <a:endParaRPr lang="en-US" sz="2400" dirty="0"/>
          </a:p>
        </p:txBody>
      </p:sp>
      <p:sp>
        <p:nvSpPr>
          <p:cNvPr id="36" name="Text 34"/>
          <p:cNvSpPr/>
          <p:nvPr/>
        </p:nvSpPr>
        <p:spPr>
          <a:xfrm>
            <a:off x="5093208" y="3867912"/>
            <a:ext cx="1188720" cy="320040"/>
          </a:xfrm>
          <a:prstGeom prst="rect">
            <a:avLst/>
          </a:prstGeom>
          <a:noFill/>
          <a:ln/>
        </p:spPr>
        <p:txBody>
          <a:bodyPr wrap="square" rtlCol="0" anchor="ctr"/>
          <a:lstStyle/>
          <a:p>
            <a:pPr marL="0" indent="0" algn="ctr">
              <a:buNone/>
            </a:pPr>
            <a:r>
              <a:rPr lang="en-US" sz="950" dirty="0">
                <a:solidFill>
                  <a:srgbClr val="4A4A6A"/>
                </a:solidFill>
                <a:latin typeface="Calibri" pitchFamily="34" charset="0"/>
                <a:ea typeface="Calibri" pitchFamily="34" charset="-122"/>
                <a:cs typeface="Calibri" pitchFamily="34" charset="-120"/>
              </a:rPr>
              <a:t>Transforms</a:t>
            </a:r>
            <a:endParaRPr lang="en-US" sz="950" dirty="0"/>
          </a:p>
        </p:txBody>
      </p:sp>
      <p:sp>
        <p:nvSpPr>
          <p:cNvPr id="37" name="Shape 35"/>
          <p:cNvSpPr/>
          <p:nvPr/>
        </p:nvSpPr>
        <p:spPr>
          <a:xfrm>
            <a:off x="6391656" y="3383280"/>
            <a:ext cx="1188720" cy="868680"/>
          </a:xfrm>
          <a:prstGeom prst="roundRect">
            <a:avLst>
              <a:gd name="adj" fmla="val 7368"/>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sp>
      <p:sp>
        <p:nvSpPr>
          <p:cNvPr id="38" name="Text 36"/>
          <p:cNvSpPr/>
          <p:nvPr/>
        </p:nvSpPr>
        <p:spPr>
          <a:xfrm>
            <a:off x="6391656" y="3410712"/>
            <a:ext cx="1188720" cy="475488"/>
          </a:xfrm>
          <a:prstGeom prst="rect">
            <a:avLst/>
          </a:prstGeom>
          <a:noFill/>
          <a:ln/>
        </p:spPr>
        <p:txBody>
          <a:bodyPr wrap="square" rtlCol="0" anchor="ctr"/>
          <a:lstStyle/>
          <a:p>
            <a:pPr marL="0" indent="0" algn="ctr">
              <a:buNone/>
            </a:pPr>
            <a:r>
              <a:rPr lang="en-US" sz="2400" b="1" dirty="0">
                <a:solidFill>
                  <a:srgbClr val="0D9488"/>
                </a:solidFill>
                <a:latin typeface="Cambria" pitchFamily="34" charset="0"/>
                <a:ea typeface="Cambria" pitchFamily="34" charset="-122"/>
                <a:cs typeface="Cambria" pitchFamily="34" charset="-120"/>
              </a:rPr>
              <a:t>M</a:t>
            </a:r>
            <a:endParaRPr lang="en-US" sz="2400" dirty="0"/>
          </a:p>
        </p:txBody>
      </p:sp>
      <p:sp>
        <p:nvSpPr>
          <p:cNvPr id="39" name="Text 37"/>
          <p:cNvSpPr/>
          <p:nvPr/>
        </p:nvSpPr>
        <p:spPr>
          <a:xfrm>
            <a:off x="6391656" y="3867912"/>
            <a:ext cx="1188720" cy="320040"/>
          </a:xfrm>
          <a:prstGeom prst="rect">
            <a:avLst/>
          </a:prstGeom>
          <a:noFill/>
          <a:ln/>
        </p:spPr>
        <p:txBody>
          <a:bodyPr wrap="square" rtlCol="0" anchor="ctr"/>
          <a:lstStyle/>
          <a:p>
            <a:pPr marL="0" indent="0" algn="ctr">
              <a:buNone/>
            </a:pPr>
            <a:r>
              <a:rPr lang="en-US" sz="950" dirty="0">
                <a:solidFill>
                  <a:srgbClr val="4A4A6A"/>
                </a:solidFill>
                <a:latin typeface="Calibri" pitchFamily="34" charset="0"/>
                <a:ea typeface="Calibri" pitchFamily="34" charset="-122"/>
                <a:cs typeface="Calibri" pitchFamily="34" charset="-120"/>
              </a:rPr>
              <a:t>Language</a:t>
            </a:r>
            <a:endParaRPr lang="en-US" sz="950" dirty="0"/>
          </a:p>
        </p:txBody>
      </p:sp>
      <p:sp>
        <p:nvSpPr>
          <p:cNvPr id="40" name="Shape 38"/>
          <p:cNvSpPr/>
          <p:nvPr/>
        </p:nvSpPr>
        <p:spPr>
          <a:xfrm>
            <a:off x="7690104" y="3383280"/>
            <a:ext cx="1188720" cy="868680"/>
          </a:xfrm>
          <a:prstGeom prst="roundRect">
            <a:avLst>
              <a:gd name="adj" fmla="val 7368"/>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sp>
      <p:sp>
        <p:nvSpPr>
          <p:cNvPr id="41" name="Text 39"/>
          <p:cNvSpPr/>
          <p:nvPr/>
        </p:nvSpPr>
        <p:spPr>
          <a:xfrm>
            <a:off x="7690104" y="3410712"/>
            <a:ext cx="1188720" cy="475488"/>
          </a:xfrm>
          <a:prstGeom prst="rect">
            <a:avLst/>
          </a:prstGeom>
          <a:noFill/>
          <a:ln/>
        </p:spPr>
        <p:txBody>
          <a:bodyPr wrap="square" rtlCol="0" anchor="ctr"/>
          <a:lstStyle/>
          <a:p>
            <a:pPr marL="0" indent="0" algn="ctr">
              <a:buNone/>
            </a:pPr>
            <a:r>
              <a:rPr lang="en-US" sz="2400" b="1" dirty="0">
                <a:solidFill>
                  <a:srgbClr val="EA580C"/>
                </a:solidFill>
                <a:latin typeface="Cambria" pitchFamily="34" charset="0"/>
                <a:ea typeface="Cambria" pitchFamily="34" charset="-122"/>
                <a:cs typeface="Cambria" pitchFamily="34" charset="-120"/>
              </a:rPr>
              <a:t>ETL</a:t>
            </a:r>
            <a:endParaRPr lang="en-US" sz="2400" dirty="0"/>
          </a:p>
        </p:txBody>
      </p:sp>
      <p:sp>
        <p:nvSpPr>
          <p:cNvPr id="42" name="Text 40"/>
          <p:cNvSpPr/>
          <p:nvPr/>
        </p:nvSpPr>
        <p:spPr>
          <a:xfrm>
            <a:off x="7690104" y="3867912"/>
            <a:ext cx="1188720" cy="320040"/>
          </a:xfrm>
          <a:prstGeom prst="rect">
            <a:avLst/>
          </a:prstGeom>
          <a:noFill/>
          <a:ln/>
        </p:spPr>
        <p:txBody>
          <a:bodyPr wrap="square" rtlCol="0" anchor="ctr"/>
          <a:lstStyle/>
          <a:p>
            <a:pPr marL="0" indent="0" algn="ctr">
              <a:buNone/>
            </a:pPr>
            <a:r>
              <a:rPr lang="en-US" sz="950" dirty="0">
                <a:solidFill>
                  <a:srgbClr val="4A4A6A"/>
                </a:solidFill>
                <a:latin typeface="Calibri" pitchFamily="34" charset="0"/>
                <a:ea typeface="Calibri" pitchFamily="34" charset="-122"/>
                <a:cs typeface="Calibri" pitchFamily="34" charset="-120"/>
              </a:rPr>
              <a:t>Pipeline</a:t>
            </a:r>
            <a:endParaRPr lang="en-US" sz="950" dirty="0"/>
          </a:p>
        </p:txBody>
      </p:sp>
      <p:sp>
        <p:nvSpPr>
          <p:cNvPr id="43" name="Shape 41"/>
          <p:cNvSpPr/>
          <p:nvPr/>
        </p:nvSpPr>
        <p:spPr>
          <a:xfrm>
            <a:off x="0" y="4956048"/>
            <a:ext cx="9144000" cy="187452"/>
          </a:xfrm>
          <a:prstGeom prst="rect">
            <a:avLst/>
          </a:prstGeom>
          <a:solidFill>
            <a:srgbClr val="F0F2F5"/>
          </a:solidFill>
          <a:ln w="12700">
            <a:solidFill>
              <a:srgbClr val="F0F2F5"/>
            </a:solidFill>
            <a:prstDash val="solid"/>
          </a:ln>
        </p:spPr>
      </p:sp>
      <p:sp>
        <p:nvSpPr>
          <p:cNvPr id="44" name="Text 42"/>
          <p:cNvSpPr/>
          <p:nvPr/>
        </p:nvSpPr>
        <p:spPr>
          <a:xfrm>
            <a:off x="0" y="4956048"/>
            <a:ext cx="9144000" cy="187452"/>
          </a:xfrm>
          <a:prstGeom prst="rect">
            <a:avLst/>
          </a:prstGeom>
          <a:noFill/>
          <a:ln/>
        </p:spPr>
        <p:txBody>
          <a:bodyPr wrap="square" rtlCol="0" anchor="ctr"/>
          <a:lstStyle/>
          <a:p>
            <a:pPr marL="0" indent="0" algn="ctr">
              <a:buNone/>
            </a:pP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C3BD5"/>
          </a:solidFill>
          <a:ln w="12700">
            <a:solidFill>
              <a:srgbClr val="6C3BD5"/>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POWER QUERY ARCHITECTURE &amp; WORKFLOW</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chemeClr val="bg1"/>
                </a:solidFill>
                <a:latin typeface="Calibri" pitchFamily="34" charset="0"/>
                <a:ea typeface="Calibri" pitchFamily="34" charset="-122"/>
                <a:cs typeface="Calibri" pitchFamily="34" charset="-120"/>
              </a:rPr>
              <a:t>ETL Pipeline — From raw source to analytics-ready destination</a:t>
            </a:r>
            <a:endParaRPr lang="en-US" sz="1150" dirty="0">
              <a:solidFill>
                <a:schemeClr val="bg1"/>
              </a:solidFill>
            </a:endParaRPr>
          </a:p>
        </p:txBody>
      </p:sp>
      <p:sp>
        <p:nvSpPr>
          <p:cNvPr id="5" name="Shape 3"/>
          <p:cNvSpPr/>
          <p:nvPr/>
        </p:nvSpPr>
        <p:spPr>
          <a:xfrm>
            <a:off x="201168" y="1078992"/>
            <a:ext cx="2029968" cy="2606040"/>
          </a:xfrm>
          <a:prstGeom prst="roundRect">
            <a:avLst>
              <a:gd name="adj" fmla="val 4505"/>
            </a:avLst>
          </a:prstGeom>
          <a:solidFill>
            <a:srgbClr val="E0EFFF"/>
          </a:solidFill>
          <a:ln w="12700">
            <a:solidFill>
              <a:srgbClr val="E0EFFF"/>
            </a:solidFill>
            <a:prstDash val="solid"/>
          </a:ln>
          <a:effectLst>
            <a:outerShdw blurRad="152400" dist="50800" dir="2700000" algn="bl" rotWithShape="0">
              <a:srgbClr val="000000">
                <a:alpha val="8000"/>
              </a:srgbClr>
            </a:outerShdw>
          </a:effectLst>
        </p:spPr>
      </p:sp>
      <p:sp>
        <p:nvSpPr>
          <p:cNvPr id="6" name="Shape 4"/>
          <p:cNvSpPr/>
          <p:nvPr/>
        </p:nvSpPr>
        <p:spPr>
          <a:xfrm>
            <a:off x="201168" y="1078992"/>
            <a:ext cx="2029968" cy="658368"/>
          </a:xfrm>
          <a:prstGeom prst="roundRect">
            <a:avLst>
              <a:gd name="adj" fmla="val 13889"/>
            </a:avLst>
          </a:prstGeom>
          <a:solidFill>
            <a:srgbClr val="0F6FE8"/>
          </a:solidFill>
          <a:ln w="12700">
            <a:solidFill>
              <a:srgbClr val="0F6FE8"/>
            </a:solidFill>
            <a:prstDash val="solid"/>
          </a:ln>
        </p:spPr>
      </p:sp>
      <p:sp>
        <p:nvSpPr>
          <p:cNvPr id="7" name="Shape 5"/>
          <p:cNvSpPr/>
          <p:nvPr/>
        </p:nvSpPr>
        <p:spPr>
          <a:xfrm>
            <a:off x="201168" y="1481328"/>
            <a:ext cx="2029968" cy="256032"/>
          </a:xfrm>
          <a:prstGeom prst="rect">
            <a:avLst/>
          </a:prstGeom>
          <a:solidFill>
            <a:srgbClr val="0F6FE8"/>
          </a:solidFill>
          <a:ln w="12700">
            <a:solidFill>
              <a:srgbClr val="0F6FE8"/>
            </a:solidFill>
            <a:prstDash val="solid"/>
          </a:ln>
        </p:spPr>
      </p:sp>
      <p:sp>
        <p:nvSpPr>
          <p:cNvPr id="8" name="Text 6"/>
          <p:cNvSpPr/>
          <p:nvPr/>
        </p:nvSpPr>
        <p:spPr>
          <a:xfrm>
            <a:off x="201168" y="1097280"/>
            <a:ext cx="2029968"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274320" y="1828800"/>
            <a:ext cx="1883664" cy="685800"/>
          </a:xfrm>
          <a:prstGeom prst="rect">
            <a:avLst/>
          </a:prstGeom>
          <a:noFill/>
          <a:ln/>
        </p:spPr>
        <p:txBody>
          <a:bodyPr wrap="square" rtlCol="0" anchor="ctr"/>
          <a:lstStyle/>
          <a:p>
            <a:pPr marL="0" indent="0" algn="ctr">
              <a:lnSpc>
                <a:spcPct val="110000"/>
              </a:lnSpc>
              <a:buNone/>
            </a:pPr>
            <a:r>
              <a:rPr lang="en-US" sz="1300" b="1" dirty="0">
                <a:solidFill>
                  <a:srgbClr val="0F6FE8"/>
                </a:solidFill>
                <a:latin typeface="Cambria" pitchFamily="34" charset="0"/>
                <a:ea typeface="Cambria" pitchFamily="34" charset="-122"/>
                <a:cs typeface="Cambria" pitchFamily="34" charset="-120"/>
              </a:rPr>
              <a:t>DATA</a:t>
            </a:r>
            <a:endParaRPr lang="en-US" sz="1300" dirty="0"/>
          </a:p>
          <a:p>
            <a:pPr marL="0" indent="0" algn="ctr">
              <a:lnSpc>
                <a:spcPct val="110000"/>
              </a:lnSpc>
              <a:buNone/>
            </a:pPr>
            <a:r>
              <a:rPr lang="en-US" sz="1300" b="1" dirty="0">
                <a:solidFill>
                  <a:srgbClr val="0F6FE8"/>
                </a:solidFill>
                <a:latin typeface="Cambria" pitchFamily="34" charset="0"/>
                <a:ea typeface="Cambria" pitchFamily="34" charset="-122"/>
                <a:cs typeface="Cambria" pitchFamily="34" charset="-120"/>
              </a:rPr>
              <a:t>SOURCES</a:t>
            </a:r>
            <a:endParaRPr lang="en-US" sz="1300" dirty="0"/>
          </a:p>
        </p:txBody>
      </p:sp>
      <p:sp>
        <p:nvSpPr>
          <p:cNvPr id="10" name="Text 8"/>
          <p:cNvSpPr/>
          <p:nvPr/>
        </p:nvSpPr>
        <p:spPr>
          <a:xfrm>
            <a:off x="274320" y="2542032"/>
            <a:ext cx="1883664" cy="1051560"/>
          </a:xfrm>
          <a:prstGeom prst="rect">
            <a:avLst/>
          </a:prstGeom>
          <a:noFill/>
          <a:ln/>
        </p:spPr>
        <p:txBody>
          <a:bodyPr wrap="square" rtlCol="0" anchor="ctr"/>
          <a:lstStyle/>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Excel · CSV · SQL</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Web · SharePoint</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APIs · PDF</a:t>
            </a:r>
            <a:endParaRPr lang="en-US" sz="1000" dirty="0"/>
          </a:p>
        </p:txBody>
      </p:sp>
      <p:sp>
        <p:nvSpPr>
          <p:cNvPr id="11" name="Shape 9"/>
          <p:cNvSpPr/>
          <p:nvPr/>
        </p:nvSpPr>
        <p:spPr>
          <a:xfrm>
            <a:off x="2231136" y="2103120"/>
            <a:ext cx="201168" cy="365760"/>
          </a:xfrm>
          <a:prstGeom prst="roundRect">
            <a:avLst>
              <a:gd name="adj" fmla="val 18182"/>
            </a:avLst>
          </a:prstGeom>
          <a:solidFill>
            <a:srgbClr val="D97706"/>
          </a:solidFill>
          <a:ln w="12700">
            <a:solidFill>
              <a:srgbClr val="D97706"/>
            </a:solidFill>
            <a:prstDash val="solid"/>
          </a:ln>
        </p:spPr>
      </p:sp>
      <p:sp>
        <p:nvSpPr>
          <p:cNvPr id="12" name="Text 10"/>
          <p:cNvSpPr/>
          <p:nvPr/>
        </p:nvSpPr>
        <p:spPr>
          <a:xfrm>
            <a:off x="2231136" y="2103120"/>
            <a:ext cx="201168" cy="365760"/>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13" name="Shape 11"/>
          <p:cNvSpPr/>
          <p:nvPr/>
        </p:nvSpPr>
        <p:spPr>
          <a:xfrm>
            <a:off x="2432304" y="1078992"/>
            <a:ext cx="2029968" cy="2606040"/>
          </a:xfrm>
          <a:prstGeom prst="roundRect">
            <a:avLst>
              <a:gd name="adj" fmla="val 4505"/>
            </a:avLst>
          </a:prstGeom>
          <a:solidFill>
            <a:srgbClr val="EDE9FF"/>
          </a:solidFill>
          <a:ln w="12700">
            <a:solidFill>
              <a:srgbClr val="EDE9FF"/>
            </a:solidFill>
            <a:prstDash val="solid"/>
          </a:ln>
          <a:effectLst>
            <a:outerShdw blurRad="152400" dist="50800" dir="2700000" algn="bl" rotWithShape="0">
              <a:srgbClr val="000000">
                <a:alpha val="8000"/>
              </a:srgbClr>
            </a:outerShdw>
          </a:effectLst>
        </p:spPr>
      </p:sp>
      <p:sp>
        <p:nvSpPr>
          <p:cNvPr id="14" name="Shape 12"/>
          <p:cNvSpPr/>
          <p:nvPr/>
        </p:nvSpPr>
        <p:spPr>
          <a:xfrm>
            <a:off x="2432304" y="1078992"/>
            <a:ext cx="2029968" cy="658368"/>
          </a:xfrm>
          <a:prstGeom prst="roundRect">
            <a:avLst>
              <a:gd name="adj" fmla="val 13889"/>
            </a:avLst>
          </a:prstGeom>
          <a:solidFill>
            <a:srgbClr val="6C3BD5"/>
          </a:solidFill>
          <a:ln w="12700">
            <a:solidFill>
              <a:srgbClr val="6C3BD5"/>
            </a:solidFill>
            <a:prstDash val="solid"/>
          </a:ln>
        </p:spPr>
      </p:sp>
      <p:sp>
        <p:nvSpPr>
          <p:cNvPr id="15" name="Shape 13"/>
          <p:cNvSpPr/>
          <p:nvPr/>
        </p:nvSpPr>
        <p:spPr>
          <a:xfrm>
            <a:off x="2432304" y="1481328"/>
            <a:ext cx="2029968" cy="256032"/>
          </a:xfrm>
          <a:prstGeom prst="rect">
            <a:avLst/>
          </a:prstGeom>
          <a:solidFill>
            <a:srgbClr val="6C3BD5"/>
          </a:solidFill>
          <a:ln w="12700">
            <a:solidFill>
              <a:srgbClr val="6C3BD5"/>
            </a:solidFill>
            <a:prstDash val="solid"/>
          </a:ln>
        </p:spPr>
      </p:sp>
      <p:sp>
        <p:nvSpPr>
          <p:cNvPr id="16" name="Text 14"/>
          <p:cNvSpPr/>
          <p:nvPr/>
        </p:nvSpPr>
        <p:spPr>
          <a:xfrm>
            <a:off x="2432304" y="1097280"/>
            <a:ext cx="2029968"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2505456" y="1828800"/>
            <a:ext cx="1883664" cy="685800"/>
          </a:xfrm>
          <a:prstGeom prst="rect">
            <a:avLst/>
          </a:prstGeom>
          <a:noFill/>
          <a:ln/>
        </p:spPr>
        <p:txBody>
          <a:bodyPr wrap="square" rtlCol="0" anchor="ctr"/>
          <a:lstStyle/>
          <a:p>
            <a:pPr marL="0" indent="0" algn="ctr">
              <a:lnSpc>
                <a:spcPct val="110000"/>
              </a:lnSpc>
              <a:buNone/>
            </a:pPr>
            <a:r>
              <a:rPr lang="en-US" sz="1300" b="1" dirty="0">
                <a:solidFill>
                  <a:srgbClr val="6C3BD5"/>
                </a:solidFill>
                <a:latin typeface="Cambria" pitchFamily="34" charset="0"/>
                <a:ea typeface="Cambria" pitchFamily="34" charset="-122"/>
                <a:cs typeface="Cambria" pitchFamily="34" charset="-120"/>
              </a:rPr>
              <a:t>POWER QUERY</a:t>
            </a:r>
            <a:endParaRPr lang="en-US" sz="1300" dirty="0"/>
          </a:p>
          <a:p>
            <a:pPr marL="0" indent="0" algn="ctr">
              <a:lnSpc>
                <a:spcPct val="110000"/>
              </a:lnSpc>
              <a:buNone/>
            </a:pPr>
            <a:r>
              <a:rPr lang="en-US" sz="1300" b="1" dirty="0">
                <a:solidFill>
                  <a:srgbClr val="6C3BD5"/>
                </a:solidFill>
                <a:latin typeface="Cambria" pitchFamily="34" charset="0"/>
                <a:ea typeface="Cambria" pitchFamily="34" charset="-122"/>
                <a:cs typeface="Cambria" pitchFamily="34" charset="-120"/>
              </a:rPr>
              <a:t>ENGINE</a:t>
            </a:r>
            <a:endParaRPr lang="en-US" sz="1300" dirty="0"/>
          </a:p>
        </p:txBody>
      </p:sp>
      <p:sp>
        <p:nvSpPr>
          <p:cNvPr id="18" name="Text 16"/>
          <p:cNvSpPr/>
          <p:nvPr/>
        </p:nvSpPr>
        <p:spPr>
          <a:xfrm>
            <a:off x="2505456" y="2542032"/>
            <a:ext cx="1883664" cy="1051560"/>
          </a:xfrm>
          <a:prstGeom prst="rect">
            <a:avLst/>
          </a:prstGeom>
          <a:noFill/>
          <a:ln/>
        </p:spPr>
        <p:txBody>
          <a:bodyPr wrap="square" rtlCol="0" anchor="ctr"/>
          <a:lstStyle/>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Query Editor</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M Language</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Step History</a:t>
            </a:r>
            <a:endParaRPr lang="en-US" sz="1000" dirty="0"/>
          </a:p>
        </p:txBody>
      </p:sp>
      <p:sp>
        <p:nvSpPr>
          <p:cNvPr id="19" name="Shape 17"/>
          <p:cNvSpPr/>
          <p:nvPr/>
        </p:nvSpPr>
        <p:spPr>
          <a:xfrm>
            <a:off x="4462272" y="2103120"/>
            <a:ext cx="201168" cy="365760"/>
          </a:xfrm>
          <a:prstGeom prst="roundRect">
            <a:avLst>
              <a:gd name="adj" fmla="val 18182"/>
            </a:avLst>
          </a:prstGeom>
          <a:solidFill>
            <a:srgbClr val="D97706"/>
          </a:solidFill>
          <a:ln w="12700">
            <a:solidFill>
              <a:srgbClr val="D97706"/>
            </a:solidFill>
            <a:prstDash val="solid"/>
          </a:ln>
        </p:spPr>
      </p:sp>
      <p:sp>
        <p:nvSpPr>
          <p:cNvPr id="20" name="Text 18"/>
          <p:cNvSpPr/>
          <p:nvPr/>
        </p:nvSpPr>
        <p:spPr>
          <a:xfrm>
            <a:off x="4462272" y="2103120"/>
            <a:ext cx="201168" cy="365760"/>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21" name="Shape 19"/>
          <p:cNvSpPr/>
          <p:nvPr/>
        </p:nvSpPr>
        <p:spPr>
          <a:xfrm>
            <a:off x="4663440" y="1078992"/>
            <a:ext cx="2029968" cy="2606040"/>
          </a:xfrm>
          <a:prstGeom prst="roundRect">
            <a:avLst>
              <a:gd name="adj" fmla="val 4505"/>
            </a:avLst>
          </a:prstGeom>
          <a:solidFill>
            <a:srgbClr val="CCFBF1"/>
          </a:solidFill>
          <a:ln w="12700">
            <a:solidFill>
              <a:srgbClr val="CCFBF1"/>
            </a:solidFill>
            <a:prstDash val="solid"/>
          </a:ln>
          <a:effectLst>
            <a:outerShdw blurRad="152400" dist="50800" dir="2700000" algn="bl" rotWithShape="0">
              <a:srgbClr val="000000">
                <a:alpha val="8000"/>
              </a:srgbClr>
            </a:outerShdw>
          </a:effectLst>
        </p:spPr>
      </p:sp>
      <p:sp>
        <p:nvSpPr>
          <p:cNvPr id="22" name="Shape 20"/>
          <p:cNvSpPr/>
          <p:nvPr/>
        </p:nvSpPr>
        <p:spPr>
          <a:xfrm>
            <a:off x="4663440" y="1078992"/>
            <a:ext cx="2029968" cy="658368"/>
          </a:xfrm>
          <a:prstGeom prst="roundRect">
            <a:avLst>
              <a:gd name="adj" fmla="val 13889"/>
            </a:avLst>
          </a:prstGeom>
          <a:solidFill>
            <a:srgbClr val="0D9488"/>
          </a:solidFill>
          <a:ln w="12700">
            <a:solidFill>
              <a:srgbClr val="0D9488"/>
            </a:solidFill>
            <a:prstDash val="solid"/>
          </a:ln>
        </p:spPr>
      </p:sp>
      <p:sp>
        <p:nvSpPr>
          <p:cNvPr id="23" name="Shape 21"/>
          <p:cNvSpPr/>
          <p:nvPr/>
        </p:nvSpPr>
        <p:spPr>
          <a:xfrm>
            <a:off x="4663440" y="1481328"/>
            <a:ext cx="2029968" cy="256032"/>
          </a:xfrm>
          <a:prstGeom prst="rect">
            <a:avLst/>
          </a:prstGeom>
          <a:solidFill>
            <a:srgbClr val="0D9488"/>
          </a:solidFill>
          <a:ln w="12700">
            <a:solidFill>
              <a:srgbClr val="0D9488"/>
            </a:solidFill>
            <a:prstDash val="solid"/>
          </a:ln>
        </p:spPr>
      </p:sp>
      <p:sp>
        <p:nvSpPr>
          <p:cNvPr id="24" name="Text 22"/>
          <p:cNvSpPr/>
          <p:nvPr/>
        </p:nvSpPr>
        <p:spPr>
          <a:xfrm>
            <a:off x="4663440" y="1097280"/>
            <a:ext cx="2029968"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4736592" y="1828800"/>
            <a:ext cx="1883664" cy="685800"/>
          </a:xfrm>
          <a:prstGeom prst="rect">
            <a:avLst/>
          </a:prstGeom>
          <a:noFill/>
          <a:ln/>
        </p:spPr>
        <p:txBody>
          <a:bodyPr wrap="square" rtlCol="0" anchor="ctr"/>
          <a:lstStyle/>
          <a:p>
            <a:pPr marL="0" indent="0" algn="ctr">
              <a:lnSpc>
                <a:spcPct val="110000"/>
              </a:lnSpc>
              <a:buNone/>
            </a:pPr>
            <a:r>
              <a:rPr lang="en-US" sz="1300" b="1" dirty="0">
                <a:solidFill>
                  <a:srgbClr val="0D9488"/>
                </a:solidFill>
                <a:latin typeface="Cambria" pitchFamily="34" charset="0"/>
                <a:ea typeface="Cambria" pitchFamily="34" charset="-122"/>
                <a:cs typeface="Cambria" pitchFamily="34" charset="-120"/>
              </a:rPr>
              <a:t>TRANSFOR-</a:t>
            </a:r>
            <a:endParaRPr lang="en-US" sz="1300" dirty="0"/>
          </a:p>
          <a:p>
            <a:pPr marL="0" indent="0" algn="ctr">
              <a:lnSpc>
                <a:spcPct val="110000"/>
              </a:lnSpc>
              <a:buNone/>
            </a:pPr>
            <a:r>
              <a:rPr lang="en-US" sz="1300" b="1" dirty="0">
                <a:solidFill>
                  <a:srgbClr val="0D9488"/>
                </a:solidFill>
                <a:latin typeface="Cambria" pitchFamily="34" charset="0"/>
                <a:ea typeface="Cambria" pitchFamily="34" charset="-122"/>
                <a:cs typeface="Cambria" pitchFamily="34" charset="-120"/>
              </a:rPr>
              <a:t>MATIONS</a:t>
            </a:r>
            <a:endParaRPr lang="en-US" sz="1300" dirty="0"/>
          </a:p>
        </p:txBody>
      </p:sp>
      <p:sp>
        <p:nvSpPr>
          <p:cNvPr id="26" name="Text 24"/>
          <p:cNvSpPr/>
          <p:nvPr/>
        </p:nvSpPr>
        <p:spPr>
          <a:xfrm>
            <a:off x="4736592" y="2542032"/>
            <a:ext cx="1883664" cy="1051560"/>
          </a:xfrm>
          <a:prstGeom prst="rect">
            <a:avLst/>
          </a:prstGeom>
          <a:noFill/>
          <a:ln/>
        </p:spPr>
        <p:txBody>
          <a:bodyPr wrap="square" rtlCol="0" anchor="ctr"/>
          <a:lstStyle/>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Filter · Merge</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Pivot · Group By</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Type Changes</a:t>
            </a:r>
            <a:endParaRPr lang="en-US" sz="1000" dirty="0"/>
          </a:p>
        </p:txBody>
      </p:sp>
      <p:sp>
        <p:nvSpPr>
          <p:cNvPr id="27" name="Shape 25"/>
          <p:cNvSpPr/>
          <p:nvPr/>
        </p:nvSpPr>
        <p:spPr>
          <a:xfrm>
            <a:off x="6693408" y="2103120"/>
            <a:ext cx="201168" cy="365760"/>
          </a:xfrm>
          <a:prstGeom prst="roundRect">
            <a:avLst>
              <a:gd name="adj" fmla="val 18182"/>
            </a:avLst>
          </a:prstGeom>
          <a:solidFill>
            <a:srgbClr val="D97706"/>
          </a:solidFill>
          <a:ln w="12700">
            <a:solidFill>
              <a:srgbClr val="D97706"/>
            </a:solidFill>
            <a:prstDash val="solid"/>
          </a:ln>
        </p:spPr>
      </p:sp>
      <p:sp>
        <p:nvSpPr>
          <p:cNvPr id="28" name="Text 26"/>
          <p:cNvSpPr/>
          <p:nvPr/>
        </p:nvSpPr>
        <p:spPr>
          <a:xfrm>
            <a:off x="6693408" y="2103120"/>
            <a:ext cx="201168" cy="365760"/>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29" name="Shape 27"/>
          <p:cNvSpPr/>
          <p:nvPr/>
        </p:nvSpPr>
        <p:spPr>
          <a:xfrm>
            <a:off x="6894576" y="1078992"/>
            <a:ext cx="2029968" cy="2606040"/>
          </a:xfrm>
          <a:prstGeom prst="roundRect">
            <a:avLst>
              <a:gd name="adj" fmla="val 4505"/>
            </a:avLst>
          </a:prstGeom>
          <a:solidFill>
            <a:srgbClr val="D1FAE5"/>
          </a:solidFill>
          <a:ln w="12700">
            <a:solidFill>
              <a:srgbClr val="D1FAE5"/>
            </a:solidFill>
            <a:prstDash val="solid"/>
          </a:ln>
          <a:effectLst>
            <a:outerShdw blurRad="152400" dist="50800" dir="2700000" algn="bl" rotWithShape="0">
              <a:srgbClr val="000000">
                <a:alpha val="8000"/>
              </a:srgbClr>
            </a:outerShdw>
          </a:effectLst>
        </p:spPr>
      </p:sp>
      <p:sp>
        <p:nvSpPr>
          <p:cNvPr id="30" name="Shape 28"/>
          <p:cNvSpPr/>
          <p:nvPr/>
        </p:nvSpPr>
        <p:spPr>
          <a:xfrm>
            <a:off x="6894576" y="1078992"/>
            <a:ext cx="2029968" cy="658368"/>
          </a:xfrm>
          <a:prstGeom prst="roundRect">
            <a:avLst>
              <a:gd name="adj" fmla="val 13889"/>
            </a:avLst>
          </a:prstGeom>
          <a:solidFill>
            <a:srgbClr val="059669"/>
          </a:solidFill>
          <a:ln w="12700">
            <a:solidFill>
              <a:srgbClr val="059669"/>
            </a:solidFill>
            <a:prstDash val="solid"/>
          </a:ln>
        </p:spPr>
      </p:sp>
      <p:sp>
        <p:nvSpPr>
          <p:cNvPr id="31" name="Shape 29"/>
          <p:cNvSpPr/>
          <p:nvPr/>
        </p:nvSpPr>
        <p:spPr>
          <a:xfrm>
            <a:off x="6894576" y="1481328"/>
            <a:ext cx="2029968" cy="256032"/>
          </a:xfrm>
          <a:prstGeom prst="rect">
            <a:avLst/>
          </a:prstGeom>
          <a:solidFill>
            <a:srgbClr val="059669"/>
          </a:solidFill>
          <a:ln w="12700">
            <a:solidFill>
              <a:srgbClr val="059669"/>
            </a:solidFill>
            <a:prstDash val="solid"/>
          </a:ln>
        </p:spPr>
      </p:sp>
      <p:sp>
        <p:nvSpPr>
          <p:cNvPr id="32" name="Text 30"/>
          <p:cNvSpPr/>
          <p:nvPr/>
        </p:nvSpPr>
        <p:spPr>
          <a:xfrm>
            <a:off x="6894576" y="1097280"/>
            <a:ext cx="2029968"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3" name="Text 31"/>
          <p:cNvSpPr/>
          <p:nvPr/>
        </p:nvSpPr>
        <p:spPr>
          <a:xfrm>
            <a:off x="6967728" y="1828800"/>
            <a:ext cx="1883664" cy="685800"/>
          </a:xfrm>
          <a:prstGeom prst="rect">
            <a:avLst/>
          </a:prstGeom>
          <a:noFill/>
          <a:ln/>
        </p:spPr>
        <p:txBody>
          <a:bodyPr wrap="square" rtlCol="0" anchor="ctr"/>
          <a:lstStyle/>
          <a:p>
            <a:pPr marL="0" indent="0" algn="ctr">
              <a:lnSpc>
                <a:spcPct val="110000"/>
              </a:lnSpc>
              <a:buNone/>
            </a:pPr>
            <a:r>
              <a:rPr lang="en-US" sz="1300" b="1" dirty="0">
                <a:solidFill>
                  <a:srgbClr val="059669"/>
                </a:solidFill>
                <a:latin typeface="Cambria" pitchFamily="34" charset="0"/>
                <a:ea typeface="Cambria" pitchFamily="34" charset="-122"/>
                <a:cs typeface="Cambria" pitchFamily="34" charset="-120"/>
              </a:rPr>
              <a:t>LOAD</a:t>
            </a:r>
            <a:endParaRPr lang="en-US" sz="1300" dirty="0"/>
          </a:p>
          <a:p>
            <a:pPr marL="0" indent="0" algn="ctr">
              <a:lnSpc>
                <a:spcPct val="110000"/>
              </a:lnSpc>
              <a:buNone/>
            </a:pPr>
            <a:r>
              <a:rPr lang="en-US" sz="1300" b="1" dirty="0">
                <a:solidFill>
                  <a:srgbClr val="059669"/>
                </a:solidFill>
                <a:latin typeface="Cambria" pitchFamily="34" charset="0"/>
                <a:ea typeface="Cambria" pitchFamily="34" charset="-122"/>
                <a:cs typeface="Cambria" pitchFamily="34" charset="-120"/>
              </a:rPr>
              <a:t>DESTINATION</a:t>
            </a:r>
            <a:endParaRPr lang="en-US" sz="1300" dirty="0"/>
          </a:p>
        </p:txBody>
      </p:sp>
      <p:sp>
        <p:nvSpPr>
          <p:cNvPr id="34" name="Text 32"/>
          <p:cNvSpPr/>
          <p:nvPr/>
        </p:nvSpPr>
        <p:spPr>
          <a:xfrm>
            <a:off x="6967728" y="2542032"/>
            <a:ext cx="1883664" cy="1051560"/>
          </a:xfrm>
          <a:prstGeom prst="rect">
            <a:avLst/>
          </a:prstGeom>
          <a:noFill/>
          <a:ln/>
        </p:spPr>
        <p:txBody>
          <a:bodyPr wrap="square" rtlCol="0" anchor="ctr"/>
          <a:lstStyle/>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Excel Table</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Power BI Model</a:t>
            </a:r>
            <a:endParaRPr lang="en-US" sz="1000" dirty="0"/>
          </a:p>
          <a:p>
            <a:pPr marL="0" indent="0" algn="ctr">
              <a:lnSpc>
                <a:spcPct val="140000"/>
              </a:lnSpc>
              <a:buNone/>
            </a:pPr>
            <a:r>
              <a:rPr lang="en-US" sz="1000" dirty="0">
                <a:solidFill>
                  <a:srgbClr val="4A4A6A"/>
                </a:solidFill>
                <a:latin typeface="Calibri" pitchFamily="34" charset="0"/>
                <a:ea typeface="Calibri" pitchFamily="34" charset="-122"/>
                <a:cs typeface="Calibri" pitchFamily="34" charset="-120"/>
              </a:rPr>
              <a:t>Data Lake</a:t>
            </a:r>
            <a:endParaRPr lang="en-US" sz="1000" dirty="0"/>
          </a:p>
        </p:txBody>
      </p:sp>
      <p:sp>
        <p:nvSpPr>
          <p:cNvPr id="35" name="Shape 33"/>
          <p:cNvSpPr/>
          <p:nvPr/>
        </p:nvSpPr>
        <p:spPr>
          <a:xfrm>
            <a:off x="201168" y="3813048"/>
            <a:ext cx="2029968" cy="1115568"/>
          </a:xfrm>
          <a:prstGeom prst="roundRect">
            <a:avLst>
              <a:gd name="adj" fmla="val 6557"/>
            </a:avLst>
          </a:prstGeom>
          <a:solidFill>
            <a:srgbClr val="FFFFFF"/>
          </a:solidFill>
          <a:ln w="12700">
            <a:solidFill>
              <a:srgbClr val="0F6FE8"/>
            </a:solidFill>
            <a:prstDash val="solid"/>
          </a:ln>
          <a:effectLst>
            <a:outerShdw blurRad="152400" dist="50800" dir="2700000" algn="bl" rotWithShape="0">
              <a:srgbClr val="000000">
                <a:alpha val="8000"/>
              </a:srgbClr>
            </a:outerShdw>
          </a:effectLst>
        </p:spPr>
      </p:sp>
      <p:sp>
        <p:nvSpPr>
          <p:cNvPr id="36" name="Shape 34"/>
          <p:cNvSpPr/>
          <p:nvPr/>
        </p:nvSpPr>
        <p:spPr>
          <a:xfrm>
            <a:off x="201168" y="3813048"/>
            <a:ext cx="2029968" cy="256032"/>
          </a:xfrm>
          <a:prstGeom prst="roundRect">
            <a:avLst>
              <a:gd name="adj" fmla="val 28571"/>
            </a:avLst>
          </a:prstGeom>
          <a:solidFill>
            <a:srgbClr val="0F6FE8"/>
          </a:solidFill>
          <a:ln w="12700">
            <a:solidFill>
              <a:srgbClr val="0F6FE8"/>
            </a:solidFill>
            <a:prstDash val="solid"/>
          </a:ln>
        </p:spPr>
      </p:sp>
      <p:sp>
        <p:nvSpPr>
          <p:cNvPr id="37" name="Shape 35"/>
          <p:cNvSpPr/>
          <p:nvPr/>
        </p:nvSpPr>
        <p:spPr>
          <a:xfrm>
            <a:off x="201168" y="3977640"/>
            <a:ext cx="2029968" cy="91440"/>
          </a:xfrm>
          <a:prstGeom prst="rect">
            <a:avLst/>
          </a:prstGeom>
          <a:solidFill>
            <a:srgbClr val="0F6FE8"/>
          </a:solidFill>
          <a:ln w="12700">
            <a:solidFill>
              <a:srgbClr val="0F6FE8"/>
            </a:solidFill>
            <a:prstDash val="solid"/>
          </a:ln>
        </p:spPr>
      </p:sp>
      <p:sp>
        <p:nvSpPr>
          <p:cNvPr id="38" name="Text 36"/>
          <p:cNvSpPr/>
          <p:nvPr/>
        </p:nvSpPr>
        <p:spPr>
          <a:xfrm>
            <a:off x="292608" y="4105656"/>
            <a:ext cx="1847088" cy="292608"/>
          </a:xfrm>
          <a:prstGeom prst="rect">
            <a:avLst/>
          </a:prstGeom>
          <a:noFill/>
          <a:ln/>
        </p:spPr>
        <p:txBody>
          <a:bodyPr wrap="square" rtlCol="0" anchor="ctr"/>
          <a:lstStyle/>
          <a:p>
            <a:pPr marL="0" indent="0">
              <a:buNone/>
            </a:pPr>
            <a:r>
              <a:rPr lang="en-US" sz="1100" b="1" dirty="0">
                <a:solidFill>
                  <a:srgbClr val="0F6FE8"/>
                </a:solidFill>
                <a:latin typeface="Cambria" pitchFamily="34" charset="0"/>
                <a:ea typeface="Cambria" pitchFamily="34" charset="-122"/>
                <a:cs typeface="Cambria" pitchFamily="34" charset="-120"/>
              </a:rPr>
              <a:t>Applied Steps</a:t>
            </a:r>
            <a:endParaRPr lang="en-US" sz="1100" dirty="0"/>
          </a:p>
        </p:txBody>
      </p:sp>
      <p:sp>
        <p:nvSpPr>
          <p:cNvPr id="39" name="Text 37"/>
          <p:cNvSpPr/>
          <p:nvPr/>
        </p:nvSpPr>
        <p:spPr>
          <a:xfrm>
            <a:off x="292608" y="4407408"/>
            <a:ext cx="1847088"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Every click is recorded as an auditable, reversible step</a:t>
            </a:r>
            <a:endParaRPr lang="en-US" sz="900" dirty="0"/>
          </a:p>
        </p:txBody>
      </p:sp>
      <p:sp>
        <p:nvSpPr>
          <p:cNvPr id="40" name="Shape 38"/>
          <p:cNvSpPr/>
          <p:nvPr/>
        </p:nvSpPr>
        <p:spPr>
          <a:xfrm>
            <a:off x="2432304" y="3813048"/>
            <a:ext cx="2029968" cy="1115568"/>
          </a:xfrm>
          <a:prstGeom prst="roundRect">
            <a:avLst>
              <a:gd name="adj" fmla="val 6557"/>
            </a:avLst>
          </a:prstGeom>
          <a:solidFill>
            <a:srgbClr val="FFFFFF"/>
          </a:solidFill>
          <a:ln w="12700">
            <a:solidFill>
              <a:srgbClr val="6C3BD5"/>
            </a:solidFill>
            <a:prstDash val="solid"/>
          </a:ln>
          <a:effectLst>
            <a:outerShdw blurRad="152400" dist="50800" dir="2700000" algn="bl" rotWithShape="0">
              <a:srgbClr val="000000">
                <a:alpha val="8000"/>
              </a:srgbClr>
            </a:outerShdw>
          </a:effectLst>
        </p:spPr>
      </p:sp>
      <p:sp>
        <p:nvSpPr>
          <p:cNvPr id="41" name="Shape 39"/>
          <p:cNvSpPr/>
          <p:nvPr/>
        </p:nvSpPr>
        <p:spPr>
          <a:xfrm>
            <a:off x="2432304" y="3813048"/>
            <a:ext cx="2029968" cy="256032"/>
          </a:xfrm>
          <a:prstGeom prst="roundRect">
            <a:avLst>
              <a:gd name="adj" fmla="val 28571"/>
            </a:avLst>
          </a:prstGeom>
          <a:solidFill>
            <a:srgbClr val="6C3BD5"/>
          </a:solidFill>
          <a:ln w="12700">
            <a:solidFill>
              <a:srgbClr val="6C3BD5"/>
            </a:solidFill>
            <a:prstDash val="solid"/>
          </a:ln>
        </p:spPr>
      </p:sp>
      <p:sp>
        <p:nvSpPr>
          <p:cNvPr id="42" name="Shape 40"/>
          <p:cNvSpPr/>
          <p:nvPr/>
        </p:nvSpPr>
        <p:spPr>
          <a:xfrm>
            <a:off x="2432304" y="3977640"/>
            <a:ext cx="2029968" cy="91440"/>
          </a:xfrm>
          <a:prstGeom prst="rect">
            <a:avLst/>
          </a:prstGeom>
          <a:solidFill>
            <a:srgbClr val="6C3BD5"/>
          </a:solidFill>
          <a:ln w="12700">
            <a:solidFill>
              <a:srgbClr val="6C3BD5"/>
            </a:solidFill>
            <a:prstDash val="solid"/>
          </a:ln>
        </p:spPr>
      </p:sp>
      <p:sp>
        <p:nvSpPr>
          <p:cNvPr id="43" name="Text 41"/>
          <p:cNvSpPr/>
          <p:nvPr/>
        </p:nvSpPr>
        <p:spPr>
          <a:xfrm>
            <a:off x="2523744" y="4105656"/>
            <a:ext cx="1847088" cy="292608"/>
          </a:xfrm>
          <a:prstGeom prst="rect">
            <a:avLst/>
          </a:prstGeom>
          <a:noFill/>
          <a:ln/>
        </p:spPr>
        <p:txBody>
          <a:bodyPr wrap="square" rtlCol="0" anchor="ctr"/>
          <a:lstStyle/>
          <a:p>
            <a:pPr marL="0" indent="0">
              <a:buNone/>
            </a:pPr>
            <a:r>
              <a:rPr lang="en-US" sz="1100" b="1" dirty="0">
                <a:solidFill>
                  <a:srgbClr val="6C3BD5"/>
                </a:solidFill>
                <a:latin typeface="Cambria" pitchFamily="34" charset="0"/>
                <a:ea typeface="Cambria" pitchFamily="34" charset="-122"/>
                <a:cs typeface="Cambria" pitchFamily="34" charset="-120"/>
              </a:rPr>
              <a:t>M Language</a:t>
            </a:r>
            <a:endParaRPr lang="en-US" sz="1100" dirty="0"/>
          </a:p>
        </p:txBody>
      </p:sp>
      <p:sp>
        <p:nvSpPr>
          <p:cNvPr id="44" name="Text 42"/>
          <p:cNvSpPr/>
          <p:nvPr/>
        </p:nvSpPr>
        <p:spPr>
          <a:xfrm>
            <a:off x="2523744" y="4407408"/>
            <a:ext cx="1847088"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Functional formula language auto-generated behind every action</a:t>
            </a:r>
            <a:endParaRPr lang="en-US" sz="900" dirty="0"/>
          </a:p>
        </p:txBody>
      </p:sp>
      <p:sp>
        <p:nvSpPr>
          <p:cNvPr id="45" name="Shape 43"/>
          <p:cNvSpPr/>
          <p:nvPr/>
        </p:nvSpPr>
        <p:spPr>
          <a:xfrm>
            <a:off x="4663440" y="3813048"/>
            <a:ext cx="2029968" cy="1115568"/>
          </a:xfrm>
          <a:prstGeom prst="roundRect">
            <a:avLst>
              <a:gd name="adj" fmla="val 6557"/>
            </a:avLst>
          </a:prstGeom>
          <a:solidFill>
            <a:srgbClr val="FFFFFF"/>
          </a:solidFill>
          <a:ln w="12700">
            <a:solidFill>
              <a:srgbClr val="0D9488"/>
            </a:solidFill>
            <a:prstDash val="solid"/>
          </a:ln>
          <a:effectLst>
            <a:outerShdw blurRad="152400" dist="50800" dir="2700000" algn="bl" rotWithShape="0">
              <a:srgbClr val="000000">
                <a:alpha val="8000"/>
              </a:srgbClr>
            </a:outerShdw>
          </a:effectLst>
        </p:spPr>
      </p:sp>
      <p:sp>
        <p:nvSpPr>
          <p:cNvPr id="46" name="Shape 44"/>
          <p:cNvSpPr/>
          <p:nvPr/>
        </p:nvSpPr>
        <p:spPr>
          <a:xfrm>
            <a:off x="4663440" y="3813048"/>
            <a:ext cx="2029968" cy="256032"/>
          </a:xfrm>
          <a:prstGeom prst="roundRect">
            <a:avLst>
              <a:gd name="adj" fmla="val 28571"/>
            </a:avLst>
          </a:prstGeom>
          <a:solidFill>
            <a:srgbClr val="0D9488"/>
          </a:solidFill>
          <a:ln w="12700">
            <a:solidFill>
              <a:srgbClr val="0D9488"/>
            </a:solidFill>
            <a:prstDash val="solid"/>
          </a:ln>
        </p:spPr>
      </p:sp>
      <p:sp>
        <p:nvSpPr>
          <p:cNvPr id="47" name="Shape 45"/>
          <p:cNvSpPr/>
          <p:nvPr/>
        </p:nvSpPr>
        <p:spPr>
          <a:xfrm>
            <a:off x="4663440" y="3977640"/>
            <a:ext cx="2029968" cy="91440"/>
          </a:xfrm>
          <a:prstGeom prst="rect">
            <a:avLst/>
          </a:prstGeom>
          <a:solidFill>
            <a:srgbClr val="0D9488"/>
          </a:solidFill>
          <a:ln w="12700">
            <a:solidFill>
              <a:srgbClr val="0D9488"/>
            </a:solidFill>
            <a:prstDash val="solid"/>
          </a:ln>
        </p:spPr>
      </p:sp>
      <p:sp>
        <p:nvSpPr>
          <p:cNvPr id="48" name="Text 46"/>
          <p:cNvSpPr/>
          <p:nvPr/>
        </p:nvSpPr>
        <p:spPr>
          <a:xfrm>
            <a:off x="4754880" y="4105656"/>
            <a:ext cx="1847088" cy="292608"/>
          </a:xfrm>
          <a:prstGeom prst="rect">
            <a:avLst/>
          </a:prstGeom>
          <a:noFill/>
          <a:ln/>
        </p:spPr>
        <p:txBody>
          <a:bodyPr wrap="square" rtlCol="0" anchor="ctr"/>
          <a:lstStyle/>
          <a:p>
            <a:pPr marL="0" indent="0">
              <a:buNone/>
            </a:pPr>
            <a:r>
              <a:rPr lang="en-US" sz="1100" b="1" dirty="0">
                <a:solidFill>
                  <a:srgbClr val="0D9488"/>
                </a:solidFill>
                <a:latin typeface="Cambria" pitchFamily="34" charset="0"/>
                <a:ea typeface="Cambria" pitchFamily="34" charset="-122"/>
                <a:cs typeface="Cambria" pitchFamily="34" charset="-120"/>
              </a:rPr>
              <a:t>Query Folding</a:t>
            </a:r>
            <a:endParaRPr lang="en-US" sz="1100" dirty="0"/>
          </a:p>
        </p:txBody>
      </p:sp>
      <p:sp>
        <p:nvSpPr>
          <p:cNvPr id="49" name="Text 47"/>
          <p:cNvSpPr/>
          <p:nvPr/>
        </p:nvSpPr>
        <p:spPr>
          <a:xfrm>
            <a:off x="4754880" y="4407408"/>
            <a:ext cx="1847088"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Transforms pushed to source DB — dramatically faster processing</a:t>
            </a:r>
            <a:endParaRPr lang="en-US" sz="900" dirty="0"/>
          </a:p>
        </p:txBody>
      </p:sp>
      <p:sp>
        <p:nvSpPr>
          <p:cNvPr id="50" name="Shape 48"/>
          <p:cNvSpPr/>
          <p:nvPr/>
        </p:nvSpPr>
        <p:spPr>
          <a:xfrm>
            <a:off x="6894576" y="3813048"/>
            <a:ext cx="2029968" cy="1115568"/>
          </a:xfrm>
          <a:prstGeom prst="roundRect">
            <a:avLst>
              <a:gd name="adj" fmla="val 6557"/>
            </a:avLst>
          </a:prstGeom>
          <a:solidFill>
            <a:srgbClr val="FFFFFF"/>
          </a:solidFill>
          <a:ln w="12700">
            <a:solidFill>
              <a:srgbClr val="059669"/>
            </a:solidFill>
            <a:prstDash val="solid"/>
          </a:ln>
          <a:effectLst>
            <a:outerShdw blurRad="152400" dist="50800" dir="2700000" algn="bl" rotWithShape="0">
              <a:srgbClr val="000000">
                <a:alpha val="8000"/>
              </a:srgbClr>
            </a:outerShdw>
          </a:effectLst>
        </p:spPr>
      </p:sp>
      <p:sp>
        <p:nvSpPr>
          <p:cNvPr id="51" name="Shape 49"/>
          <p:cNvSpPr/>
          <p:nvPr/>
        </p:nvSpPr>
        <p:spPr>
          <a:xfrm>
            <a:off x="6894576" y="3813048"/>
            <a:ext cx="2029968" cy="256032"/>
          </a:xfrm>
          <a:prstGeom prst="roundRect">
            <a:avLst>
              <a:gd name="adj" fmla="val 28571"/>
            </a:avLst>
          </a:prstGeom>
          <a:solidFill>
            <a:srgbClr val="059669"/>
          </a:solidFill>
          <a:ln w="12700">
            <a:solidFill>
              <a:srgbClr val="059669"/>
            </a:solidFill>
            <a:prstDash val="solid"/>
          </a:ln>
        </p:spPr>
      </p:sp>
      <p:sp>
        <p:nvSpPr>
          <p:cNvPr id="52" name="Shape 50"/>
          <p:cNvSpPr/>
          <p:nvPr/>
        </p:nvSpPr>
        <p:spPr>
          <a:xfrm>
            <a:off x="6894576" y="3977640"/>
            <a:ext cx="2029968" cy="91440"/>
          </a:xfrm>
          <a:prstGeom prst="rect">
            <a:avLst/>
          </a:prstGeom>
          <a:solidFill>
            <a:srgbClr val="059669"/>
          </a:solidFill>
          <a:ln w="12700">
            <a:solidFill>
              <a:srgbClr val="059669"/>
            </a:solidFill>
            <a:prstDash val="solid"/>
          </a:ln>
        </p:spPr>
      </p:sp>
      <p:sp>
        <p:nvSpPr>
          <p:cNvPr id="53" name="Text 51"/>
          <p:cNvSpPr/>
          <p:nvPr/>
        </p:nvSpPr>
        <p:spPr>
          <a:xfrm>
            <a:off x="6986016" y="4105656"/>
            <a:ext cx="1847088" cy="292608"/>
          </a:xfrm>
          <a:prstGeom prst="rect">
            <a:avLst/>
          </a:prstGeom>
          <a:noFill/>
          <a:ln/>
        </p:spPr>
        <p:txBody>
          <a:bodyPr wrap="square" rtlCol="0" anchor="ctr"/>
          <a:lstStyle/>
          <a:p>
            <a:pPr marL="0" indent="0">
              <a:buNone/>
            </a:pPr>
            <a:r>
              <a:rPr lang="en-US" sz="1100" b="1" dirty="0">
                <a:solidFill>
                  <a:srgbClr val="059669"/>
                </a:solidFill>
                <a:latin typeface="Cambria" pitchFamily="34" charset="0"/>
                <a:ea typeface="Cambria" pitchFamily="34" charset="-122"/>
                <a:cs typeface="Cambria" pitchFamily="34" charset="-120"/>
              </a:rPr>
              <a:t>Reusable Queries</a:t>
            </a:r>
            <a:endParaRPr lang="en-US" sz="1100" dirty="0"/>
          </a:p>
        </p:txBody>
      </p:sp>
      <p:sp>
        <p:nvSpPr>
          <p:cNvPr id="54" name="Text 52"/>
          <p:cNvSpPr/>
          <p:nvPr/>
        </p:nvSpPr>
        <p:spPr>
          <a:xfrm>
            <a:off x="6986016" y="4407408"/>
            <a:ext cx="1847088"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Named pipelines referenced and shared across workbooks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9488"/>
          </a:solidFill>
          <a:ln w="12700">
            <a:solidFill>
              <a:srgbClr val="0D9488"/>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IMPORT &amp; CONNECTIVITY</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rgbClr val="CCFBF1"/>
                </a:solidFill>
                <a:latin typeface="Calibri" pitchFamily="34" charset="0"/>
                <a:ea typeface="Calibri" pitchFamily="34" charset="-122"/>
                <a:cs typeface="Calibri" pitchFamily="34" charset="-120"/>
              </a:rPr>
              <a:t>One platform · Every data source · Zero manual copy-paste</a:t>
            </a:r>
            <a:endParaRPr lang="en-US" sz="1150" dirty="0"/>
          </a:p>
        </p:txBody>
      </p:sp>
      <p:sp>
        <p:nvSpPr>
          <p:cNvPr id="5" name="Shape 3"/>
          <p:cNvSpPr/>
          <p:nvPr/>
        </p:nvSpPr>
        <p:spPr>
          <a:xfrm>
            <a:off x="201168" y="1097280"/>
            <a:ext cx="2779776" cy="3246120"/>
          </a:xfrm>
          <a:prstGeom prst="roundRect">
            <a:avLst>
              <a:gd name="adj" fmla="val 3289"/>
            </a:avLst>
          </a:prstGeom>
          <a:solidFill>
            <a:srgbClr val="E0EFFF"/>
          </a:solidFill>
          <a:ln w="12700">
            <a:solidFill>
              <a:srgbClr val="E0EFFF"/>
            </a:solidFill>
            <a:prstDash val="solid"/>
          </a:ln>
          <a:effectLst>
            <a:outerShdw blurRad="152400" dist="50800" dir="2700000" algn="bl" rotWithShape="0">
              <a:srgbClr val="000000">
                <a:alpha val="8000"/>
              </a:srgbClr>
            </a:outerShdw>
          </a:effectLst>
        </p:spPr>
      </p:sp>
      <p:sp>
        <p:nvSpPr>
          <p:cNvPr id="6" name="Shape 4"/>
          <p:cNvSpPr/>
          <p:nvPr/>
        </p:nvSpPr>
        <p:spPr>
          <a:xfrm>
            <a:off x="201168" y="1097280"/>
            <a:ext cx="2779776" cy="804672"/>
          </a:xfrm>
          <a:prstGeom prst="roundRect">
            <a:avLst>
              <a:gd name="adj" fmla="val 11364"/>
            </a:avLst>
          </a:prstGeom>
          <a:solidFill>
            <a:srgbClr val="0F6FE8"/>
          </a:solidFill>
          <a:ln w="12700">
            <a:solidFill>
              <a:srgbClr val="0F6FE8"/>
            </a:solidFill>
            <a:prstDash val="solid"/>
          </a:ln>
        </p:spPr>
      </p:sp>
      <p:sp>
        <p:nvSpPr>
          <p:cNvPr id="7" name="Shape 5"/>
          <p:cNvSpPr/>
          <p:nvPr/>
        </p:nvSpPr>
        <p:spPr>
          <a:xfrm>
            <a:off x="201168" y="1609344"/>
            <a:ext cx="2779776" cy="292608"/>
          </a:xfrm>
          <a:prstGeom prst="rect">
            <a:avLst/>
          </a:prstGeom>
          <a:solidFill>
            <a:srgbClr val="0F6FE8"/>
          </a:solidFill>
          <a:ln w="12700">
            <a:solidFill>
              <a:srgbClr val="0F6FE8"/>
            </a:solidFill>
            <a:prstDash val="solid"/>
          </a:ln>
        </p:spPr>
      </p:sp>
      <p:sp>
        <p:nvSpPr>
          <p:cNvPr id="8" name="Text 6"/>
          <p:cNvSpPr/>
          <p:nvPr/>
        </p:nvSpPr>
        <p:spPr>
          <a:xfrm>
            <a:off x="310896" y="1143000"/>
            <a:ext cx="2560320" cy="713232"/>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  File Sources</a:t>
            </a:r>
            <a:endParaRPr lang="en-US" sz="1500" dirty="0"/>
          </a:p>
        </p:txBody>
      </p:sp>
      <p:sp>
        <p:nvSpPr>
          <p:cNvPr id="9" name="Text 7"/>
          <p:cNvSpPr/>
          <p:nvPr/>
        </p:nvSpPr>
        <p:spPr>
          <a:xfrm>
            <a:off x="338328" y="1965960"/>
            <a:ext cx="2505456" cy="2240280"/>
          </a:xfrm>
          <a:prstGeom prst="rect">
            <a:avLst/>
          </a:prstGeom>
          <a:noFill/>
          <a:ln/>
        </p:spPr>
        <p:txBody>
          <a:bodyPr wrap="square" rtlCol="0" anchor="ctr"/>
          <a:lstStyle/>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Excel Workbook (.xlsx)</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CSV / Text File</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JSON / XML</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PDF Tables</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Folder (Batch Combine)</a:t>
            </a:r>
            <a:endParaRPr lang="en-US" sz="1100" dirty="0"/>
          </a:p>
        </p:txBody>
      </p:sp>
      <p:sp>
        <p:nvSpPr>
          <p:cNvPr id="10" name="Shape 8"/>
          <p:cNvSpPr/>
          <p:nvPr/>
        </p:nvSpPr>
        <p:spPr>
          <a:xfrm>
            <a:off x="3182112" y="1097280"/>
            <a:ext cx="2779776" cy="3246120"/>
          </a:xfrm>
          <a:prstGeom prst="roundRect">
            <a:avLst>
              <a:gd name="adj" fmla="val 3289"/>
            </a:avLst>
          </a:prstGeom>
          <a:solidFill>
            <a:srgbClr val="EDE9FF"/>
          </a:solidFill>
          <a:ln w="12700">
            <a:solidFill>
              <a:srgbClr val="EDE9FF"/>
            </a:solidFill>
            <a:prstDash val="solid"/>
          </a:ln>
          <a:effectLst>
            <a:outerShdw blurRad="152400" dist="50800" dir="2700000" algn="bl" rotWithShape="0">
              <a:srgbClr val="000000">
                <a:alpha val="8000"/>
              </a:srgbClr>
            </a:outerShdw>
          </a:effectLst>
        </p:spPr>
      </p:sp>
      <p:sp>
        <p:nvSpPr>
          <p:cNvPr id="11" name="Shape 9"/>
          <p:cNvSpPr/>
          <p:nvPr/>
        </p:nvSpPr>
        <p:spPr>
          <a:xfrm>
            <a:off x="3182112" y="1097280"/>
            <a:ext cx="2779776" cy="804672"/>
          </a:xfrm>
          <a:prstGeom prst="roundRect">
            <a:avLst>
              <a:gd name="adj" fmla="val 11364"/>
            </a:avLst>
          </a:prstGeom>
          <a:solidFill>
            <a:srgbClr val="6C3BD5"/>
          </a:solidFill>
          <a:ln w="12700">
            <a:solidFill>
              <a:srgbClr val="6C3BD5"/>
            </a:solidFill>
            <a:prstDash val="solid"/>
          </a:ln>
        </p:spPr>
      </p:sp>
      <p:sp>
        <p:nvSpPr>
          <p:cNvPr id="12" name="Shape 10"/>
          <p:cNvSpPr/>
          <p:nvPr/>
        </p:nvSpPr>
        <p:spPr>
          <a:xfrm>
            <a:off x="3182112" y="1609344"/>
            <a:ext cx="2779776" cy="292608"/>
          </a:xfrm>
          <a:prstGeom prst="rect">
            <a:avLst/>
          </a:prstGeom>
          <a:solidFill>
            <a:srgbClr val="6C3BD5"/>
          </a:solidFill>
          <a:ln w="12700">
            <a:solidFill>
              <a:srgbClr val="6C3BD5"/>
            </a:solidFill>
            <a:prstDash val="solid"/>
          </a:ln>
        </p:spPr>
      </p:sp>
      <p:sp>
        <p:nvSpPr>
          <p:cNvPr id="13" name="Text 11"/>
          <p:cNvSpPr/>
          <p:nvPr/>
        </p:nvSpPr>
        <p:spPr>
          <a:xfrm>
            <a:off x="3291840" y="1143000"/>
            <a:ext cx="2560320" cy="713232"/>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  Databases</a:t>
            </a:r>
            <a:endParaRPr lang="en-US" sz="1500" dirty="0"/>
          </a:p>
        </p:txBody>
      </p:sp>
      <p:sp>
        <p:nvSpPr>
          <p:cNvPr id="14" name="Text 12"/>
          <p:cNvSpPr/>
          <p:nvPr/>
        </p:nvSpPr>
        <p:spPr>
          <a:xfrm>
            <a:off x="3319272" y="1965960"/>
            <a:ext cx="2505456" cy="2240280"/>
          </a:xfrm>
          <a:prstGeom prst="rect">
            <a:avLst/>
          </a:prstGeom>
          <a:noFill/>
          <a:ln/>
        </p:spPr>
        <p:txBody>
          <a:bodyPr wrap="square" rtlCol="0" anchor="ctr"/>
          <a:lstStyle/>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SQL Server (native)</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MySQL / PostgreSQL</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Oracle / IBM DB2</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Microsoft Access</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Azure SQL Database</a:t>
            </a:r>
            <a:endParaRPr lang="en-US" sz="1100" dirty="0"/>
          </a:p>
        </p:txBody>
      </p:sp>
      <p:sp>
        <p:nvSpPr>
          <p:cNvPr id="15" name="Shape 13"/>
          <p:cNvSpPr/>
          <p:nvPr/>
        </p:nvSpPr>
        <p:spPr>
          <a:xfrm>
            <a:off x="6163056" y="1097280"/>
            <a:ext cx="2779776" cy="3246120"/>
          </a:xfrm>
          <a:prstGeom prst="roundRect">
            <a:avLst>
              <a:gd name="adj" fmla="val 3289"/>
            </a:avLst>
          </a:prstGeom>
          <a:solidFill>
            <a:srgbClr val="CCFBF1"/>
          </a:solidFill>
          <a:ln w="12700">
            <a:solidFill>
              <a:srgbClr val="CCFBF1"/>
            </a:solidFill>
            <a:prstDash val="solid"/>
          </a:ln>
          <a:effectLst>
            <a:outerShdw blurRad="152400" dist="50800" dir="2700000" algn="bl" rotWithShape="0">
              <a:srgbClr val="000000">
                <a:alpha val="8000"/>
              </a:srgbClr>
            </a:outerShdw>
          </a:effectLst>
        </p:spPr>
      </p:sp>
      <p:sp>
        <p:nvSpPr>
          <p:cNvPr id="16" name="Shape 14"/>
          <p:cNvSpPr/>
          <p:nvPr/>
        </p:nvSpPr>
        <p:spPr>
          <a:xfrm>
            <a:off x="6163056" y="1097280"/>
            <a:ext cx="2779776" cy="804672"/>
          </a:xfrm>
          <a:prstGeom prst="roundRect">
            <a:avLst>
              <a:gd name="adj" fmla="val 11364"/>
            </a:avLst>
          </a:prstGeom>
          <a:solidFill>
            <a:srgbClr val="0D9488"/>
          </a:solidFill>
          <a:ln w="12700">
            <a:solidFill>
              <a:srgbClr val="0D9488"/>
            </a:solidFill>
            <a:prstDash val="solid"/>
          </a:ln>
        </p:spPr>
      </p:sp>
      <p:sp>
        <p:nvSpPr>
          <p:cNvPr id="17" name="Shape 15"/>
          <p:cNvSpPr/>
          <p:nvPr/>
        </p:nvSpPr>
        <p:spPr>
          <a:xfrm>
            <a:off x="6163056" y="1609344"/>
            <a:ext cx="2779776" cy="292608"/>
          </a:xfrm>
          <a:prstGeom prst="rect">
            <a:avLst/>
          </a:prstGeom>
          <a:solidFill>
            <a:srgbClr val="0D9488"/>
          </a:solidFill>
          <a:ln w="12700">
            <a:solidFill>
              <a:srgbClr val="0D9488"/>
            </a:solidFill>
            <a:prstDash val="solid"/>
          </a:ln>
        </p:spPr>
      </p:sp>
      <p:sp>
        <p:nvSpPr>
          <p:cNvPr id="18" name="Text 16"/>
          <p:cNvSpPr/>
          <p:nvPr/>
        </p:nvSpPr>
        <p:spPr>
          <a:xfrm>
            <a:off x="6272784" y="1143000"/>
            <a:ext cx="2560320" cy="713232"/>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  Cloud &amp; Online</a:t>
            </a:r>
            <a:endParaRPr lang="en-US" sz="1500" dirty="0"/>
          </a:p>
        </p:txBody>
      </p:sp>
      <p:sp>
        <p:nvSpPr>
          <p:cNvPr id="19" name="Text 17"/>
          <p:cNvSpPr/>
          <p:nvPr/>
        </p:nvSpPr>
        <p:spPr>
          <a:xfrm>
            <a:off x="6300216" y="1965960"/>
            <a:ext cx="2505456" cy="2240280"/>
          </a:xfrm>
          <a:prstGeom prst="rect">
            <a:avLst/>
          </a:prstGeom>
          <a:noFill/>
          <a:ln/>
        </p:spPr>
        <p:txBody>
          <a:bodyPr wrap="square" rtlCol="0" anchor="ctr"/>
          <a:lstStyle/>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SharePoint List / Folder</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Web Page (HTML tables)</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OData Feed</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Salesforce Objects</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Google Sheets (via URL)</a:t>
            </a:r>
            <a:endParaRPr lang="en-US" sz="1100" dirty="0"/>
          </a:p>
        </p:txBody>
      </p:sp>
      <p:sp>
        <p:nvSpPr>
          <p:cNvPr id="20" name="Shape 18"/>
          <p:cNvSpPr/>
          <p:nvPr/>
        </p:nvSpPr>
        <p:spPr>
          <a:xfrm>
            <a:off x="201168" y="4462272"/>
            <a:ext cx="8741664" cy="566928"/>
          </a:xfrm>
          <a:prstGeom prst="roundRect">
            <a:avLst>
              <a:gd name="adj" fmla="val 11290"/>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sp>
      <p:sp>
        <p:nvSpPr>
          <p:cNvPr id="21" name="Shape 19"/>
          <p:cNvSpPr/>
          <p:nvPr/>
        </p:nvSpPr>
        <p:spPr>
          <a:xfrm>
            <a:off x="256032" y="4507992"/>
            <a:ext cx="1664208" cy="457200"/>
          </a:xfrm>
          <a:prstGeom prst="roundRect">
            <a:avLst>
              <a:gd name="adj" fmla="val 12000"/>
            </a:avLst>
          </a:prstGeom>
          <a:solidFill>
            <a:srgbClr val="0F6FE8"/>
          </a:solidFill>
          <a:ln w="12700">
            <a:solidFill>
              <a:srgbClr val="0F6FE8"/>
            </a:solidFill>
            <a:prstDash val="solid"/>
          </a:ln>
        </p:spPr>
      </p:sp>
      <p:sp>
        <p:nvSpPr>
          <p:cNvPr id="22" name="Text 20"/>
          <p:cNvSpPr/>
          <p:nvPr/>
        </p:nvSpPr>
        <p:spPr>
          <a:xfrm>
            <a:off x="256032" y="4507992"/>
            <a:ext cx="1664208"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① Open Excel / Power BI</a:t>
            </a:r>
            <a:endParaRPr lang="en-US" sz="950" dirty="0"/>
          </a:p>
        </p:txBody>
      </p:sp>
      <p:sp>
        <p:nvSpPr>
          <p:cNvPr id="23" name="Shape 21"/>
          <p:cNvSpPr/>
          <p:nvPr/>
        </p:nvSpPr>
        <p:spPr>
          <a:xfrm>
            <a:off x="2002536" y="4507992"/>
            <a:ext cx="1664208" cy="457200"/>
          </a:xfrm>
          <a:prstGeom prst="roundRect">
            <a:avLst>
              <a:gd name="adj" fmla="val 12000"/>
            </a:avLst>
          </a:prstGeom>
          <a:solidFill>
            <a:srgbClr val="6C3BD5"/>
          </a:solidFill>
          <a:ln w="12700">
            <a:solidFill>
              <a:srgbClr val="6C3BD5"/>
            </a:solidFill>
            <a:prstDash val="solid"/>
          </a:ln>
        </p:spPr>
      </p:sp>
      <p:sp>
        <p:nvSpPr>
          <p:cNvPr id="24" name="Text 22"/>
          <p:cNvSpPr/>
          <p:nvPr/>
        </p:nvSpPr>
        <p:spPr>
          <a:xfrm>
            <a:off x="2002536" y="4507992"/>
            <a:ext cx="1664208"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② Get Data → Source</a:t>
            </a:r>
            <a:endParaRPr lang="en-US" sz="950" dirty="0"/>
          </a:p>
        </p:txBody>
      </p:sp>
      <p:sp>
        <p:nvSpPr>
          <p:cNvPr id="25" name="Shape 23"/>
          <p:cNvSpPr/>
          <p:nvPr/>
        </p:nvSpPr>
        <p:spPr>
          <a:xfrm>
            <a:off x="3749040" y="4507992"/>
            <a:ext cx="1664208" cy="457200"/>
          </a:xfrm>
          <a:prstGeom prst="roundRect">
            <a:avLst>
              <a:gd name="adj" fmla="val 12000"/>
            </a:avLst>
          </a:prstGeom>
          <a:solidFill>
            <a:srgbClr val="0D9488"/>
          </a:solidFill>
          <a:ln w="12700">
            <a:solidFill>
              <a:srgbClr val="0D9488"/>
            </a:solidFill>
            <a:prstDash val="solid"/>
          </a:ln>
        </p:spPr>
      </p:sp>
      <p:sp>
        <p:nvSpPr>
          <p:cNvPr id="26" name="Text 24"/>
          <p:cNvSpPr/>
          <p:nvPr/>
        </p:nvSpPr>
        <p:spPr>
          <a:xfrm>
            <a:off x="3749040" y="4507992"/>
            <a:ext cx="1664208"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③ Navigator: pick table</a:t>
            </a:r>
            <a:endParaRPr lang="en-US" sz="950" dirty="0"/>
          </a:p>
        </p:txBody>
      </p:sp>
      <p:sp>
        <p:nvSpPr>
          <p:cNvPr id="27" name="Shape 25"/>
          <p:cNvSpPr/>
          <p:nvPr/>
        </p:nvSpPr>
        <p:spPr>
          <a:xfrm>
            <a:off x="5495544" y="4507992"/>
            <a:ext cx="1664208" cy="457200"/>
          </a:xfrm>
          <a:prstGeom prst="roundRect">
            <a:avLst>
              <a:gd name="adj" fmla="val 12000"/>
            </a:avLst>
          </a:prstGeom>
          <a:solidFill>
            <a:srgbClr val="EA580C"/>
          </a:solidFill>
          <a:ln w="12700">
            <a:solidFill>
              <a:srgbClr val="EA580C"/>
            </a:solidFill>
            <a:prstDash val="solid"/>
          </a:ln>
        </p:spPr>
      </p:sp>
      <p:sp>
        <p:nvSpPr>
          <p:cNvPr id="28" name="Text 26"/>
          <p:cNvSpPr/>
          <p:nvPr/>
        </p:nvSpPr>
        <p:spPr>
          <a:xfrm>
            <a:off x="5495544" y="4507992"/>
            <a:ext cx="1664208"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④ Transform Data</a:t>
            </a:r>
            <a:endParaRPr lang="en-US" sz="950" dirty="0"/>
          </a:p>
        </p:txBody>
      </p:sp>
      <p:sp>
        <p:nvSpPr>
          <p:cNvPr id="29" name="Shape 27"/>
          <p:cNvSpPr/>
          <p:nvPr/>
        </p:nvSpPr>
        <p:spPr>
          <a:xfrm>
            <a:off x="7242048" y="4507992"/>
            <a:ext cx="1664208" cy="457200"/>
          </a:xfrm>
          <a:prstGeom prst="roundRect">
            <a:avLst>
              <a:gd name="adj" fmla="val 12000"/>
            </a:avLst>
          </a:prstGeom>
          <a:solidFill>
            <a:srgbClr val="059669"/>
          </a:solidFill>
          <a:ln w="12700">
            <a:solidFill>
              <a:srgbClr val="059669"/>
            </a:solidFill>
            <a:prstDash val="solid"/>
          </a:ln>
        </p:spPr>
      </p:sp>
      <p:sp>
        <p:nvSpPr>
          <p:cNvPr id="30" name="Text 28"/>
          <p:cNvSpPr/>
          <p:nvPr/>
        </p:nvSpPr>
        <p:spPr>
          <a:xfrm>
            <a:off x="7242048" y="4507992"/>
            <a:ext cx="1664208"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⑤ Close &amp; Load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4338CA"/>
          </a:solidFill>
          <a:ln w="12700">
            <a:solidFill>
              <a:srgbClr val="4338CA"/>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DATA TRANSFORMATION &amp; M LANGUAGE</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rgbClr val="E0E7FF"/>
                </a:solidFill>
                <a:latin typeface="Calibri" pitchFamily="34" charset="0"/>
                <a:ea typeface="Calibri" pitchFamily="34" charset="-122"/>
                <a:cs typeface="Calibri" pitchFamily="34" charset="-120"/>
              </a:rPr>
              <a:t>Transform raw data into analytics-ready datasets — automatically</a:t>
            </a:r>
            <a:endParaRPr lang="en-US" sz="1150" dirty="0"/>
          </a:p>
        </p:txBody>
      </p:sp>
      <p:sp>
        <p:nvSpPr>
          <p:cNvPr id="5" name="Shape 3"/>
          <p:cNvSpPr/>
          <p:nvPr/>
        </p:nvSpPr>
        <p:spPr>
          <a:xfrm>
            <a:off x="182880" y="1078992"/>
            <a:ext cx="2971800" cy="3886200"/>
          </a:xfrm>
          <a:prstGeom prst="roundRect">
            <a:avLst>
              <a:gd name="adj" fmla="val 3077"/>
            </a:avLst>
          </a:prstGeom>
          <a:solidFill>
            <a:srgbClr val="E0E7FF"/>
          </a:solidFill>
          <a:ln w="12700">
            <a:solidFill>
              <a:srgbClr val="E0E7FF"/>
            </a:solidFill>
            <a:prstDash val="solid"/>
          </a:ln>
          <a:effectLst>
            <a:outerShdw blurRad="152400" dist="50800" dir="2700000" algn="bl" rotWithShape="0">
              <a:srgbClr val="000000">
                <a:alpha val="8000"/>
              </a:srgbClr>
            </a:outerShdw>
          </a:effectLst>
        </p:spPr>
      </p:sp>
      <p:sp>
        <p:nvSpPr>
          <p:cNvPr id="6" name="Shape 4"/>
          <p:cNvSpPr/>
          <p:nvPr/>
        </p:nvSpPr>
        <p:spPr>
          <a:xfrm>
            <a:off x="182880" y="1078992"/>
            <a:ext cx="2971800" cy="475488"/>
          </a:xfrm>
          <a:prstGeom prst="roundRect">
            <a:avLst>
              <a:gd name="adj" fmla="val 19231"/>
            </a:avLst>
          </a:prstGeom>
          <a:solidFill>
            <a:srgbClr val="4338CA"/>
          </a:solidFill>
          <a:ln w="12700">
            <a:solidFill>
              <a:srgbClr val="4338CA"/>
            </a:solidFill>
            <a:prstDash val="solid"/>
          </a:ln>
        </p:spPr>
      </p:sp>
      <p:sp>
        <p:nvSpPr>
          <p:cNvPr id="7" name="Shape 5"/>
          <p:cNvSpPr/>
          <p:nvPr/>
        </p:nvSpPr>
        <p:spPr>
          <a:xfrm>
            <a:off x="182880" y="1371600"/>
            <a:ext cx="2971800" cy="182880"/>
          </a:xfrm>
          <a:prstGeom prst="rect">
            <a:avLst/>
          </a:prstGeom>
          <a:solidFill>
            <a:srgbClr val="4338CA"/>
          </a:solidFill>
          <a:ln w="12700">
            <a:solidFill>
              <a:srgbClr val="4338CA"/>
            </a:solidFill>
            <a:prstDash val="solid"/>
          </a:ln>
        </p:spPr>
      </p:sp>
      <p:sp>
        <p:nvSpPr>
          <p:cNvPr id="8" name="Text 6"/>
          <p:cNvSpPr/>
          <p:nvPr/>
        </p:nvSpPr>
        <p:spPr>
          <a:xfrm>
            <a:off x="292608" y="1097280"/>
            <a:ext cx="2743200" cy="438912"/>
          </a:xfrm>
          <a:prstGeom prst="rect">
            <a:avLst/>
          </a:prstGeom>
          <a:noFill/>
          <a:ln/>
        </p:spPr>
        <p:txBody>
          <a:bodyPr wrap="square"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APPLIED STEPS</a:t>
            </a:r>
            <a:endParaRPr lang="en-US" sz="1200" dirty="0"/>
          </a:p>
        </p:txBody>
      </p:sp>
      <p:sp>
        <p:nvSpPr>
          <p:cNvPr id="9" name="Shape 7"/>
          <p:cNvSpPr/>
          <p:nvPr/>
        </p:nvSpPr>
        <p:spPr>
          <a:xfrm>
            <a:off x="658368" y="1956816"/>
            <a:ext cx="27432" cy="155448"/>
          </a:xfrm>
          <a:prstGeom prst="rect">
            <a:avLst/>
          </a:prstGeom>
          <a:solidFill>
            <a:srgbClr val="7A7A9A"/>
          </a:solidFill>
          <a:ln w="12700">
            <a:solidFill>
              <a:srgbClr val="7A7A9A"/>
            </a:solidFill>
            <a:prstDash val="solid"/>
          </a:ln>
        </p:spPr>
      </p:sp>
      <p:sp>
        <p:nvSpPr>
          <p:cNvPr id="10" name="Shape 8"/>
          <p:cNvSpPr/>
          <p:nvPr/>
        </p:nvSpPr>
        <p:spPr>
          <a:xfrm>
            <a:off x="438912" y="1664208"/>
            <a:ext cx="438912" cy="292608"/>
          </a:xfrm>
          <a:prstGeom prst="ellipse">
            <a:avLst/>
          </a:prstGeom>
          <a:solidFill>
            <a:srgbClr val="0F6FE8"/>
          </a:solidFill>
          <a:ln w="12700">
            <a:solidFill>
              <a:srgbClr val="0F6FE8"/>
            </a:solidFill>
            <a:prstDash val="solid"/>
          </a:ln>
        </p:spPr>
      </p:sp>
      <p:sp>
        <p:nvSpPr>
          <p:cNvPr id="11" name="Text 9"/>
          <p:cNvSpPr/>
          <p:nvPr/>
        </p:nvSpPr>
        <p:spPr>
          <a:xfrm>
            <a:off x="438912" y="1664208"/>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2" name="Text 10"/>
          <p:cNvSpPr/>
          <p:nvPr/>
        </p:nvSpPr>
        <p:spPr>
          <a:xfrm>
            <a:off x="950976" y="1664208"/>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Source</a:t>
            </a:r>
            <a:endParaRPr lang="en-US" sz="1050" dirty="0"/>
          </a:p>
        </p:txBody>
      </p:sp>
      <p:sp>
        <p:nvSpPr>
          <p:cNvPr id="13" name="Shape 11"/>
          <p:cNvSpPr/>
          <p:nvPr/>
        </p:nvSpPr>
        <p:spPr>
          <a:xfrm>
            <a:off x="658368" y="2404872"/>
            <a:ext cx="27432" cy="155448"/>
          </a:xfrm>
          <a:prstGeom prst="rect">
            <a:avLst/>
          </a:prstGeom>
          <a:solidFill>
            <a:srgbClr val="7A7A9A"/>
          </a:solidFill>
          <a:ln w="12700">
            <a:solidFill>
              <a:srgbClr val="7A7A9A"/>
            </a:solidFill>
            <a:prstDash val="solid"/>
          </a:ln>
        </p:spPr>
      </p:sp>
      <p:sp>
        <p:nvSpPr>
          <p:cNvPr id="14" name="Shape 12"/>
          <p:cNvSpPr/>
          <p:nvPr/>
        </p:nvSpPr>
        <p:spPr>
          <a:xfrm>
            <a:off x="438912" y="2112264"/>
            <a:ext cx="438912" cy="292608"/>
          </a:xfrm>
          <a:prstGeom prst="ellipse">
            <a:avLst/>
          </a:prstGeom>
          <a:solidFill>
            <a:srgbClr val="6C3BD5"/>
          </a:solidFill>
          <a:ln w="12700">
            <a:solidFill>
              <a:srgbClr val="6C3BD5"/>
            </a:solidFill>
            <a:prstDash val="solid"/>
          </a:ln>
        </p:spPr>
      </p:sp>
      <p:sp>
        <p:nvSpPr>
          <p:cNvPr id="15" name="Text 13"/>
          <p:cNvSpPr/>
          <p:nvPr/>
        </p:nvSpPr>
        <p:spPr>
          <a:xfrm>
            <a:off x="438912" y="2112264"/>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6" name="Text 14"/>
          <p:cNvSpPr/>
          <p:nvPr/>
        </p:nvSpPr>
        <p:spPr>
          <a:xfrm>
            <a:off x="950976" y="2112264"/>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Promoted Headers</a:t>
            </a:r>
            <a:endParaRPr lang="en-US" sz="1050" dirty="0"/>
          </a:p>
        </p:txBody>
      </p:sp>
      <p:sp>
        <p:nvSpPr>
          <p:cNvPr id="17" name="Shape 15"/>
          <p:cNvSpPr/>
          <p:nvPr/>
        </p:nvSpPr>
        <p:spPr>
          <a:xfrm>
            <a:off x="658368" y="2852928"/>
            <a:ext cx="27432" cy="155448"/>
          </a:xfrm>
          <a:prstGeom prst="rect">
            <a:avLst/>
          </a:prstGeom>
          <a:solidFill>
            <a:srgbClr val="7A7A9A"/>
          </a:solidFill>
          <a:ln w="12700">
            <a:solidFill>
              <a:srgbClr val="7A7A9A"/>
            </a:solidFill>
            <a:prstDash val="solid"/>
          </a:ln>
        </p:spPr>
      </p:sp>
      <p:sp>
        <p:nvSpPr>
          <p:cNvPr id="18" name="Shape 16"/>
          <p:cNvSpPr/>
          <p:nvPr/>
        </p:nvSpPr>
        <p:spPr>
          <a:xfrm>
            <a:off x="438912" y="2560320"/>
            <a:ext cx="438912" cy="292608"/>
          </a:xfrm>
          <a:prstGeom prst="ellipse">
            <a:avLst/>
          </a:prstGeom>
          <a:solidFill>
            <a:srgbClr val="0D9488"/>
          </a:solidFill>
          <a:ln w="12700">
            <a:solidFill>
              <a:srgbClr val="0D9488"/>
            </a:solidFill>
            <a:prstDash val="solid"/>
          </a:ln>
        </p:spPr>
      </p:sp>
      <p:sp>
        <p:nvSpPr>
          <p:cNvPr id="19" name="Text 17"/>
          <p:cNvSpPr/>
          <p:nvPr/>
        </p:nvSpPr>
        <p:spPr>
          <a:xfrm>
            <a:off x="438912" y="2560320"/>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0" name="Text 18"/>
          <p:cNvSpPr/>
          <p:nvPr/>
        </p:nvSpPr>
        <p:spPr>
          <a:xfrm>
            <a:off x="950976" y="2560320"/>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Changed Type</a:t>
            </a:r>
            <a:endParaRPr lang="en-US" sz="1050" dirty="0"/>
          </a:p>
        </p:txBody>
      </p:sp>
      <p:sp>
        <p:nvSpPr>
          <p:cNvPr id="21" name="Shape 19"/>
          <p:cNvSpPr/>
          <p:nvPr/>
        </p:nvSpPr>
        <p:spPr>
          <a:xfrm>
            <a:off x="658368" y="3300984"/>
            <a:ext cx="27432" cy="155448"/>
          </a:xfrm>
          <a:prstGeom prst="rect">
            <a:avLst/>
          </a:prstGeom>
          <a:solidFill>
            <a:srgbClr val="7A7A9A"/>
          </a:solidFill>
          <a:ln w="12700">
            <a:solidFill>
              <a:srgbClr val="7A7A9A"/>
            </a:solidFill>
            <a:prstDash val="solid"/>
          </a:ln>
        </p:spPr>
      </p:sp>
      <p:sp>
        <p:nvSpPr>
          <p:cNvPr id="22" name="Shape 20"/>
          <p:cNvSpPr/>
          <p:nvPr/>
        </p:nvSpPr>
        <p:spPr>
          <a:xfrm>
            <a:off x="438912" y="3008376"/>
            <a:ext cx="438912" cy="292608"/>
          </a:xfrm>
          <a:prstGeom prst="ellipse">
            <a:avLst/>
          </a:prstGeom>
          <a:solidFill>
            <a:srgbClr val="EA580C"/>
          </a:solidFill>
          <a:ln w="12700">
            <a:solidFill>
              <a:srgbClr val="EA580C"/>
            </a:solidFill>
            <a:prstDash val="solid"/>
          </a:ln>
        </p:spPr>
      </p:sp>
      <p:sp>
        <p:nvSpPr>
          <p:cNvPr id="23" name="Text 21"/>
          <p:cNvSpPr/>
          <p:nvPr/>
        </p:nvSpPr>
        <p:spPr>
          <a:xfrm>
            <a:off x="438912" y="3008376"/>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4" name="Text 22"/>
          <p:cNvSpPr/>
          <p:nvPr/>
        </p:nvSpPr>
        <p:spPr>
          <a:xfrm>
            <a:off x="950976" y="3008376"/>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Filtered Rows</a:t>
            </a:r>
            <a:endParaRPr lang="en-US" sz="1050" dirty="0"/>
          </a:p>
        </p:txBody>
      </p:sp>
      <p:sp>
        <p:nvSpPr>
          <p:cNvPr id="25" name="Shape 23"/>
          <p:cNvSpPr/>
          <p:nvPr/>
        </p:nvSpPr>
        <p:spPr>
          <a:xfrm>
            <a:off x="658368" y="3749040"/>
            <a:ext cx="27432" cy="155448"/>
          </a:xfrm>
          <a:prstGeom prst="rect">
            <a:avLst/>
          </a:prstGeom>
          <a:solidFill>
            <a:srgbClr val="7A7A9A"/>
          </a:solidFill>
          <a:ln w="12700">
            <a:solidFill>
              <a:srgbClr val="7A7A9A"/>
            </a:solidFill>
            <a:prstDash val="solid"/>
          </a:ln>
        </p:spPr>
      </p:sp>
      <p:sp>
        <p:nvSpPr>
          <p:cNvPr id="26" name="Shape 24"/>
          <p:cNvSpPr/>
          <p:nvPr/>
        </p:nvSpPr>
        <p:spPr>
          <a:xfrm>
            <a:off x="438912" y="3456432"/>
            <a:ext cx="438912" cy="292608"/>
          </a:xfrm>
          <a:prstGeom prst="ellipse">
            <a:avLst/>
          </a:prstGeom>
          <a:solidFill>
            <a:srgbClr val="DB2777"/>
          </a:solidFill>
          <a:ln w="12700">
            <a:solidFill>
              <a:srgbClr val="DB2777"/>
            </a:solidFill>
            <a:prstDash val="solid"/>
          </a:ln>
        </p:spPr>
      </p:sp>
      <p:sp>
        <p:nvSpPr>
          <p:cNvPr id="27" name="Text 25"/>
          <p:cNvSpPr/>
          <p:nvPr/>
        </p:nvSpPr>
        <p:spPr>
          <a:xfrm>
            <a:off x="438912" y="3456432"/>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8" name="Text 26"/>
          <p:cNvSpPr/>
          <p:nvPr/>
        </p:nvSpPr>
        <p:spPr>
          <a:xfrm>
            <a:off x="950976" y="3456432"/>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Added Column</a:t>
            </a:r>
            <a:endParaRPr lang="en-US" sz="1050" dirty="0"/>
          </a:p>
        </p:txBody>
      </p:sp>
      <p:sp>
        <p:nvSpPr>
          <p:cNvPr id="29" name="Shape 27"/>
          <p:cNvSpPr/>
          <p:nvPr/>
        </p:nvSpPr>
        <p:spPr>
          <a:xfrm>
            <a:off x="658368" y="4197096"/>
            <a:ext cx="27432" cy="155448"/>
          </a:xfrm>
          <a:prstGeom prst="rect">
            <a:avLst/>
          </a:prstGeom>
          <a:solidFill>
            <a:srgbClr val="7A7A9A"/>
          </a:solidFill>
          <a:ln w="12700">
            <a:solidFill>
              <a:srgbClr val="7A7A9A"/>
            </a:solidFill>
            <a:prstDash val="solid"/>
          </a:ln>
        </p:spPr>
      </p:sp>
      <p:sp>
        <p:nvSpPr>
          <p:cNvPr id="30" name="Shape 28"/>
          <p:cNvSpPr/>
          <p:nvPr/>
        </p:nvSpPr>
        <p:spPr>
          <a:xfrm>
            <a:off x="438912" y="3904488"/>
            <a:ext cx="438912" cy="292608"/>
          </a:xfrm>
          <a:prstGeom prst="ellipse">
            <a:avLst/>
          </a:prstGeom>
          <a:solidFill>
            <a:srgbClr val="059669"/>
          </a:solidFill>
          <a:ln w="12700">
            <a:solidFill>
              <a:srgbClr val="059669"/>
            </a:solidFill>
            <a:prstDash val="solid"/>
          </a:ln>
        </p:spPr>
      </p:sp>
      <p:sp>
        <p:nvSpPr>
          <p:cNvPr id="31" name="Text 29"/>
          <p:cNvSpPr/>
          <p:nvPr/>
        </p:nvSpPr>
        <p:spPr>
          <a:xfrm>
            <a:off x="438912" y="3904488"/>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6</a:t>
            </a:r>
            <a:endParaRPr lang="en-US" sz="900" dirty="0"/>
          </a:p>
        </p:txBody>
      </p:sp>
      <p:sp>
        <p:nvSpPr>
          <p:cNvPr id="32" name="Text 30"/>
          <p:cNvSpPr/>
          <p:nvPr/>
        </p:nvSpPr>
        <p:spPr>
          <a:xfrm>
            <a:off x="950976" y="3904488"/>
            <a:ext cx="2103120" cy="29260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Removed Columns</a:t>
            </a:r>
            <a:endParaRPr lang="en-US" sz="1050" dirty="0"/>
          </a:p>
        </p:txBody>
      </p:sp>
      <p:sp>
        <p:nvSpPr>
          <p:cNvPr id="33" name="Shape 31"/>
          <p:cNvSpPr/>
          <p:nvPr/>
        </p:nvSpPr>
        <p:spPr>
          <a:xfrm>
            <a:off x="438912" y="4352544"/>
            <a:ext cx="438912" cy="292608"/>
          </a:xfrm>
          <a:prstGeom prst="ellipse">
            <a:avLst/>
          </a:prstGeom>
          <a:solidFill>
            <a:srgbClr val="4338CA"/>
          </a:solidFill>
          <a:ln w="12700">
            <a:solidFill>
              <a:srgbClr val="4338CA"/>
            </a:solidFill>
            <a:prstDash val="solid"/>
          </a:ln>
        </p:spPr>
      </p:sp>
      <p:sp>
        <p:nvSpPr>
          <p:cNvPr id="34" name="Text 32"/>
          <p:cNvSpPr/>
          <p:nvPr/>
        </p:nvSpPr>
        <p:spPr>
          <a:xfrm>
            <a:off x="438912" y="4352544"/>
            <a:ext cx="438912" cy="292608"/>
          </a:xfrm>
          <a:prstGeom prst="rect">
            <a:avLst/>
          </a:prstGeom>
          <a:noFill/>
          <a:ln/>
        </p:spPr>
        <p:txBody>
          <a:bodyPr wrap="square" lIns="0" tIns="0" rIns="0" bIns="0" rtlCol="0" anchor="ctr"/>
          <a:lstStyle/>
          <a:p>
            <a:pPr marL="0" indent="0" algn="ctr">
              <a:buNone/>
            </a:pPr>
            <a:r>
              <a:rPr lang="en-US" sz="900" b="1" dirty="0">
                <a:solidFill>
                  <a:srgbClr val="FFFFFF"/>
                </a:solidFill>
              </a:rPr>
              <a:t>7</a:t>
            </a:r>
            <a:endParaRPr lang="en-US" sz="900" dirty="0"/>
          </a:p>
        </p:txBody>
      </p:sp>
      <p:sp>
        <p:nvSpPr>
          <p:cNvPr id="35" name="Text 33"/>
          <p:cNvSpPr/>
          <p:nvPr/>
        </p:nvSpPr>
        <p:spPr>
          <a:xfrm>
            <a:off x="950976" y="4352544"/>
            <a:ext cx="2103120" cy="292608"/>
          </a:xfrm>
          <a:prstGeom prst="rect">
            <a:avLst/>
          </a:prstGeom>
          <a:noFill/>
          <a:ln/>
        </p:spPr>
        <p:txBody>
          <a:bodyPr wrap="square" lIns="0" tIns="0" rIns="0" bIns="0" rtlCol="0" anchor="ctr"/>
          <a:lstStyle/>
          <a:p>
            <a:pPr marL="0" indent="0">
              <a:buNone/>
            </a:pPr>
            <a:r>
              <a:rPr lang="en-US" sz="1050" b="1" dirty="0">
                <a:solidFill>
                  <a:srgbClr val="4338CA"/>
                </a:solidFill>
                <a:latin typeface="Calibri" pitchFamily="34" charset="0"/>
                <a:ea typeface="Calibri" pitchFamily="34" charset="-122"/>
                <a:cs typeface="Calibri" pitchFamily="34" charset="-120"/>
              </a:rPr>
              <a:t>✓ Output</a:t>
            </a:r>
            <a:endParaRPr lang="en-US" sz="1050" dirty="0"/>
          </a:p>
        </p:txBody>
      </p:sp>
      <p:sp>
        <p:nvSpPr>
          <p:cNvPr id="36" name="Shape 34"/>
          <p:cNvSpPr/>
          <p:nvPr/>
        </p:nvSpPr>
        <p:spPr>
          <a:xfrm>
            <a:off x="3337560" y="1078992"/>
            <a:ext cx="5596128" cy="1901952"/>
          </a:xfrm>
          <a:prstGeom prst="roundRect">
            <a:avLst>
              <a:gd name="adj" fmla="val 3846"/>
            </a:avLst>
          </a:prstGeom>
          <a:solidFill>
            <a:srgbClr val="1E1E2E"/>
          </a:solidFill>
          <a:ln w="12700">
            <a:solidFill>
              <a:srgbClr val="1E1E2E"/>
            </a:solidFill>
            <a:prstDash val="solid"/>
          </a:ln>
          <a:effectLst>
            <a:outerShdw blurRad="127000" dist="38100" dir="2700000" algn="bl" rotWithShape="0">
              <a:srgbClr val="000000">
                <a:alpha val="9000"/>
              </a:srgbClr>
            </a:outerShdw>
          </a:effectLst>
        </p:spPr>
      </p:sp>
      <p:sp>
        <p:nvSpPr>
          <p:cNvPr id="37" name="Shape 35"/>
          <p:cNvSpPr/>
          <p:nvPr/>
        </p:nvSpPr>
        <p:spPr>
          <a:xfrm>
            <a:off x="3337560" y="1078992"/>
            <a:ext cx="5596128" cy="384048"/>
          </a:xfrm>
          <a:prstGeom prst="roundRect">
            <a:avLst>
              <a:gd name="adj" fmla="val 19048"/>
            </a:avLst>
          </a:prstGeom>
          <a:solidFill>
            <a:srgbClr val="2D2D44"/>
          </a:solidFill>
          <a:ln w="12700">
            <a:solidFill>
              <a:srgbClr val="2D2D44"/>
            </a:solidFill>
            <a:prstDash val="solid"/>
          </a:ln>
        </p:spPr>
      </p:sp>
      <p:sp>
        <p:nvSpPr>
          <p:cNvPr id="38" name="Shape 36"/>
          <p:cNvSpPr/>
          <p:nvPr/>
        </p:nvSpPr>
        <p:spPr>
          <a:xfrm>
            <a:off x="3337560" y="1298448"/>
            <a:ext cx="5596128" cy="164592"/>
          </a:xfrm>
          <a:prstGeom prst="rect">
            <a:avLst/>
          </a:prstGeom>
          <a:solidFill>
            <a:srgbClr val="2D2D44"/>
          </a:solidFill>
          <a:ln w="12700">
            <a:solidFill>
              <a:srgbClr val="2D2D44"/>
            </a:solidFill>
            <a:prstDash val="solid"/>
          </a:ln>
        </p:spPr>
      </p:sp>
      <p:sp>
        <p:nvSpPr>
          <p:cNvPr id="39" name="Shape 37"/>
          <p:cNvSpPr/>
          <p:nvPr/>
        </p:nvSpPr>
        <p:spPr>
          <a:xfrm>
            <a:off x="3456432" y="1152144"/>
            <a:ext cx="137160" cy="137160"/>
          </a:xfrm>
          <a:prstGeom prst="ellipse">
            <a:avLst/>
          </a:prstGeom>
          <a:solidFill>
            <a:srgbClr val="EF4444"/>
          </a:solidFill>
          <a:ln w="12700">
            <a:solidFill>
              <a:srgbClr val="EF4444"/>
            </a:solidFill>
            <a:prstDash val="solid"/>
          </a:ln>
        </p:spPr>
      </p:sp>
      <p:sp>
        <p:nvSpPr>
          <p:cNvPr id="40" name="Shape 38"/>
          <p:cNvSpPr/>
          <p:nvPr/>
        </p:nvSpPr>
        <p:spPr>
          <a:xfrm>
            <a:off x="3657600" y="1152144"/>
            <a:ext cx="137160" cy="137160"/>
          </a:xfrm>
          <a:prstGeom prst="ellipse">
            <a:avLst/>
          </a:prstGeom>
          <a:solidFill>
            <a:srgbClr val="F59E0B"/>
          </a:solidFill>
          <a:ln w="12700">
            <a:solidFill>
              <a:srgbClr val="F59E0B"/>
            </a:solidFill>
            <a:prstDash val="solid"/>
          </a:ln>
        </p:spPr>
      </p:sp>
      <p:sp>
        <p:nvSpPr>
          <p:cNvPr id="41" name="Shape 39"/>
          <p:cNvSpPr/>
          <p:nvPr/>
        </p:nvSpPr>
        <p:spPr>
          <a:xfrm>
            <a:off x="3858768" y="1152144"/>
            <a:ext cx="137160" cy="137160"/>
          </a:xfrm>
          <a:prstGeom prst="ellipse">
            <a:avLst/>
          </a:prstGeom>
          <a:solidFill>
            <a:srgbClr val="22C55E"/>
          </a:solidFill>
          <a:ln w="12700">
            <a:solidFill>
              <a:srgbClr val="22C55E"/>
            </a:solidFill>
            <a:prstDash val="solid"/>
          </a:ln>
        </p:spPr>
      </p:sp>
      <p:sp>
        <p:nvSpPr>
          <p:cNvPr id="42" name="Text 40"/>
          <p:cNvSpPr/>
          <p:nvPr/>
        </p:nvSpPr>
        <p:spPr>
          <a:xfrm>
            <a:off x="3840480" y="1097280"/>
            <a:ext cx="4937760" cy="347472"/>
          </a:xfrm>
          <a:prstGeom prst="rect">
            <a:avLst/>
          </a:prstGeom>
          <a:noFill/>
          <a:ln/>
        </p:spPr>
        <p:txBody>
          <a:bodyPr wrap="square" rtlCol="0" anchor="ctr"/>
          <a:lstStyle/>
          <a:p>
            <a:pPr marL="0" indent="0">
              <a:buNone/>
            </a:pPr>
            <a:r>
              <a:rPr lang="en-US" sz="1000" b="1" dirty="0">
                <a:solidFill>
                  <a:srgbClr val="7C7CAA"/>
                </a:solidFill>
                <a:latin typeface="Calibri" pitchFamily="34" charset="0"/>
                <a:ea typeface="Calibri" pitchFamily="34" charset="-122"/>
                <a:cs typeface="Calibri" pitchFamily="34" charset="-120"/>
              </a:rPr>
              <a:t>     M LANGUAGE  —  let…in Structure</a:t>
            </a:r>
            <a:endParaRPr lang="en-US" sz="1000" dirty="0"/>
          </a:p>
        </p:txBody>
      </p:sp>
      <p:sp>
        <p:nvSpPr>
          <p:cNvPr id="43" name="Text 41"/>
          <p:cNvSpPr/>
          <p:nvPr/>
        </p:nvSpPr>
        <p:spPr>
          <a:xfrm>
            <a:off x="3429000" y="1508760"/>
            <a:ext cx="5394960" cy="1389888"/>
          </a:xfrm>
          <a:prstGeom prst="rect">
            <a:avLst/>
          </a:prstGeom>
          <a:noFill/>
          <a:ln/>
        </p:spPr>
        <p:txBody>
          <a:bodyPr wrap="square" rtlCol="0" anchor="ctr"/>
          <a:lstStyle/>
          <a:p>
            <a:pPr marL="0" indent="0">
              <a:buNone/>
            </a:pPr>
            <a:r>
              <a:rPr lang="en-US" sz="1000" b="1" dirty="0">
                <a:solidFill>
                  <a:srgbClr val="C678DD"/>
                </a:solidFill>
                <a:latin typeface="Courier New" pitchFamily="34" charset="0"/>
                <a:ea typeface="Courier New" pitchFamily="34" charset="-122"/>
                <a:cs typeface="Courier New" pitchFamily="34" charset="-120"/>
              </a:rPr>
              <a:t>let
</a:t>
            </a:r>
            <a:r>
              <a:rPr lang="en-US" sz="1000" dirty="0">
                <a:solidFill>
                  <a:srgbClr val="ABB2BF"/>
                </a:solidFill>
                <a:latin typeface="Courier New" pitchFamily="34" charset="0"/>
                <a:ea typeface="Courier New" pitchFamily="34" charset="-122"/>
                <a:cs typeface="Courier New" pitchFamily="34" charset="-120"/>
              </a:rPr>
              <a:t>  Source = </a:t>
            </a:r>
            <a:r>
              <a:rPr lang="en-US" sz="1000" dirty="0">
                <a:solidFill>
                  <a:srgbClr val="61AFEF"/>
                </a:solidFill>
                <a:latin typeface="Courier New" pitchFamily="34" charset="0"/>
                <a:ea typeface="Courier New" pitchFamily="34" charset="-122"/>
                <a:cs typeface="Courier New" pitchFamily="34" charset="-120"/>
              </a:rPr>
              <a:t>Excel.Workbook</a:t>
            </a:r>
            <a:r>
              <a:rPr lang="en-US" sz="1000" dirty="0">
                <a:solidFill>
                  <a:srgbClr val="ABB2BF"/>
                </a:solidFill>
                <a:latin typeface="Courier New" pitchFamily="34" charset="0"/>
                <a:ea typeface="Courier New" pitchFamily="34" charset="-122"/>
                <a:cs typeface="Courier New" pitchFamily="34" charset="-120"/>
              </a:rPr>
              <a:t>(File.Contents("Sales.xlsx")),
  Filtered = </a:t>
            </a:r>
            <a:r>
              <a:rPr lang="en-US" sz="1000" dirty="0">
                <a:solidFill>
                  <a:srgbClr val="61AFEF"/>
                </a:solidFill>
                <a:latin typeface="Courier New" pitchFamily="34" charset="0"/>
                <a:ea typeface="Courier New" pitchFamily="34" charset="-122"/>
                <a:cs typeface="Courier New" pitchFamily="34" charset="-120"/>
              </a:rPr>
              <a:t>Table.SelectRows</a:t>
            </a:r>
            <a:r>
              <a:rPr lang="en-US" sz="1000" dirty="0">
                <a:solidFill>
                  <a:srgbClr val="ABB2BF"/>
                </a:solidFill>
                <a:latin typeface="Courier New" pitchFamily="34" charset="0"/>
                <a:ea typeface="Courier New" pitchFamily="34" charset="-122"/>
                <a:cs typeface="Courier New" pitchFamily="34" charset="-120"/>
              </a:rPr>
              <a:t>(Source, </a:t>
            </a:r>
            <a:r>
              <a:rPr lang="en-US" sz="1000" dirty="0">
                <a:solidFill>
                  <a:srgbClr val="C678DD"/>
                </a:solidFill>
                <a:latin typeface="Courier New" pitchFamily="34" charset="0"/>
                <a:ea typeface="Courier New" pitchFamily="34" charset="-122"/>
                <a:cs typeface="Courier New" pitchFamily="34" charset="-120"/>
              </a:rPr>
              <a:t>each</a:t>
            </a:r>
            <a:r>
              <a:rPr lang="en-US" sz="1000" dirty="0">
                <a:solidFill>
                  <a:srgbClr val="ABB2BF"/>
                </a:solidFill>
                <a:latin typeface="Courier New" pitchFamily="34" charset="0"/>
                <a:ea typeface="Courier New" pitchFamily="34" charset="-122"/>
                <a:cs typeface="Courier New" pitchFamily="34" charset="-120"/>
              </a:rPr>
              <a:t> [Amount] &gt; 1000),
  AddedCol = </a:t>
            </a:r>
            <a:r>
              <a:rPr lang="en-US" sz="1000" dirty="0">
                <a:solidFill>
                  <a:srgbClr val="61AFEF"/>
                </a:solidFill>
                <a:latin typeface="Courier New" pitchFamily="34" charset="0"/>
                <a:ea typeface="Courier New" pitchFamily="34" charset="-122"/>
                <a:cs typeface="Courier New" pitchFamily="34" charset="-120"/>
              </a:rPr>
              <a:t>Table.AddColumn</a:t>
            </a:r>
            <a:r>
              <a:rPr lang="en-US" sz="1000" dirty="0">
                <a:solidFill>
                  <a:srgbClr val="ABB2BF"/>
                </a:solidFill>
                <a:latin typeface="Courier New" pitchFamily="34" charset="0"/>
                <a:ea typeface="Courier New" pitchFamily="34" charset="-122"/>
                <a:cs typeface="Courier New" pitchFamily="34" charset="-120"/>
              </a:rPr>
              <a:t>(Filtered, "Tax", </a:t>
            </a:r>
            <a:r>
              <a:rPr lang="en-US" sz="1000" dirty="0">
                <a:solidFill>
                  <a:srgbClr val="C678DD"/>
                </a:solidFill>
                <a:latin typeface="Courier New" pitchFamily="34" charset="0"/>
                <a:ea typeface="Courier New" pitchFamily="34" charset="-122"/>
                <a:cs typeface="Courier New" pitchFamily="34" charset="-120"/>
              </a:rPr>
              <a:t>each</a:t>
            </a:r>
            <a:r>
              <a:rPr lang="en-US" sz="1000" dirty="0">
                <a:solidFill>
                  <a:srgbClr val="ABB2BF"/>
                </a:solidFill>
                <a:latin typeface="Courier New" pitchFamily="34" charset="0"/>
                <a:ea typeface="Courier New" pitchFamily="34" charset="-122"/>
                <a:cs typeface="Courier New" pitchFamily="34" charset="-120"/>
              </a:rPr>
              <a:t> [Amount] * 0.18)
</a:t>
            </a:r>
            <a:r>
              <a:rPr lang="en-US" sz="1000" b="1" dirty="0">
                <a:solidFill>
                  <a:srgbClr val="C678DD"/>
                </a:solidFill>
                <a:latin typeface="Courier New" pitchFamily="34" charset="0"/>
                <a:ea typeface="Courier New" pitchFamily="34" charset="-122"/>
                <a:cs typeface="Courier New" pitchFamily="34" charset="-120"/>
              </a:rPr>
              <a:t>in
</a:t>
            </a:r>
            <a:r>
              <a:rPr lang="en-US" sz="1000" dirty="0">
                <a:solidFill>
                  <a:srgbClr val="E5C07B"/>
                </a:solidFill>
                <a:latin typeface="Courier New" pitchFamily="34" charset="0"/>
                <a:ea typeface="Courier New" pitchFamily="34" charset="-122"/>
                <a:cs typeface="Courier New" pitchFamily="34" charset="-120"/>
              </a:rPr>
              <a:t>  AddedCol</a:t>
            </a:r>
            <a:endParaRPr lang="en-US" sz="1000" dirty="0"/>
          </a:p>
        </p:txBody>
      </p:sp>
      <p:sp>
        <p:nvSpPr>
          <p:cNvPr id="44" name="Shape 42"/>
          <p:cNvSpPr/>
          <p:nvPr/>
        </p:nvSpPr>
        <p:spPr>
          <a:xfrm>
            <a:off x="3337560" y="3108960"/>
            <a:ext cx="1783080" cy="1847088"/>
          </a:xfrm>
          <a:prstGeom prst="roundRect">
            <a:avLst>
              <a:gd name="adj" fmla="val 4103"/>
            </a:avLst>
          </a:prstGeom>
          <a:solidFill>
            <a:srgbClr val="E0EFFF"/>
          </a:solidFill>
          <a:ln w="12700">
            <a:solidFill>
              <a:srgbClr val="E0EFFF"/>
            </a:solidFill>
            <a:prstDash val="solid"/>
          </a:ln>
          <a:effectLst>
            <a:outerShdw blurRad="152400" dist="50800" dir="2700000" algn="bl" rotWithShape="0">
              <a:srgbClr val="000000">
                <a:alpha val="8000"/>
              </a:srgbClr>
            </a:outerShdw>
          </a:effectLst>
        </p:spPr>
      </p:sp>
      <p:sp>
        <p:nvSpPr>
          <p:cNvPr id="45" name="Shape 43"/>
          <p:cNvSpPr/>
          <p:nvPr/>
        </p:nvSpPr>
        <p:spPr>
          <a:xfrm>
            <a:off x="3337560" y="3108960"/>
            <a:ext cx="1783080" cy="384048"/>
          </a:xfrm>
          <a:prstGeom prst="roundRect">
            <a:avLst>
              <a:gd name="adj" fmla="val 19048"/>
            </a:avLst>
          </a:prstGeom>
          <a:solidFill>
            <a:srgbClr val="0F6FE8"/>
          </a:solidFill>
          <a:ln w="12700">
            <a:solidFill>
              <a:srgbClr val="0F6FE8"/>
            </a:solidFill>
            <a:prstDash val="solid"/>
          </a:ln>
        </p:spPr>
      </p:sp>
      <p:sp>
        <p:nvSpPr>
          <p:cNvPr id="46" name="Shape 44"/>
          <p:cNvSpPr/>
          <p:nvPr/>
        </p:nvSpPr>
        <p:spPr>
          <a:xfrm>
            <a:off x="3337560" y="3310128"/>
            <a:ext cx="1783080" cy="182880"/>
          </a:xfrm>
          <a:prstGeom prst="rect">
            <a:avLst/>
          </a:prstGeom>
          <a:solidFill>
            <a:srgbClr val="0F6FE8"/>
          </a:solidFill>
          <a:ln w="12700">
            <a:solidFill>
              <a:srgbClr val="0F6FE8"/>
            </a:solidFill>
            <a:prstDash val="solid"/>
          </a:ln>
        </p:spPr>
      </p:sp>
      <p:sp>
        <p:nvSpPr>
          <p:cNvPr id="47" name="Text 45"/>
          <p:cNvSpPr/>
          <p:nvPr/>
        </p:nvSpPr>
        <p:spPr>
          <a:xfrm>
            <a:off x="3429000" y="3127248"/>
            <a:ext cx="160020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Table Functions</a:t>
            </a:r>
            <a:endParaRPr lang="en-US" sz="1100" dirty="0"/>
          </a:p>
        </p:txBody>
      </p:sp>
      <p:sp>
        <p:nvSpPr>
          <p:cNvPr id="48" name="Text 46"/>
          <p:cNvSpPr/>
          <p:nvPr/>
        </p:nvSpPr>
        <p:spPr>
          <a:xfrm>
            <a:off x="3429000" y="3547872"/>
            <a:ext cx="1600200" cy="1353312"/>
          </a:xfrm>
          <a:prstGeom prst="rect">
            <a:avLst/>
          </a:prstGeom>
          <a:noFill/>
          <a:ln/>
        </p:spPr>
        <p:txBody>
          <a:bodyPr wrap="square" rtlCol="0" anchor="ctr"/>
          <a:lstStyle/>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Table.SelectRows — filter rows</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Table.AddColumn — compute</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Table.Group — aggregate</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Table.Pivot / Unpivot</a:t>
            </a:r>
            <a:endParaRPr lang="en-US" sz="850" dirty="0"/>
          </a:p>
        </p:txBody>
      </p:sp>
      <p:sp>
        <p:nvSpPr>
          <p:cNvPr id="49" name="Shape 47"/>
          <p:cNvSpPr/>
          <p:nvPr/>
        </p:nvSpPr>
        <p:spPr>
          <a:xfrm>
            <a:off x="5212080" y="3108960"/>
            <a:ext cx="1783080" cy="1847088"/>
          </a:xfrm>
          <a:prstGeom prst="roundRect">
            <a:avLst>
              <a:gd name="adj" fmla="val 4103"/>
            </a:avLst>
          </a:prstGeom>
          <a:solidFill>
            <a:srgbClr val="FFF0E6"/>
          </a:solidFill>
          <a:ln w="12700">
            <a:solidFill>
              <a:srgbClr val="FFF0E6"/>
            </a:solidFill>
            <a:prstDash val="solid"/>
          </a:ln>
          <a:effectLst>
            <a:outerShdw blurRad="152400" dist="50800" dir="2700000" algn="bl" rotWithShape="0">
              <a:srgbClr val="000000">
                <a:alpha val="8000"/>
              </a:srgbClr>
            </a:outerShdw>
          </a:effectLst>
        </p:spPr>
      </p:sp>
      <p:sp>
        <p:nvSpPr>
          <p:cNvPr id="50" name="Shape 48"/>
          <p:cNvSpPr/>
          <p:nvPr/>
        </p:nvSpPr>
        <p:spPr>
          <a:xfrm>
            <a:off x="5212080" y="3108960"/>
            <a:ext cx="1783080" cy="384048"/>
          </a:xfrm>
          <a:prstGeom prst="roundRect">
            <a:avLst>
              <a:gd name="adj" fmla="val 19048"/>
            </a:avLst>
          </a:prstGeom>
          <a:solidFill>
            <a:srgbClr val="EA580C"/>
          </a:solidFill>
          <a:ln w="12700">
            <a:solidFill>
              <a:srgbClr val="EA580C"/>
            </a:solidFill>
            <a:prstDash val="solid"/>
          </a:ln>
        </p:spPr>
      </p:sp>
      <p:sp>
        <p:nvSpPr>
          <p:cNvPr id="51" name="Shape 49"/>
          <p:cNvSpPr/>
          <p:nvPr/>
        </p:nvSpPr>
        <p:spPr>
          <a:xfrm>
            <a:off x="5212080" y="3310128"/>
            <a:ext cx="1783080" cy="182880"/>
          </a:xfrm>
          <a:prstGeom prst="rect">
            <a:avLst/>
          </a:prstGeom>
          <a:solidFill>
            <a:srgbClr val="EA580C"/>
          </a:solidFill>
          <a:ln w="12700">
            <a:solidFill>
              <a:srgbClr val="EA580C"/>
            </a:solidFill>
            <a:prstDash val="solid"/>
          </a:ln>
        </p:spPr>
      </p:sp>
      <p:sp>
        <p:nvSpPr>
          <p:cNvPr id="52" name="Text 50"/>
          <p:cNvSpPr/>
          <p:nvPr/>
        </p:nvSpPr>
        <p:spPr>
          <a:xfrm>
            <a:off x="5303520" y="3127248"/>
            <a:ext cx="160020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Text &amp; Date</a:t>
            </a:r>
            <a:endParaRPr lang="en-US" sz="1100" dirty="0"/>
          </a:p>
        </p:txBody>
      </p:sp>
      <p:sp>
        <p:nvSpPr>
          <p:cNvPr id="53" name="Text 51"/>
          <p:cNvSpPr/>
          <p:nvPr/>
        </p:nvSpPr>
        <p:spPr>
          <a:xfrm>
            <a:off x="5303520" y="3547872"/>
            <a:ext cx="1600200" cy="1353312"/>
          </a:xfrm>
          <a:prstGeom prst="rect">
            <a:avLst/>
          </a:prstGeom>
          <a:noFill/>
          <a:ln/>
        </p:spPr>
        <p:txBody>
          <a:bodyPr wrap="square" rtlCol="0" anchor="ctr"/>
          <a:lstStyle/>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Text.Upper / Lower / Trim</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Text.Contains — substring</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Date.Year / Month / Day</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Date.From — parse strings</a:t>
            </a:r>
            <a:endParaRPr lang="en-US" sz="850" dirty="0"/>
          </a:p>
        </p:txBody>
      </p:sp>
      <p:sp>
        <p:nvSpPr>
          <p:cNvPr id="54" name="Shape 52"/>
          <p:cNvSpPr/>
          <p:nvPr/>
        </p:nvSpPr>
        <p:spPr>
          <a:xfrm>
            <a:off x="7086600" y="3108960"/>
            <a:ext cx="1783080" cy="1847088"/>
          </a:xfrm>
          <a:prstGeom prst="roundRect">
            <a:avLst>
              <a:gd name="adj" fmla="val 4103"/>
            </a:avLst>
          </a:prstGeom>
          <a:solidFill>
            <a:srgbClr val="FCE7F3"/>
          </a:solidFill>
          <a:ln w="12700">
            <a:solidFill>
              <a:srgbClr val="FCE7F3"/>
            </a:solidFill>
            <a:prstDash val="solid"/>
          </a:ln>
          <a:effectLst>
            <a:outerShdw blurRad="152400" dist="50800" dir="2700000" algn="bl" rotWithShape="0">
              <a:srgbClr val="000000">
                <a:alpha val="8000"/>
              </a:srgbClr>
            </a:outerShdw>
          </a:effectLst>
        </p:spPr>
      </p:sp>
      <p:sp>
        <p:nvSpPr>
          <p:cNvPr id="55" name="Shape 53"/>
          <p:cNvSpPr/>
          <p:nvPr/>
        </p:nvSpPr>
        <p:spPr>
          <a:xfrm>
            <a:off x="7086600" y="3108960"/>
            <a:ext cx="1783080" cy="384048"/>
          </a:xfrm>
          <a:prstGeom prst="roundRect">
            <a:avLst>
              <a:gd name="adj" fmla="val 19048"/>
            </a:avLst>
          </a:prstGeom>
          <a:solidFill>
            <a:srgbClr val="DB2777"/>
          </a:solidFill>
          <a:ln w="12700">
            <a:solidFill>
              <a:srgbClr val="DB2777"/>
            </a:solidFill>
            <a:prstDash val="solid"/>
          </a:ln>
        </p:spPr>
      </p:sp>
      <p:sp>
        <p:nvSpPr>
          <p:cNvPr id="56" name="Shape 54"/>
          <p:cNvSpPr/>
          <p:nvPr/>
        </p:nvSpPr>
        <p:spPr>
          <a:xfrm>
            <a:off x="7086600" y="3310128"/>
            <a:ext cx="1783080" cy="182880"/>
          </a:xfrm>
          <a:prstGeom prst="rect">
            <a:avLst/>
          </a:prstGeom>
          <a:solidFill>
            <a:srgbClr val="DB2777"/>
          </a:solidFill>
          <a:ln w="12700">
            <a:solidFill>
              <a:srgbClr val="DB2777"/>
            </a:solidFill>
            <a:prstDash val="solid"/>
          </a:ln>
        </p:spPr>
      </p:sp>
      <p:sp>
        <p:nvSpPr>
          <p:cNvPr id="57" name="Text 55"/>
          <p:cNvSpPr/>
          <p:nvPr/>
        </p:nvSpPr>
        <p:spPr>
          <a:xfrm>
            <a:off x="7178040" y="3127248"/>
            <a:ext cx="160020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Error Handling</a:t>
            </a:r>
            <a:endParaRPr lang="en-US" sz="1100" dirty="0"/>
          </a:p>
        </p:txBody>
      </p:sp>
      <p:sp>
        <p:nvSpPr>
          <p:cNvPr id="58" name="Text 56"/>
          <p:cNvSpPr/>
          <p:nvPr/>
        </p:nvSpPr>
        <p:spPr>
          <a:xfrm>
            <a:off x="7178040" y="3547872"/>
            <a:ext cx="1600200" cy="1353312"/>
          </a:xfrm>
          <a:prstGeom prst="rect">
            <a:avLst/>
          </a:prstGeom>
          <a:noFill/>
          <a:ln/>
        </p:spPr>
        <p:txBody>
          <a:bodyPr wrap="square" rtlCol="0" anchor="ctr"/>
          <a:lstStyle/>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try … otherwise — safe parse</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Table.TransformColumns</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null coalescing patterns</a:t>
            </a:r>
            <a:endParaRPr lang="en-US" sz="850" dirty="0"/>
          </a:p>
          <a:p>
            <a:pPr marL="342900" indent="-342900">
              <a:spcAft>
                <a:spcPts val="400"/>
              </a:spcAft>
              <a:buSzPct val="100000"/>
              <a:buChar char="•"/>
            </a:pPr>
            <a:r>
              <a:rPr lang="en-US" sz="850" dirty="0">
                <a:solidFill>
                  <a:srgbClr val="1A1A2E"/>
                </a:solidFill>
                <a:latin typeface="Calibri" pitchFamily="34" charset="0"/>
                <a:ea typeface="Calibri" pitchFamily="34" charset="-122"/>
                <a:cs typeface="Calibri" pitchFamily="34" charset="-120"/>
              </a:rPr>
              <a:t>Number.Round, FromText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A580C"/>
          </a:solidFill>
          <a:ln w="12700">
            <a:solidFill>
              <a:srgbClr val="EA580C"/>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ADVANCED QUERY OPERATIONS</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rgbClr val="FFF0E6"/>
                </a:solidFill>
                <a:latin typeface="Calibri" pitchFamily="34" charset="0"/>
                <a:ea typeface="Calibri" pitchFamily="34" charset="-122"/>
                <a:cs typeface="Calibri" pitchFamily="34" charset="-120"/>
              </a:rPr>
              <a:t>Merge  ·  Append  ·  Pivot  ·  Unpivot  ·  Join Types</a:t>
            </a:r>
            <a:endParaRPr lang="en-US" sz="1150" dirty="0"/>
          </a:p>
        </p:txBody>
      </p:sp>
      <p:sp>
        <p:nvSpPr>
          <p:cNvPr id="5" name="Shape 3"/>
          <p:cNvSpPr/>
          <p:nvPr/>
        </p:nvSpPr>
        <p:spPr>
          <a:xfrm>
            <a:off x="182880" y="1078992"/>
            <a:ext cx="5230368" cy="2304288"/>
          </a:xfrm>
          <a:prstGeom prst="roundRect">
            <a:avLst>
              <a:gd name="adj" fmla="val 3968"/>
            </a:avLst>
          </a:prstGeom>
          <a:solidFill>
            <a:srgbClr val="F8F9FA"/>
          </a:solidFill>
          <a:ln w="12700">
            <a:solidFill>
              <a:srgbClr val="F8F9FA"/>
            </a:solidFill>
            <a:prstDash val="solid"/>
          </a:ln>
          <a:effectLst>
            <a:outerShdw blurRad="152400" dist="50800" dir="2700000" algn="bl" rotWithShape="0">
              <a:srgbClr val="000000">
                <a:alpha val="8000"/>
              </a:srgbClr>
            </a:outerShdw>
          </a:effectLst>
        </p:spPr>
      </p:sp>
      <p:sp>
        <p:nvSpPr>
          <p:cNvPr id="6" name="Text 4"/>
          <p:cNvSpPr/>
          <p:nvPr/>
        </p:nvSpPr>
        <p:spPr>
          <a:xfrm>
            <a:off x="320040" y="1152144"/>
            <a:ext cx="4937760" cy="347472"/>
          </a:xfrm>
          <a:prstGeom prst="rect">
            <a:avLst/>
          </a:prstGeom>
          <a:noFill/>
          <a:ln/>
        </p:spPr>
        <p:txBody>
          <a:bodyPr wrap="square" rtlCol="0" anchor="ctr"/>
          <a:lstStyle/>
          <a:p>
            <a:pPr marL="0" indent="0">
              <a:buNone/>
            </a:pPr>
            <a:r>
              <a:rPr lang="en-US" sz="1300" b="1" dirty="0">
                <a:solidFill>
                  <a:srgbClr val="EA580C"/>
                </a:solidFill>
                <a:latin typeface="Cambria" pitchFamily="34" charset="0"/>
                <a:ea typeface="Cambria" pitchFamily="34" charset="-122"/>
                <a:cs typeface="Cambria" pitchFamily="34" charset="-120"/>
              </a:rPr>
              <a:t>🔗  MERGE QUERIES — JOIN TYPES</a:t>
            </a:r>
            <a:endParaRPr lang="en-US" sz="1300" dirty="0"/>
          </a:p>
        </p:txBody>
      </p:sp>
      <p:sp>
        <p:nvSpPr>
          <p:cNvPr id="7" name="Shape 5"/>
          <p:cNvSpPr/>
          <p:nvPr/>
        </p:nvSpPr>
        <p:spPr>
          <a:xfrm>
            <a:off x="256032" y="1572768"/>
            <a:ext cx="2468880" cy="411480"/>
          </a:xfrm>
          <a:prstGeom prst="roundRect">
            <a:avLst>
              <a:gd name="adj" fmla="val 13333"/>
            </a:avLst>
          </a:prstGeom>
          <a:solidFill>
            <a:srgbClr val="0F6FE8"/>
          </a:solidFill>
          <a:ln w="12700">
            <a:solidFill>
              <a:srgbClr val="0F6FE8"/>
            </a:solidFill>
            <a:prstDash val="solid"/>
          </a:ln>
          <a:effectLst>
            <a:outerShdw blurRad="152400" dist="50800" dir="2700000" algn="bl" rotWithShape="0">
              <a:srgbClr val="000000">
                <a:alpha val="8000"/>
              </a:srgbClr>
            </a:outerShdw>
          </a:effectLst>
        </p:spPr>
      </p:sp>
      <p:sp>
        <p:nvSpPr>
          <p:cNvPr id="8" name="Text 6"/>
          <p:cNvSpPr/>
          <p:nvPr/>
        </p:nvSpPr>
        <p:spPr>
          <a:xfrm>
            <a:off x="347472" y="157276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Left Outer</a:t>
            </a:r>
            <a:endParaRPr lang="en-US" sz="1000" dirty="0"/>
          </a:p>
        </p:txBody>
      </p:sp>
      <p:sp>
        <p:nvSpPr>
          <p:cNvPr id="9" name="Text 7"/>
          <p:cNvSpPr/>
          <p:nvPr/>
        </p:nvSpPr>
        <p:spPr>
          <a:xfrm>
            <a:off x="1490472" y="157276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All LEFT + matching RIGHT</a:t>
            </a:r>
            <a:endParaRPr lang="en-US" sz="850" dirty="0"/>
          </a:p>
        </p:txBody>
      </p:sp>
      <p:sp>
        <p:nvSpPr>
          <p:cNvPr id="10" name="Shape 8"/>
          <p:cNvSpPr/>
          <p:nvPr/>
        </p:nvSpPr>
        <p:spPr>
          <a:xfrm>
            <a:off x="2880360" y="1572768"/>
            <a:ext cx="2468880" cy="411480"/>
          </a:xfrm>
          <a:prstGeom prst="roundRect">
            <a:avLst>
              <a:gd name="adj" fmla="val 13333"/>
            </a:avLst>
          </a:prstGeom>
          <a:solidFill>
            <a:srgbClr val="6C3BD5"/>
          </a:solidFill>
          <a:ln w="12700">
            <a:solidFill>
              <a:srgbClr val="6C3BD5"/>
            </a:solidFill>
            <a:prstDash val="solid"/>
          </a:ln>
          <a:effectLst>
            <a:outerShdw blurRad="152400" dist="50800" dir="2700000" algn="bl" rotWithShape="0">
              <a:srgbClr val="000000">
                <a:alpha val="8000"/>
              </a:srgbClr>
            </a:outerShdw>
          </a:effectLst>
        </p:spPr>
      </p:sp>
      <p:sp>
        <p:nvSpPr>
          <p:cNvPr id="11" name="Text 9"/>
          <p:cNvSpPr/>
          <p:nvPr/>
        </p:nvSpPr>
        <p:spPr>
          <a:xfrm>
            <a:off x="2971800" y="157276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Right Outer</a:t>
            </a:r>
            <a:endParaRPr lang="en-US" sz="1000" dirty="0"/>
          </a:p>
        </p:txBody>
      </p:sp>
      <p:sp>
        <p:nvSpPr>
          <p:cNvPr id="12" name="Text 10"/>
          <p:cNvSpPr/>
          <p:nvPr/>
        </p:nvSpPr>
        <p:spPr>
          <a:xfrm>
            <a:off x="4114800" y="157276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All RIGHT + matching LEFT</a:t>
            </a:r>
            <a:endParaRPr lang="en-US" sz="850" dirty="0"/>
          </a:p>
        </p:txBody>
      </p:sp>
      <p:sp>
        <p:nvSpPr>
          <p:cNvPr id="13" name="Shape 11"/>
          <p:cNvSpPr/>
          <p:nvPr/>
        </p:nvSpPr>
        <p:spPr>
          <a:xfrm>
            <a:off x="256032" y="2075688"/>
            <a:ext cx="2468880" cy="411480"/>
          </a:xfrm>
          <a:prstGeom prst="roundRect">
            <a:avLst>
              <a:gd name="adj" fmla="val 13333"/>
            </a:avLst>
          </a:prstGeom>
          <a:solidFill>
            <a:srgbClr val="0D9488"/>
          </a:solidFill>
          <a:ln w="12700">
            <a:solidFill>
              <a:srgbClr val="0D9488"/>
            </a:solidFill>
            <a:prstDash val="solid"/>
          </a:ln>
          <a:effectLst>
            <a:outerShdw blurRad="152400" dist="50800" dir="2700000" algn="bl" rotWithShape="0">
              <a:srgbClr val="000000">
                <a:alpha val="8000"/>
              </a:srgbClr>
            </a:outerShdw>
          </a:effectLst>
        </p:spPr>
      </p:sp>
      <p:sp>
        <p:nvSpPr>
          <p:cNvPr id="14" name="Text 12"/>
          <p:cNvSpPr/>
          <p:nvPr/>
        </p:nvSpPr>
        <p:spPr>
          <a:xfrm>
            <a:off x="347472" y="207568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Inner Join</a:t>
            </a:r>
            <a:endParaRPr lang="en-US" sz="1000" dirty="0"/>
          </a:p>
        </p:txBody>
      </p:sp>
      <p:sp>
        <p:nvSpPr>
          <p:cNvPr id="15" name="Text 13"/>
          <p:cNvSpPr/>
          <p:nvPr/>
        </p:nvSpPr>
        <p:spPr>
          <a:xfrm>
            <a:off x="1490472" y="207568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Matching rows from BOTH</a:t>
            </a:r>
            <a:endParaRPr lang="en-US" sz="850" dirty="0"/>
          </a:p>
        </p:txBody>
      </p:sp>
      <p:sp>
        <p:nvSpPr>
          <p:cNvPr id="16" name="Shape 14"/>
          <p:cNvSpPr/>
          <p:nvPr/>
        </p:nvSpPr>
        <p:spPr>
          <a:xfrm>
            <a:off x="2880360" y="2075688"/>
            <a:ext cx="2468880" cy="411480"/>
          </a:xfrm>
          <a:prstGeom prst="roundRect">
            <a:avLst>
              <a:gd name="adj" fmla="val 13333"/>
            </a:avLst>
          </a:prstGeom>
          <a:solidFill>
            <a:srgbClr val="EA580C"/>
          </a:solidFill>
          <a:ln w="12700">
            <a:solidFill>
              <a:srgbClr val="EA580C"/>
            </a:solidFill>
            <a:prstDash val="solid"/>
          </a:ln>
          <a:effectLst>
            <a:outerShdw blurRad="152400" dist="50800" dir="2700000" algn="bl" rotWithShape="0">
              <a:srgbClr val="000000">
                <a:alpha val="8000"/>
              </a:srgbClr>
            </a:outerShdw>
          </a:effectLst>
        </p:spPr>
      </p:sp>
      <p:sp>
        <p:nvSpPr>
          <p:cNvPr id="17" name="Text 15"/>
          <p:cNvSpPr/>
          <p:nvPr/>
        </p:nvSpPr>
        <p:spPr>
          <a:xfrm>
            <a:off x="2971800" y="207568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Full Outer</a:t>
            </a:r>
            <a:endParaRPr lang="en-US" sz="1000" dirty="0"/>
          </a:p>
        </p:txBody>
      </p:sp>
      <p:sp>
        <p:nvSpPr>
          <p:cNvPr id="18" name="Text 16"/>
          <p:cNvSpPr/>
          <p:nvPr/>
        </p:nvSpPr>
        <p:spPr>
          <a:xfrm>
            <a:off x="4114800" y="207568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ALL rows from BOTH</a:t>
            </a:r>
            <a:endParaRPr lang="en-US" sz="850" dirty="0"/>
          </a:p>
        </p:txBody>
      </p:sp>
      <p:sp>
        <p:nvSpPr>
          <p:cNvPr id="19" name="Shape 17"/>
          <p:cNvSpPr/>
          <p:nvPr/>
        </p:nvSpPr>
        <p:spPr>
          <a:xfrm>
            <a:off x="256032" y="2578608"/>
            <a:ext cx="2468880" cy="411480"/>
          </a:xfrm>
          <a:prstGeom prst="roundRect">
            <a:avLst>
              <a:gd name="adj" fmla="val 13333"/>
            </a:avLst>
          </a:prstGeom>
          <a:solidFill>
            <a:srgbClr val="DB2777"/>
          </a:solidFill>
          <a:ln w="12700">
            <a:solidFill>
              <a:srgbClr val="DB2777"/>
            </a:solidFill>
            <a:prstDash val="solid"/>
          </a:ln>
          <a:effectLst>
            <a:outerShdw blurRad="152400" dist="50800" dir="2700000" algn="bl" rotWithShape="0">
              <a:srgbClr val="000000">
                <a:alpha val="8000"/>
              </a:srgbClr>
            </a:outerShdw>
          </a:effectLst>
        </p:spPr>
      </p:sp>
      <p:sp>
        <p:nvSpPr>
          <p:cNvPr id="20" name="Text 18"/>
          <p:cNvSpPr/>
          <p:nvPr/>
        </p:nvSpPr>
        <p:spPr>
          <a:xfrm>
            <a:off x="347472" y="257860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Left Anti</a:t>
            </a:r>
            <a:endParaRPr lang="en-US" sz="1000" dirty="0"/>
          </a:p>
        </p:txBody>
      </p:sp>
      <p:sp>
        <p:nvSpPr>
          <p:cNvPr id="21" name="Text 19"/>
          <p:cNvSpPr/>
          <p:nvPr/>
        </p:nvSpPr>
        <p:spPr>
          <a:xfrm>
            <a:off x="1490472" y="257860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LEFT with NO match</a:t>
            </a:r>
            <a:endParaRPr lang="en-US" sz="850" dirty="0"/>
          </a:p>
        </p:txBody>
      </p:sp>
      <p:sp>
        <p:nvSpPr>
          <p:cNvPr id="22" name="Shape 20"/>
          <p:cNvSpPr/>
          <p:nvPr/>
        </p:nvSpPr>
        <p:spPr>
          <a:xfrm>
            <a:off x="2880360" y="2578608"/>
            <a:ext cx="2468880" cy="411480"/>
          </a:xfrm>
          <a:prstGeom prst="roundRect">
            <a:avLst>
              <a:gd name="adj" fmla="val 13333"/>
            </a:avLst>
          </a:prstGeom>
          <a:solidFill>
            <a:srgbClr val="4338CA"/>
          </a:solidFill>
          <a:ln w="12700">
            <a:solidFill>
              <a:srgbClr val="4338CA"/>
            </a:solidFill>
            <a:prstDash val="solid"/>
          </a:ln>
          <a:effectLst>
            <a:outerShdw blurRad="152400" dist="50800" dir="2700000" algn="bl" rotWithShape="0">
              <a:srgbClr val="000000">
                <a:alpha val="8000"/>
              </a:srgbClr>
            </a:outerShdw>
          </a:effectLst>
        </p:spPr>
      </p:sp>
      <p:sp>
        <p:nvSpPr>
          <p:cNvPr id="23" name="Text 21"/>
          <p:cNvSpPr/>
          <p:nvPr/>
        </p:nvSpPr>
        <p:spPr>
          <a:xfrm>
            <a:off x="2971800" y="2578608"/>
            <a:ext cx="1097280" cy="4114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Right Anti</a:t>
            </a:r>
            <a:endParaRPr lang="en-US" sz="1000" dirty="0"/>
          </a:p>
        </p:txBody>
      </p:sp>
      <p:sp>
        <p:nvSpPr>
          <p:cNvPr id="24" name="Text 22"/>
          <p:cNvSpPr/>
          <p:nvPr/>
        </p:nvSpPr>
        <p:spPr>
          <a:xfrm>
            <a:off x="4114800" y="2578608"/>
            <a:ext cx="1188720" cy="411480"/>
          </a:xfrm>
          <a:prstGeom prst="rect">
            <a:avLst/>
          </a:prstGeom>
          <a:noFill/>
          <a:ln/>
        </p:spPr>
        <p:txBody>
          <a:bodyPr wrap="square" lIns="0" tIns="0" rIns="0" bIns="0" rtlCol="0" anchor="ctr"/>
          <a:lstStyle/>
          <a:p>
            <a:pPr marL="0" indent="0">
              <a:buNone/>
            </a:pPr>
            <a:r>
              <a:rPr lang="en-US" sz="850" dirty="0">
                <a:solidFill>
                  <a:srgbClr val="E8EAFF"/>
                </a:solidFill>
                <a:latin typeface="Calibri" pitchFamily="34" charset="0"/>
                <a:ea typeface="Calibri" pitchFamily="34" charset="-122"/>
                <a:cs typeface="Calibri" pitchFamily="34" charset="-120"/>
              </a:rPr>
              <a:t>RIGHT with NO match</a:t>
            </a:r>
            <a:endParaRPr lang="en-US" sz="850" dirty="0"/>
          </a:p>
        </p:txBody>
      </p:sp>
      <p:sp>
        <p:nvSpPr>
          <p:cNvPr id="25" name="Shape 23"/>
          <p:cNvSpPr/>
          <p:nvPr/>
        </p:nvSpPr>
        <p:spPr>
          <a:xfrm>
            <a:off x="5577840" y="1078992"/>
            <a:ext cx="3383280" cy="2304288"/>
          </a:xfrm>
          <a:prstGeom prst="roundRect">
            <a:avLst>
              <a:gd name="adj" fmla="val 3968"/>
            </a:avLst>
          </a:prstGeom>
          <a:solidFill>
            <a:srgbClr val="F8F9FA"/>
          </a:solidFill>
          <a:ln w="12700">
            <a:solidFill>
              <a:srgbClr val="F8F9FA"/>
            </a:solidFill>
            <a:prstDash val="solid"/>
          </a:ln>
          <a:effectLst>
            <a:outerShdw blurRad="152400" dist="50800" dir="2700000" algn="bl" rotWithShape="0">
              <a:srgbClr val="000000">
                <a:alpha val="8000"/>
              </a:srgbClr>
            </a:outerShdw>
          </a:effectLst>
        </p:spPr>
      </p:sp>
      <p:sp>
        <p:nvSpPr>
          <p:cNvPr id="26" name="Text 24"/>
          <p:cNvSpPr/>
          <p:nvPr/>
        </p:nvSpPr>
        <p:spPr>
          <a:xfrm>
            <a:off x="5715000" y="1152144"/>
            <a:ext cx="3108960" cy="347472"/>
          </a:xfrm>
          <a:prstGeom prst="rect">
            <a:avLst/>
          </a:prstGeom>
          <a:noFill/>
          <a:ln/>
        </p:spPr>
        <p:txBody>
          <a:bodyPr wrap="square" rtlCol="0" anchor="ctr"/>
          <a:lstStyle/>
          <a:p>
            <a:pPr marL="0" indent="0">
              <a:buNone/>
            </a:pPr>
            <a:r>
              <a:rPr lang="en-US" sz="1300" b="1" dirty="0">
                <a:solidFill>
                  <a:srgbClr val="059669"/>
                </a:solidFill>
                <a:latin typeface="Cambria" pitchFamily="34" charset="0"/>
                <a:ea typeface="Cambria" pitchFamily="34" charset="-122"/>
                <a:cs typeface="Cambria" pitchFamily="34" charset="-120"/>
              </a:rPr>
              <a:t>📋  APPEND QUERIES</a:t>
            </a:r>
            <a:endParaRPr lang="en-US" sz="1300" dirty="0"/>
          </a:p>
        </p:txBody>
      </p:sp>
      <p:sp>
        <p:nvSpPr>
          <p:cNvPr id="27" name="Shape 25"/>
          <p:cNvSpPr/>
          <p:nvPr/>
        </p:nvSpPr>
        <p:spPr>
          <a:xfrm>
            <a:off x="5715000" y="1600200"/>
            <a:ext cx="1417320" cy="438912"/>
          </a:xfrm>
          <a:prstGeom prst="roundRect">
            <a:avLst>
              <a:gd name="adj" fmla="val 12500"/>
            </a:avLst>
          </a:prstGeom>
          <a:solidFill>
            <a:srgbClr val="0F6FE8"/>
          </a:solidFill>
          <a:ln w="12700">
            <a:solidFill>
              <a:srgbClr val="0F6FE8"/>
            </a:solidFill>
            <a:prstDash val="solid"/>
          </a:ln>
          <a:effectLst>
            <a:outerShdw blurRad="152400" dist="50800" dir="2700000" algn="bl" rotWithShape="0">
              <a:srgbClr val="000000">
                <a:alpha val="8000"/>
              </a:srgbClr>
            </a:outerShdw>
          </a:effectLst>
        </p:spPr>
      </p:sp>
      <p:sp>
        <p:nvSpPr>
          <p:cNvPr id="28" name="Text 26"/>
          <p:cNvSpPr/>
          <p:nvPr/>
        </p:nvSpPr>
        <p:spPr>
          <a:xfrm>
            <a:off x="5715000" y="1600200"/>
            <a:ext cx="141732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Jan Sales</a:t>
            </a:r>
            <a:endParaRPr lang="en-US" sz="1000" dirty="0"/>
          </a:p>
        </p:txBody>
      </p:sp>
      <p:sp>
        <p:nvSpPr>
          <p:cNvPr id="29" name="Shape 27"/>
          <p:cNvSpPr/>
          <p:nvPr/>
        </p:nvSpPr>
        <p:spPr>
          <a:xfrm>
            <a:off x="5715000" y="2148840"/>
            <a:ext cx="1417320" cy="438912"/>
          </a:xfrm>
          <a:prstGeom prst="roundRect">
            <a:avLst>
              <a:gd name="adj" fmla="val 12500"/>
            </a:avLst>
          </a:prstGeom>
          <a:solidFill>
            <a:srgbClr val="6C3BD5"/>
          </a:solidFill>
          <a:ln w="12700">
            <a:solidFill>
              <a:srgbClr val="6C3BD5"/>
            </a:solidFill>
            <a:prstDash val="solid"/>
          </a:ln>
          <a:effectLst>
            <a:outerShdw blurRad="152400" dist="50800" dir="2700000" algn="bl" rotWithShape="0">
              <a:srgbClr val="000000">
                <a:alpha val="8000"/>
              </a:srgbClr>
            </a:outerShdw>
          </a:effectLst>
        </p:spPr>
      </p:sp>
      <p:sp>
        <p:nvSpPr>
          <p:cNvPr id="30" name="Text 28"/>
          <p:cNvSpPr/>
          <p:nvPr/>
        </p:nvSpPr>
        <p:spPr>
          <a:xfrm>
            <a:off x="5715000" y="2148840"/>
            <a:ext cx="1417320"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Feb Sales</a:t>
            </a:r>
            <a:endParaRPr lang="en-US" sz="1000" dirty="0"/>
          </a:p>
        </p:txBody>
      </p:sp>
      <p:sp>
        <p:nvSpPr>
          <p:cNvPr id="31" name="Text 29"/>
          <p:cNvSpPr/>
          <p:nvPr/>
        </p:nvSpPr>
        <p:spPr>
          <a:xfrm>
            <a:off x="7159752" y="1901952"/>
            <a:ext cx="457200" cy="320040"/>
          </a:xfrm>
          <a:prstGeom prst="rect">
            <a:avLst/>
          </a:prstGeom>
          <a:noFill/>
          <a:ln/>
        </p:spPr>
        <p:txBody>
          <a:bodyPr wrap="square" rtlCol="0" anchor="ctr"/>
          <a:lstStyle/>
          <a:p>
            <a:pPr marL="0" indent="0" algn="ctr">
              <a:buNone/>
            </a:pPr>
            <a:r>
              <a:rPr lang="en-US" sz="1800" dirty="0">
                <a:solidFill>
                  <a:srgbClr val="D97706"/>
                </a:solidFill>
              </a:rPr>
              <a:t>▶</a:t>
            </a:r>
            <a:endParaRPr lang="en-US" sz="1800" dirty="0"/>
          </a:p>
        </p:txBody>
      </p:sp>
      <p:sp>
        <p:nvSpPr>
          <p:cNvPr id="32" name="Shape 30"/>
          <p:cNvSpPr/>
          <p:nvPr/>
        </p:nvSpPr>
        <p:spPr>
          <a:xfrm>
            <a:off x="7635240" y="1572768"/>
            <a:ext cx="1234440" cy="1481328"/>
          </a:xfrm>
          <a:prstGeom prst="roundRect">
            <a:avLst>
              <a:gd name="adj" fmla="val 4444"/>
            </a:avLst>
          </a:prstGeom>
          <a:solidFill>
            <a:srgbClr val="059669"/>
          </a:solidFill>
          <a:ln w="12700">
            <a:solidFill>
              <a:srgbClr val="059669"/>
            </a:solidFill>
            <a:prstDash val="solid"/>
          </a:ln>
          <a:effectLst>
            <a:outerShdw blurRad="152400" dist="50800" dir="2700000" algn="bl" rotWithShape="0">
              <a:srgbClr val="000000">
                <a:alpha val="8000"/>
              </a:srgbClr>
            </a:outerShdw>
          </a:effectLst>
        </p:spPr>
      </p:sp>
      <p:sp>
        <p:nvSpPr>
          <p:cNvPr id="33" name="Text 31"/>
          <p:cNvSpPr/>
          <p:nvPr/>
        </p:nvSpPr>
        <p:spPr>
          <a:xfrm>
            <a:off x="7635240" y="1572768"/>
            <a:ext cx="1234440" cy="1481328"/>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ALL</a:t>
            </a:r>
            <a:endParaRPr lang="en-US" sz="1100" dirty="0"/>
          </a:p>
          <a:p>
            <a:pPr marL="0" indent="0" algn="ctr">
              <a:buNone/>
            </a:pPr>
            <a:r>
              <a:rPr lang="en-US" sz="1100" b="1" dirty="0">
                <a:solidFill>
                  <a:srgbClr val="FFFFFF"/>
                </a:solidFill>
                <a:latin typeface="Cambria" pitchFamily="34" charset="0"/>
                <a:ea typeface="Cambria" pitchFamily="34" charset="-122"/>
                <a:cs typeface="Cambria" pitchFamily="34" charset="-120"/>
              </a:rPr>
              <a:t>ROWS</a:t>
            </a:r>
            <a:endParaRPr lang="en-US" sz="1100" dirty="0"/>
          </a:p>
          <a:p>
            <a:pPr marL="0" indent="0" algn="ctr">
              <a:buNone/>
            </a:pPr>
            <a:r>
              <a:rPr lang="en-US" sz="1100" b="1" dirty="0">
                <a:solidFill>
                  <a:srgbClr val="FFFFFF"/>
                </a:solidFill>
                <a:latin typeface="Cambria" pitchFamily="34" charset="0"/>
                <a:ea typeface="Cambria" pitchFamily="34" charset="-122"/>
                <a:cs typeface="Cambria" pitchFamily="34" charset="-120"/>
              </a:rPr>
              <a:t>✓</a:t>
            </a:r>
            <a:endParaRPr lang="en-US" sz="1100" dirty="0"/>
          </a:p>
        </p:txBody>
      </p:sp>
      <p:sp>
        <p:nvSpPr>
          <p:cNvPr id="34" name="Text 32"/>
          <p:cNvSpPr/>
          <p:nvPr/>
        </p:nvSpPr>
        <p:spPr>
          <a:xfrm>
            <a:off x="5669280" y="3090672"/>
            <a:ext cx="3200400" cy="237744"/>
          </a:xfrm>
          <a:prstGeom prst="rect">
            <a:avLst/>
          </a:prstGeom>
          <a:noFill/>
          <a:ln/>
        </p:spPr>
        <p:txBody>
          <a:bodyPr wrap="square" rtlCol="0" anchor="ctr"/>
          <a:lstStyle/>
          <a:p>
            <a:pPr marL="0" indent="0">
              <a:buNone/>
            </a:pPr>
            <a:r>
              <a:rPr lang="en-US" sz="850" i="1" dirty="0">
                <a:solidFill>
                  <a:srgbClr val="7A7A9A"/>
                </a:solidFill>
                <a:latin typeface="Calibri" pitchFamily="34" charset="0"/>
                <a:ea typeface="Calibri" pitchFamily="34" charset="-122"/>
                <a:cs typeface="Calibri" pitchFamily="34" charset="-120"/>
              </a:rPr>
              <a:t>SQL UNION ALL</a:t>
            </a:r>
            <a:endParaRPr lang="en-US" sz="850" dirty="0"/>
          </a:p>
          <a:p>
            <a:pPr marL="0" indent="0">
              <a:buNone/>
            </a:pPr>
            <a:r>
              <a:rPr lang="en-US" sz="850" i="1" dirty="0">
                <a:solidFill>
                  <a:srgbClr val="7A7A9A"/>
                </a:solidFill>
                <a:latin typeface="Calibri" pitchFamily="34" charset="0"/>
                <a:ea typeface="Calibri" pitchFamily="34" charset="-122"/>
                <a:cs typeface="Calibri" pitchFamily="34" charset="-120"/>
              </a:rPr>
              <a:t>Columns by name</a:t>
            </a:r>
            <a:endParaRPr lang="en-US" sz="850" dirty="0"/>
          </a:p>
        </p:txBody>
      </p:sp>
      <p:sp>
        <p:nvSpPr>
          <p:cNvPr id="35" name="Shape 33"/>
          <p:cNvSpPr/>
          <p:nvPr/>
        </p:nvSpPr>
        <p:spPr>
          <a:xfrm>
            <a:off x="182880" y="3493008"/>
            <a:ext cx="8778240" cy="1463040"/>
          </a:xfrm>
          <a:prstGeom prst="roundRect">
            <a:avLst>
              <a:gd name="adj" fmla="val 6250"/>
            </a:avLst>
          </a:prstGeom>
          <a:solidFill>
            <a:srgbClr val="F8F9FA"/>
          </a:solidFill>
          <a:ln w="12700">
            <a:solidFill>
              <a:srgbClr val="F8F9FA"/>
            </a:solidFill>
            <a:prstDash val="solid"/>
          </a:ln>
          <a:effectLst>
            <a:outerShdw blurRad="152400" dist="50800" dir="2700000" algn="bl" rotWithShape="0">
              <a:srgbClr val="000000">
                <a:alpha val="8000"/>
              </a:srgbClr>
            </a:outerShdw>
          </a:effectLst>
        </p:spPr>
      </p:sp>
      <p:sp>
        <p:nvSpPr>
          <p:cNvPr id="36" name="Text 34"/>
          <p:cNvSpPr/>
          <p:nvPr/>
        </p:nvSpPr>
        <p:spPr>
          <a:xfrm>
            <a:off x="320040" y="3566160"/>
            <a:ext cx="4572000" cy="347472"/>
          </a:xfrm>
          <a:prstGeom prst="rect">
            <a:avLst/>
          </a:prstGeom>
          <a:noFill/>
          <a:ln/>
        </p:spPr>
        <p:txBody>
          <a:bodyPr wrap="square" rtlCol="0" anchor="ctr"/>
          <a:lstStyle/>
          <a:p>
            <a:pPr marL="0" indent="0">
              <a:buNone/>
            </a:pPr>
            <a:r>
              <a:rPr lang="en-US" sz="1300" b="1" dirty="0">
                <a:solidFill>
                  <a:srgbClr val="4338CA"/>
                </a:solidFill>
                <a:latin typeface="Cambria" pitchFamily="34" charset="0"/>
                <a:ea typeface="Cambria" pitchFamily="34" charset="-122"/>
                <a:cs typeface="Cambria" pitchFamily="34" charset="-120"/>
              </a:rPr>
              <a:t>↔  PIVOT vs UNPIVOT — Reshape Your Data</a:t>
            </a:r>
            <a:endParaRPr lang="en-US" sz="1300" dirty="0"/>
          </a:p>
        </p:txBody>
      </p:sp>
      <p:sp>
        <p:nvSpPr>
          <p:cNvPr id="37" name="Text 35"/>
          <p:cNvSpPr/>
          <p:nvPr/>
        </p:nvSpPr>
        <p:spPr>
          <a:xfrm>
            <a:off x="292608" y="3950208"/>
            <a:ext cx="2011680" cy="228600"/>
          </a:xfrm>
          <a:prstGeom prst="rect">
            <a:avLst/>
          </a:prstGeom>
          <a:noFill/>
          <a:ln/>
        </p:spPr>
        <p:txBody>
          <a:bodyPr wrap="square" rtlCol="0" anchor="ctr"/>
          <a:lstStyle/>
          <a:p>
            <a:pPr marL="0" indent="0">
              <a:buNone/>
            </a:pPr>
            <a:r>
              <a:rPr lang="en-US" sz="950" b="1" dirty="0">
                <a:solidFill>
                  <a:srgbClr val="0F6FE8"/>
                </a:solidFill>
                <a:latin typeface="Calibri" pitchFamily="34" charset="0"/>
                <a:ea typeface="Calibri" pitchFamily="34" charset="-122"/>
                <a:cs typeface="Calibri" pitchFamily="34" charset="-120"/>
              </a:rPr>
              <a:t>WIDE FORMAT</a:t>
            </a:r>
            <a:endParaRPr lang="en-US" sz="9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292608" y="4169664"/>
          <a:ext cx="2011680" cy="807720"/>
        </p:xfrm>
        <a:graphic>
          <a:graphicData uri="http://schemas.openxmlformats.org/drawingml/2006/table">
            <a:tbl>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228600">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Student</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6FE8"/>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Math</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6FE8"/>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Science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6FE8"/>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English</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6FE8"/>
                    </a:solidFill>
                  </a:tcPr>
                </a:tc>
                <a:extLst>
                  <a:ext uri="{0D108BD9-81ED-4DB2-BD59-A6C34878D82A}">
                    <a16:rowId xmlns:a16="http://schemas.microsoft.com/office/drawing/2014/main" val="10000"/>
                  </a:ext>
                </a:extLst>
              </a:tr>
              <a:tr h="228600">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Alice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85</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92</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78</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Bob</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76</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88</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91</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bl>
          </a:graphicData>
        </a:graphic>
      </p:graphicFrame>
      <p:sp>
        <p:nvSpPr>
          <p:cNvPr id="39" name="Text 36"/>
          <p:cNvSpPr/>
          <p:nvPr/>
        </p:nvSpPr>
        <p:spPr>
          <a:xfrm>
            <a:off x="4709160" y="3950208"/>
            <a:ext cx="2011680" cy="228600"/>
          </a:xfrm>
          <a:prstGeom prst="rect">
            <a:avLst/>
          </a:prstGeom>
          <a:noFill/>
          <a:ln/>
        </p:spPr>
        <p:txBody>
          <a:bodyPr wrap="square" rtlCol="0" anchor="ctr"/>
          <a:lstStyle/>
          <a:p>
            <a:pPr marL="0" indent="0">
              <a:buNone/>
            </a:pPr>
            <a:r>
              <a:rPr lang="en-US" sz="950" b="1" dirty="0">
                <a:solidFill>
                  <a:srgbClr val="DB2777"/>
                </a:solidFill>
                <a:latin typeface="Calibri" pitchFamily="34" charset="0"/>
                <a:ea typeface="Calibri" pitchFamily="34" charset="-122"/>
                <a:cs typeface="Calibri" pitchFamily="34" charset="-120"/>
              </a:rPr>
              <a:t>LONG FORMAT</a:t>
            </a:r>
            <a:endParaRPr lang="en-US" sz="950" dirty="0"/>
          </a:p>
        </p:txBody>
      </p:sp>
      <p:graphicFrame>
        <p:nvGraphicFramePr>
          <p:cNvPr id="40" name="Table 1"/>
          <p:cNvGraphicFramePr>
            <a:graphicFrameLocks noGrp="1"/>
          </p:cNvGraphicFramePr>
          <p:nvPr>
            <p:extLst>
              <p:ext uri="{D42A27DB-BD31-4B8C-83A1-F6EECF244321}">
                <p14:modId xmlns:p14="http://schemas.microsoft.com/office/powerpoint/2010/main" val="1579011935"/>
              </p:ext>
            </p:extLst>
          </p:nvPr>
        </p:nvGraphicFramePr>
        <p:xfrm>
          <a:off x="4709160" y="4169664"/>
          <a:ext cx="2011680" cy="883920"/>
        </p:xfrm>
        <a:graphic>
          <a:graphicData uri="http://schemas.openxmlformats.org/drawingml/2006/table">
            <a:tbl>
              <a:tblPr/>
              <a:tblGrid>
                <a:gridCol w="670560">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tblGrid>
              <a:tr h="171450">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Student</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B277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Subject</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B277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Score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DB2777"/>
                    </a:solidFill>
                  </a:tcPr>
                </a:tc>
                <a:extLst>
                  <a:ext uri="{0D108BD9-81ED-4DB2-BD59-A6C34878D82A}">
                    <a16:rowId xmlns:a16="http://schemas.microsoft.com/office/drawing/2014/main" val="10000"/>
                  </a:ext>
                </a:extLst>
              </a:tr>
              <a:tr h="171450">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Alice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Math</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85</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71450">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Alice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Science</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92</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171450">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Bob</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Math</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76</a:t>
                      </a:r>
                      <a:endParaRPr lang="en-US" sz="85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1" name="Shape 37"/>
          <p:cNvSpPr/>
          <p:nvPr/>
        </p:nvSpPr>
        <p:spPr>
          <a:xfrm>
            <a:off x="3337560" y="4133088"/>
            <a:ext cx="1170432" cy="640080"/>
          </a:xfrm>
          <a:prstGeom prst="roundRect">
            <a:avLst>
              <a:gd name="adj" fmla="val 8571"/>
            </a:avLst>
          </a:prstGeom>
          <a:solidFill>
            <a:srgbClr val="D97706"/>
          </a:solidFill>
          <a:ln w="12700">
            <a:solidFill>
              <a:srgbClr val="D97706"/>
            </a:solidFill>
            <a:prstDash val="solid"/>
          </a:ln>
        </p:spPr>
      </p:sp>
      <p:sp>
        <p:nvSpPr>
          <p:cNvPr id="42" name="Text 38"/>
          <p:cNvSpPr/>
          <p:nvPr/>
        </p:nvSpPr>
        <p:spPr>
          <a:xfrm>
            <a:off x="3337560" y="4133088"/>
            <a:ext cx="1170432"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Unpivot</a:t>
            </a:r>
            <a:endParaRPr lang="en-US" sz="1000" dirty="0"/>
          </a:p>
        </p:txBody>
      </p:sp>
      <p:sp>
        <p:nvSpPr>
          <p:cNvPr id="43" name="Text 39"/>
          <p:cNvSpPr/>
          <p:nvPr/>
        </p:nvSpPr>
        <p:spPr>
          <a:xfrm>
            <a:off x="6812280" y="3977640"/>
            <a:ext cx="1965960" cy="914400"/>
          </a:xfrm>
          <a:prstGeom prst="rect">
            <a:avLst/>
          </a:prstGeom>
          <a:noFill/>
          <a:ln/>
        </p:spPr>
        <p:txBody>
          <a:bodyPr wrap="square" rtlCol="0" anchor="ctr"/>
          <a:lstStyle/>
          <a:p>
            <a:pPr marL="0" indent="0">
              <a:lnSpc>
                <a:spcPct val="135000"/>
              </a:lnSpc>
              <a:buNone/>
            </a:pPr>
            <a:r>
              <a:rPr lang="en-US" sz="850" i="1" dirty="0">
                <a:solidFill>
                  <a:srgbClr val="4A4A6A"/>
                </a:solidFill>
                <a:latin typeface="Calibri" pitchFamily="34" charset="0"/>
                <a:ea typeface="Calibri" pitchFamily="34" charset="-122"/>
                <a:cs typeface="Calibri" pitchFamily="34" charset="-120"/>
              </a:rPr>
              <a:t>Analytics tools prefer long format. Pivot = dashboards. Unpivot = DAX calculations.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9669"/>
          </a:solidFill>
          <a:ln w="12700">
            <a:solidFill>
              <a:srgbClr val="059669"/>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QUERY FOLDING &amp; PERFORMANCE OPTIMIZATION</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rgbClr val="D1FAE5"/>
                </a:solidFill>
                <a:latin typeface="Calibri" pitchFamily="34" charset="0"/>
                <a:ea typeface="Calibri" pitchFamily="34" charset="-122"/>
                <a:cs typeface="Calibri" pitchFamily="34" charset="-120"/>
              </a:rPr>
              <a:t>Make your data source do the heavy lifting</a:t>
            </a:r>
            <a:endParaRPr lang="en-US" sz="1150" dirty="0"/>
          </a:p>
        </p:txBody>
      </p:sp>
      <p:sp>
        <p:nvSpPr>
          <p:cNvPr id="5" name="Shape 3"/>
          <p:cNvSpPr/>
          <p:nvPr/>
        </p:nvSpPr>
        <p:spPr>
          <a:xfrm>
            <a:off x="182880" y="1078992"/>
            <a:ext cx="8778240" cy="658368"/>
          </a:xfrm>
          <a:prstGeom prst="roundRect">
            <a:avLst>
              <a:gd name="adj" fmla="val 11111"/>
            </a:avLst>
          </a:prstGeom>
          <a:solidFill>
            <a:srgbClr val="D1FAE5"/>
          </a:solidFill>
          <a:ln w="12700">
            <a:solidFill>
              <a:srgbClr val="D1FAE5"/>
            </a:solidFill>
            <a:prstDash val="solid"/>
          </a:ln>
          <a:effectLst>
            <a:outerShdw blurRad="152400" dist="50800" dir="2700000" algn="bl" rotWithShape="0">
              <a:srgbClr val="000000">
                <a:alpha val="8000"/>
              </a:srgbClr>
            </a:outerShdw>
          </a:effectLst>
        </p:spPr>
      </p:sp>
      <p:sp>
        <p:nvSpPr>
          <p:cNvPr id="6" name="Shape 4"/>
          <p:cNvSpPr/>
          <p:nvPr/>
        </p:nvSpPr>
        <p:spPr>
          <a:xfrm>
            <a:off x="182880" y="1078992"/>
            <a:ext cx="256032" cy="658368"/>
          </a:xfrm>
          <a:prstGeom prst="roundRect">
            <a:avLst>
              <a:gd name="adj" fmla="val 17857"/>
            </a:avLst>
          </a:prstGeom>
          <a:solidFill>
            <a:srgbClr val="059669"/>
          </a:solidFill>
          <a:ln w="12700">
            <a:solidFill>
              <a:srgbClr val="059669"/>
            </a:solidFill>
            <a:prstDash val="solid"/>
          </a:ln>
        </p:spPr>
      </p:sp>
      <p:sp>
        <p:nvSpPr>
          <p:cNvPr id="7" name="Text 5"/>
          <p:cNvSpPr/>
          <p:nvPr/>
        </p:nvSpPr>
        <p:spPr>
          <a:xfrm>
            <a:off x="530352" y="1078992"/>
            <a:ext cx="8321040" cy="658368"/>
          </a:xfrm>
          <a:prstGeom prst="rect">
            <a:avLst/>
          </a:prstGeom>
          <a:noFill/>
          <a:ln/>
        </p:spPr>
        <p:txBody>
          <a:bodyPr wrap="square" rtlCol="0" anchor="ctr"/>
          <a:lstStyle/>
          <a:p>
            <a:pPr marL="0" indent="0">
              <a:lnSpc>
                <a:spcPct val="130000"/>
              </a:lnSpc>
              <a:buNone/>
            </a:pPr>
            <a:r>
              <a:rPr lang="en-US" sz="1100" i="1" dirty="0">
                <a:solidFill>
                  <a:srgbClr val="1A1A2E"/>
                </a:solidFill>
                <a:latin typeface="Calibri" pitchFamily="34" charset="0"/>
                <a:ea typeface="Calibri" pitchFamily="34" charset="-122"/>
                <a:cs typeface="Calibri" pitchFamily="34" charset="-120"/>
              </a:rPr>
              <a:t>💡  DEFINITION: Query Folding is Power Query's ability to translate your transformation steps back into the native query language of the data source (e.g., SQL), so filtering and aggregation runs at the database — dramatically improving performance for large datasets.</a:t>
            </a:r>
            <a:endParaRPr lang="en-US" sz="1100" dirty="0"/>
          </a:p>
        </p:txBody>
      </p:sp>
      <p:sp>
        <p:nvSpPr>
          <p:cNvPr id="8" name="Shape 6"/>
          <p:cNvSpPr/>
          <p:nvPr/>
        </p:nvSpPr>
        <p:spPr>
          <a:xfrm>
            <a:off x="182880" y="1874520"/>
            <a:ext cx="4389120" cy="2084832"/>
          </a:xfrm>
          <a:prstGeom prst="roundRect">
            <a:avLst>
              <a:gd name="adj" fmla="val 4386"/>
            </a:avLst>
          </a:prstGeom>
          <a:solidFill>
            <a:srgbClr val="FEE2E2"/>
          </a:solidFill>
          <a:ln w="12700">
            <a:solidFill>
              <a:srgbClr val="FEE2E2"/>
            </a:solidFill>
            <a:prstDash val="solid"/>
          </a:ln>
          <a:effectLst>
            <a:outerShdw blurRad="152400" dist="50800" dir="2700000" algn="bl" rotWithShape="0">
              <a:srgbClr val="000000">
                <a:alpha val="8000"/>
              </a:srgbClr>
            </a:outerShdw>
          </a:effectLst>
        </p:spPr>
      </p:sp>
      <p:sp>
        <p:nvSpPr>
          <p:cNvPr id="9" name="Shape 7"/>
          <p:cNvSpPr/>
          <p:nvPr/>
        </p:nvSpPr>
        <p:spPr>
          <a:xfrm>
            <a:off x="182880" y="1874520"/>
            <a:ext cx="4389120" cy="457200"/>
          </a:xfrm>
          <a:prstGeom prst="roundRect">
            <a:avLst>
              <a:gd name="adj" fmla="val 20000"/>
            </a:avLst>
          </a:prstGeom>
          <a:solidFill>
            <a:srgbClr val="DC2626"/>
          </a:solidFill>
          <a:ln w="12700">
            <a:solidFill>
              <a:srgbClr val="DC2626"/>
            </a:solidFill>
            <a:prstDash val="solid"/>
          </a:ln>
        </p:spPr>
      </p:sp>
      <p:sp>
        <p:nvSpPr>
          <p:cNvPr id="10" name="Shape 8"/>
          <p:cNvSpPr/>
          <p:nvPr/>
        </p:nvSpPr>
        <p:spPr>
          <a:xfrm>
            <a:off x="182880" y="2148840"/>
            <a:ext cx="4389120" cy="182880"/>
          </a:xfrm>
          <a:prstGeom prst="rect">
            <a:avLst/>
          </a:prstGeom>
          <a:solidFill>
            <a:srgbClr val="DC2626"/>
          </a:solidFill>
          <a:ln w="12700">
            <a:solidFill>
              <a:srgbClr val="DC2626"/>
            </a:solidFill>
            <a:prstDash val="solid"/>
          </a:ln>
        </p:spPr>
      </p:sp>
      <p:sp>
        <p:nvSpPr>
          <p:cNvPr id="11" name="Text 9"/>
          <p:cNvSpPr/>
          <p:nvPr/>
        </p:nvSpPr>
        <p:spPr>
          <a:xfrm>
            <a:off x="320040" y="1892808"/>
            <a:ext cx="4114800" cy="420624"/>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WITHOUT FOLDING</a:t>
            </a:r>
            <a:endParaRPr lang="en-US" sz="1300" dirty="0"/>
          </a:p>
        </p:txBody>
      </p:sp>
      <p:sp>
        <p:nvSpPr>
          <p:cNvPr id="12" name="Text 10"/>
          <p:cNvSpPr/>
          <p:nvPr/>
        </p:nvSpPr>
        <p:spPr>
          <a:xfrm>
            <a:off x="320040" y="2377440"/>
            <a:ext cx="4114800" cy="1508760"/>
          </a:xfrm>
          <a:prstGeom prst="rect">
            <a:avLst/>
          </a:prstGeom>
          <a:noFill/>
          <a:ln/>
        </p:spPr>
        <p:txBody>
          <a:bodyPr wrap="square" rtlCol="0" anchor="ctr"/>
          <a:lstStyle/>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ALL rows fetched from the database</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Entire dataset loaded into RAM</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Power Query filters in-memory</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High network bandwidth consumed</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 Slow — millions of rows!</a:t>
            </a:r>
            <a:endParaRPr lang="en-US" sz="1050" dirty="0"/>
          </a:p>
        </p:txBody>
      </p:sp>
      <p:sp>
        <p:nvSpPr>
          <p:cNvPr id="13" name="Shape 11"/>
          <p:cNvSpPr/>
          <p:nvPr/>
        </p:nvSpPr>
        <p:spPr>
          <a:xfrm>
            <a:off x="4663440" y="1901952"/>
            <a:ext cx="4389120" cy="2084832"/>
          </a:xfrm>
          <a:prstGeom prst="roundRect">
            <a:avLst>
              <a:gd name="adj" fmla="val 4386"/>
            </a:avLst>
          </a:prstGeom>
          <a:solidFill>
            <a:srgbClr val="D1FAE5"/>
          </a:solidFill>
          <a:ln w="12700">
            <a:solidFill>
              <a:srgbClr val="D1FAE5"/>
            </a:solidFill>
            <a:prstDash val="solid"/>
          </a:ln>
          <a:effectLst>
            <a:outerShdw blurRad="152400" dist="50800" dir="2700000" algn="bl" rotWithShape="0">
              <a:srgbClr val="000000">
                <a:alpha val="8000"/>
              </a:srgbClr>
            </a:outerShdw>
          </a:effectLst>
        </p:spPr>
      </p:sp>
      <p:sp>
        <p:nvSpPr>
          <p:cNvPr id="14" name="Shape 12"/>
          <p:cNvSpPr/>
          <p:nvPr/>
        </p:nvSpPr>
        <p:spPr>
          <a:xfrm>
            <a:off x="4690872" y="1874520"/>
            <a:ext cx="4389120" cy="457200"/>
          </a:xfrm>
          <a:prstGeom prst="roundRect">
            <a:avLst>
              <a:gd name="adj" fmla="val 20000"/>
            </a:avLst>
          </a:prstGeom>
          <a:solidFill>
            <a:srgbClr val="059669"/>
          </a:solidFill>
          <a:ln w="12700">
            <a:solidFill>
              <a:srgbClr val="059669"/>
            </a:solidFill>
            <a:prstDash val="solid"/>
          </a:ln>
        </p:spPr>
      </p:sp>
      <p:sp>
        <p:nvSpPr>
          <p:cNvPr id="15" name="Shape 13"/>
          <p:cNvSpPr/>
          <p:nvPr/>
        </p:nvSpPr>
        <p:spPr>
          <a:xfrm>
            <a:off x="4690872" y="2167128"/>
            <a:ext cx="4389120" cy="182880"/>
          </a:xfrm>
          <a:prstGeom prst="rect">
            <a:avLst/>
          </a:prstGeom>
          <a:solidFill>
            <a:srgbClr val="059669"/>
          </a:solidFill>
          <a:ln w="12700">
            <a:solidFill>
              <a:srgbClr val="059669"/>
            </a:solidFill>
            <a:prstDash val="solid"/>
          </a:ln>
        </p:spPr>
      </p:sp>
      <p:sp>
        <p:nvSpPr>
          <p:cNvPr id="16" name="Text 14"/>
          <p:cNvSpPr/>
          <p:nvPr/>
        </p:nvSpPr>
        <p:spPr>
          <a:xfrm>
            <a:off x="4937760" y="1892808"/>
            <a:ext cx="4114800" cy="420624"/>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WITH QUERY FOLDING</a:t>
            </a:r>
            <a:endParaRPr lang="en-US" sz="1300" dirty="0"/>
          </a:p>
        </p:txBody>
      </p:sp>
      <p:sp>
        <p:nvSpPr>
          <p:cNvPr id="17" name="Text 15"/>
          <p:cNvSpPr/>
          <p:nvPr/>
        </p:nvSpPr>
        <p:spPr>
          <a:xfrm>
            <a:off x="4937760" y="2377440"/>
            <a:ext cx="4114800" cy="1508760"/>
          </a:xfrm>
          <a:prstGeom prst="rect">
            <a:avLst/>
          </a:prstGeom>
          <a:noFill/>
          <a:ln/>
        </p:spPr>
        <p:txBody>
          <a:bodyPr wrap="square" rtlCol="0" anchor="ctr"/>
          <a:lstStyle/>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PQ translates steps → SQL query</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Database executes SQL natively</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Only matching rows are returned</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Minimal network usage</a:t>
            </a:r>
            <a:endParaRPr lang="en-US" sz="1050" dirty="0"/>
          </a:p>
          <a:p>
            <a:pPr marL="342900" indent="-342900">
              <a:spcAft>
                <a:spcPts val="500"/>
              </a:spcAft>
              <a:buSzPct val="100000"/>
              <a:buChar char="•"/>
            </a:pPr>
            <a:r>
              <a:rPr lang="en-US" sz="1050" dirty="0">
                <a:solidFill>
                  <a:srgbClr val="1A1A2E"/>
                </a:solidFill>
                <a:latin typeface="Calibri" pitchFamily="34" charset="0"/>
                <a:ea typeface="Calibri" pitchFamily="34" charset="-122"/>
                <a:cs typeface="Calibri" pitchFamily="34" charset="-120"/>
              </a:rPr>
              <a:t>🚀 Fast — DB optimizer takes over!</a:t>
            </a:r>
            <a:endParaRPr lang="en-US" sz="1050" dirty="0"/>
          </a:p>
        </p:txBody>
      </p:sp>
      <p:sp>
        <p:nvSpPr>
          <p:cNvPr id="18" name="Shape 16"/>
          <p:cNvSpPr/>
          <p:nvPr/>
        </p:nvSpPr>
        <p:spPr>
          <a:xfrm>
            <a:off x="4224528" y="2377440"/>
            <a:ext cx="694944" cy="594360"/>
          </a:xfrm>
          <a:prstGeom prst="ellipse">
            <a:avLst/>
          </a:prstGeom>
          <a:solidFill>
            <a:srgbClr val="D97706"/>
          </a:solidFill>
          <a:ln w="12700">
            <a:solidFill>
              <a:srgbClr val="D97706"/>
            </a:solidFill>
            <a:prstDash val="solid"/>
          </a:ln>
          <a:effectLst>
            <a:outerShdw blurRad="127000" dist="38100" dir="2700000" algn="bl" rotWithShape="0">
              <a:srgbClr val="000000">
                <a:alpha val="9000"/>
              </a:srgbClr>
            </a:outerShdw>
          </a:effectLst>
        </p:spPr>
      </p:sp>
      <p:sp>
        <p:nvSpPr>
          <p:cNvPr id="19" name="Text 17"/>
          <p:cNvSpPr/>
          <p:nvPr/>
        </p:nvSpPr>
        <p:spPr>
          <a:xfrm>
            <a:off x="4224528" y="2377440"/>
            <a:ext cx="694944" cy="594360"/>
          </a:xfrm>
          <a:prstGeom prst="rect">
            <a:avLst/>
          </a:prstGeom>
          <a:noFill/>
          <a:ln/>
        </p:spPr>
        <p:txBody>
          <a:bodyPr wrap="square" lIns="0" tIns="0" rIns="0" bIns="0" rtlCol="0" anchor="ctr"/>
          <a:lstStyle/>
          <a:p>
            <a:pPr marL="0" indent="0" algn="ctr">
              <a:buNone/>
            </a:pPr>
            <a:r>
              <a:rPr lang="en-US" sz="1300" b="1" dirty="0">
                <a:solidFill>
                  <a:srgbClr val="FFFFFF"/>
                </a:solidFill>
              </a:rPr>
              <a:t>VS</a:t>
            </a:r>
            <a:endParaRPr lang="en-US" sz="1300" dirty="0"/>
          </a:p>
        </p:txBody>
      </p:sp>
      <p:sp>
        <p:nvSpPr>
          <p:cNvPr id="20" name="Shape 18"/>
          <p:cNvSpPr/>
          <p:nvPr/>
        </p:nvSpPr>
        <p:spPr>
          <a:xfrm>
            <a:off x="182880" y="4069080"/>
            <a:ext cx="2011680" cy="914400"/>
          </a:xfrm>
          <a:prstGeom prst="roundRect">
            <a:avLst>
              <a:gd name="adj" fmla="val 8000"/>
            </a:avLst>
          </a:prstGeom>
          <a:solidFill>
            <a:srgbClr val="FFFFFF"/>
          </a:solidFill>
          <a:ln w="12700">
            <a:solidFill>
              <a:srgbClr val="0F6FE8"/>
            </a:solidFill>
            <a:prstDash val="solid"/>
          </a:ln>
          <a:effectLst>
            <a:outerShdw blurRad="152400" dist="50800" dir="2700000" algn="bl" rotWithShape="0">
              <a:srgbClr val="000000">
                <a:alpha val="8000"/>
              </a:srgbClr>
            </a:outerShdw>
          </a:effectLst>
        </p:spPr>
      </p:sp>
      <p:sp>
        <p:nvSpPr>
          <p:cNvPr id="21" name="Shape 19"/>
          <p:cNvSpPr/>
          <p:nvPr/>
        </p:nvSpPr>
        <p:spPr>
          <a:xfrm>
            <a:off x="182880" y="4069080"/>
            <a:ext cx="2011680" cy="329184"/>
          </a:xfrm>
          <a:prstGeom prst="roundRect">
            <a:avLst>
              <a:gd name="adj" fmla="val 22222"/>
            </a:avLst>
          </a:prstGeom>
          <a:solidFill>
            <a:srgbClr val="0F6FE8"/>
          </a:solidFill>
          <a:ln w="12700">
            <a:solidFill>
              <a:srgbClr val="0F6FE8"/>
            </a:solidFill>
            <a:prstDash val="solid"/>
          </a:ln>
        </p:spPr>
      </p:sp>
      <p:sp>
        <p:nvSpPr>
          <p:cNvPr id="22" name="Shape 20"/>
          <p:cNvSpPr/>
          <p:nvPr/>
        </p:nvSpPr>
        <p:spPr>
          <a:xfrm>
            <a:off x="182880" y="4233672"/>
            <a:ext cx="2011680" cy="164592"/>
          </a:xfrm>
          <a:prstGeom prst="rect">
            <a:avLst/>
          </a:prstGeom>
          <a:solidFill>
            <a:srgbClr val="0F6FE8"/>
          </a:solidFill>
          <a:ln w="12700">
            <a:solidFill>
              <a:srgbClr val="0F6FE8"/>
            </a:solidFill>
            <a:prstDash val="solid"/>
          </a:ln>
        </p:spPr>
      </p:sp>
      <p:sp>
        <p:nvSpPr>
          <p:cNvPr id="23" name="Text 21"/>
          <p:cNvSpPr/>
          <p:nvPr/>
        </p:nvSpPr>
        <p:spPr>
          <a:xfrm>
            <a:off x="274320" y="4087368"/>
            <a:ext cx="1828800" cy="310896"/>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Filter Early</a:t>
            </a:r>
            <a:endParaRPr lang="en-US" sz="1050" dirty="0"/>
          </a:p>
        </p:txBody>
      </p:sp>
      <p:sp>
        <p:nvSpPr>
          <p:cNvPr id="24" name="Text 22"/>
          <p:cNvSpPr/>
          <p:nvPr/>
        </p:nvSpPr>
        <p:spPr>
          <a:xfrm>
            <a:off x="274320" y="4434840"/>
            <a:ext cx="1828800"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First step = row filter to minimize data</a:t>
            </a:r>
            <a:endParaRPr lang="en-US" sz="900" dirty="0"/>
          </a:p>
        </p:txBody>
      </p:sp>
      <p:sp>
        <p:nvSpPr>
          <p:cNvPr id="25" name="Shape 23"/>
          <p:cNvSpPr/>
          <p:nvPr/>
        </p:nvSpPr>
        <p:spPr>
          <a:xfrm>
            <a:off x="2423160" y="4069080"/>
            <a:ext cx="2011680" cy="914400"/>
          </a:xfrm>
          <a:prstGeom prst="roundRect">
            <a:avLst>
              <a:gd name="adj" fmla="val 8000"/>
            </a:avLst>
          </a:prstGeom>
          <a:solidFill>
            <a:srgbClr val="FFFFFF"/>
          </a:solidFill>
          <a:ln w="12700">
            <a:solidFill>
              <a:srgbClr val="6C3BD5"/>
            </a:solidFill>
            <a:prstDash val="solid"/>
          </a:ln>
          <a:effectLst>
            <a:outerShdw blurRad="152400" dist="50800" dir="2700000" algn="bl" rotWithShape="0">
              <a:srgbClr val="000000">
                <a:alpha val="8000"/>
              </a:srgbClr>
            </a:outerShdw>
          </a:effectLst>
        </p:spPr>
      </p:sp>
      <p:sp>
        <p:nvSpPr>
          <p:cNvPr id="26" name="Shape 24"/>
          <p:cNvSpPr/>
          <p:nvPr/>
        </p:nvSpPr>
        <p:spPr>
          <a:xfrm>
            <a:off x="2423160" y="4069080"/>
            <a:ext cx="2011680" cy="329184"/>
          </a:xfrm>
          <a:prstGeom prst="roundRect">
            <a:avLst>
              <a:gd name="adj" fmla="val 22222"/>
            </a:avLst>
          </a:prstGeom>
          <a:solidFill>
            <a:srgbClr val="6C3BD5"/>
          </a:solidFill>
          <a:ln w="12700">
            <a:solidFill>
              <a:srgbClr val="6C3BD5"/>
            </a:solidFill>
            <a:prstDash val="solid"/>
          </a:ln>
        </p:spPr>
      </p:sp>
      <p:sp>
        <p:nvSpPr>
          <p:cNvPr id="27" name="Shape 25"/>
          <p:cNvSpPr/>
          <p:nvPr/>
        </p:nvSpPr>
        <p:spPr>
          <a:xfrm>
            <a:off x="2423160" y="4233672"/>
            <a:ext cx="2011680" cy="164592"/>
          </a:xfrm>
          <a:prstGeom prst="rect">
            <a:avLst/>
          </a:prstGeom>
          <a:solidFill>
            <a:srgbClr val="6C3BD5"/>
          </a:solidFill>
          <a:ln w="12700">
            <a:solidFill>
              <a:srgbClr val="6C3BD5"/>
            </a:solidFill>
            <a:prstDash val="solid"/>
          </a:ln>
        </p:spPr>
      </p:sp>
      <p:sp>
        <p:nvSpPr>
          <p:cNvPr id="28" name="Text 26"/>
          <p:cNvSpPr/>
          <p:nvPr/>
        </p:nvSpPr>
        <p:spPr>
          <a:xfrm>
            <a:off x="2514600" y="4087368"/>
            <a:ext cx="1828800" cy="310896"/>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Native Connectors</a:t>
            </a:r>
            <a:endParaRPr lang="en-US" sz="1050" dirty="0"/>
          </a:p>
        </p:txBody>
      </p:sp>
      <p:sp>
        <p:nvSpPr>
          <p:cNvPr id="29" name="Text 27"/>
          <p:cNvSpPr/>
          <p:nvPr/>
        </p:nvSpPr>
        <p:spPr>
          <a:xfrm>
            <a:off x="2514600" y="4434840"/>
            <a:ext cx="1828800"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Prefer SQL/native over generic ODBC</a:t>
            </a:r>
            <a:endParaRPr lang="en-US" sz="900" dirty="0"/>
          </a:p>
        </p:txBody>
      </p:sp>
      <p:sp>
        <p:nvSpPr>
          <p:cNvPr id="30" name="Shape 28"/>
          <p:cNvSpPr/>
          <p:nvPr/>
        </p:nvSpPr>
        <p:spPr>
          <a:xfrm>
            <a:off x="4663440" y="4069080"/>
            <a:ext cx="2011680" cy="914400"/>
          </a:xfrm>
          <a:prstGeom prst="roundRect">
            <a:avLst>
              <a:gd name="adj" fmla="val 8000"/>
            </a:avLst>
          </a:prstGeom>
          <a:solidFill>
            <a:srgbClr val="FFFFFF"/>
          </a:solidFill>
          <a:ln w="12700">
            <a:solidFill>
              <a:srgbClr val="0D9488"/>
            </a:solidFill>
            <a:prstDash val="solid"/>
          </a:ln>
          <a:effectLst>
            <a:outerShdw blurRad="152400" dist="50800" dir="2700000" algn="bl" rotWithShape="0">
              <a:srgbClr val="000000">
                <a:alpha val="8000"/>
              </a:srgbClr>
            </a:outerShdw>
          </a:effectLst>
        </p:spPr>
      </p:sp>
      <p:sp>
        <p:nvSpPr>
          <p:cNvPr id="31" name="Shape 29"/>
          <p:cNvSpPr/>
          <p:nvPr/>
        </p:nvSpPr>
        <p:spPr>
          <a:xfrm>
            <a:off x="4663440" y="4069080"/>
            <a:ext cx="2011680" cy="329184"/>
          </a:xfrm>
          <a:prstGeom prst="roundRect">
            <a:avLst>
              <a:gd name="adj" fmla="val 22222"/>
            </a:avLst>
          </a:prstGeom>
          <a:solidFill>
            <a:srgbClr val="0D9488"/>
          </a:solidFill>
          <a:ln w="12700">
            <a:solidFill>
              <a:srgbClr val="0D9488"/>
            </a:solidFill>
            <a:prstDash val="solid"/>
          </a:ln>
        </p:spPr>
      </p:sp>
      <p:sp>
        <p:nvSpPr>
          <p:cNvPr id="32" name="Shape 30"/>
          <p:cNvSpPr/>
          <p:nvPr/>
        </p:nvSpPr>
        <p:spPr>
          <a:xfrm>
            <a:off x="4663440" y="4233672"/>
            <a:ext cx="2011680" cy="164592"/>
          </a:xfrm>
          <a:prstGeom prst="rect">
            <a:avLst/>
          </a:prstGeom>
          <a:solidFill>
            <a:srgbClr val="0D9488"/>
          </a:solidFill>
          <a:ln w="12700">
            <a:solidFill>
              <a:srgbClr val="0D9488"/>
            </a:solidFill>
            <a:prstDash val="solid"/>
          </a:ln>
        </p:spPr>
      </p:sp>
      <p:sp>
        <p:nvSpPr>
          <p:cNvPr id="33" name="Text 31"/>
          <p:cNvSpPr/>
          <p:nvPr/>
        </p:nvSpPr>
        <p:spPr>
          <a:xfrm>
            <a:off x="4754880" y="4087368"/>
            <a:ext cx="1828800" cy="310896"/>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Check Folding</a:t>
            </a:r>
            <a:endParaRPr lang="en-US" sz="1050" dirty="0"/>
          </a:p>
        </p:txBody>
      </p:sp>
      <p:sp>
        <p:nvSpPr>
          <p:cNvPr id="34" name="Text 32"/>
          <p:cNvSpPr/>
          <p:nvPr/>
        </p:nvSpPr>
        <p:spPr>
          <a:xfrm>
            <a:off x="4754880" y="4434840"/>
            <a:ext cx="1828800"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Right-click step → View Native Query</a:t>
            </a:r>
            <a:endParaRPr lang="en-US" sz="900" dirty="0"/>
          </a:p>
        </p:txBody>
      </p:sp>
      <p:sp>
        <p:nvSpPr>
          <p:cNvPr id="35" name="Shape 33"/>
          <p:cNvSpPr/>
          <p:nvPr/>
        </p:nvSpPr>
        <p:spPr>
          <a:xfrm>
            <a:off x="6903720" y="4069080"/>
            <a:ext cx="2011680" cy="914400"/>
          </a:xfrm>
          <a:prstGeom prst="roundRect">
            <a:avLst>
              <a:gd name="adj" fmla="val 8000"/>
            </a:avLst>
          </a:prstGeom>
          <a:solidFill>
            <a:srgbClr val="FFFFFF"/>
          </a:solidFill>
          <a:ln w="12700">
            <a:solidFill>
              <a:srgbClr val="EA580C"/>
            </a:solidFill>
            <a:prstDash val="solid"/>
          </a:ln>
          <a:effectLst>
            <a:outerShdw blurRad="152400" dist="50800" dir="2700000" algn="bl" rotWithShape="0">
              <a:srgbClr val="000000">
                <a:alpha val="8000"/>
              </a:srgbClr>
            </a:outerShdw>
          </a:effectLst>
        </p:spPr>
      </p:sp>
      <p:sp>
        <p:nvSpPr>
          <p:cNvPr id="36" name="Shape 34"/>
          <p:cNvSpPr/>
          <p:nvPr/>
        </p:nvSpPr>
        <p:spPr>
          <a:xfrm>
            <a:off x="6903720" y="4069080"/>
            <a:ext cx="2011680" cy="329184"/>
          </a:xfrm>
          <a:prstGeom prst="roundRect">
            <a:avLst>
              <a:gd name="adj" fmla="val 22222"/>
            </a:avLst>
          </a:prstGeom>
          <a:solidFill>
            <a:srgbClr val="EA580C"/>
          </a:solidFill>
          <a:ln w="12700">
            <a:solidFill>
              <a:srgbClr val="EA580C"/>
            </a:solidFill>
            <a:prstDash val="solid"/>
          </a:ln>
        </p:spPr>
      </p:sp>
      <p:sp>
        <p:nvSpPr>
          <p:cNvPr id="37" name="Shape 35"/>
          <p:cNvSpPr/>
          <p:nvPr/>
        </p:nvSpPr>
        <p:spPr>
          <a:xfrm>
            <a:off x="6903720" y="4233672"/>
            <a:ext cx="2011680" cy="164592"/>
          </a:xfrm>
          <a:prstGeom prst="rect">
            <a:avLst/>
          </a:prstGeom>
          <a:solidFill>
            <a:srgbClr val="EA580C"/>
          </a:solidFill>
          <a:ln w="12700">
            <a:solidFill>
              <a:srgbClr val="EA580C"/>
            </a:solidFill>
            <a:prstDash val="solid"/>
          </a:ln>
        </p:spPr>
      </p:sp>
      <p:sp>
        <p:nvSpPr>
          <p:cNvPr id="38" name="Text 36"/>
          <p:cNvSpPr/>
          <p:nvPr/>
        </p:nvSpPr>
        <p:spPr>
          <a:xfrm>
            <a:off x="6995160" y="4087368"/>
            <a:ext cx="1828800" cy="310896"/>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Avoid Breaking Ops</a:t>
            </a:r>
            <a:endParaRPr lang="en-US" sz="1050" dirty="0"/>
          </a:p>
        </p:txBody>
      </p:sp>
      <p:sp>
        <p:nvSpPr>
          <p:cNvPr id="39" name="Text 37"/>
          <p:cNvSpPr/>
          <p:nvPr/>
        </p:nvSpPr>
        <p:spPr>
          <a:xfrm>
            <a:off x="6995160" y="4434840"/>
            <a:ext cx="1828800" cy="475488"/>
          </a:xfrm>
          <a:prstGeom prst="rect">
            <a:avLst/>
          </a:prstGeom>
          <a:noFill/>
          <a:ln/>
        </p:spPr>
        <p:txBody>
          <a:bodyPr wrap="square" rtlCol="0" anchor="ctr"/>
          <a:lstStyle/>
          <a:p>
            <a:pPr marL="0" indent="0">
              <a:lnSpc>
                <a:spcPct val="120000"/>
              </a:lnSpc>
              <a:buNone/>
            </a:pPr>
            <a:r>
              <a:rPr lang="en-US" sz="900" dirty="0">
                <a:solidFill>
                  <a:srgbClr val="4A4A6A"/>
                </a:solidFill>
                <a:latin typeface="Calibri" pitchFamily="34" charset="0"/>
                <a:ea typeface="Calibri" pitchFamily="34" charset="-122"/>
                <a:cs typeface="Calibri" pitchFamily="34" charset="-120"/>
              </a:rPr>
              <a:t>Some custom steps disable folding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DB2777"/>
          </a:solidFill>
          <a:ln w="12700">
            <a:solidFill>
              <a:srgbClr val="DB2777"/>
            </a:solidFill>
            <a:prstDash val="solid"/>
          </a:ln>
        </p:spPr>
      </p:sp>
      <p:sp>
        <p:nvSpPr>
          <p:cNvPr id="3" name="Text 1"/>
          <p:cNvSpPr/>
          <p:nvPr/>
        </p:nvSpPr>
        <p:spPr>
          <a:xfrm>
            <a:off x="365760" y="36576"/>
            <a:ext cx="8229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BEST PRACTICES &amp; REAL-WORLD APPLICATIONS</a:t>
            </a:r>
            <a:endParaRPr lang="en-US" sz="2200" dirty="0"/>
          </a:p>
        </p:txBody>
      </p:sp>
      <p:sp>
        <p:nvSpPr>
          <p:cNvPr id="4" name="Text 2"/>
          <p:cNvSpPr/>
          <p:nvPr/>
        </p:nvSpPr>
        <p:spPr>
          <a:xfrm>
            <a:off x="365760" y="548640"/>
            <a:ext cx="8229600" cy="384048"/>
          </a:xfrm>
          <a:prstGeom prst="rect">
            <a:avLst/>
          </a:prstGeom>
          <a:noFill/>
          <a:ln/>
        </p:spPr>
        <p:txBody>
          <a:bodyPr wrap="square" rtlCol="0" anchor="ctr"/>
          <a:lstStyle/>
          <a:p>
            <a:pPr marL="0" indent="0">
              <a:buNone/>
            </a:pPr>
            <a:r>
              <a:rPr lang="en-US" sz="1150" i="1" dirty="0">
                <a:solidFill>
                  <a:srgbClr val="FCE7F3"/>
                </a:solidFill>
                <a:latin typeface="Calibri" pitchFamily="34" charset="0"/>
                <a:ea typeface="Calibri" pitchFamily="34" charset="-122"/>
                <a:cs typeface="Calibri" pitchFamily="34" charset="-120"/>
              </a:rPr>
              <a:t>Production-grade Power Query for enterprise data workflows</a:t>
            </a:r>
            <a:endParaRPr lang="en-US" sz="1150" dirty="0"/>
          </a:p>
        </p:txBody>
      </p:sp>
      <p:sp>
        <p:nvSpPr>
          <p:cNvPr id="5" name="Shape 3"/>
          <p:cNvSpPr/>
          <p:nvPr/>
        </p:nvSpPr>
        <p:spPr>
          <a:xfrm>
            <a:off x="182880" y="1078992"/>
            <a:ext cx="2779776" cy="1307592"/>
          </a:xfrm>
          <a:prstGeom prst="roundRect">
            <a:avLst>
              <a:gd name="adj" fmla="val 6993"/>
            </a:avLst>
          </a:prstGeom>
          <a:solidFill>
            <a:srgbClr val="E0EFFF"/>
          </a:solidFill>
          <a:ln w="12700">
            <a:solidFill>
              <a:srgbClr val="E0EFFF"/>
            </a:solidFill>
            <a:prstDash val="solid"/>
          </a:ln>
          <a:effectLst>
            <a:outerShdw blurRad="152400" dist="50800" dir="2700000" algn="bl" rotWithShape="0">
              <a:srgbClr val="000000">
                <a:alpha val="8000"/>
              </a:srgbClr>
            </a:outerShdw>
          </a:effectLst>
        </p:spPr>
      </p:sp>
      <p:sp>
        <p:nvSpPr>
          <p:cNvPr id="6" name="Shape 4"/>
          <p:cNvSpPr/>
          <p:nvPr/>
        </p:nvSpPr>
        <p:spPr>
          <a:xfrm>
            <a:off x="292608" y="1188720"/>
            <a:ext cx="530352" cy="384048"/>
          </a:xfrm>
          <a:prstGeom prst="ellipse">
            <a:avLst/>
          </a:prstGeom>
          <a:solidFill>
            <a:srgbClr val="0F6FE8"/>
          </a:solidFill>
          <a:ln w="12700">
            <a:solidFill>
              <a:srgbClr val="0F6FE8"/>
            </a:solidFill>
            <a:prstDash val="solid"/>
          </a:ln>
        </p:spPr>
      </p:sp>
      <p:sp>
        <p:nvSpPr>
          <p:cNvPr id="7" name="Text 5"/>
          <p:cNvSpPr/>
          <p:nvPr/>
        </p:nvSpPr>
        <p:spPr>
          <a:xfrm>
            <a:off x="292608" y="118872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8" name="Text 6"/>
          <p:cNvSpPr/>
          <p:nvPr/>
        </p:nvSpPr>
        <p:spPr>
          <a:xfrm>
            <a:off x="914400" y="1207008"/>
            <a:ext cx="1965960" cy="365760"/>
          </a:xfrm>
          <a:prstGeom prst="rect">
            <a:avLst/>
          </a:prstGeom>
          <a:noFill/>
          <a:ln/>
        </p:spPr>
        <p:txBody>
          <a:bodyPr wrap="square" rtlCol="0" anchor="ctr"/>
          <a:lstStyle/>
          <a:p>
            <a:pPr marL="0" indent="0">
              <a:buNone/>
            </a:pPr>
            <a:r>
              <a:rPr lang="en-US" sz="1300" b="1" dirty="0">
                <a:solidFill>
                  <a:srgbClr val="0F6FE8"/>
                </a:solidFill>
                <a:latin typeface="Cambria" pitchFamily="34" charset="0"/>
                <a:ea typeface="Cambria" pitchFamily="34" charset="-122"/>
                <a:cs typeface="Cambria" pitchFamily="34" charset="-120"/>
              </a:rPr>
              <a:t>Filter Early</a:t>
            </a:r>
            <a:endParaRPr lang="en-US" sz="1300" dirty="0"/>
          </a:p>
        </p:txBody>
      </p:sp>
      <p:sp>
        <p:nvSpPr>
          <p:cNvPr id="9" name="Text 7"/>
          <p:cNvSpPr/>
          <p:nvPr/>
        </p:nvSpPr>
        <p:spPr>
          <a:xfrm>
            <a:off x="292608" y="167335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Apply row filters first to minimize memory load and keep query folding active.</a:t>
            </a:r>
            <a:endParaRPr lang="en-US" sz="950" dirty="0"/>
          </a:p>
        </p:txBody>
      </p:sp>
      <p:sp>
        <p:nvSpPr>
          <p:cNvPr id="10" name="Shape 8"/>
          <p:cNvSpPr/>
          <p:nvPr/>
        </p:nvSpPr>
        <p:spPr>
          <a:xfrm>
            <a:off x="3172968" y="1078992"/>
            <a:ext cx="2779776" cy="1307592"/>
          </a:xfrm>
          <a:prstGeom prst="roundRect">
            <a:avLst>
              <a:gd name="adj" fmla="val 6993"/>
            </a:avLst>
          </a:prstGeom>
          <a:solidFill>
            <a:srgbClr val="EDE9FF"/>
          </a:solidFill>
          <a:ln w="12700">
            <a:solidFill>
              <a:srgbClr val="EDE9FF"/>
            </a:solidFill>
            <a:prstDash val="solid"/>
          </a:ln>
          <a:effectLst>
            <a:outerShdw blurRad="152400" dist="50800" dir="2700000" algn="bl" rotWithShape="0">
              <a:srgbClr val="000000">
                <a:alpha val="8000"/>
              </a:srgbClr>
            </a:outerShdw>
          </a:effectLst>
        </p:spPr>
      </p:sp>
      <p:sp>
        <p:nvSpPr>
          <p:cNvPr id="11" name="Shape 9"/>
          <p:cNvSpPr/>
          <p:nvPr/>
        </p:nvSpPr>
        <p:spPr>
          <a:xfrm>
            <a:off x="3282696" y="1188720"/>
            <a:ext cx="530352" cy="384048"/>
          </a:xfrm>
          <a:prstGeom prst="ellipse">
            <a:avLst/>
          </a:prstGeom>
          <a:solidFill>
            <a:srgbClr val="6C3BD5"/>
          </a:solidFill>
          <a:ln w="12700">
            <a:solidFill>
              <a:srgbClr val="6C3BD5"/>
            </a:solidFill>
            <a:prstDash val="solid"/>
          </a:ln>
        </p:spPr>
      </p:sp>
      <p:sp>
        <p:nvSpPr>
          <p:cNvPr id="12" name="Text 10"/>
          <p:cNvSpPr/>
          <p:nvPr/>
        </p:nvSpPr>
        <p:spPr>
          <a:xfrm>
            <a:off x="3282696" y="118872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3" name="Text 11"/>
          <p:cNvSpPr/>
          <p:nvPr/>
        </p:nvSpPr>
        <p:spPr>
          <a:xfrm>
            <a:off x="3904488" y="1207008"/>
            <a:ext cx="1965960" cy="365760"/>
          </a:xfrm>
          <a:prstGeom prst="rect">
            <a:avLst/>
          </a:prstGeom>
          <a:noFill/>
          <a:ln/>
        </p:spPr>
        <p:txBody>
          <a:bodyPr wrap="square" rtlCol="0" anchor="ctr"/>
          <a:lstStyle/>
          <a:p>
            <a:pPr marL="0" indent="0">
              <a:buNone/>
            </a:pPr>
            <a:r>
              <a:rPr lang="en-US" sz="1300" b="1" dirty="0">
                <a:solidFill>
                  <a:srgbClr val="6C3BD5"/>
                </a:solidFill>
                <a:latin typeface="Cambria" pitchFamily="34" charset="0"/>
                <a:ea typeface="Cambria" pitchFamily="34" charset="-122"/>
                <a:cs typeface="Cambria" pitchFamily="34" charset="-120"/>
              </a:rPr>
              <a:t>Rename Steps</a:t>
            </a:r>
            <a:endParaRPr lang="en-US" sz="1300" dirty="0"/>
          </a:p>
        </p:txBody>
      </p:sp>
      <p:sp>
        <p:nvSpPr>
          <p:cNvPr id="14" name="Text 12"/>
          <p:cNvSpPr/>
          <p:nvPr/>
        </p:nvSpPr>
        <p:spPr>
          <a:xfrm>
            <a:off x="3282696" y="167335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Give every Applied Step a descriptive name so the pipeline is self-documenting.</a:t>
            </a:r>
            <a:endParaRPr lang="en-US" sz="950" dirty="0"/>
          </a:p>
        </p:txBody>
      </p:sp>
      <p:sp>
        <p:nvSpPr>
          <p:cNvPr id="15" name="Shape 13"/>
          <p:cNvSpPr/>
          <p:nvPr/>
        </p:nvSpPr>
        <p:spPr>
          <a:xfrm>
            <a:off x="6163056" y="1078992"/>
            <a:ext cx="2779776" cy="1307592"/>
          </a:xfrm>
          <a:prstGeom prst="roundRect">
            <a:avLst>
              <a:gd name="adj" fmla="val 6993"/>
            </a:avLst>
          </a:prstGeom>
          <a:solidFill>
            <a:srgbClr val="CCFBF1"/>
          </a:solidFill>
          <a:ln w="12700">
            <a:solidFill>
              <a:srgbClr val="CCFBF1"/>
            </a:solidFill>
            <a:prstDash val="solid"/>
          </a:ln>
          <a:effectLst>
            <a:outerShdw blurRad="152400" dist="50800" dir="2700000" algn="bl" rotWithShape="0">
              <a:srgbClr val="000000">
                <a:alpha val="8000"/>
              </a:srgbClr>
            </a:outerShdw>
          </a:effectLst>
        </p:spPr>
      </p:sp>
      <p:sp>
        <p:nvSpPr>
          <p:cNvPr id="16" name="Shape 14"/>
          <p:cNvSpPr/>
          <p:nvPr/>
        </p:nvSpPr>
        <p:spPr>
          <a:xfrm>
            <a:off x="6272784" y="1188720"/>
            <a:ext cx="530352" cy="384048"/>
          </a:xfrm>
          <a:prstGeom prst="ellipse">
            <a:avLst/>
          </a:prstGeom>
          <a:solidFill>
            <a:srgbClr val="0D9488"/>
          </a:solidFill>
          <a:ln w="12700">
            <a:solidFill>
              <a:srgbClr val="0D9488"/>
            </a:solidFill>
            <a:prstDash val="solid"/>
          </a:ln>
        </p:spPr>
      </p:sp>
      <p:sp>
        <p:nvSpPr>
          <p:cNvPr id="17" name="Text 15"/>
          <p:cNvSpPr/>
          <p:nvPr/>
        </p:nvSpPr>
        <p:spPr>
          <a:xfrm>
            <a:off x="6272784" y="118872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8" name="Text 16"/>
          <p:cNvSpPr/>
          <p:nvPr/>
        </p:nvSpPr>
        <p:spPr>
          <a:xfrm>
            <a:off x="6894576" y="1207008"/>
            <a:ext cx="1965960" cy="365760"/>
          </a:xfrm>
          <a:prstGeom prst="rect">
            <a:avLst/>
          </a:prstGeom>
          <a:noFill/>
          <a:ln/>
        </p:spPr>
        <p:txBody>
          <a:bodyPr wrap="square" rtlCol="0" anchor="ctr"/>
          <a:lstStyle/>
          <a:p>
            <a:pPr marL="0" indent="0">
              <a:buNone/>
            </a:pPr>
            <a:r>
              <a:rPr lang="en-US" sz="1300" b="1" dirty="0">
                <a:solidFill>
                  <a:srgbClr val="0D9488"/>
                </a:solidFill>
                <a:latin typeface="Cambria" pitchFamily="34" charset="0"/>
                <a:ea typeface="Cambria" pitchFamily="34" charset="-122"/>
                <a:cs typeface="Cambria" pitchFamily="34" charset="-120"/>
              </a:rPr>
              <a:t>Use Parameters</a:t>
            </a:r>
            <a:endParaRPr lang="en-US" sz="1300" dirty="0"/>
          </a:p>
        </p:txBody>
      </p:sp>
      <p:sp>
        <p:nvSpPr>
          <p:cNvPr id="19" name="Text 17"/>
          <p:cNvSpPr/>
          <p:nvPr/>
        </p:nvSpPr>
        <p:spPr>
          <a:xfrm>
            <a:off x="6272784" y="167335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Create query parameters for paths, dates, and server names — one change updates all.</a:t>
            </a:r>
            <a:endParaRPr lang="en-US" sz="950" dirty="0"/>
          </a:p>
        </p:txBody>
      </p:sp>
      <p:sp>
        <p:nvSpPr>
          <p:cNvPr id="20" name="Shape 18"/>
          <p:cNvSpPr/>
          <p:nvPr/>
        </p:nvSpPr>
        <p:spPr>
          <a:xfrm>
            <a:off x="182880" y="2496312"/>
            <a:ext cx="2779776" cy="1307592"/>
          </a:xfrm>
          <a:prstGeom prst="roundRect">
            <a:avLst>
              <a:gd name="adj" fmla="val 6993"/>
            </a:avLst>
          </a:prstGeom>
          <a:solidFill>
            <a:srgbClr val="FFF0E6"/>
          </a:solidFill>
          <a:ln w="12700">
            <a:solidFill>
              <a:srgbClr val="FFF0E6"/>
            </a:solidFill>
            <a:prstDash val="solid"/>
          </a:ln>
          <a:effectLst>
            <a:outerShdw blurRad="152400" dist="50800" dir="2700000" algn="bl" rotWithShape="0">
              <a:srgbClr val="000000">
                <a:alpha val="8000"/>
              </a:srgbClr>
            </a:outerShdw>
          </a:effectLst>
        </p:spPr>
      </p:sp>
      <p:sp>
        <p:nvSpPr>
          <p:cNvPr id="21" name="Shape 19"/>
          <p:cNvSpPr/>
          <p:nvPr/>
        </p:nvSpPr>
        <p:spPr>
          <a:xfrm>
            <a:off x="292608" y="2606040"/>
            <a:ext cx="530352" cy="384048"/>
          </a:xfrm>
          <a:prstGeom prst="ellipse">
            <a:avLst/>
          </a:prstGeom>
          <a:solidFill>
            <a:srgbClr val="EA580C"/>
          </a:solidFill>
          <a:ln w="12700">
            <a:solidFill>
              <a:srgbClr val="EA580C"/>
            </a:solidFill>
            <a:prstDash val="solid"/>
          </a:ln>
        </p:spPr>
      </p:sp>
      <p:sp>
        <p:nvSpPr>
          <p:cNvPr id="22" name="Text 20"/>
          <p:cNvSpPr/>
          <p:nvPr/>
        </p:nvSpPr>
        <p:spPr>
          <a:xfrm>
            <a:off x="292608" y="260604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3" name="Text 21"/>
          <p:cNvSpPr/>
          <p:nvPr/>
        </p:nvSpPr>
        <p:spPr>
          <a:xfrm>
            <a:off x="914400" y="2624328"/>
            <a:ext cx="1965960" cy="365760"/>
          </a:xfrm>
          <a:prstGeom prst="rect">
            <a:avLst/>
          </a:prstGeom>
          <a:noFill/>
          <a:ln/>
        </p:spPr>
        <p:txBody>
          <a:bodyPr wrap="square" rtlCol="0" anchor="ctr"/>
          <a:lstStyle/>
          <a:p>
            <a:pPr marL="0" indent="0">
              <a:buNone/>
            </a:pPr>
            <a:r>
              <a:rPr lang="en-US" sz="1300" b="1" dirty="0">
                <a:solidFill>
                  <a:srgbClr val="EA580C"/>
                </a:solidFill>
                <a:latin typeface="Cambria" pitchFamily="34" charset="0"/>
                <a:ea typeface="Cambria" pitchFamily="34" charset="-122"/>
                <a:cs typeface="Cambria" pitchFamily="34" charset="-120"/>
              </a:rPr>
              <a:t>Native Connectors</a:t>
            </a:r>
            <a:endParaRPr lang="en-US" sz="1300" dirty="0"/>
          </a:p>
        </p:txBody>
      </p:sp>
      <p:sp>
        <p:nvSpPr>
          <p:cNvPr id="24" name="Text 22"/>
          <p:cNvSpPr/>
          <p:nvPr/>
        </p:nvSpPr>
        <p:spPr>
          <a:xfrm>
            <a:off x="292608" y="309067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Prefer native DB connectors (SQL Server, PostgreSQL) over ODBC for better folding.</a:t>
            </a:r>
            <a:endParaRPr lang="en-US" sz="950" dirty="0"/>
          </a:p>
        </p:txBody>
      </p:sp>
      <p:sp>
        <p:nvSpPr>
          <p:cNvPr id="25" name="Shape 23"/>
          <p:cNvSpPr/>
          <p:nvPr/>
        </p:nvSpPr>
        <p:spPr>
          <a:xfrm>
            <a:off x="3172968" y="2496312"/>
            <a:ext cx="2779776" cy="1307592"/>
          </a:xfrm>
          <a:prstGeom prst="roundRect">
            <a:avLst>
              <a:gd name="adj" fmla="val 6993"/>
            </a:avLst>
          </a:prstGeom>
          <a:solidFill>
            <a:srgbClr val="FCE7F3"/>
          </a:solidFill>
          <a:ln w="12700">
            <a:solidFill>
              <a:srgbClr val="FCE7F3"/>
            </a:solidFill>
            <a:prstDash val="solid"/>
          </a:ln>
          <a:effectLst>
            <a:outerShdw blurRad="152400" dist="50800" dir="2700000" algn="bl" rotWithShape="0">
              <a:srgbClr val="000000">
                <a:alpha val="8000"/>
              </a:srgbClr>
            </a:outerShdw>
          </a:effectLst>
        </p:spPr>
      </p:sp>
      <p:sp>
        <p:nvSpPr>
          <p:cNvPr id="26" name="Shape 24"/>
          <p:cNvSpPr/>
          <p:nvPr/>
        </p:nvSpPr>
        <p:spPr>
          <a:xfrm>
            <a:off x="3282696" y="2606040"/>
            <a:ext cx="530352" cy="384048"/>
          </a:xfrm>
          <a:prstGeom prst="ellipse">
            <a:avLst/>
          </a:prstGeom>
          <a:solidFill>
            <a:srgbClr val="DB2777"/>
          </a:solidFill>
          <a:ln w="12700">
            <a:solidFill>
              <a:srgbClr val="DB2777"/>
            </a:solidFill>
            <a:prstDash val="solid"/>
          </a:ln>
        </p:spPr>
      </p:sp>
      <p:sp>
        <p:nvSpPr>
          <p:cNvPr id="27" name="Text 25"/>
          <p:cNvSpPr/>
          <p:nvPr/>
        </p:nvSpPr>
        <p:spPr>
          <a:xfrm>
            <a:off x="3282696" y="260604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8" name="Text 26"/>
          <p:cNvSpPr/>
          <p:nvPr/>
        </p:nvSpPr>
        <p:spPr>
          <a:xfrm>
            <a:off x="3904488" y="2624328"/>
            <a:ext cx="1965960" cy="365760"/>
          </a:xfrm>
          <a:prstGeom prst="rect">
            <a:avLst/>
          </a:prstGeom>
          <a:noFill/>
          <a:ln/>
        </p:spPr>
        <p:txBody>
          <a:bodyPr wrap="square" rtlCol="0" anchor="ctr"/>
          <a:lstStyle/>
          <a:p>
            <a:pPr marL="0" indent="0">
              <a:buNone/>
            </a:pPr>
            <a:r>
              <a:rPr lang="en-US" sz="1300" b="1" dirty="0">
                <a:solidFill>
                  <a:srgbClr val="DB2777"/>
                </a:solidFill>
                <a:latin typeface="Cambria" pitchFamily="34" charset="0"/>
                <a:ea typeface="Cambria" pitchFamily="34" charset="-122"/>
                <a:cs typeface="Cambria" pitchFamily="34" charset="-120"/>
              </a:rPr>
              <a:t>Disable Auto-Refresh</a:t>
            </a:r>
            <a:endParaRPr lang="en-US" sz="1300" dirty="0"/>
          </a:p>
        </p:txBody>
      </p:sp>
      <p:sp>
        <p:nvSpPr>
          <p:cNvPr id="29" name="Text 27"/>
          <p:cNvSpPr/>
          <p:nvPr/>
        </p:nvSpPr>
        <p:spPr>
          <a:xfrm>
            <a:off x="3282696" y="309067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Turn off background refresh during development to avoid accidental slow refreshes.</a:t>
            </a:r>
            <a:endParaRPr lang="en-US" sz="950" dirty="0"/>
          </a:p>
        </p:txBody>
      </p:sp>
      <p:sp>
        <p:nvSpPr>
          <p:cNvPr id="30" name="Shape 28"/>
          <p:cNvSpPr/>
          <p:nvPr/>
        </p:nvSpPr>
        <p:spPr>
          <a:xfrm>
            <a:off x="6163056" y="2496312"/>
            <a:ext cx="2779776" cy="1307592"/>
          </a:xfrm>
          <a:prstGeom prst="roundRect">
            <a:avLst>
              <a:gd name="adj" fmla="val 6993"/>
            </a:avLst>
          </a:prstGeom>
          <a:solidFill>
            <a:srgbClr val="E0E7FF"/>
          </a:solidFill>
          <a:ln w="12700">
            <a:solidFill>
              <a:srgbClr val="E0E7FF"/>
            </a:solidFill>
            <a:prstDash val="solid"/>
          </a:ln>
          <a:effectLst>
            <a:outerShdw blurRad="152400" dist="50800" dir="2700000" algn="bl" rotWithShape="0">
              <a:srgbClr val="000000">
                <a:alpha val="8000"/>
              </a:srgbClr>
            </a:outerShdw>
          </a:effectLst>
        </p:spPr>
      </p:sp>
      <p:sp>
        <p:nvSpPr>
          <p:cNvPr id="31" name="Shape 29"/>
          <p:cNvSpPr/>
          <p:nvPr/>
        </p:nvSpPr>
        <p:spPr>
          <a:xfrm>
            <a:off x="6272784" y="2606040"/>
            <a:ext cx="530352" cy="384048"/>
          </a:xfrm>
          <a:prstGeom prst="ellipse">
            <a:avLst/>
          </a:prstGeom>
          <a:solidFill>
            <a:srgbClr val="4338CA"/>
          </a:solidFill>
          <a:ln w="12700">
            <a:solidFill>
              <a:srgbClr val="4338CA"/>
            </a:solidFill>
            <a:prstDash val="solid"/>
          </a:ln>
        </p:spPr>
      </p:sp>
      <p:sp>
        <p:nvSpPr>
          <p:cNvPr id="32" name="Text 30"/>
          <p:cNvSpPr/>
          <p:nvPr/>
        </p:nvSpPr>
        <p:spPr>
          <a:xfrm>
            <a:off x="6272784" y="2606040"/>
            <a:ext cx="530352" cy="384048"/>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33" name="Text 31"/>
          <p:cNvSpPr/>
          <p:nvPr/>
        </p:nvSpPr>
        <p:spPr>
          <a:xfrm>
            <a:off x="6894576" y="2624328"/>
            <a:ext cx="1965960" cy="365760"/>
          </a:xfrm>
          <a:prstGeom prst="rect">
            <a:avLst/>
          </a:prstGeom>
          <a:noFill/>
          <a:ln/>
        </p:spPr>
        <p:txBody>
          <a:bodyPr wrap="square" rtlCol="0" anchor="ctr"/>
          <a:lstStyle/>
          <a:p>
            <a:pPr marL="0" indent="0">
              <a:buNone/>
            </a:pPr>
            <a:r>
              <a:rPr lang="en-US" sz="1300" b="1" dirty="0">
                <a:solidFill>
                  <a:srgbClr val="4338CA"/>
                </a:solidFill>
                <a:latin typeface="Cambria" pitchFamily="34" charset="0"/>
                <a:ea typeface="Cambria" pitchFamily="34" charset="-122"/>
                <a:cs typeface="Cambria" pitchFamily="34" charset="-120"/>
              </a:rPr>
              <a:t>Comment Your Code</a:t>
            </a:r>
            <a:endParaRPr lang="en-US" sz="1300" dirty="0"/>
          </a:p>
        </p:txBody>
      </p:sp>
      <p:sp>
        <p:nvSpPr>
          <p:cNvPr id="34" name="Text 32"/>
          <p:cNvSpPr/>
          <p:nvPr/>
        </p:nvSpPr>
        <p:spPr>
          <a:xfrm>
            <a:off x="6272784" y="3090672"/>
            <a:ext cx="2560320" cy="640080"/>
          </a:xfrm>
          <a:prstGeom prst="rect">
            <a:avLst/>
          </a:prstGeom>
          <a:noFill/>
          <a:ln/>
        </p:spPr>
        <p:txBody>
          <a:bodyPr wrap="square" rtlCol="0" anchor="ctr"/>
          <a:lstStyle/>
          <a:p>
            <a:pPr marL="0" indent="0">
              <a:lnSpc>
                <a:spcPct val="130000"/>
              </a:lnSpc>
              <a:buNone/>
            </a:pPr>
            <a:r>
              <a:rPr lang="en-US" sz="950" dirty="0">
                <a:solidFill>
                  <a:srgbClr val="4A4A6A"/>
                </a:solidFill>
                <a:latin typeface="Calibri" pitchFamily="34" charset="0"/>
                <a:ea typeface="Calibri" pitchFamily="34" charset="-122"/>
                <a:cs typeface="Calibri" pitchFamily="34" charset="-120"/>
              </a:rPr>
              <a:t>Use // M comments for complex logic. Future teammates will thank you.</a:t>
            </a:r>
            <a:endParaRPr lang="en-US" sz="950" dirty="0"/>
          </a:p>
        </p:txBody>
      </p:sp>
      <p:sp>
        <p:nvSpPr>
          <p:cNvPr id="35" name="Shape 33"/>
          <p:cNvSpPr/>
          <p:nvPr/>
        </p:nvSpPr>
        <p:spPr>
          <a:xfrm>
            <a:off x="182880" y="4005072"/>
            <a:ext cx="8778240" cy="960120"/>
          </a:xfrm>
          <a:prstGeom prst="roundRect">
            <a:avLst>
              <a:gd name="adj" fmla="val 7619"/>
            </a:avLst>
          </a:prstGeom>
          <a:solidFill>
            <a:srgbClr val="F0F2F5"/>
          </a:solidFill>
          <a:ln w="12700">
            <a:solidFill>
              <a:srgbClr val="F0F2F5"/>
            </a:solidFill>
            <a:prstDash val="solid"/>
          </a:ln>
          <a:effectLst>
            <a:outerShdw blurRad="152400" dist="50800" dir="2700000" algn="bl" rotWithShape="0">
              <a:srgbClr val="000000">
                <a:alpha val="8000"/>
              </a:srgbClr>
            </a:outerShdw>
          </a:effectLst>
        </p:spPr>
        <p:txBody>
          <a:bodyPr/>
          <a:lstStyle/>
          <a:p>
            <a:endParaRPr lang="en-IN" dirty="0"/>
          </a:p>
        </p:txBody>
      </p:sp>
      <p:sp>
        <p:nvSpPr>
          <p:cNvPr id="36" name="Text 34"/>
          <p:cNvSpPr/>
          <p:nvPr/>
        </p:nvSpPr>
        <p:spPr>
          <a:xfrm>
            <a:off x="320040" y="4069080"/>
            <a:ext cx="2011680" cy="347472"/>
          </a:xfrm>
          <a:prstGeom prst="rect">
            <a:avLst/>
          </a:prstGeom>
          <a:noFill/>
          <a:ln/>
        </p:spPr>
        <p:txBody>
          <a:bodyPr wrap="square" rtlCol="0" anchor="ctr"/>
          <a:lstStyle/>
          <a:p>
            <a:pPr marL="0" indent="0">
              <a:buNone/>
            </a:pPr>
            <a:r>
              <a:rPr lang="en-US" sz="1100" b="1" dirty="0">
                <a:solidFill>
                  <a:srgbClr val="1A1A2E"/>
                </a:solidFill>
                <a:latin typeface="Cambria" pitchFamily="34" charset="0"/>
                <a:ea typeface="Cambria" pitchFamily="34" charset="-122"/>
                <a:cs typeface="Cambria" pitchFamily="34" charset="-120"/>
              </a:rPr>
              <a:t>INDUSTRY APPLICATIONS</a:t>
            </a:r>
            <a:endParaRPr lang="en-US" sz="1100" dirty="0"/>
          </a:p>
        </p:txBody>
      </p:sp>
      <p:sp>
        <p:nvSpPr>
          <p:cNvPr id="37" name="Shape 35"/>
          <p:cNvSpPr/>
          <p:nvPr/>
        </p:nvSpPr>
        <p:spPr>
          <a:xfrm>
            <a:off x="2286000" y="4069080"/>
            <a:ext cx="1572768" cy="822960"/>
          </a:xfrm>
          <a:prstGeom prst="roundRect">
            <a:avLst>
              <a:gd name="adj" fmla="val 6667"/>
            </a:avLst>
          </a:prstGeom>
          <a:solidFill>
            <a:srgbClr val="0F6FE8"/>
          </a:solidFill>
          <a:ln w="12700">
            <a:solidFill>
              <a:srgbClr val="0F6FE8"/>
            </a:solidFill>
            <a:prstDash val="solid"/>
          </a:ln>
          <a:effectLst>
            <a:outerShdw blurRad="127000" dist="38100" dir="2700000" algn="bl" rotWithShape="0">
              <a:srgbClr val="000000">
                <a:alpha val="9000"/>
              </a:srgbClr>
            </a:outerShdw>
          </a:effectLst>
        </p:spPr>
      </p:sp>
      <p:sp>
        <p:nvSpPr>
          <p:cNvPr id="38" name="Text 36"/>
          <p:cNvSpPr/>
          <p:nvPr/>
        </p:nvSpPr>
        <p:spPr>
          <a:xfrm>
            <a:off x="2359152" y="4096512"/>
            <a:ext cx="1426464"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Sales</a:t>
            </a:r>
            <a:endParaRPr lang="en-US" sz="1050" dirty="0"/>
          </a:p>
        </p:txBody>
      </p:sp>
      <p:sp>
        <p:nvSpPr>
          <p:cNvPr id="39" name="Text 37"/>
          <p:cNvSpPr/>
          <p:nvPr/>
        </p:nvSpPr>
        <p:spPr>
          <a:xfrm>
            <a:off x="2359152" y="4370832"/>
            <a:ext cx="1426464" cy="475488"/>
          </a:xfrm>
          <a:prstGeom prst="rect">
            <a:avLst/>
          </a:prstGeom>
          <a:noFill/>
          <a:ln/>
        </p:spPr>
        <p:txBody>
          <a:bodyPr wrap="square" rtlCol="0" anchor="ctr"/>
          <a:lstStyle/>
          <a:p>
            <a:pPr marL="0" indent="0">
              <a:lnSpc>
                <a:spcPct val="120000"/>
              </a:lnSpc>
              <a:buNone/>
            </a:pPr>
            <a:r>
              <a:rPr lang="en-US" sz="800" dirty="0">
                <a:solidFill>
                  <a:srgbClr val="EEF0FF"/>
                </a:solidFill>
                <a:latin typeface="Calibri" pitchFamily="34" charset="0"/>
                <a:ea typeface="Calibri" pitchFamily="34" charset="-122"/>
                <a:cs typeface="Calibri" pitchFamily="34" charset="-120"/>
              </a:rPr>
              <a:t>Pipeline tracking, quota vs actual, territory rollups</a:t>
            </a:r>
            <a:endParaRPr lang="en-US" sz="800" dirty="0"/>
          </a:p>
        </p:txBody>
      </p:sp>
      <p:sp>
        <p:nvSpPr>
          <p:cNvPr id="40" name="Shape 38"/>
          <p:cNvSpPr/>
          <p:nvPr/>
        </p:nvSpPr>
        <p:spPr>
          <a:xfrm>
            <a:off x="3950208" y="4069080"/>
            <a:ext cx="1572768" cy="822960"/>
          </a:xfrm>
          <a:prstGeom prst="roundRect">
            <a:avLst>
              <a:gd name="adj" fmla="val 6667"/>
            </a:avLst>
          </a:prstGeom>
          <a:solidFill>
            <a:srgbClr val="059669"/>
          </a:solidFill>
          <a:ln w="12700">
            <a:solidFill>
              <a:srgbClr val="059669"/>
            </a:solidFill>
            <a:prstDash val="solid"/>
          </a:ln>
          <a:effectLst>
            <a:outerShdw blurRad="127000" dist="38100" dir="2700000" algn="bl" rotWithShape="0">
              <a:srgbClr val="000000">
                <a:alpha val="9000"/>
              </a:srgbClr>
            </a:outerShdw>
          </a:effectLst>
        </p:spPr>
      </p:sp>
      <p:sp>
        <p:nvSpPr>
          <p:cNvPr id="41" name="Text 39"/>
          <p:cNvSpPr/>
          <p:nvPr/>
        </p:nvSpPr>
        <p:spPr>
          <a:xfrm>
            <a:off x="4023360" y="4096512"/>
            <a:ext cx="1426464"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Finance</a:t>
            </a:r>
            <a:endParaRPr lang="en-US" sz="1050" dirty="0"/>
          </a:p>
        </p:txBody>
      </p:sp>
      <p:sp>
        <p:nvSpPr>
          <p:cNvPr id="42" name="Text 40"/>
          <p:cNvSpPr/>
          <p:nvPr/>
        </p:nvSpPr>
        <p:spPr>
          <a:xfrm>
            <a:off x="4023360" y="4370832"/>
            <a:ext cx="1426464" cy="475488"/>
          </a:xfrm>
          <a:prstGeom prst="rect">
            <a:avLst/>
          </a:prstGeom>
          <a:noFill/>
          <a:ln/>
        </p:spPr>
        <p:txBody>
          <a:bodyPr wrap="square" rtlCol="0" anchor="ctr"/>
          <a:lstStyle/>
          <a:p>
            <a:pPr marL="0" indent="0">
              <a:lnSpc>
                <a:spcPct val="120000"/>
              </a:lnSpc>
              <a:buNone/>
            </a:pPr>
            <a:r>
              <a:rPr lang="en-US" sz="800" dirty="0">
                <a:solidFill>
                  <a:srgbClr val="EEF0FF"/>
                </a:solidFill>
                <a:latin typeface="Calibri" pitchFamily="34" charset="0"/>
                <a:ea typeface="Calibri" pitchFamily="34" charset="-122"/>
                <a:cs typeface="Calibri" pitchFamily="34" charset="-120"/>
              </a:rPr>
              <a:t>GL consolidation, budget vs actual, FX currency</a:t>
            </a:r>
            <a:endParaRPr lang="en-US" sz="800" dirty="0"/>
          </a:p>
        </p:txBody>
      </p:sp>
      <p:sp>
        <p:nvSpPr>
          <p:cNvPr id="43" name="Shape 41"/>
          <p:cNvSpPr/>
          <p:nvPr/>
        </p:nvSpPr>
        <p:spPr>
          <a:xfrm>
            <a:off x="5614416" y="4069080"/>
            <a:ext cx="1572768" cy="822960"/>
          </a:xfrm>
          <a:prstGeom prst="roundRect">
            <a:avLst>
              <a:gd name="adj" fmla="val 6667"/>
            </a:avLst>
          </a:prstGeom>
          <a:solidFill>
            <a:srgbClr val="EA580C"/>
          </a:solidFill>
          <a:ln w="12700">
            <a:solidFill>
              <a:srgbClr val="EA580C"/>
            </a:solidFill>
            <a:prstDash val="solid"/>
          </a:ln>
          <a:effectLst>
            <a:outerShdw blurRad="127000" dist="38100" dir="2700000" algn="bl" rotWithShape="0">
              <a:srgbClr val="000000">
                <a:alpha val="9000"/>
              </a:srgbClr>
            </a:outerShdw>
          </a:effectLst>
        </p:spPr>
      </p:sp>
      <p:sp>
        <p:nvSpPr>
          <p:cNvPr id="44" name="Text 42"/>
          <p:cNvSpPr/>
          <p:nvPr/>
        </p:nvSpPr>
        <p:spPr>
          <a:xfrm>
            <a:off x="5687568" y="4096512"/>
            <a:ext cx="1426464"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Operations</a:t>
            </a:r>
            <a:endParaRPr lang="en-US" sz="1050" dirty="0"/>
          </a:p>
        </p:txBody>
      </p:sp>
      <p:sp>
        <p:nvSpPr>
          <p:cNvPr id="45" name="Text 43"/>
          <p:cNvSpPr/>
          <p:nvPr/>
        </p:nvSpPr>
        <p:spPr>
          <a:xfrm>
            <a:off x="5687568" y="4370832"/>
            <a:ext cx="1426464" cy="475488"/>
          </a:xfrm>
          <a:prstGeom prst="rect">
            <a:avLst/>
          </a:prstGeom>
          <a:noFill/>
          <a:ln/>
        </p:spPr>
        <p:txBody>
          <a:bodyPr wrap="square" rtlCol="0" anchor="ctr"/>
          <a:lstStyle/>
          <a:p>
            <a:pPr marL="0" indent="0">
              <a:lnSpc>
                <a:spcPct val="120000"/>
              </a:lnSpc>
              <a:buNone/>
            </a:pPr>
            <a:r>
              <a:rPr lang="en-US" sz="800" dirty="0">
                <a:solidFill>
                  <a:srgbClr val="EEF0FF"/>
                </a:solidFill>
                <a:latin typeface="Calibri" pitchFamily="34" charset="0"/>
                <a:ea typeface="Calibri" pitchFamily="34" charset="-122"/>
                <a:cs typeface="Calibri" pitchFamily="34" charset="-120"/>
              </a:rPr>
              <a:t>Inventory reconciliation, supply chain KPIs</a:t>
            </a:r>
            <a:endParaRPr lang="en-US" sz="800" dirty="0"/>
          </a:p>
        </p:txBody>
      </p:sp>
      <p:sp>
        <p:nvSpPr>
          <p:cNvPr id="46" name="Shape 44"/>
          <p:cNvSpPr/>
          <p:nvPr/>
        </p:nvSpPr>
        <p:spPr>
          <a:xfrm>
            <a:off x="7278624" y="4069080"/>
            <a:ext cx="1572768" cy="822960"/>
          </a:xfrm>
          <a:prstGeom prst="roundRect">
            <a:avLst>
              <a:gd name="adj" fmla="val 6667"/>
            </a:avLst>
          </a:prstGeom>
          <a:solidFill>
            <a:srgbClr val="6C3BD5"/>
          </a:solidFill>
          <a:ln w="12700">
            <a:solidFill>
              <a:srgbClr val="6C3BD5"/>
            </a:solidFill>
            <a:prstDash val="solid"/>
          </a:ln>
          <a:effectLst>
            <a:outerShdw blurRad="127000" dist="38100" dir="2700000" algn="bl" rotWithShape="0">
              <a:srgbClr val="000000">
                <a:alpha val="9000"/>
              </a:srgbClr>
            </a:outerShdw>
          </a:effectLst>
        </p:spPr>
      </p:sp>
      <p:sp>
        <p:nvSpPr>
          <p:cNvPr id="47" name="Text 45"/>
          <p:cNvSpPr/>
          <p:nvPr/>
        </p:nvSpPr>
        <p:spPr>
          <a:xfrm>
            <a:off x="7351776" y="4096512"/>
            <a:ext cx="1426464" cy="27432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Reporting</a:t>
            </a:r>
            <a:endParaRPr lang="en-US" sz="1050" dirty="0"/>
          </a:p>
        </p:txBody>
      </p:sp>
      <p:sp>
        <p:nvSpPr>
          <p:cNvPr id="48" name="Text 46"/>
          <p:cNvSpPr/>
          <p:nvPr/>
        </p:nvSpPr>
        <p:spPr>
          <a:xfrm>
            <a:off x="7351776" y="4370832"/>
            <a:ext cx="1426464" cy="475488"/>
          </a:xfrm>
          <a:prstGeom prst="rect">
            <a:avLst/>
          </a:prstGeom>
          <a:noFill/>
          <a:ln/>
        </p:spPr>
        <p:txBody>
          <a:bodyPr wrap="square" rtlCol="0" anchor="ctr"/>
          <a:lstStyle/>
          <a:p>
            <a:pPr marL="0" indent="0">
              <a:lnSpc>
                <a:spcPct val="120000"/>
              </a:lnSpc>
              <a:buNone/>
            </a:pPr>
            <a:r>
              <a:rPr lang="en-US" sz="800" dirty="0">
                <a:solidFill>
                  <a:srgbClr val="EEF0FF"/>
                </a:solidFill>
                <a:latin typeface="Calibri" pitchFamily="34" charset="0"/>
                <a:ea typeface="Calibri" pitchFamily="34" charset="-122"/>
                <a:cs typeface="Calibri" pitchFamily="34" charset="-120"/>
              </a:rPr>
              <a:t>Executive dashboards, automated monthly packs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06286" cy="164592"/>
          </a:xfrm>
          <a:prstGeom prst="rect">
            <a:avLst/>
          </a:prstGeom>
          <a:solidFill>
            <a:srgbClr val="6C3BD5"/>
          </a:solidFill>
          <a:ln w="12700">
            <a:solidFill>
              <a:srgbClr val="6C3BD5"/>
            </a:solidFill>
            <a:prstDash val="solid"/>
          </a:ln>
        </p:spPr>
      </p:sp>
      <p:sp>
        <p:nvSpPr>
          <p:cNvPr id="3" name="Shape 1"/>
          <p:cNvSpPr/>
          <p:nvPr/>
        </p:nvSpPr>
        <p:spPr>
          <a:xfrm>
            <a:off x="1306286" y="0"/>
            <a:ext cx="1306286" cy="164592"/>
          </a:xfrm>
          <a:prstGeom prst="rect">
            <a:avLst/>
          </a:prstGeom>
          <a:solidFill>
            <a:srgbClr val="0F6FE8"/>
          </a:solidFill>
          <a:ln w="12700">
            <a:solidFill>
              <a:srgbClr val="0F6FE8"/>
            </a:solidFill>
            <a:prstDash val="solid"/>
          </a:ln>
        </p:spPr>
      </p:sp>
      <p:sp>
        <p:nvSpPr>
          <p:cNvPr id="4" name="Shape 2"/>
          <p:cNvSpPr/>
          <p:nvPr/>
        </p:nvSpPr>
        <p:spPr>
          <a:xfrm>
            <a:off x="2612571" y="0"/>
            <a:ext cx="1306286" cy="164592"/>
          </a:xfrm>
          <a:prstGeom prst="rect">
            <a:avLst/>
          </a:prstGeom>
          <a:solidFill>
            <a:srgbClr val="0D9488"/>
          </a:solidFill>
          <a:ln w="12700">
            <a:solidFill>
              <a:srgbClr val="0D9488"/>
            </a:solidFill>
            <a:prstDash val="solid"/>
          </a:ln>
        </p:spPr>
      </p:sp>
      <p:sp>
        <p:nvSpPr>
          <p:cNvPr id="5" name="Shape 3"/>
          <p:cNvSpPr/>
          <p:nvPr/>
        </p:nvSpPr>
        <p:spPr>
          <a:xfrm>
            <a:off x="3918857" y="0"/>
            <a:ext cx="1306286" cy="164592"/>
          </a:xfrm>
          <a:prstGeom prst="rect">
            <a:avLst/>
          </a:prstGeom>
          <a:solidFill>
            <a:srgbClr val="059669"/>
          </a:solidFill>
          <a:ln w="12700">
            <a:solidFill>
              <a:srgbClr val="059669"/>
            </a:solidFill>
            <a:prstDash val="solid"/>
          </a:ln>
        </p:spPr>
      </p:sp>
      <p:sp>
        <p:nvSpPr>
          <p:cNvPr id="6" name="Shape 4"/>
          <p:cNvSpPr/>
          <p:nvPr/>
        </p:nvSpPr>
        <p:spPr>
          <a:xfrm>
            <a:off x="5225143" y="0"/>
            <a:ext cx="1306286" cy="164592"/>
          </a:xfrm>
          <a:prstGeom prst="rect">
            <a:avLst/>
          </a:prstGeom>
          <a:solidFill>
            <a:srgbClr val="D97706"/>
          </a:solidFill>
          <a:ln w="12700">
            <a:solidFill>
              <a:srgbClr val="D97706"/>
            </a:solidFill>
            <a:prstDash val="solid"/>
          </a:ln>
        </p:spPr>
      </p:sp>
      <p:sp>
        <p:nvSpPr>
          <p:cNvPr id="7" name="Shape 5"/>
          <p:cNvSpPr/>
          <p:nvPr/>
        </p:nvSpPr>
        <p:spPr>
          <a:xfrm>
            <a:off x="6531429" y="0"/>
            <a:ext cx="1306286" cy="164592"/>
          </a:xfrm>
          <a:prstGeom prst="rect">
            <a:avLst/>
          </a:prstGeom>
          <a:solidFill>
            <a:srgbClr val="EA580C"/>
          </a:solidFill>
          <a:ln w="12700">
            <a:solidFill>
              <a:srgbClr val="EA580C"/>
            </a:solidFill>
            <a:prstDash val="solid"/>
          </a:ln>
        </p:spPr>
      </p:sp>
      <p:sp>
        <p:nvSpPr>
          <p:cNvPr id="8" name="Shape 6"/>
          <p:cNvSpPr/>
          <p:nvPr/>
        </p:nvSpPr>
        <p:spPr>
          <a:xfrm>
            <a:off x="7837714" y="0"/>
            <a:ext cx="1306286" cy="164592"/>
          </a:xfrm>
          <a:prstGeom prst="rect">
            <a:avLst/>
          </a:prstGeom>
          <a:solidFill>
            <a:srgbClr val="DB2777"/>
          </a:solidFill>
          <a:ln w="12700">
            <a:solidFill>
              <a:srgbClr val="DB2777"/>
            </a:solidFill>
            <a:prstDash val="solid"/>
          </a:ln>
        </p:spPr>
      </p:sp>
      <p:sp>
        <p:nvSpPr>
          <p:cNvPr id="9" name="Text 7"/>
          <p:cNvSpPr/>
          <p:nvPr/>
        </p:nvSpPr>
        <p:spPr>
          <a:xfrm>
            <a:off x="365760" y="274320"/>
            <a:ext cx="8412480" cy="566928"/>
          </a:xfrm>
          <a:prstGeom prst="rect">
            <a:avLst/>
          </a:prstGeom>
          <a:noFill/>
          <a:ln/>
        </p:spPr>
        <p:txBody>
          <a:bodyPr wrap="square" rtlCol="0" anchor="ctr"/>
          <a:lstStyle/>
          <a:p>
            <a:pPr marL="0" indent="0">
              <a:buNone/>
            </a:pPr>
            <a:r>
              <a:rPr lang="en-US" sz="3000" b="1" dirty="0">
                <a:solidFill>
                  <a:srgbClr val="1A1A2E"/>
                </a:solidFill>
                <a:latin typeface="Cambria" pitchFamily="34" charset="0"/>
                <a:ea typeface="Cambria" pitchFamily="34" charset="-122"/>
                <a:cs typeface="Cambria" pitchFamily="34" charset="-120"/>
              </a:rPr>
              <a:t>KEY TAKEAWAYS &amp;</a:t>
            </a:r>
            <a:endParaRPr lang="en-US" sz="3000" dirty="0"/>
          </a:p>
        </p:txBody>
      </p:sp>
      <p:sp>
        <p:nvSpPr>
          <p:cNvPr id="10" name="Text 8"/>
          <p:cNvSpPr/>
          <p:nvPr/>
        </p:nvSpPr>
        <p:spPr>
          <a:xfrm>
            <a:off x="365760" y="804672"/>
            <a:ext cx="8412480" cy="621792"/>
          </a:xfrm>
          <a:prstGeom prst="rect">
            <a:avLst/>
          </a:prstGeom>
          <a:noFill/>
          <a:ln/>
        </p:spPr>
        <p:txBody>
          <a:bodyPr wrap="square" rtlCol="0" anchor="ctr"/>
          <a:lstStyle/>
          <a:p>
            <a:pPr marL="0" indent="0">
              <a:buNone/>
            </a:pPr>
            <a:r>
              <a:rPr lang="en-US" sz="4200" b="1" dirty="0">
                <a:solidFill>
                  <a:srgbClr val="6C3BD5"/>
                </a:solidFill>
                <a:latin typeface="Cambria" pitchFamily="34" charset="0"/>
                <a:ea typeface="Cambria" pitchFamily="34" charset="-122"/>
                <a:cs typeface="Cambria" pitchFamily="34" charset="-120"/>
              </a:rPr>
              <a:t>NEXT STEPS</a:t>
            </a:r>
            <a:endParaRPr lang="en-US" sz="4200" dirty="0"/>
          </a:p>
        </p:txBody>
      </p:sp>
      <p:sp>
        <p:nvSpPr>
          <p:cNvPr id="11" name="Shape 9"/>
          <p:cNvSpPr/>
          <p:nvPr/>
        </p:nvSpPr>
        <p:spPr>
          <a:xfrm>
            <a:off x="365760" y="1481328"/>
            <a:ext cx="1201783" cy="54864"/>
          </a:xfrm>
          <a:prstGeom prst="rect">
            <a:avLst/>
          </a:prstGeom>
          <a:solidFill>
            <a:srgbClr val="6C3BD5"/>
          </a:solidFill>
          <a:ln w="12700">
            <a:solidFill>
              <a:srgbClr val="6C3BD5"/>
            </a:solidFill>
            <a:prstDash val="solid"/>
          </a:ln>
        </p:spPr>
      </p:sp>
      <p:sp>
        <p:nvSpPr>
          <p:cNvPr id="12" name="Shape 10"/>
          <p:cNvSpPr/>
          <p:nvPr/>
        </p:nvSpPr>
        <p:spPr>
          <a:xfrm>
            <a:off x="1567543" y="1481328"/>
            <a:ext cx="1201783" cy="54864"/>
          </a:xfrm>
          <a:prstGeom prst="rect">
            <a:avLst/>
          </a:prstGeom>
          <a:solidFill>
            <a:srgbClr val="0F6FE8"/>
          </a:solidFill>
          <a:ln w="12700">
            <a:solidFill>
              <a:srgbClr val="0F6FE8"/>
            </a:solidFill>
            <a:prstDash val="solid"/>
          </a:ln>
        </p:spPr>
      </p:sp>
      <p:sp>
        <p:nvSpPr>
          <p:cNvPr id="13" name="Shape 11"/>
          <p:cNvSpPr/>
          <p:nvPr/>
        </p:nvSpPr>
        <p:spPr>
          <a:xfrm>
            <a:off x="2769326" y="1481328"/>
            <a:ext cx="1201783" cy="54864"/>
          </a:xfrm>
          <a:prstGeom prst="rect">
            <a:avLst/>
          </a:prstGeom>
          <a:solidFill>
            <a:srgbClr val="0D9488"/>
          </a:solidFill>
          <a:ln w="12700">
            <a:solidFill>
              <a:srgbClr val="0D9488"/>
            </a:solidFill>
            <a:prstDash val="solid"/>
          </a:ln>
        </p:spPr>
      </p:sp>
      <p:sp>
        <p:nvSpPr>
          <p:cNvPr id="14" name="Shape 12"/>
          <p:cNvSpPr/>
          <p:nvPr/>
        </p:nvSpPr>
        <p:spPr>
          <a:xfrm>
            <a:off x="3971109" y="1481328"/>
            <a:ext cx="1201783" cy="54864"/>
          </a:xfrm>
          <a:prstGeom prst="rect">
            <a:avLst/>
          </a:prstGeom>
          <a:solidFill>
            <a:srgbClr val="059669"/>
          </a:solidFill>
          <a:ln w="12700">
            <a:solidFill>
              <a:srgbClr val="059669"/>
            </a:solidFill>
            <a:prstDash val="solid"/>
          </a:ln>
        </p:spPr>
      </p:sp>
      <p:sp>
        <p:nvSpPr>
          <p:cNvPr id="15" name="Shape 13"/>
          <p:cNvSpPr/>
          <p:nvPr/>
        </p:nvSpPr>
        <p:spPr>
          <a:xfrm>
            <a:off x="5172891" y="1481328"/>
            <a:ext cx="1201783" cy="54864"/>
          </a:xfrm>
          <a:prstGeom prst="rect">
            <a:avLst/>
          </a:prstGeom>
          <a:solidFill>
            <a:srgbClr val="D97706"/>
          </a:solidFill>
          <a:ln w="12700">
            <a:solidFill>
              <a:srgbClr val="D97706"/>
            </a:solidFill>
            <a:prstDash val="solid"/>
          </a:ln>
        </p:spPr>
      </p:sp>
      <p:sp>
        <p:nvSpPr>
          <p:cNvPr id="16" name="Shape 14"/>
          <p:cNvSpPr/>
          <p:nvPr/>
        </p:nvSpPr>
        <p:spPr>
          <a:xfrm>
            <a:off x="6374674" y="1481328"/>
            <a:ext cx="1201783" cy="54864"/>
          </a:xfrm>
          <a:prstGeom prst="rect">
            <a:avLst/>
          </a:prstGeom>
          <a:solidFill>
            <a:srgbClr val="EA580C"/>
          </a:solidFill>
          <a:ln w="12700">
            <a:solidFill>
              <a:srgbClr val="EA580C"/>
            </a:solidFill>
            <a:prstDash val="solid"/>
          </a:ln>
        </p:spPr>
      </p:sp>
      <p:sp>
        <p:nvSpPr>
          <p:cNvPr id="17" name="Shape 15"/>
          <p:cNvSpPr/>
          <p:nvPr/>
        </p:nvSpPr>
        <p:spPr>
          <a:xfrm>
            <a:off x="7576457" y="1481328"/>
            <a:ext cx="1201783" cy="54864"/>
          </a:xfrm>
          <a:prstGeom prst="rect">
            <a:avLst/>
          </a:prstGeom>
          <a:solidFill>
            <a:srgbClr val="DB2777"/>
          </a:solidFill>
          <a:ln w="12700">
            <a:solidFill>
              <a:srgbClr val="DB2777"/>
            </a:solidFill>
            <a:prstDash val="solid"/>
          </a:ln>
        </p:spPr>
      </p:sp>
      <p:sp>
        <p:nvSpPr>
          <p:cNvPr id="18" name="Shape 16"/>
          <p:cNvSpPr/>
          <p:nvPr/>
        </p:nvSpPr>
        <p:spPr>
          <a:xfrm>
            <a:off x="182880" y="1664208"/>
            <a:ext cx="5257800" cy="2606040"/>
          </a:xfrm>
          <a:prstGeom prst="roundRect">
            <a:avLst>
              <a:gd name="adj" fmla="val 3509"/>
            </a:avLst>
          </a:prstGeom>
          <a:solidFill>
            <a:srgbClr val="F8F9FA"/>
          </a:solidFill>
          <a:ln w="12700">
            <a:solidFill>
              <a:srgbClr val="F8F9FA"/>
            </a:solidFill>
            <a:prstDash val="solid"/>
          </a:ln>
          <a:effectLst>
            <a:outerShdw blurRad="152400" dist="50800" dir="2700000" algn="bl" rotWithShape="0">
              <a:srgbClr val="000000">
                <a:alpha val="8000"/>
              </a:srgbClr>
            </a:outerShdw>
          </a:effectLst>
        </p:spPr>
      </p:sp>
      <p:sp>
        <p:nvSpPr>
          <p:cNvPr id="19" name="Text 17"/>
          <p:cNvSpPr/>
          <p:nvPr/>
        </p:nvSpPr>
        <p:spPr>
          <a:xfrm>
            <a:off x="320040" y="1746504"/>
            <a:ext cx="4983480" cy="347472"/>
          </a:xfrm>
          <a:prstGeom prst="rect">
            <a:avLst/>
          </a:prstGeom>
          <a:noFill/>
          <a:ln/>
        </p:spPr>
        <p:txBody>
          <a:bodyPr wrap="square" rtlCol="0" anchor="ctr"/>
          <a:lstStyle/>
          <a:p>
            <a:pPr marL="0" indent="0">
              <a:buNone/>
            </a:pPr>
            <a:r>
              <a:rPr lang="en-US" sz="1300" b="1" dirty="0">
                <a:solidFill>
                  <a:srgbClr val="6C3BD5"/>
                </a:solidFill>
                <a:latin typeface="Cambria" pitchFamily="34" charset="0"/>
                <a:ea typeface="Cambria" pitchFamily="34" charset="-122"/>
                <a:cs typeface="Cambria" pitchFamily="34" charset="-120"/>
              </a:rPr>
              <a:t>CORE CONCEPTS MASTERED</a:t>
            </a:r>
            <a:endParaRPr lang="en-US" sz="1300" dirty="0"/>
          </a:p>
        </p:txBody>
      </p:sp>
      <p:sp>
        <p:nvSpPr>
          <p:cNvPr id="20" name="Shape 18"/>
          <p:cNvSpPr/>
          <p:nvPr/>
        </p:nvSpPr>
        <p:spPr>
          <a:xfrm>
            <a:off x="274320" y="2176272"/>
            <a:ext cx="5029200" cy="329184"/>
          </a:xfrm>
          <a:prstGeom prst="roundRect">
            <a:avLst>
              <a:gd name="adj" fmla="val 13889"/>
            </a:avLst>
          </a:prstGeom>
          <a:solidFill>
            <a:srgbClr val="FFFFFF"/>
          </a:solidFill>
          <a:ln w="12700">
            <a:solidFill>
              <a:srgbClr val="0F6FE8"/>
            </a:solidFill>
            <a:prstDash val="solid"/>
          </a:ln>
          <a:effectLst>
            <a:outerShdw blurRad="127000" dist="38100" dir="2700000" algn="bl" rotWithShape="0">
              <a:srgbClr val="000000">
                <a:alpha val="9000"/>
              </a:srgbClr>
            </a:outerShdw>
          </a:effectLst>
        </p:spPr>
      </p:sp>
      <p:sp>
        <p:nvSpPr>
          <p:cNvPr id="21" name="Text 19"/>
          <p:cNvSpPr/>
          <p:nvPr/>
        </p:nvSpPr>
        <p:spPr>
          <a:xfrm>
            <a:off x="384048" y="2176272"/>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Connect to any data source with zero-code connectors</a:t>
            </a:r>
            <a:endParaRPr lang="en-US" sz="1000" dirty="0"/>
          </a:p>
        </p:txBody>
      </p:sp>
      <p:sp>
        <p:nvSpPr>
          <p:cNvPr id="22" name="Shape 20"/>
          <p:cNvSpPr/>
          <p:nvPr/>
        </p:nvSpPr>
        <p:spPr>
          <a:xfrm>
            <a:off x="274320" y="2569464"/>
            <a:ext cx="5029200" cy="329184"/>
          </a:xfrm>
          <a:prstGeom prst="roundRect">
            <a:avLst>
              <a:gd name="adj" fmla="val 13889"/>
            </a:avLst>
          </a:prstGeom>
          <a:solidFill>
            <a:srgbClr val="FFFFFF"/>
          </a:solidFill>
          <a:ln w="12700">
            <a:solidFill>
              <a:srgbClr val="6C3BD5"/>
            </a:solidFill>
            <a:prstDash val="solid"/>
          </a:ln>
          <a:effectLst>
            <a:outerShdw blurRad="127000" dist="38100" dir="2700000" algn="bl" rotWithShape="0">
              <a:srgbClr val="000000">
                <a:alpha val="9000"/>
              </a:srgbClr>
            </a:outerShdw>
          </a:effectLst>
        </p:spPr>
      </p:sp>
      <p:sp>
        <p:nvSpPr>
          <p:cNvPr id="23" name="Text 21"/>
          <p:cNvSpPr/>
          <p:nvPr/>
        </p:nvSpPr>
        <p:spPr>
          <a:xfrm>
            <a:off x="384048" y="2569464"/>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ETL pipeline: Source → Engine → Transform → Load</a:t>
            </a:r>
            <a:endParaRPr lang="en-US" sz="1000" dirty="0"/>
          </a:p>
        </p:txBody>
      </p:sp>
      <p:sp>
        <p:nvSpPr>
          <p:cNvPr id="24" name="Shape 22"/>
          <p:cNvSpPr/>
          <p:nvPr/>
        </p:nvSpPr>
        <p:spPr>
          <a:xfrm>
            <a:off x="274320" y="2962656"/>
            <a:ext cx="5029200" cy="329184"/>
          </a:xfrm>
          <a:prstGeom prst="roundRect">
            <a:avLst>
              <a:gd name="adj" fmla="val 13889"/>
            </a:avLst>
          </a:prstGeom>
          <a:solidFill>
            <a:srgbClr val="FFFFFF"/>
          </a:solidFill>
          <a:ln w="12700">
            <a:solidFill>
              <a:srgbClr val="0D9488"/>
            </a:solidFill>
            <a:prstDash val="solid"/>
          </a:ln>
          <a:effectLst>
            <a:outerShdw blurRad="127000" dist="38100" dir="2700000" algn="bl" rotWithShape="0">
              <a:srgbClr val="000000">
                <a:alpha val="9000"/>
              </a:srgbClr>
            </a:outerShdw>
          </a:effectLst>
        </p:spPr>
      </p:sp>
      <p:sp>
        <p:nvSpPr>
          <p:cNvPr id="25" name="Text 23"/>
          <p:cNvSpPr/>
          <p:nvPr/>
        </p:nvSpPr>
        <p:spPr>
          <a:xfrm>
            <a:off x="384048" y="2962656"/>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Applied Steps make every transformation auditable &amp; reversible</a:t>
            </a:r>
            <a:endParaRPr lang="en-US" sz="1000" dirty="0"/>
          </a:p>
        </p:txBody>
      </p:sp>
      <p:sp>
        <p:nvSpPr>
          <p:cNvPr id="26" name="Shape 24"/>
          <p:cNvSpPr/>
          <p:nvPr/>
        </p:nvSpPr>
        <p:spPr>
          <a:xfrm>
            <a:off x="274320" y="3355848"/>
            <a:ext cx="5029200" cy="329184"/>
          </a:xfrm>
          <a:prstGeom prst="roundRect">
            <a:avLst>
              <a:gd name="adj" fmla="val 13889"/>
            </a:avLst>
          </a:prstGeom>
          <a:solidFill>
            <a:srgbClr val="FFFFFF"/>
          </a:solidFill>
          <a:ln w="12700">
            <a:solidFill>
              <a:srgbClr val="EA580C"/>
            </a:solidFill>
            <a:prstDash val="solid"/>
          </a:ln>
          <a:effectLst>
            <a:outerShdw blurRad="127000" dist="38100" dir="2700000" algn="bl" rotWithShape="0">
              <a:srgbClr val="000000">
                <a:alpha val="9000"/>
              </a:srgbClr>
            </a:outerShdw>
          </a:effectLst>
        </p:spPr>
      </p:sp>
      <p:sp>
        <p:nvSpPr>
          <p:cNvPr id="27" name="Text 25"/>
          <p:cNvSpPr/>
          <p:nvPr/>
        </p:nvSpPr>
        <p:spPr>
          <a:xfrm>
            <a:off x="384048" y="3355848"/>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 Language powers unlimited custom transformation logic</a:t>
            </a:r>
            <a:endParaRPr lang="en-US" sz="1000" dirty="0"/>
          </a:p>
        </p:txBody>
      </p:sp>
      <p:sp>
        <p:nvSpPr>
          <p:cNvPr id="28" name="Shape 26"/>
          <p:cNvSpPr/>
          <p:nvPr/>
        </p:nvSpPr>
        <p:spPr>
          <a:xfrm>
            <a:off x="274320" y="3749040"/>
            <a:ext cx="5029200" cy="329184"/>
          </a:xfrm>
          <a:prstGeom prst="roundRect">
            <a:avLst>
              <a:gd name="adj" fmla="val 13889"/>
            </a:avLst>
          </a:prstGeom>
          <a:solidFill>
            <a:srgbClr val="FFFFFF"/>
          </a:solidFill>
          <a:ln w="12700">
            <a:solidFill>
              <a:srgbClr val="DB2777"/>
            </a:solidFill>
            <a:prstDash val="solid"/>
          </a:ln>
          <a:effectLst>
            <a:outerShdw blurRad="127000" dist="38100" dir="2700000" algn="bl" rotWithShape="0">
              <a:srgbClr val="000000">
                <a:alpha val="9000"/>
              </a:srgbClr>
            </a:outerShdw>
          </a:effectLst>
        </p:spPr>
      </p:sp>
      <p:sp>
        <p:nvSpPr>
          <p:cNvPr id="29" name="Text 27"/>
          <p:cNvSpPr/>
          <p:nvPr/>
        </p:nvSpPr>
        <p:spPr>
          <a:xfrm>
            <a:off x="384048" y="3749040"/>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Merge (JOIN) &amp; Append (UNION) replace slow VLOOKUPs</a:t>
            </a:r>
            <a:endParaRPr lang="en-US" sz="1000" dirty="0"/>
          </a:p>
        </p:txBody>
      </p:sp>
      <p:sp>
        <p:nvSpPr>
          <p:cNvPr id="30" name="Shape 28"/>
          <p:cNvSpPr/>
          <p:nvPr/>
        </p:nvSpPr>
        <p:spPr>
          <a:xfrm>
            <a:off x="274320" y="4142232"/>
            <a:ext cx="5029200" cy="329184"/>
          </a:xfrm>
          <a:prstGeom prst="roundRect">
            <a:avLst>
              <a:gd name="adj" fmla="val 13889"/>
            </a:avLst>
          </a:prstGeom>
          <a:solidFill>
            <a:srgbClr val="FFFFFF"/>
          </a:solidFill>
          <a:ln w="12700">
            <a:solidFill>
              <a:srgbClr val="059669"/>
            </a:solidFill>
            <a:prstDash val="solid"/>
          </a:ln>
          <a:effectLst>
            <a:outerShdw blurRad="127000" dist="38100" dir="2700000" algn="bl" rotWithShape="0">
              <a:srgbClr val="000000">
                <a:alpha val="9000"/>
              </a:srgbClr>
            </a:outerShdw>
          </a:effectLst>
        </p:spPr>
      </p:sp>
      <p:sp>
        <p:nvSpPr>
          <p:cNvPr id="31" name="Text 29"/>
          <p:cNvSpPr/>
          <p:nvPr/>
        </p:nvSpPr>
        <p:spPr>
          <a:xfrm>
            <a:off x="384048" y="4142232"/>
            <a:ext cx="4846320" cy="329184"/>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  Query Folding pushes work to source for maximum speed</a:t>
            </a:r>
            <a:endParaRPr lang="en-US" sz="1000" dirty="0"/>
          </a:p>
        </p:txBody>
      </p:sp>
      <p:sp>
        <p:nvSpPr>
          <p:cNvPr id="32" name="Shape 30"/>
          <p:cNvSpPr/>
          <p:nvPr/>
        </p:nvSpPr>
        <p:spPr>
          <a:xfrm>
            <a:off x="5596128" y="1664208"/>
            <a:ext cx="3364992" cy="2606040"/>
          </a:xfrm>
          <a:prstGeom prst="roundRect">
            <a:avLst>
              <a:gd name="adj" fmla="val 3509"/>
            </a:avLst>
          </a:prstGeom>
          <a:solidFill>
            <a:srgbClr val="F8F9FA"/>
          </a:solidFill>
          <a:ln w="12700">
            <a:solidFill>
              <a:srgbClr val="F8F9FA"/>
            </a:solidFill>
            <a:prstDash val="solid"/>
          </a:ln>
          <a:effectLst>
            <a:outerShdw blurRad="152400" dist="50800" dir="2700000" algn="bl" rotWithShape="0">
              <a:srgbClr val="000000">
                <a:alpha val="8000"/>
              </a:srgbClr>
            </a:outerShdw>
          </a:effectLst>
        </p:spPr>
      </p:sp>
      <p:sp>
        <p:nvSpPr>
          <p:cNvPr id="33" name="Text 31"/>
          <p:cNvSpPr/>
          <p:nvPr/>
        </p:nvSpPr>
        <p:spPr>
          <a:xfrm>
            <a:off x="5733288" y="1746504"/>
            <a:ext cx="3090672" cy="347472"/>
          </a:xfrm>
          <a:prstGeom prst="rect">
            <a:avLst/>
          </a:prstGeom>
          <a:noFill/>
          <a:ln/>
        </p:spPr>
        <p:txBody>
          <a:bodyPr wrap="square" rtlCol="0" anchor="ctr"/>
          <a:lstStyle/>
          <a:p>
            <a:pPr marL="0" indent="0">
              <a:buNone/>
            </a:pPr>
            <a:r>
              <a:rPr lang="en-US" sz="1300" b="1" dirty="0">
                <a:solidFill>
                  <a:srgbClr val="4338CA"/>
                </a:solidFill>
                <a:latin typeface="Cambria" pitchFamily="34" charset="0"/>
                <a:ea typeface="Cambria" pitchFamily="34" charset="-122"/>
                <a:cs typeface="Cambria" pitchFamily="34" charset="-120"/>
              </a:rPr>
              <a:t>YOUR LEARNING PATH</a:t>
            </a:r>
            <a:endParaRPr lang="en-US" sz="1300" dirty="0"/>
          </a:p>
        </p:txBody>
      </p:sp>
      <p:sp>
        <p:nvSpPr>
          <p:cNvPr id="34" name="Shape 32"/>
          <p:cNvSpPr/>
          <p:nvPr/>
        </p:nvSpPr>
        <p:spPr>
          <a:xfrm>
            <a:off x="5733288" y="2176272"/>
            <a:ext cx="658368" cy="384048"/>
          </a:xfrm>
          <a:prstGeom prst="roundRect">
            <a:avLst>
              <a:gd name="adj" fmla="val 11905"/>
            </a:avLst>
          </a:prstGeom>
          <a:solidFill>
            <a:srgbClr val="059669"/>
          </a:solidFill>
          <a:ln w="12700">
            <a:solidFill>
              <a:srgbClr val="059669"/>
            </a:solidFill>
            <a:prstDash val="solid"/>
          </a:ln>
          <a:effectLst>
            <a:outerShdw blurRad="127000" dist="38100" dir="2700000" algn="bl" rotWithShape="0">
              <a:srgbClr val="000000">
                <a:alpha val="9000"/>
              </a:srgbClr>
            </a:outerShdw>
          </a:effectLst>
        </p:spPr>
      </p:sp>
      <p:sp>
        <p:nvSpPr>
          <p:cNvPr id="35" name="Text 33"/>
          <p:cNvSpPr/>
          <p:nvPr/>
        </p:nvSpPr>
        <p:spPr>
          <a:xfrm>
            <a:off x="5733288" y="2176272"/>
            <a:ext cx="65836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NOW</a:t>
            </a:r>
            <a:endParaRPr lang="en-US" sz="900" dirty="0"/>
          </a:p>
        </p:txBody>
      </p:sp>
      <p:sp>
        <p:nvSpPr>
          <p:cNvPr id="36" name="Text 34"/>
          <p:cNvSpPr/>
          <p:nvPr/>
        </p:nvSpPr>
        <p:spPr>
          <a:xfrm>
            <a:off x="6455664" y="2176272"/>
            <a:ext cx="2423160" cy="384048"/>
          </a:xfrm>
          <a:prstGeom prst="rect">
            <a:avLst/>
          </a:prstGeom>
          <a:noFill/>
          <a:ln/>
        </p:spPr>
        <p:txBody>
          <a:bodyPr wrap="square" lIns="0" tIns="0" rIns="0" bIns="0"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Power Query Fundamentals ✓</a:t>
            </a:r>
            <a:endParaRPr lang="en-US" sz="1050" dirty="0"/>
          </a:p>
        </p:txBody>
      </p:sp>
      <p:sp>
        <p:nvSpPr>
          <p:cNvPr id="37" name="Shape 35"/>
          <p:cNvSpPr/>
          <p:nvPr/>
        </p:nvSpPr>
        <p:spPr>
          <a:xfrm>
            <a:off x="5733288" y="2697480"/>
            <a:ext cx="658368" cy="384048"/>
          </a:xfrm>
          <a:prstGeom prst="roundRect">
            <a:avLst>
              <a:gd name="adj" fmla="val 11905"/>
            </a:avLst>
          </a:prstGeom>
          <a:solidFill>
            <a:srgbClr val="0F6FE8"/>
          </a:solidFill>
          <a:ln w="12700">
            <a:solidFill>
              <a:srgbClr val="0F6FE8"/>
            </a:solidFill>
            <a:prstDash val="solid"/>
          </a:ln>
          <a:effectLst>
            <a:outerShdw blurRad="127000" dist="38100" dir="2700000" algn="bl" rotWithShape="0">
              <a:srgbClr val="000000">
                <a:alpha val="9000"/>
              </a:srgbClr>
            </a:outerShdw>
          </a:effectLst>
        </p:spPr>
      </p:sp>
      <p:sp>
        <p:nvSpPr>
          <p:cNvPr id="38" name="Text 36"/>
          <p:cNvSpPr/>
          <p:nvPr/>
        </p:nvSpPr>
        <p:spPr>
          <a:xfrm>
            <a:off x="5733288" y="2697480"/>
            <a:ext cx="65836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NEXT</a:t>
            </a:r>
            <a:endParaRPr lang="en-US" sz="900" dirty="0"/>
          </a:p>
        </p:txBody>
      </p:sp>
      <p:sp>
        <p:nvSpPr>
          <p:cNvPr id="39" name="Text 37"/>
          <p:cNvSpPr/>
          <p:nvPr/>
        </p:nvSpPr>
        <p:spPr>
          <a:xfrm>
            <a:off x="6455664" y="2697480"/>
            <a:ext cx="242316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Power BI Data Modeling</a:t>
            </a:r>
            <a:endParaRPr lang="en-US" sz="1050" dirty="0"/>
          </a:p>
        </p:txBody>
      </p:sp>
      <p:sp>
        <p:nvSpPr>
          <p:cNvPr id="40" name="Shape 38"/>
          <p:cNvSpPr/>
          <p:nvPr/>
        </p:nvSpPr>
        <p:spPr>
          <a:xfrm>
            <a:off x="5733288" y="3218688"/>
            <a:ext cx="658368" cy="384048"/>
          </a:xfrm>
          <a:prstGeom prst="roundRect">
            <a:avLst>
              <a:gd name="adj" fmla="val 11905"/>
            </a:avLst>
          </a:prstGeom>
          <a:solidFill>
            <a:srgbClr val="6C3BD5"/>
          </a:solidFill>
          <a:ln w="12700">
            <a:solidFill>
              <a:srgbClr val="6C3BD5"/>
            </a:solidFill>
            <a:prstDash val="solid"/>
          </a:ln>
          <a:effectLst>
            <a:outerShdw blurRad="127000" dist="38100" dir="2700000" algn="bl" rotWithShape="0">
              <a:srgbClr val="000000">
                <a:alpha val="9000"/>
              </a:srgbClr>
            </a:outerShdw>
          </a:effectLst>
        </p:spPr>
      </p:sp>
      <p:sp>
        <p:nvSpPr>
          <p:cNvPr id="41" name="Text 39"/>
          <p:cNvSpPr/>
          <p:nvPr/>
        </p:nvSpPr>
        <p:spPr>
          <a:xfrm>
            <a:off x="5733288" y="3218688"/>
            <a:ext cx="65836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THEN</a:t>
            </a:r>
            <a:endParaRPr lang="en-US" sz="900" dirty="0"/>
          </a:p>
        </p:txBody>
      </p:sp>
      <p:sp>
        <p:nvSpPr>
          <p:cNvPr id="42" name="Text 40"/>
          <p:cNvSpPr/>
          <p:nvPr/>
        </p:nvSpPr>
        <p:spPr>
          <a:xfrm>
            <a:off x="6455664" y="3218688"/>
            <a:ext cx="242316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DAX &amp; Advanced Analytics</a:t>
            </a:r>
            <a:endParaRPr lang="en-US" sz="1050" dirty="0"/>
          </a:p>
        </p:txBody>
      </p:sp>
      <p:sp>
        <p:nvSpPr>
          <p:cNvPr id="43" name="Shape 41"/>
          <p:cNvSpPr/>
          <p:nvPr/>
        </p:nvSpPr>
        <p:spPr>
          <a:xfrm>
            <a:off x="5733288" y="3739896"/>
            <a:ext cx="658368" cy="384048"/>
          </a:xfrm>
          <a:prstGeom prst="roundRect">
            <a:avLst>
              <a:gd name="adj" fmla="val 11905"/>
            </a:avLst>
          </a:prstGeom>
          <a:solidFill>
            <a:srgbClr val="EA580C"/>
          </a:solidFill>
          <a:ln w="12700">
            <a:solidFill>
              <a:srgbClr val="EA580C"/>
            </a:solidFill>
            <a:prstDash val="solid"/>
          </a:ln>
          <a:effectLst>
            <a:outerShdw blurRad="127000" dist="38100" dir="2700000" algn="bl" rotWithShape="0">
              <a:srgbClr val="000000">
                <a:alpha val="9000"/>
              </a:srgbClr>
            </a:outerShdw>
          </a:effectLst>
        </p:spPr>
      </p:sp>
      <p:sp>
        <p:nvSpPr>
          <p:cNvPr id="44" name="Text 42"/>
          <p:cNvSpPr/>
          <p:nvPr/>
        </p:nvSpPr>
        <p:spPr>
          <a:xfrm>
            <a:off x="5733288" y="3739896"/>
            <a:ext cx="65836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a:t>
            </a:r>
            <a:endParaRPr lang="en-US" sz="900" dirty="0"/>
          </a:p>
        </p:txBody>
      </p:sp>
      <p:sp>
        <p:nvSpPr>
          <p:cNvPr id="45" name="Text 43"/>
          <p:cNvSpPr/>
          <p:nvPr/>
        </p:nvSpPr>
        <p:spPr>
          <a:xfrm>
            <a:off x="6455664" y="3739896"/>
            <a:ext cx="2423160" cy="384048"/>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Azure Data Factory / Fabric</a:t>
            </a:r>
            <a:endParaRPr lang="en-US" sz="1050" dirty="0"/>
          </a:p>
        </p:txBody>
      </p:sp>
      <p:sp>
        <p:nvSpPr>
          <p:cNvPr id="47" name="Text 45"/>
          <p:cNvSpPr/>
          <p:nvPr/>
        </p:nvSpPr>
        <p:spPr>
          <a:xfrm>
            <a:off x="182880" y="4427982"/>
            <a:ext cx="8412480" cy="594360"/>
          </a:xfrm>
          <a:prstGeom prst="rect">
            <a:avLst/>
          </a:prstGeom>
          <a:noFill/>
          <a:ln/>
        </p:spPr>
        <p:txBody>
          <a:bodyPr wrap="square" rtlCol="0" anchor="ctr"/>
          <a:lstStyle/>
          <a:p>
            <a:pPr marL="0" indent="0">
              <a:lnSpc>
                <a:spcPct val="130000"/>
              </a:lnSpc>
              <a:buNone/>
            </a:pPr>
            <a:r>
              <a:rPr lang="en-US" sz="1100" i="1" dirty="0">
                <a:latin typeface="Calibri" pitchFamily="34" charset="0"/>
                <a:ea typeface="Calibri" pitchFamily="34" charset="-122"/>
                <a:cs typeface="Calibri" pitchFamily="34" charset="-120"/>
              </a:rPr>
              <a:t>⚡  Power Query turns hours of manual data preparation into seconds of automated, repeatable, auditable ETL — the foundation of every modern analytics workflow.</a:t>
            </a:r>
            <a:endParaRPr lang="en-US" sz="1100" dirty="0"/>
          </a:p>
        </p:txBody>
      </p:sp>
      <p:sp>
        <p:nvSpPr>
          <p:cNvPr id="48" name="Shape 46"/>
          <p:cNvSpPr/>
          <p:nvPr/>
        </p:nvSpPr>
        <p:spPr>
          <a:xfrm>
            <a:off x="0" y="4978908"/>
            <a:ext cx="1306286" cy="164592"/>
          </a:xfrm>
          <a:prstGeom prst="rect">
            <a:avLst/>
          </a:prstGeom>
          <a:solidFill>
            <a:srgbClr val="6C3BD5"/>
          </a:solidFill>
          <a:ln w="12700">
            <a:solidFill>
              <a:srgbClr val="6C3BD5"/>
            </a:solidFill>
            <a:prstDash val="solid"/>
          </a:ln>
        </p:spPr>
      </p:sp>
      <p:sp>
        <p:nvSpPr>
          <p:cNvPr id="49" name="Shape 47"/>
          <p:cNvSpPr/>
          <p:nvPr/>
        </p:nvSpPr>
        <p:spPr>
          <a:xfrm>
            <a:off x="1306286" y="4978908"/>
            <a:ext cx="1306286" cy="164592"/>
          </a:xfrm>
          <a:prstGeom prst="rect">
            <a:avLst/>
          </a:prstGeom>
          <a:solidFill>
            <a:srgbClr val="0F6FE8"/>
          </a:solidFill>
          <a:ln w="12700">
            <a:solidFill>
              <a:srgbClr val="0F6FE8"/>
            </a:solidFill>
            <a:prstDash val="solid"/>
          </a:ln>
        </p:spPr>
      </p:sp>
      <p:sp>
        <p:nvSpPr>
          <p:cNvPr id="50" name="Shape 48"/>
          <p:cNvSpPr/>
          <p:nvPr/>
        </p:nvSpPr>
        <p:spPr>
          <a:xfrm>
            <a:off x="2612571" y="4978908"/>
            <a:ext cx="1306286" cy="164592"/>
          </a:xfrm>
          <a:prstGeom prst="rect">
            <a:avLst/>
          </a:prstGeom>
          <a:solidFill>
            <a:srgbClr val="0D9488"/>
          </a:solidFill>
          <a:ln w="12700">
            <a:solidFill>
              <a:srgbClr val="0D9488"/>
            </a:solidFill>
            <a:prstDash val="solid"/>
          </a:ln>
        </p:spPr>
      </p:sp>
      <p:sp>
        <p:nvSpPr>
          <p:cNvPr id="51" name="Shape 49"/>
          <p:cNvSpPr/>
          <p:nvPr/>
        </p:nvSpPr>
        <p:spPr>
          <a:xfrm>
            <a:off x="3918857" y="4978908"/>
            <a:ext cx="1306286" cy="164592"/>
          </a:xfrm>
          <a:prstGeom prst="rect">
            <a:avLst/>
          </a:prstGeom>
          <a:solidFill>
            <a:srgbClr val="059669"/>
          </a:solidFill>
          <a:ln w="12700">
            <a:solidFill>
              <a:srgbClr val="059669"/>
            </a:solidFill>
            <a:prstDash val="solid"/>
          </a:ln>
        </p:spPr>
      </p:sp>
      <p:sp>
        <p:nvSpPr>
          <p:cNvPr id="52" name="Shape 50"/>
          <p:cNvSpPr/>
          <p:nvPr/>
        </p:nvSpPr>
        <p:spPr>
          <a:xfrm>
            <a:off x="5225143" y="4978908"/>
            <a:ext cx="1306286" cy="164592"/>
          </a:xfrm>
          <a:prstGeom prst="rect">
            <a:avLst/>
          </a:prstGeom>
          <a:solidFill>
            <a:srgbClr val="D97706"/>
          </a:solidFill>
          <a:ln w="12700">
            <a:solidFill>
              <a:srgbClr val="D97706"/>
            </a:solidFill>
            <a:prstDash val="solid"/>
          </a:ln>
        </p:spPr>
      </p:sp>
      <p:sp>
        <p:nvSpPr>
          <p:cNvPr id="53" name="Shape 51"/>
          <p:cNvSpPr/>
          <p:nvPr/>
        </p:nvSpPr>
        <p:spPr>
          <a:xfrm>
            <a:off x="6531429" y="4978908"/>
            <a:ext cx="1306286" cy="164592"/>
          </a:xfrm>
          <a:prstGeom prst="rect">
            <a:avLst/>
          </a:prstGeom>
          <a:solidFill>
            <a:srgbClr val="EA580C"/>
          </a:solidFill>
          <a:ln w="12700">
            <a:solidFill>
              <a:srgbClr val="EA580C"/>
            </a:solidFill>
            <a:prstDash val="solid"/>
          </a:ln>
        </p:spPr>
      </p:sp>
      <p:sp>
        <p:nvSpPr>
          <p:cNvPr id="54" name="Shape 52"/>
          <p:cNvSpPr/>
          <p:nvPr/>
        </p:nvSpPr>
        <p:spPr>
          <a:xfrm>
            <a:off x="7837714" y="4978908"/>
            <a:ext cx="1306286" cy="164592"/>
          </a:xfrm>
          <a:prstGeom prst="rect">
            <a:avLst/>
          </a:prstGeom>
          <a:solidFill>
            <a:srgbClr val="DB2777"/>
          </a:solidFill>
          <a:ln w="12700">
            <a:solidFill>
              <a:srgbClr val="DB277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1430</Words>
  <Application>Microsoft Office PowerPoint</Application>
  <PresentationFormat>On-screen Show (16:9)</PresentationFormat>
  <Paragraphs>256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Query – Complete Practical Guide</dc:title>
  <dc:subject>PptxGenJS Presentation</dc:subject>
  <dc:creator>PptxGenJS</dc:creator>
  <cp:lastModifiedBy>visxnugosali123@gmail.com</cp:lastModifiedBy>
  <cp:revision>2</cp:revision>
  <dcterms:created xsi:type="dcterms:W3CDTF">2026-06-20T09:17:54Z</dcterms:created>
  <dcterms:modified xsi:type="dcterms:W3CDTF">2026-06-20T09:24:16Z</dcterms:modified>
</cp:coreProperties>
</file>