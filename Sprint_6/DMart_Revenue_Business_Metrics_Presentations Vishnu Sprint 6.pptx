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charts/chart6.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7.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10" y="8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Revenue Mix</c:v>
                </c:pt>
              </c:strCache>
            </c:strRef>
          </c:tx>
          <c:spPr>
            <a:solidFill>
              <a:schemeClr val="accent1"/>
            </a:solidFill>
            <a:ln w="9525" cap="flat">
              <a:solidFill>
                <a:srgbClr val="F9F9F9"/>
              </a:solidFill>
              <a:prstDash val="solid"/>
              <a:round/>
            </a:ln>
            <a:effectLst/>
          </c:spPr>
          <c:dPt>
            <c:idx val="0"/>
            <c:bubble3D val="0"/>
            <c:spPr>
              <a:solidFill>
                <a:srgbClr val="0E5C36"/>
              </a:solidFill>
              <a:effectLst/>
            </c:spPr>
            <c:extLst>
              <c:ext xmlns:c16="http://schemas.microsoft.com/office/drawing/2014/chart" uri="{C3380CC4-5D6E-409C-BE32-E72D297353CC}">
                <c16:uniqueId val="{00000001-017B-4DC9-9161-040C955F66D0}"/>
              </c:ext>
            </c:extLst>
          </c:dPt>
          <c:dPt>
            <c:idx val="1"/>
            <c:bubble3D val="0"/>
            <c:spPr>
              <a:solidFill>
                <a:srgbClr val="B8860B"/>
              </a:solidFill>
              <a:effectLst/>
            </c:spPr>
            <c:extLst>
              <c:ext xmlns:c16="http://schemas.microsoft.com/office/drawing/2014/chart" uri="{C3380CC4-5D6E-409C-BE32-E72D297353CC}">
                <c16:uniqueId val="{00000003-017B-4DC9-9161-040C955F66D0}"/>
              </c:ext>
            </c:extLst>
          </c:dPt>
          <c:dLbls>
            <c:dLbl>
              <c:idx val="0"/>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17B-4DC9-9161-040C955F66D0}"/>
                </c:ext>
              </c:extLst>
            </c:dLbl>
            <c:dLbl>
              <c:idx val="1"/>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17B-4DC9-9161-040C955F66D0}"/>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Product Sales</c:v>
                </c:pt>
                <c:pt idx="1">
                  <c:v>Service Revenue</c:v>
                </c:pt>
              </c:strCache>
            </c:strRef>
          </c:cat>
          <c:val>
            <c:numRef>
              <c:f>Sheet1!$B$2:$B$3</c:f>
              <c:numCache>
                <c:formatCode>General</c:formatCode>
                <c:ptCount val="2"/>
                <c:pt idx="0">
                  <c:v>273500</c:v>
                </c:pt>
                <c:pt idx="1">
                  <c:v>80700</c:v>
                </c:pt>
              </c:numCache>
            </c:numRef>
          </c:val>
          <c:extLst>
            <c:ext xmlns:c16="http://schemas.microsoft.com/office/drawing/2014/chart" uri="{C3380CC4-5D6E-409C-BE32-E72D297353CC}">
              <c16:uniqueId val="{00000004-017B-4DC9-9161-040C955F66D0}"/>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b"/>
      <c:overlay val="0"/>
      <c:txPr>
        <a:bodyPr/>
        <a:lstStyle/>
        <a:p>
          <a:pPr>
            <a:defRPr sz="1000">
              <a:solidFill>
                <a:srgbClr val="1F2A24"/>
              </a:solidFill>
            </a:defRPr>
          </a:pPr>
          <a:endParaRPr lang="en-US"/>
        </a:p>
      </c:txPr>
    </c:legend>
    <c:plotVisOnly val="1"/>
    <c:dispBlanksAs val="span"/>
    <c:showDLblsOverMax val="1"/>
  </c:chart>
  <c:spPr>
    <a:solidFill>
      <a:srgbClr val="F4FAF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Total Revenue</c:v>
                </c:pt>
              </c:strCache>
            </c:strRef>
          </c:tx>
          <c:spPr>
            <a:ln w="38100" cap="flat">
              <a:solidFill>
                <a:srgbClr val="0E5C36"/>
              </a:solidFill>
              <a:prstDash val="solid"/>
              <a:round/>
            </a:ln>
            <a:effectLst/>
          </c:spPr>
          <c:marker>
            <c:symbol val="circle"/>
            <c:size val="7"/>
            <c:spPr>
              <a:solidFill>
                <a:srgbClr val="0E5C36"/>
              </a:solidFill>
              <a:ln w="9525" cap="flat">
                <a:solidFill>
                  <a:srgbClr val="0E5C36"/>
                </a:solidFill>
                <a:prstDash val="solid"/>
                <a:round/>
              </a:ln>
              <a:effectLst/>
            </c:spPr>
          </c:marker>
          <c:dLbls>
            <c:numFmt formatCode="#,##0" sourceLinked="0"/>
            <c:spPr>
              <a:noFill/>
              <a:ln>
                <a:noFill/>
              </a:ln>
              <a:effectLst/>
            </c:spPr>
            <c:txPr>
              <a:bodyPr/>
              <a:lstStyle/>
              <a:p>
                <a:pPr>
                  <a:defRPr sz="1000" b="0" i="0" u="none" strike="noStrike">
                    <a:solidFill>
                      <a:srgbClr val="1F2A24"/>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Jan</c:v>
                </c:pt>
                <c:pt idx="1">
                  <c:v>Feb</c:v>
                </c:pt>
                <c:pt idx="2">
                  <c:v>Mar</c:v>
                </c:pt>
                <c:pt idx="3">
                  <c:v>Apr</c:v>
                </c:pt>
                <c:pt idx="4">
                  <c:v>May</c:v>
                </c:pt>
              </c:strCache>
            </c:strRef>
          </c:cat>
          <c:val>
            <c:numRef>
              <c:f>Sheet1!$B$2:$B$6</c:f>
              <c:numCache>
                <c:formatCode>General</c:formatCode>
                <c:ptCount val="5"/>
                <c:pt idx="0">
                  <c:v>57000</c:v>
                </c:pt>
                <c:pt idx="1">
                  <c:v>66500</c:v>
                </c:pt>
                <c:pt idx="2">
                  <c:v>64000</c:v>
                </c:pt>
                <c:pt idx="3">
                  <c:v>79200</c:v>
                </c:pt>
                <c:pt idx="4">
                  <c:v>87500</c:v>
                </c:pt>
              </c:numCache>
            </c:numRef>
          </c:val>
          <c:smooth val="0"/>
          <c:extLst>
            <c:ext xmlns:c16="http://schemas.microsoft.com/office/drawing/2014/chart" uri="{C3380CC4-5D6E-409C-BE32-E72D297353CC}">
              <c16:uniqueId val="{00000000-1677-457B-9DF9-12C7594028A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6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4EFE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6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Product Sales</c:v>
                </c:pt>
              </c:strCache>
            </c:strRef>
          </c:tx>
          <c:spPr>
            <a:solidFill>
              <a:srgbClr val="0E5C36"/>
            </a:solidFill>
            <a:effectLst/>
          </c:spPr>
          <c:invertIfNegative val="0"/>
          <c:cat>
            <c:strRef>
              <c:f>Sheet1!$A$2:$A$6</c:f>
              <c:strCache>
                <c:ptCount val="5"/>
                <c:pt idx="0">
                  <c:v>Jan</c:v>
                </c:pt>
                <c:pt idx="1">
                  <c:v>Feb</c:v>
                </c:pt>
                <c:pt idx="2">
                  <c:v>Mar</c:v>
                </c:pt>
                <c:pt idx="3">
                  <c:v>Apr</c:v>
                </c:pt>
                <c:pt idx="4">
                  <c:v>May</c:v>
                </c:pt>
              </c:strCache>
            </c:strRef>
          </c:cat>
          <c:val>
            <c:numRef>
              <c:f>Sheet1!$B$2:$B$6</c:f>
              <c:numCache>
                <c:formatCode>General</c:formatCode>
                <c:ptCount val="5"/>
                <c:pt idx="0">
                  <c:v>45000</c:v>
                </c:pt>
                <c:pt idx="1">
                  <c:v>52000</c:v>
                </c:pt>
                <c:pt idx="2">
                  <c:v>48000</c:v>
                </c:pt>
                <c:pt idx="3">
                  <c:v>61000</c:v>
                </c:pt>
                <c:pt idx="4">
                  <c:v>67500</c:v>
                </c:pt>
              </c:numCache>
            </c:numRef>
          </c:val>
          <c:extLst>
            <c:ext xmlns:c16="http://schemas.microsoft.com/office/drawing/2014/chart" uri="{C3380CC4-5D6E-409C-BE32-E72D297353CC}">
              <c16:uniqueId val="{00000000-5160-45A2-83AE-73026A7B1EA6}"/>
            </c:ext>
          </c:extLst>
        </c:ser>
        <c:ser>
          <c:idx val="1"/>
          <c:order val="1"/>
          <c:tx>
            <c:strRef>
              <c:f>Sheet1!$C$1</c:f>
              <c:strCache>
                <c:ptCount val="1"/>
                <c:pt idx="0">
                  <c:v>Service Revenue</c:v>
                </c:pt>
              </c:strCache>
            </c:strRef>
          </c:tx>
          <c:spPr>
            <a:solidFill>
              <a:srgbClr val="B8860B"/>
            </a:solidFill>
            <a:effectLst/>
          </c:spPr>
          <c:invertIfNegative val="0"/>
          <c:cat>
            <c:strRef>
              <c:f>Sheet1!$A$2:$A$6</c:f>
              <c:strCache>
                <c:ptCount val="5"/>
                <c:pt idx="0">
                  <c:v>Jan</c:v>
                </c:pt>
                <c:pt idx="1">
                  <c:v>Feb</c:v>
                </c:pt>
                <c:pt idx="2">
                  <c:v>Mar</c:v>
                </c:pt>
                <c:pt idx="3">
                  <c:v>Apr</c:v>
                </c:pt>
                <c:pt idx="4">
                  <c:v>May</c:v>
                </c:pt>
              </c:strCache>
            </c:strRef>
          </c:cat>
          <c:val>
            <c:numRef>
              <c:f>Sheet1!$C$2:$C$6</c:f>
              <c:numCache>
                <c:formatCode>General</c:formatCode>
                <c:ptCount val="5"/>
                <c:pt idx="0">
                  <c:v>12000</c:v>
                </c:pt>
                <c:pt idx="1">
                  <c:v>14500</c:v>
                </c:pt>
                <c:pt idx="2">
                  <c:v>16000</c:v>
                </c:pt>
                <c:pt idx="3">
                  <c:v>18200</c:v>
                </c:pt>
                <c:pt idx="4">
                  <c:v>20000</c:v>
                </c:pt>
              </c:numCache>
            </c:numRef>
          </c:val>
          <c:extLst>
            <c:ext xmlns:c16="http://schemas.microsoft.com/office/drawing/2014/chart" uri="{C3380CC4-5D6E-409C-BE32-E72D297353CC}">
              <c16:uniqueId val="{00000001-5160-45A2-83AE-73026A7B1EA6}"/>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6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4EF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6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2A24"/>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0E5C36"/>
              </a:solidFill>
              <a:effectLst/>
            </c:spPr>
            <c:extLst>
              <c:ext xmlns:c16="http://schemas.microsoft.com/office/drawing/2014/chart" uri="{C3380CC4-5D6E-409C-BE32-E72D297353CC}">
                <c16:uniqueId val="{00000001-5375-4888-A7EC-023F2C1E5169}"/>
              </c:ext>
            </c:extLst>
          </c:dPt>
          <c:dPt>
            <c:idx val="1"/>
            <c:bubble3D val="0"/>
            <c:spPr>
              <a:solidFill>
                <a:srgbClr val="B8860B"/>
              </a:solidFill>
              <a:effectLst/>
            </c:spPr>
            <c:extLst>
              <c:ext xmlns:c16="http://schemas.microsoft.com/office/drawing/2014/chart" uri="{C3380CC4-5D6E-409C-BE32-E72D297353CC}">
                <c16:uniqueId val="{00000003-5375-4888-A7EC-023F2C1E5169}"/>
              </c:ext>
            </c:extLst>
          </c:dPt>
          <c:dLbls>
            <c:dLbl>
              <c:idx val="0"/>
              <c:numFmt formatCode="0%" sourceLinked="0"/>
              <c:spPr/>
              <c:txPr>
                <a:bodyPr/>
                <a:lstStyle/>
                <a:p>
                  <a:pPr>
                    <a:defRPr sz="105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5375-4888-A7EC-023F2C1E5169}"/>
                </c:ext>
              </c:extLst>
            </c:dLbl>
            <c:dLbl>
              <c:idx val="1"/>
              <c:numFmt formatCode="0%" sourceLinked="0"/>
              <c:spPr/>
              <c:txPr>
                <a:bodyPr/>
                <a:lstStyle/>
                <a:p>
                  <a:pPr>
                    <a:defRPr sz="105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5375-4888-A7EC-023F2C1E5169}"/>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Product</c:v>
                </c:pt>
                <c:pt idx="1">
                  <c:v>Service</c:v>
                </c:pt>
              </c:strCache>
            </c:strRef>
          </c:cat>
          <c:val>
            <c:numRef>
              <c:f>Sheet1!$B$2:$B$3</c:f>
              <c:numCache>
                <c:formatCode>General</c:formatCode>
                <c:ptCount val="2"/>
                <c:pt idx="0">
                  <c:v>273500</c:v>
                </c:pt>
                <c:pt idx="1">
                  <c:v>80700</c:v>
                </c:pt>
              </c:numCache>
            </c:numRef>
          </c:val>
          <c:extLst>
            <c:ext xmlns:c16="http://schemas.microsoft.com/office/drawing/2014/chart" uri="{C3380CC4-5D6E-409C-BE32-E72D297353CC}">
              <c16:uniqueId val="{00000004-5375-4888-A7EC-023F2C1E516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span"/>
    <c:showDLblsOverMax val="1"/>
  </c:chart>
  <c:spPr>
    <a:solidFill>
      <a:srgbClr val="E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c:v>
                </c:pt>
              </c:strCache>
            </c:strRef>
          </c:tx>
          <c:spPr>
            <a:solidFill>
              <a:srgbClr val="0E5C36"/>
            </a:solidFill>
            <a:effectLst/>
          </c:spPr>
          <c:invertIfNegative val="0"/>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57000</c:v>
                </c:pt>
                <c:pt idx="1">
                  <c:v>66500</c:v>
                </c:pt>
                <c:pt idx="2">
                  <c:v>64000</c:v>
                </c:pt>
                <c:pt idx="3">
                  <c:v>79200</c:v>
                </c:pt>
                <c:pt idx="4">
                  <c:v>87500</c:v>
                </c:pt>
                <c:pt idx="5">
                  <c:v>95000</c:v>
                </c:pt>
              </c:numCache>
            </c:numRef>
          </c:val>
          <c:extLst>
            <c:ext xmlns:c16="http://schemas.microsoft.com/office/drawing/2014/chart" uri="{C3380CC4-5D6E-409C-BE32-E72D297353CC}">
              <c16:uniqueId val="{00000000-1CC2-440B-89FD-52FF7CDB84FF}"/>
            </c:ext>
          </c:extLst>
        </c:ser>
        <c:ser>
          <c:idx val="1"/>
          <c:order val="1"/>
          <c:tx>
            <c:strRef>
              <c:f>Sheet1!$C$1</c:f>
              <c:strCache>
                <c:ptCount val="1"/>
                <c:pt idx="0">
                  <c:v>COGS</c:v>
                </c:pt>
              </c:strCache>
            </c:strRef>
          </c:tx>
          <c:spPr>
            <a:solidFill>
              <a:srgbClr val="C9C9C9"/>
            </a:solidFill>
            <a:effectLst/>
          </c:spPr>
          <c:invertIfNegative val="0"/>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23400</c:v>
                </c:pt>
                <c:pt idx="1">
                  <c:v>27300</c:v>
                </c:pt>
                <c:pt idx="2">
                  <c:v>26200</c:v>
                </c:pt>
                <c:pt idx="3">
                  <c:v>32400</c:v>
                </c:pt>
                <c:pt idx="4">
                  <c:v>35900</c:v>
                </c:pt>
                <c:pt idx="5">
                  <c:v>38500</c:v>
                </c:pt>
              </c:numCache>
            </c:numRef>
          </c:val>
          <c:extLst>
            <c:ext xmlns:c16="http://schemas.microsoft.com/office/drawing/2014/chart" uri="{C3380CC4-5D6E-409C-BE32-E72D297353CC}">
              <c16:uniqueId val="{00000001-1CC2-440B-89FD-52FF7CDB84FF}"/>
            </c:ext>
          </c:extLst>
        </c:ser>
        <c:ser>
          <c:idx val="2"/>
          <c:order val="2"/>
          <c:tx>
            <c:strRef>
              <c:f>Sheet1!$D$1</c:f>
              <c:strCache>
                <c:ptCount val="1"/>
                <c:pt idx="0">
                  <c:v>Net Profit</c:v>
                </c:pt>
              </c:strCache>
            </c:strRef>
          </c:tx>
          <c:spPr>
            <a:solidFill>
              <a:srgbClr val="B8860B"/>
            </a:solidFill>
            <a:effectLst/>
          </c:spPr>
          <c:invertIfNegative val="0"/>
          <c:cat>
            <c:strRef>
              <c:f>Sheet1!$A$2:$A$7</c:f>
              <c:strCache>
                <c:ptCount val="6"/>
                <c:pt idx="0">
                  <c:v>Jan</c:v>
                </c:pt>
                <c:pt idx="1">
                  <c:v>Feb</c:v>
                </c:pt>
                <c:pt idx="2">
                  <c:v>Mar</c:v>
                </c:pt>
                <c:pt idx="3">
                  <c:v>Apr</c:v>
                </c:pt>
                <c:pt idx="4">
                  <c:v>May</c:v>
                </c:pt>
                <c:pt idx="5">
                  <c:v>Jun</c:v>
                </c:pt>
              </c:strCache>
            </c:strRef>
          </c:cat>
          <c:val>
            <c:numRef>
              <c:f>Sheet1!$D$2:$D$7</c:f>
              <c:numCache>
                <c:formatCode>General</c:formatCode>
                <c:ptCount val="6"/>
                <c:pt idx="0">
                  <c:v>19900</c:v>
                </c:pt>
                <c:pt idx="1">
                  <c:v>23200</c:v>
                </c:pt>
                <c:pt idx="2">
                  <c:v>22400</c:v>
                </c:pt>
                <c:pt idx="3">
                  <c:v>27800</c:v>
                </c:pt>
                <c:pt idx="4">
                  <c:v>30600</c:v>
                </c:pt>
                <c:pt idx="5">
                  <c:v>33700</c:v>
                </c:pt>
              </c:numCache>
            </c:numRef>
          </c:val>
          <c:extLst>
            <c:ext xmlns:c16="http://schemas.microsoft.com/office/drawing/2014/chart" uri="{C3380CC4-5D6E-409C-BE32-E72D297353CC}">
              <c16:uniqueId val="{00000002-1CC2-440B-89FD-52FF7CDB84FF}"/>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6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4EF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6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2A24"/>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Margin %</c:v>
                </c:pt>
              </c:strCache>
            </c:strRef>
          </c:tx>
          <c:spPr>
            <a:solidFill>
              <a:srgbClr val="0E5C36"/>
            </a:solidFill>
            <a:effectLst/>
          </c:spPr>
          <c:invertIfNegative val="0"/>
          <c:dLbls>
            <c:numFmt formatCode="0&quot;%&quot;" sourceLinked="0"/>
            <c:spPr>
              <a:noFill/>
              <a:ln>
                <a:noFill/>
              </a:ln>
              <a:effectLst/>
            </c:spPr>
            <c:txPr>
              <a:bodyPr/>
              <a:lstStyle/>
              <a:p>
                <a:pPr>
                  <a:defRPr sz="1200" b="0" i="0" u="none" strike="noStrike">
                    <a:solidFill>
                      <a:srgbClr val="1F2A2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Gross Margin</c:v>
                </c:pt>
                <c:pt idx="1">
                  <c:v>EBITDA Margin</c:v>
                </c:pt>
                <c:pt idx="2">
                  <c:v>Net Margin</c:v>
                </c:pt>
              </c:strCache>
            </c:strRef>
          </c:cat>
          <c:val>
            <c:numRef>
              <c:f>Sheet1!$B$2:$B$4</c:f>
              <c:numCache>
                <c:formatCode>General</c:formatCode>
                <c:ptCount val="3"/>
                <c:pt idx="0">
                  <c:v>59.3</c:v>
                </c:pt>
                <c:pt idx="1">
                  <c:v>40.9</c:v>
                </c:pt>
                <c:pt idx="2">
                  <c:v>35.299999999999997</c:v>
                </c:pt>
              </c:numCache>
            </c:numRef>
          </c:val>
          <c:extLst>
            <c:ext xmlns:c16="http://schemas.microsoft.com/office/drawing/2014/chart" uri="{C3380CC4-5D6E-409C-BE32-E72D297353CC}">
              <c16:uniqueId val="{00000000-F6EB-4A63-9A7E-71D1EC19359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A2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4EFE9"/>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B6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ROI %</c:v>
                </c:pt>
              </c:strCache>
            </c:strRef>
          </c:tx>
          <c:spPr>
            <a:ln w="38100" cap="flat">
              <a:solidFill>
                <a:srgbClr val="0E5C36"/>
              </a:solidFill>
              <a:prstDash val="solid"/>
              <a:round/>
            </a:ln>
            <a:effectLst/>
          </c:spPr>
          <c:marker>
            <c:symbol val="circle"/>
            <c:size val="7"/>
            <c:spPr>
              <a:solidFill>
                <a:srgbClr val="0E5C36"/>
              </a:solidFill>
              <a:ln w="9525" cap="flat">
                <a:solidFill>
                  <a:srgbClr val="0E5C36"/>
                </a:solidFill>
                <a:prstDash val="solid"/>
                <a:round/>
              </a:ln>
              <a:effectLst/>
            </c:spPr>
          </c:marker>
          <c:dLbls>
            <c:numFmt formatCode="#,##0" sourceLinked="0"/>
            <c:spPr>
              <a:noFill/>
              <a:ln>
                <a:noFill/>
              </a:ln>
              <a:effectLst/>
            </c:spPr>
            <c:txPr>
              <a:bodyPr/>
              <a:lstStyle/>
              <a:p>
                <a:pPr>
                  <a:defRPr sz="1050" b="0" i="0" u="none" strike="noStrike">
                    <a:solidFill>
                      <a:srgbClr val="1F2A24"/>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Sheet1!$B$2:$B$5</c:f>
              <c:numCache>
                <c:formatCode>General</c:formatCode>
                <c:ptCount val="4"/>
                <c:pt idx="0">
                  <c:v>19</c:v>
                </c:pt>
                <c:pt idx="1">
                  <c:v>22</c:v>
                </c:pt>
                <c:pt idx="2">
                  <c:v>25</c:v>
                </c:pt>
                <c:pt idx="3">
                  <c:v>28</c:v>
                </c:pt>
              </c:numCache>
            </c:numRef>
          </c:val>
          <c:smooth val="0"/>
          <c:extLst>
            <c:ext xmlns:c16="http://schemas.microsoft.com/office/drawing/2014/chart" uri="{C3380CC4-5D6E-409C-BE32-E72D297353CC}">
              <c16:uniqueId val="{00000000-AC18-45D0-8927-1E265584C882}"/>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6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4EFE9"/>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6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6927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frame the session: this deck translates a standard Excel revenue-and-KPI workbook into an executive dashboard narrative. Note up front that the underlying figures are an illustrative sample dataset designed to demonstrate formulas and dashboard structure, not audited financial results. Set expectations: revenue, profitability, KPI, and Excel-architecture sections, ending with strategic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headline numbers: total five-month revenue of roughly 3.54 lakh, growth of 53.5% from January to May, gross profit of 2.1 lakh and net profit of 1.25 lakh. Walk through the four takeaways — consistent growth, strong margins, a diversifying revenue mix, and a repeatable Excel formula framework. Close on the donut chart: product sales still dominate at 77%, but service revenue is a meaningful and growing secondary stream.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operating loop behind every slide that follows: capture clean monthly data, apply standard Excel formulas, track the resulting KPIs against benchmarks, then visualize and decide. Emphasize that the loop repeats every reporting cycle — it's not a one-time build. Each of the four stages maps directly to a module later in the deck: revenue formulas, profit formulas, KPI tracking, and the dashboard build itself.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formulas underpin the entire revenue module: SUM for the period total, AVERAGE for the typical month, and a simple percentage-change formula for growth. The table on the right is the illustrative sample dataset these formulas run against — five months moving from 57,000 to 87,500, a single dip in March that recovers strongly in April. Mention that conditional formatting can auto-highlight any month that beats the rolling average.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plots the five-month revenue trend with each point labeled. Growth is calculated using a simple change-over-prior-period formula: February's 16.7% gain, March's 3.8% pullback — likely seasonal or a one-off dip — and a strong 23.7% rebound in April that carries into May. The right-hand panel summarizes the drivers leadership would ask about first: cumulative growth, the biggest swing, the one soft month, and the average monthly run-rate.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view combines the headline KPI cards with two complementary charts. The stacked column chart shows that product sales drive most of the period-over-period growth, while service revenue contributes a smaller but steadily rising layer each month. The pie chart on the right confirms the overall split for the period: roughly three-quarters product, one-quarter service — useful context when setting next quarter's channel targets.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Gross profit, net profit and EBITDA are the three profitability anchors. The clustered column chart extends the revenue series to a full six months with illustrative COGS and net profit figures to show the shape of a typical trend line — COGS holds near 41% of revenue, so gross margin stays stable even as the top line grows. Use the formula panel to reinforce that every number on this slide traces back to a simple subtraction or ratio in the workbook.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margin layers tell three different stories: gross margin isolates production cost efficiency, EBITDA margin strips out depreciation and interest noise, and net margin is the bottom-line truth after every expense. Compare the sample's 59.3% gross and 35.3% net margins against the stated benchmarks — both land at or above the upper end of typical ranges, which is a flag to double-check cost categorization in a real dataset, since real-world retail margins usually run leaner.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KPIs round out the operational picture beyond pure revenue and profit. CAC and CLV together frame marketing efficiency — a roughly 1-to-22 cost-to-value ratio here would be considered healthy. ROI, inventory turnover, current ratio and revenue per employee speak to capital efficiency, stock management, liquidity, and workforce productivity respectively. All sample values shown are illustrative placeholders to demonstrate how each formula populates a live dashboard.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 health sits alongside financial health. The ROI trend line shows four consecutive quarters of improvement, suggesting capital is being deployed more efficiently over time. The scorecard distills inventory turnover, liquidity, acquisition cost, and productivity into a single glance — all currently reading 'healthy' to 'above target' in this illustrative dataset, which is exactly the kind of red/amber/green view a live dashboard should surface automatically.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workbook blueprint: a clean Data sheet feeds a Metrics sheet of cell-reference formulas, which feeds calculated KPI cells wrapped in IF and IFERROR to avoid divide-by-zero errors, which finally feeds the visual Dashboard. Keeping these four layers physically separate in different tabs is what makes the workbook auditable and easy to hand off — anyone can trace a dashboard number back to its raw input in seconds.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reporting techniques cover most executive dashboard needs. Lines for trends, bars for comparisons, and pies for composition are the three chart families used throughout this deck. Pivot tables, conditional formatting and slicers are the Excel-native tools that let a single workbook serve many audiences — a CFO drilling into margin, a regional head filtering to their own numbers — without rebuilding the report each time.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leave-behind cheat sheet — every core formula from the workbook in one table, paired with the formatting convention it should use. The best-practices panel covers the four habits that separate a fragile spreadsheet from a durable one: error-handling with IFERROR, named ranges for readability, consistent number formatting, and Pivot-Table-driven charts so the whole dashboard refreshes itself each month.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recommendations translate the analysis into action: automate growth-dip alerts instead of discovering them after the fact, hold margins to sector benchmarks every period, watch the CAC-to-CLV ratio as the real test of marketing efficiency, and migrate from static monthly reports to live Pivot-Table dashboards. Frame these as a roadmap the team can implement within the existing Excel workbook — no new tooling required.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unifying message from the source workbook itself: revenue, profit and KPIs together form a complete business-health dashboard, and none of it requires tools beyond Excel. Recap the four closing points quickly, then open the floor for questions — be ready to discuss how the same formula framework would adapt to the audience's own monthly data once real figures replace the illustrative sample set used throughout this deck.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chart" Target="../charts/char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2.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5C36"/>
        </a:solidFill>
        <a:effectLst/>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B7A43">
              <a:alpha val="45000"/>
            </a:srgbClr>
          </a:solidFill>
          <a:ln/>
        </p:spPr>
      </p:sp>
      <p:sp>
        <p:nvSpPr>
          <p:cNvPr id="3" name="Shape 1"/>
          <p:cNvSpPr/>
          <p:nvPr/>
        </p:nvSpPr>
        <p:spPr>
          <a:xfrm>
            <a:off x="10058400" y="-457200"/>
            <a:ext cx="2926080" cy="2926080"/>
          </a:xfrm>
          <a:prstGeom prst="ellipse">
            <a:avLst/>
          </a:prstGeom>
          <a:solidFill>
            <a:srgbClr val="5FA779">
              <a:alpha val="45000"/>
            </a:srgbClr>
          </a:solidFill>
          <a:ln/>
        </p:spPr>
      </p:sp>
      <p:sp>
        <p:nvSpPr>
          <p:cNvPr id="4" name="Shape 2"/>
          <p:cNvSpPr/>
          <p:nvPr/>
        </p:nvSpPr>
        <p:spPr>
          <a:xfrm>
            <a:off x="-1097280" y="5120640"/>
            <a:ext cx="3291840" cy="3291840"/>
          </a:xfrm>
          <a:prstGeom prst="ellipse">
            <a:avLst/>
          </a:prstGeom>
          <a:solidFill>
            <a:srgbClr val="1B7A43">
              <a:alpha val="40000"/>
            </a:srgbClr>
          </a:solidFill>
          <a:ln/>
        </p:spPr>
      </p:sp>
      <p:sp>
        <p:nvSpPr>
          <p:cNvPr id="5" name="Text 3"/>
          <p:cNvSpPr/>
          <p:nvPr/>
        </p:nvSpPr>
        <p:spPr>
          <a:xfrm>
            <a:off x="822960" y="1417320"/>
            <a:ext cx="7315200" cy="320040"/>
          </a:xfrm>
          <a:prstGeom prst="rect">
            <a:avLst/>
          </a:prstGeom>
          <a:noFill/>
          <a:ln/>
        </p:spPr>
        <p:txBody>
          <a:bodyPr wrap="square" lIns="0" tIns="0" rIns="0" bIns="0" rtlCol="0" anchor="ctr"/>
          <a:lstStyle/>
          <a:p>
            <a:pPr marL="0" indent="0">
              <a:buNone/>
            </a:pPr>
            <a:r>
              <a:rPr lang="en-US" sz="1300" b="1" kern="0" spc="300" dirty="0">
                <a:solidFill>
                  <a:srgbClr val="BFE3CC"/>
                </a:solidFill>
                <a:latin typeface="Calibri" pitchFamily="34" charset="0"/>
                <a:ea typeface="Calibri" pitchFamily="34" charset="-122"/>
                <a:cs typeface="Calibri" pitchFamily="34" charset="-120"/>
              </a:rPr>
              <a:t>BUSINESS ANALYTICS  •  EXECUTIVE REPORT</a:t>
            </a:r>
            <a:endParaRPr lang="en-US" sz="1300" dirty="0"/>
          </a:p>
        </p:txBody>
      </p:sp>
      <p:sp>
        <p:nvSpPr>
          <p:cNvPr id="6" name="Text 4"/>
          <p:cNvSpPr/>
          <p:nvPr/>
        </p:nvSpPr>
        <p:spPr>
          <a:xfrm>
            <a:off x="777240" y="1828800"/>
            <a:ext cx="9601200" cy="1737360"/>
          </a:xfrm>
          <a:prstGeom prst="rect">
            <a:avLst/>
          </a:prstGeom>
          <a:noFill/>
          <a:ln/>
        </p:spPr>
        <p:txBody>
          <a:bodyPr wrap="square" lIns="0" tIns="0" rIns="0" bIns="0" rtlCol="0" anchor="ctr"/>
          <a:lstStyle/>
          <a:p>
            <a:pPr marL="0" indent="0">
              <a:lnSpc>
                <a:spcPct val="105000"/>
              </a:lnSpc>
              <a:buNone/>
            </a:pPr>
            <a:r>
              <a:rPr lang="en-US" sz="4800" b="1" dirty="0">
                <a:solidFill>
                  <a:srgbClr val="FFFFFF"/>
                </a:solidFill>
                <a:latin typeface="Cambria" pitchFamily="34" charset="0"/>
                <a:ea typeface="Cambria" pitchFamily="34" charset="-122"/>
                <a:cs typeface="Cambria" pitchFamily="34" charset="-120"/>
              </a:rPr>
              <a:t>Revenue &amp; Business</a:t>
            </a:r>
            <a:endParaRPr lang="en-US" sz="4800" dirty="0"/>
          </a:p>
          <a:p>
            <a:pPr marL="0" indent="0">
              <a:lnSpc>
                <a:spcPct val="105000"/>
              </a:lnSpc>
              <a:buNone/>
            </a:pPr>
            <a:r>
              <a:rPr lang="en-US" sz="4800" b="1" dirty="0">
                <a:solidFill>
                  <a:srgbClr val="FFFFFF"/>
                </a:solidFill>
                <a:latin typeface="Cambria" pitchFamily="34" charset="0"/>
                <a:ea typeface="Cambria" pitchFamily="34" charset="-122"/>
                <a:cs typeface="Cambria" pitchFamily="34" charset="-120"/>
              </a:rPr>
              <a:t>Metrics Analytics</a:t>
            </a:r>
            <a:endParaRPr lang="en-US" sz="4800" dirty="0"/>
          </a:p>
        </p:txBody>
      </p:sp>
      <p:sp>
        <p:nvSpPr>
          <p:cNvPr id="7" name="Text 5"/>
          <p:cNvSpPr/>
          <p:nvPr/>
        </p:nvSpPr>
        <p:spPr>
          <a:xfrm>
            <a:off x="822960" y="3703320"/>
            <a:ext cx="8412480" cy="640080"/>
          </a:xfrm>
          <a:prstGeom prst="rect">
            <a:avLst/>
          </a:prstGeom>
          <a:noFill/>
          <a:ln/>
        </p:spPr>
        <p:txBody>
          <a:bodyPr wrap="square" lIns="0" tIns="0" rIns="0" bIns="0" rtlCol="0" anchor="ctr"/>
          <a:lstStyle/>
          <a:p>
            <a:pPr marL="0" indent="0">
              <a:buNone/>
            </a:pPr>
            <a:r>
              <a:rPr lang="en-US" sz="1600" i="1" dirty="0">
                <a:solidFill>
                  <a:srgbClr val="DCF0E3"/>
                </a:solidFill>
                <a:latin typeface="Calibri" pitchFamily="34" charset="0"/>
                <a:ea typeface="Calibri" pitchFamily="34" charset="-122"/>
                <a:cs typeface="Calibri" pitchFamily="34" charset="-120"/>
              </a:rPr>
              <a:t>A DMart-Inspired Dashboard Framework for Revenue, Profitability, Growth &amp; KPI Reporting in Excel</a:t>
            </a:r>
            <a:endParaRPr lang="en-US" sz="1600" dirty="0"/>
          </a:p>
        </p:txBody>
      </p:sp>
      <p:sp>
        <p:nvSpPr>
          <p:cNvPr id="8" name="Shape 6"/>
          <p:cNvSpPr/>
          <p:nvPr/>
        </p:nvSpPr>
        <p:spPr>
          <a:xfrm>
            <a:off x="9144000" y="4114800"/>
            <a:ext cx="1920240" cy="1920240"/>
          </a:xfrm>
          <a:prstGeom prst="ellipse">
            <a:avLst/>
          </a:prstGeom>
          <a:solidFill>
            <a:srgbClr val="FFFFFF">
              <a:alpha val="8000"/>
            </a:srgbClr>
          </a:solidFill>
          <a:ln w="15875">
            <a:solidFill>
              <a:srgbClr val="FFFFFF">
                <a:alpha val="65000"/>
              </a:srgbClr>
            </a:solidFill>
            <a:prstDash val="solid"/>
          </a:ln>
        </p:spPr>
      </p:sp>
      <p:sp>
        <p:nvSpPr>
          <p:cNvPr id="9" name="Shape 7"/>
          <p:cNvSpPr/>
          <p:nvPr/>
        </p:nvSpPr>
        <p:spPr>
          <a:xfrm>
            <a:off x="9555480" y="5166360"/>
            <a:ext cx="146304" cy="411480"/>
          </a:xfrm>
          <a:prstGeom prst="rect">
            <a:avLst/>
          </a:prstGeom>
          <a:solidFill>
            <a:srgbClr val="B8860B"/>
          </a:solidFill>
          <a:ln/>
        </p:spPr>
      </p:sp>
      <p:sp>
        <p:nvSpPr>
          <p:cNvPr id="10" name="Shape 8"/>
          <p:cNvSpPr/>
          <p:nvPr/>
        </p:nvSpPr>
        <p:spPr>
          <a:xfrm>
            <a:off x="9793224" y="4892040"/>
            <a:ext cx="146304" cy="685800"/>
          </a:xfrm>
          <a:prstGeom prst="rect">
            <a:avLst/>
          </a:prstGeom>
          <a:solidFill>
            <a:srgbClr val="B8860B"/>
          </a:solidFill>
          <a:ln/>
        </p:spPr>
      </p:sp>
      <p:sp>
        <p:nvSpPr>
          <p:cNvPr id="11" name="Shape 9"/>
          <p:cNvSpPr/>
          <p:nvPr/>
        </p:nvSpPr>
        <p:spPr>
          <a:xfrm>
            <a:off x="10030968" y="5029200"/>
            <a:ext cx="146304" cy="548640"/>
          </a:xfrm>
          <a:prstGeom prst="rect">
            <a:avLst/>
          </a:prstGeom>
          <a:solidFill>
            <a:srgbClr val="B8860B"/>
          </a:solidFill>
          <a:ln/>
        </p:spPr>
      </p:sp>
      <p:sp>
        <p:nvSpPr>
          <p:cNvPr id="12" name="Shape 10"/>
          <p:cNvSpPr/>
          <p:nvPr/>
        </p:nvSpPr>
        <p:spPr>
          <a:xfrm>
            <a:off x="10268712" y="4663440"/>
            <a:ext cx="146304" cy="914400"/>
          </a:xfrm>
          <a:prstGeom prst="rect">
            <a:avLst/>
          </a:prstGeom>
          <a:solidFill>
            <a:srgbClr val="B8860B"/>
          </a:solidFill>
          <a:ln/>
        </p:spPr>
      </p:sp>
      <p:sp>
        <p:nvSpPr>
          <p:cNvPr id="13" name="Shape 11"/>
          <p:cNvSpPr/>
          <p:nvPr/>
        </p:nvSpPr>
        <p:spPr>
          <a:xfrm>
            <a:off x="10506456" y="4434840"/>
            <a:ext cx="146304" cy="1143000"/>
          </a:xfrm>
          <a:prstGeom prst="rect">
            <a:avLst/>
          </a:prstGeom>
          <a:solidFill>
            <a:srgbClr val="B8860B"/>
          </a:solidFill>
          <a:ln/>
        </p:spPr>
      </p:sp>
      <p:sp>
        <p:nvSpPr>
          <p:cNvPr id="14" name="Text 12"/>
          <p:cNvSpPr/>
          <p:nvPr/>
        </p:nvSpPr>
        <p:spPr>
          <a:xfrm>
            <a:off x="822960" y="5989320"/>
            <a:ext cx="8229600" cy="365760"/>
          </a:xfrm>
          <a:prstGeom prst="rect">
            <a:avLst/>
          </a:prstGeom>
          <a:noFill/>
          <a:ln/>
        </p:spPr>
        <p:txBody>
          <a:bodyPr wrap="square" lIns="0" tIns="0" rIns="0" bIns="0" rtlCol="0" anchor="ctr"/>
          <a:lstStyle/>
          <a:p>
            <a:pPr marL="0" indent="0">
              <a:buNone/>
            </a:pPr>
            <a:endParaRPr lang="en-US" sz="1050" dirty="0"/>
          </a:p>
        </p:txBody>
      </p:sp>
      <p:sp>
        <p:nvSpPr>
          <p:cNvPr id="15" name="Text 13"/>
          <p:cNvSpPr/>
          <p:nvPr/>
        </p:nvSpPr>
        <p:spPr>
          <a:xfrm>
            <a:off x="822960" y="6263640"/>
            <a:ext cx="8229600" cy="320040"/>
          </a:xfrm>
          <a:prstGeom prst="rect">
            <a:avLst/>
          </a:prstGeom>
          <a:noFill/>
          <a:ln/>
        </p:spPr>
        <p:txBody>
          <a:bodyPr wrap="square" lIns="0" tIns="0" rIns="0" bIns="0" rtlCol="0" anchor="ctr"/>
          <a:lstStyle/>
          <a:p>
            <a:pPr marL="0" indent="0">
              <a:buNone/>
            </a:pP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0E5C36"/>
          </a:solidFill>
          <a:ln/>
        </p:spPr>
      </p:sp>
      <p:pic>
        <p:nvPicPr>
          <p:cNvPr id="3" name="Image 0" descr="preencoded.png"/>
          <p:cNvPicPr>
            <a:picLocks noChangeAspect="1"/>
          </p:cNvPicPr>
          <p:nvPr/>
        </p:nvPicPr>
        <p:blipFill>
          <a:blip r:embed="rId3"/>
          <a:stretch>
            <a:fillRect/>
          </a:stretch>
        </p:blipFill>
        <p:spPr>
          <a:xfrm>
            <a:off x="568300" y="522580"/>
            <a:ext cx="372161" cy="372161"/>
          </a:xfrm>
          <a:prstGeom prst="rect">
            <a:avLst/>
          </a:prstGeom>
        </p:spPr>
      </p:pic>
      <p:sp>
        <p:nvSpPr>
          <p:cNvPr id="4" name="Text 1"/>
          <p:cNvSpPr/>
          <p:nvPr/>
        </p:nvSpPr>
        <p:spPr>
          <a:xfrm>
            <a:off x="1143000" y="420624"/>
            <a:ext cx="7315200" cy="274320"/>
          </a:xfrm>
          <a:prstGeom prst="rect">
            <a:avLst/>
          </a:prstGeom>
          <a:noFill/>
          <a:ln/>
        </p:spPr>
        <p:txBody>
          <a:bodyPr wrap="square" lIns="0" tIns="0" rIns="0" bIns="0" rtlCol="0" anchor="ctr"/>
          <a:lstStyle/>
          <a:p>
            <a:pPr marL="0" indent="0">
              <a:buNone/>
            </a:pPr>
            <a:r>
              <a:rPr lang="en-US" sz="1150" b="1" kern="0" spc="200" dirty="0">
                <a:solidFill>
                  <a:srgbClr val="1B7A43"/>
                </a:solidFill>
                <a:latin typeface="Calibri" pitchFamily="34" charset="0"/>
                <a:ea typeface="Calibri" pitchFamily="34" charset="-122"/>
                <a:cs typeface="Calibri" pitchFamily="34" charset="-120"/>
              </a:rPr>
              <a:t>OVERVIEW</a:t>
            </a:r>
            <a:endParaRPr lang="en-US" sz="1150" dirty="0"/>
          </a:p>
        </p:txBody>
      </p:sp>
      <p:sp>
        <p:nvSpPr>
          <p:cNvPr id="5" name="Text 2"/>
          <p:cNvSpPr/>
          <p:nvPr/>
        </p:nvSpPr>
        <p:spPr>
          <a:xfrm>
            <a:off x="1143000" y="658368"/>
            <a:ext cx="9875520" cy="502920"/>
          </a:xfrm>
          <a:prstGeom prst="rect">
            <a:avLst/>
          </a:prstGeom>
          <a:noFill/>
          <a:ln/>
        </p:spPr>
        <p:txBody>
          <a:bodyPr wrap="square" lIns="0" tIns="0" rIns="0" bIns="0" rtlCol="0" anchor="ctr"/>
          <a:lstStyle/>
          <a:p>
            <a:pPr marL="0" indent="0">
              <a:buNone/>
            </a:pPr>
            <a:r>
              <a:rPr lang="en-US" sz="2600" b="1" dirty="0">
                <a:solidFill>
                  <a:srgbClr val="1F2A24"/>
                </a:solidFill>
                <a:latin typeface="Cambria" pitchFamily="34" charset="0"/>
                <a:ea typeface="Cambria" pitchFamily="34" charset="-122"/>
                <a:cs typeface="Cambria" pitchFamily="34" charset="-120"/>
              </a:rPr>
              <a:t>Executive Summary</a:t>
            </a:r>
            <a:endParaRPr lang="en-US" sz="2600" dirty="0"/>
          </a:p>
        </p:txBody>
      </p:sp>
      <p:sp>
        <p:nvSpPr>
          <p:cNvPr id="6" name="Text 3"/>
          <p:cNvSpPr/>
          <p:nvPr/>
        </p:nvSpPr>
        <p:spPr>
          <a:xfrm>
            <a:off x="502920" y="6528816"/>
            <a:ext cx="7315200" cy="256032"/>
          </a:xfrm>
          <a:prstGeom prst="rect">
            <a:avLst/>
          </a:prstGeom>
          <a:noFill/>
          <a:ln/>
        </p:spPr>
        <p:txBody>
          <a:bodyPr wrap="square" lIns="0" tIns="0" rIns="0" bIns="0" rtlCol="0" anchor="ctr"/>
          <a:lstStyle/>
          <a:p>
            <a:pPr marL="0" indent="0">
              <a:buNone/>
            </a:pPr>
            <a:r>
              <a:rPr lang="en-US" sz="850" dirty="0">
                <a:solidFill>
                  <a:srgbClr val="5B6B62"/>
                </a:solidFill>
                <a:latin typeface="Calibri" pitchFamily="34" charset="0"/>
                <a:ea typeface="Calibri" pitchFamily="34" charset="-122"/>
                <a:cs typeface="Calibri" pitchFamily="34" charset="-120"/>
              </a:rPr>
              <a:t>BUSINESS ANALYTICS  •  REVENUE &amp; METRICS FRAMEWORK</a:t>
            </a:r>
            <a:endParaRPr lang="en-US" sz="850" dirty="0"/>
          </a:p>
        </p:txBody>
      </p:sp>
      <p:sp>
        <p:nvSpPr>
          <p:cNvPr id="7" name="Text 4"/>
          <p:cNvSpPr/>
          <p:nvPr/>
        </p:nvSpPr>
        <p:spPr>
          <a:xfrm>
            <a:off x="11228832" y="6528816"/>
            <a:ext cx="457200" cy="256032"/>
          </a:xfrm>
          <a:prstGeom prst="rect">
            <a:avLst/>
          </a:prstGeom>
          <a:noFill/>
          <a:ln/>
        </p:spPr>
        <p:txBody>
          <a:bodyPr wrap="square" lIns="0" tIns="0" rIns="0" bIns="0" rtlCol="0" anchor="ctr"/>
          <a:lstStyle/>
          <a:p>
            <a:pPr marL="0" indent="0" algn="r">
              <a:buNone/>
            </a:pPr>
            <a:r>
              <a:rPr lang="en-US" sz="850" dirty="0">
                <a:solidFill>
                  <a:srgbClr val="5B6B62"/>
                </a:solidFill>
                <a:latin typeface="Calibri" pitchFamily="34" charset="0"/>
                <a:ea typeface="Calibri" pitchFamily="34" charset="-122"/>
                <a:cs typeface="Calibri" pitchFamily="34" charset="-120"/>
              </a:rPr>
              <a:t>2</a:t>
            </a:r>
            <a:endParaRPr lang="en-US" sz="850" dirty="0"/>
          </a:p>
        </p:txBody>
      </p:sp>
      <p:sp>
        <p:nvSpPr>
          <p:cNvPr id="8" name="Shape 5"/>
          <p:cNvSpPr/>
          <p:nvPr/>
        </p:nvSpPr>
        <p:spPr>
          <a:xfrm>
            <a:off x="502920" y="1417320"/>
            <a:ext cx="2542032" cy="1417320"/>
          </a:xfrm>
          <a:prstGeom prst="roundRect">
            <a:avLst>
              <a:gd name="adj" fmla="val 5161"/>
            </a:avLst>
          </a:prstGeom>
          <a:solidFill>
            <a:srgbClr val="F4FAF6"/>
          </a:solidFill>
          <a:ln/>
          <a:effectLst>
            <a:outerShdw blurRad="88900" dist="38100" dir="5400000" algn="bl" rotWithShape="0">
              <a:srgbClr val="000000">
                <a:alpha val="10000"/>
              </a:srgbClr>
            </a:outerShdw>
          </a:effectLst>
        </p:spPr>
      </p:sp>
      <p:sp>
        <p:nvSpPr>
          <p:cNvPr id="9" name="Text 6"/>
          <p:cNvSpPr/>
          <p:nvPr/>
        </p:nvSpPr>
        <p:spPr>
          <a:xfrm>
            <a:off x="731520" y="1563624"/>
            <a:ext cx="2084832" cy="708660"/>
          </a:xfrm>
          <a:prstGeom prst="rect">
            <a:avLst/>
          </a:prstGeom>
          <a:noFill/>
          <a:ln/>
        </p:spPr>
        <p:txBody>
          <a:bodyPr wrap="square" lIns="0" tIns="0" rIns="0" bIns="0" rtlCol="0" anchor="ctr"/>
          <a:lstStyle/>
          <a:p>
            <a:pPr marL="0" indent="0" algn="l">
              <a:buNone/>
            </a:pPr>
            <a:r>
              <a:rPr lang="en-US" sz="3000" b="1" dirty="0">
                <a:solidFill>
                  <a:srgbClr val="0E5C36"/>
                </a:solidFill>
                <a:latin typeface="Cambria" pitchFamily="34" charset="0"/>
                <a:ea typeface="Cambria" pitchFamily="34" charset="-122"/>
                <a:cs typeface="Cambria" pitchFamily="34" charset="-120"/>
              </a:rPr>
              <a:t>₹3,54,200</a:t>
            </a:r>
            <a:endParaRPr lang="en-US" sz="3000" dirty="0"/>
          </a:p>
        </p:txBody>
      </p:sp>
      <p:sp>
        <p:nvSpPr>
          <p:cNvPr id="10" name="Text 7"/>
          <p:cNvSpPr/>
          <p:nvPr/>
        </p:nvSpPr>
        <p:spPr>
          <a:xfrm>
            <a:off x="731520" y="2296058"/>
            <a:ext cx="2084832" cy="274320"/>
          </a:xfrm>
          <a:prstGeom prst="rect">
            <a:avLst/>
          </a:prstGeom>
          <a:noFill/>
          <a:ln/>
        </p:spPr>
        <p:txBody>
          <a:bodyPr wrap="square" lIns="0" tIns="0" rIns="0" bIns="0" rtlCol="0" anchor="ctr"/>
          <a:lstStyle/>
          <a:p>
            <a:pPr marL="0" indent="0">
              <a:buNone/>
            </a:pPr>
            <a:r>
              <a:rPr lang="en-US" sz="1300" b="1" dirty="0">
                <a:solidFill>
                  <a:srgbClr val="1F2A24"/>
                </a:solidFill>
                <a:latin typeface="Calibri" pitchFamily="34" charset="0"/>
                <a:ea typeface="Calibri" pitchFamily="34" charset="-122"/>
                <a:cs typeface="Calibri" pitchFamily="34" charset="-120"/>
              </a:rPr>
              <a:t>Total Revenue (5-mo)</a:t>
            </a:r>
            <a:endParaRPr lang="en-US" sz="1300" dirty="0"/>
          </a:p>
        </p:txBody>
      </p:sp>
      <p:sp>
        <p:nvSpPr>
          <p:cNvPr id="11" name="Text 8"/>
          <p:cNvSpPr/>
          <p:nvPr/>
        </p:nvSpPr>
        <p:spPr>
          <a:xfrm>
            <a:off x="731520" y="2542032"/>
            <a:ext cx="2084832" cy="256032"/>
          </a:xfrm>
          <a:prstGeom prst="rect">
            <a:avLst/>
          </a:prstGeom>
          <a:noFill/>
          <a:ln/>
        </p:spPr>
        <p:txBody>
          <a:bodyPr wrap="square" lIns="0" tIns="0" rIns="0" bIns="0" rtlCol="0" anchor="ctr"/>
          <a:lstStyle/>
          <a:p>
            <a:pPr marL="0" indent="0">
              <a:buNone/>
            </a:pPr>
            <a:r>
              <a:rPr lang="en-US" sz="1000" dirty="0">
                <a:solidFill>
                  <a:srgbClr val="5B6B62"/>
                </a:solidFill>
                <a:latin typeface="Calibri" pitchFamily="34" charset="0"/>
                <a:ea typeface="Calibri" pitchFamily="34" charset="-122"/>
                <a:cs typeface="Calibri" pitchFamily="34" charset="-120"/>
              </a:rPr>
              <a:t>Jan–May sample period</a:t>
            </a:r>
            <a:endParaRPr lang="en-US" sz="1000" dirty="0"/>
          </a:p>
        </p:txBody>
      </p:sp>
      <p:sp>
        <p:nvSpPr>
          <p:cNvPr id="12" name="Shape 9"/>
          <p:cNvSpPr/>
          <p:nvPr/>
        </p:nvSpPr>
        <p:spPr>
          <a:xfrm>
            <a:off x="3246120" y="1417320"/>
            <a:ext cx="2542032" cy="1417320"/>
          </a:xfrm>
          <a:prstGeom prst="roundRect">
            <a:avLst>
              <a:gd name="adj" fmla="val 5161"/>
            </a:avLst>
          </a:prstGeom>
          <a:solidFill>
            <a:srgbClr val="F4FAF6"/>
          </a:solidFill>
          <a:ln/>
          <a:effectLst>
            <a:outerShdw blurRad="88900" dist="38100" dir="5400000" algn="bl" rotWithShape="0">
              <a:srgbClr val="000000">
                <a:alpha val="10000"/>
              </a:srgbClr>
            </a:outerShdw>
          </a:effectLst>
        </p:spPr>
      </p:sp>
      <p:sp>
        <p:nvSpPr>
          <p:cNvPr id="13" name="Text 10"/>
          <p:cNvSpPr/>
          <p:nvPr/>
        </p:nvSpPr>
        <p:spPr>
          <a:xfrm>
            <a:off x="3474720" y="1563624"/>
            <a:ext cx="2084832" cy="708660"/>
          </a:xfrm>
          <a:prstGeom prst="rect">
            <a:avLst/>
          </a:prstGeom>
          <a:noFill/>
          <a:ln/>
        </p:spPr>
        <p:txBody>
          <a:bodyPr wrap="square" lIns="0" tIns="0" rIns="0" bIns="0" rtlCol="0" anchor="ctr"/>
          <a:lstStyle/>
          <a:p>
            <a:pPr marL="0" indent="0" algn="l">
              <a:buNone/>
            </a:pPr>
            <a:r>
              <a:rPr lang="en-US" sz="3000" b="1" dirty="0">
                <a:solidFill>
                  <a:srgbClr val="1B7A43"/>
                </a:solidFill>
                <a:latin typeface="Cambria" pitchFamily="34" charset="0"/>
                <a:ea typeface="Cambria" pitchFamily="34" charset="-122"/>
                <a:cs typeface="Cambria" pitchFamily="34" charset="-120"/>
              </a:rPr>
              <a:t>+53.5%</a:t>
            </a:r>
            <a:endParaRPr lang="en-US" sz="3000" dirty="0"/>
          </a:p>
        </p:txBody>
      </p:sp>
      <p:sp>
        <p:nvSpPr>
          <p:cNvPr id="14" name="Text 11"/>
          <p:cNvSpPr/>
          <p:nvPr/>
        </p:nvSpPr>
        <p:spPr>
          <a:xfrm>
            <a:off x="3474720" y="2296058"/>
            <a:ext cx="2084832" cy="274320"/>
          </a:xfrm>
          <a:prstGeom prst="rect">
            <a:avLst/>
          </a:prstGeom>
          <a:noFill/>
          <a:ln/>
        </p:spPr>
        <p:txBody>
          <a:bodyPr wrap="square" lIns="0" tIns="0" rIns="0" bIns="0" rtlCol="0" anchor="ctr"/>
          <a:lstStyle/>
          <a:p>
            <a:pPr marL="0" indent="0">
              <a:buNone/>
            </a:pPr>
            <a:r>
              <a:rPr lang="en-US" sz="1300" b="1" dirty="0">
                <a:solidFill>
                  <a:srgbClr val="1F2A24"/>
                </a:solidFill>
                <a:latin typeface="Calibri" pitchFamily="34" charset="0"/>
                <a:ea typeface="Calibri" pitchFamily="34" charset="-122"/>
                <a:cs typeface="Calibri" pitchFamily="34" charset="-120"/>
              </a:rPr>
              <a:t>Revenue Growth</a:t>
            </a:r>
            <a:endParaRPr lang="en-US" sz="1300" dirty="0"/>
          </a:p>
        </p:txBody>
      </p:sp>
      <p:sp>
        <p:nvSpPr>
          <p:cNvPr id="15" name="Text 12"/>
          <p:cNvSpPr/>
          <p:nvPr/>
        </p:nvSpPr>
        <p:spPr>
          <a:xfrm>
            <a:off x="3474720" y="2542032"/>
            <a:ext cx="2084832" cy="256032"/>
          </a:xfrm>
          <a:prstGeom prst="rect">
            <a:avLst/>
          </a:prstGeom>
          <a:noFill/>
          <a:ln/>
        </p:spPr>
        <p:txBody>
          <a:bodyPr wrap="square" lIns="0" tIns="0" rIns="0" bIns="0" rtlCol="0" anchor="ctr"/>
          <a:lstStyle/>
          <a:p>
            <a:pPr marL="0" indent="0">
              <a:buNone/>
            </a:pPr>
            <a:r>
              <a:rPr lang="en-US" sz="1000" dirty="0">
                <a:solidFill>
                  <a:srgbClr val="5B6B62"/>
                </a:solidFill>
                <a:latin typeface="Calibri" pitchFamily="34" charset="0"/>
                <a:ea typeface="Calibri" pitchFamily="34" charset="-122"/>
                <a:cs typeface="Calibri" pitchFamily="34" charset="-120"/>
              </a:rPr>
              <a:t>Jan vs. May</a:t>
            </a:r>
            <a:endParaRPr lang="en-US" sz="1000" dirty="0"/>
          </a:p>
        </p:txBody>
      </p:sp>
      <p:sp>
        <p:nvSpPr>
          <p:cNvPr id="16" name="Shape 13"/>
          <p:cNvSpPr/>
          <p:nvPr/>
        </p:nvSpPr>
        <p:spPr>
          <a:xfrm>
            <a:off x="5989320" y="1417320"/>
            <a:ext cx="2542032" cy="1417320"/>
          </a:xfrm>
          <a:prstGeom prst="roundRect">
            <a:avLst>
              <a:gd name="adj" fmla="val 5161"/>
            </a:avLst>
          </a:prstGeom>
          <a:solidFill>
            <a:srgbClr val="F4FAF6"/>
          </a:solidFill>
          <a:ln/>
          <a:effectLst>
            <a:outerShdw blurRad="88900" dist="38100" dir="5400000" algn="bl" rotWithShape="0">
              <a:srgbClr val="000000">
                <a:alpha val="10000"/>
              </a:srgbClr>
            </a:outerShdw>
          </a:effectLst>
        </p:spPr>
      </p:sp>
      <p:sp>
        <p:nvSpPr>
          <p:cNvPr id="17" name="Text 14"/>
          <p:cNvSpPr/>
          <p:nvPr/>
        </p:nvSpPr>
        <p:spPr>
          <a:xfrm>
            <a:off x="6217920" y="1563624"/>
            <a:ext cx="2084832" cy="708660"/>
          </a:xfrm>
          <a:prstGeom prst="rect">
            <a:avLst/>
          </a:prstGeom>
          <a:noFill/>
          <a:ln/>
        </p:spPr>
        <p:txBody>
          <a:bodyPr wrap="square" lIns="0" tIns="0" rIns="0" bIns="0" rtlCol="0" anchor="ctr"/>
          <a:lstStyle/>
          <a:p>
            <a:pPr marL="0" indent="0" algn="l">
              <a:buNone/>
            </a:pPr>
            <a:r>
              <a:rPr lang="en-US" sz="3000" b="1" dirty="0">
                <a:solidFill>
                  <a:srgbClr val="0E5C36"/>
                </a:solidFill>
                <a:latin typeface="Cambria" pitchFamily="34" charset="0"/>
                <a:ea typeface="Cambria" pitchFamily="34" charset="-122"/>
                <a:cs typeface="Cambria" pitchFamily="34" charset="-120"/>
              </a:rPr>
              <a:t>₹2,10,000</a:t>
            </a:r>
            <a:endParaRPr lang="en-US" sz="3000" dirty="0"/>
          </a:p>
        </p:txBody>
      </p:sp>
      <p:sp>
        <p:nvSpPr>
          <p:cNvPr id="18" name="Text 15"/>
          <p:cNvSpPr/>
          <p:nvPr/>
        </p:nvSpPr>
        <p:spPr>
          <a:xfrm>
            <a:off x="6217920" y="2296058"/>
            <a:ext cx="2084832" cy="274320"/>
          </a:xfrm>
          <a:prstGeom prst="rect">
            <a:avLst/>
          </a:prstGeom>
          <a:noFill/>
          <a:ln/>
        </p:spPr>
        <p:txBody>
          <a:bodyPr wrap="square" lIns="0" tIns="0" rIns="0" bIns="0" rtlCol="0" anchor="ctr"/>
          <a:lstStyle/>
          <a:p>
            <a:pPr marL="0" indent="0">
              <a:buNone/>
            </a:pPr>
            <a:r>
              <a:rPr lang="en-US" sz="1300" b="1" dirty="0">
                <a:solidFill>
                  <a:srgbClr val="1F2A24"/>
                </a:solidFill>
                <a:latin typeface="Calibri" pitchFamily="34" charset="0"/>
                <a:ea typeface="Calibri" pitchFamily="34" charset="-122"/>
                <a:cs typeface="Calibri" pitchFamily="34" charset="-120"/>
              </a:rPr>
              <a:t>Gross Profit</a:t>
            </a:r>
            <a:endParaRPr lang="en-US" sz="1300" dirty="0"/>
          </a:p>
        </p:txBody>
      </p:sp>
      <p:sp>
        <p:nvSpPr>
          <p:cNvPr id="19" name="Text 16"/>
          <p:cNvSpPr/>
          <p:nvPr/>
        </p:nvSpPr>
        <p:spPr>
          <a:xfrm>
            <a:off x="6217920" y="2542032"/>
            <a:ext cx="2084832" cy="256032"/>
          </a:xfrm>
          <a:prstGeom prst="rect">
            <a:avLst/>
          </a:prstGeom>
          <a:noFill/>
          <a:ln/>
        </p:spPr>
        <p:txBody>
          <a:bodyPr wrap="square" lIns="0" tIns="0" rIns="0" bIns="0" rtlCol="0" anchor="ctr"/>
          <a:lstStyle/>
          <a:p>
            <a:pPr marL="0" indent="0">
              <a:buNone/>
            </a:pPr>
            <a:r>
              <a:rPr lang="en-US" sz="1000" dirty="0">
                <a:solidFill>
                  <a:srgbClr val="5B6B62"/>
                </a:solidFill>
                <a:latin typeface="Calibri" pitchFamily="34" charset="0"/>
                <a:ea typeface="Calibri" pitchFamily="34" charset="-122"/>
                <a:cs typeface="Calibri" pitchFamily="34" charset="-120"/>
              </a:rPr>
              <a:t>59.3% gross margin</a:t>
            </a:r>
            <a:endParaRPr lang="en-US" sz="1000" dirty="0"/>
          </a:p>
        </p:txBody>
      </p:sp>
      <p:sp>
        <p:nvSpPr>
          <p:cNvPr id="20" name="Shape 17"/>
          <p:cNvSpPr/>
          <p:nvPr/>
        </p:nvSpPr>
        <p:spPr>
          <a:xfrm>
            <a:off x="8732520" y="1417320"/>
            <a:ext cx="2542032" cy="1417320"/>
          </a:xfrm>
          <a:prstGeom prst="roundRect">
            <a:avLst>
              <a:gd name="adj" fmla="val 5161"/>
            </a:avLst>
          </a:prstGeom>
          <a:solidFill>
            <a:srgbClr val="F4FAF6"/>
          </a:solidFill>
          <a:ln/>
          <a:effectLst>
            <a:outerShdw blurRad="88900" dist="38100" dir="5400000" algn="bl" rotWithShape="0">
              <a:srgbClr val="000000">
                <a:alpha val="10000"/>
              </a:srgbClr>
            </a:outerShdw>
          </a:effectLst>
        </p:spPr>
      </p:sp>
      <p:sp>
        <p:nvSpPr>
          <p:cNvPr id="21" name="Text 18"/>
          <p:cNvSpPr/>
          <p:nvPr/>
        </p:nvSpPr>
        <p:spPr>
          <a:xfrm>
            <a:off x="8961120" y="1563624"/>
            <a:ext cx="2084832" cy="708660"/>
          </a:xfrm>
          <a:prstGeom prst="rect">
            <a:avLst/>
          </a:prstGeom>
          <a:noFill/>
          <a:ln/>
        </p:spPr>
        <p:txBody>
          <a:bodyPr wrap="square" lIns="0" tIns="0" rIns="0" bIns="0" rtlCol="0" anchor="ctr"/>
          <a:lstStyle/>
          <a:p>
            <a:pPr marL="0" indent="0" algn="l">
              <a:buNone/>
            </a:pPr>
            <a:r>
              <a:rPr lang="en-US" sz="3000" b="1" dirty="0">
                <a:solidFill>
                  <a:srgbClr val="1B7A43"/>
                </a:solidFill>
                <a:latin typeface="Cambria" pitchFamily="34" charset="0"/>
                <a:ea typeface="Cambria" pitchFamily="34" charset="-122"/>
                <a:cs typeface="Cambria" pitchFamily="34" charset="-120"/>
              </a:rPr>
              <a:t>₹1,25,000</a:t>
            </a:r>
            <a:endParaRPr lang="en-US" sz="3000" dirty="0"/>
          </a:p>
        </p:txBody>
      </p:sp>
      <p:sp>
        <p:nvSpPr>
          <p:cNvPr id="22" name="Text 19"/>
          <p:cNvSpPr/>
          <p:nvPr/>
        </p:nvSpPr>
        <p:spPr>
          <a:xfrm>
            <a:off x="8961120" y="2296058"/>
            <a:ext cx="2084832" cy="274320"/>
          </a:xfrm>
          <a:prstGeom prst="rect">
            <a:avLst/>
          </a:prstGeom>
          <a:noFill/>
          <a:ln/>
        </p:spPr>
        <p:txBody>
          <a:bodyPr wrap="square" lIns="0" tIns="0" rIns="0" bIns="0" rtlCol="0" anchor="ctr"/>
          <a:lstStyle/>
          <a:p>
            <a:pPr marL="0" indent="0">
              <a:buNone/>
            </a:pPr>
            <a:r>
              <a:rPr lang="en-US" sz="1300" b="1" dirty="0">
                <a:solidFill>
                  <a:srgbClr val="1F2A24"/>
                </a:solidFill>
                <a:latin typeface="Calibri" pitchFamily="34" charset="0"/>
                <a:ea typeface="Calibri" pitchFamily="34" charset="-122"/>
                <a:cs typeface="Calibri" pitchFamily="34" charset="-120"/>
              </a:rPr>
              <a:t>Net Profit</a:t>
            </a:r>
            <a:endParaRPr lang="en-US" sz="1300" dirty="0"/>
          </a:p>
        </p:txBody>
      </p:sp>
      <p:sp>
        <p:nvSpPr>
          <p:cNvPr id="23" name="Text 20"/>
          <p:cNvSpPr/>
          <p:nvPr/>
        </p:nvSpPr>
        <p:spPr>
          <a:xfrm>
            <a:off x="8961120" y="2542032"/>
            <a:ext cx="2084832" cy="256032"/>
          </a:xfrm>
          <a:prstGeom prst="rect">
            <a:avLst/>
          </a:prstGeom>
          <a:noFill/>
          <a:ln/>
        </p:spPr>
        <p:txBody>
          <a:bodyPr wrap="square" lIns="0" tIns="0" rIns="0" bIns="0" rtlCol="0" anchor="ctr"/>
          <a:lstStyle/>
          <a:p>
            <a:pPr marL="0" indent="0">
              <a:buNone/>
            </a:pPr>
            <a:r>
              <a:rPr lang="en-US" sz="1000" dirty="0">
                <a:solidFill>
                  <a:srgbClr val="5B6B62"/>
                </a:solidFill>
                <a:latin typeface="Calibri" pitchFamily="34" charset="0"/>
                <a:ea typeface="Calibri" pitchFamily="34" charset="-122"/>
                <a:cs typeface="Calibri" pitchFamily="34" charset="-120"/>
              </a:rPr>
              <a:t>35.3% net margin</a:t>
            </a:r>
            <a:endParaRPr lang="en-US" sz="1000" dirty="0"/>
          </a:p>
        </p:txBody>
      </p:sp>
      <p:sp>
        <p:nvSpPr>
          <p:cNvPr id="24" name="Text 21"/>
          <p:cNvSpPr/>
          <p:nvPr/>
        </p:nvSpPr>
        <p:spPr>
          <a:xfrm>
            <a:off x="502920" y="3127248"/>
            <a:ext cx="5486400" cy="320040"/>
          </a:xfrm>
          <a:prstGeom prst="rect">
            <a:avLst/>
          </a:prstGeom>
          <a:noFill/>
          <a:ln/>
        </p:spPr>
        <p:txBody>
          <a:bodyPr wrap="square" lIns="0" tIns="0" rIns="0" bIns="0" rtlCol="0" anchor="ctr"/>
          <a:lstStyle/>
          <a:p>
            <a:pPr marL="0" indent="0">
              <a:buNone/>
            </a:pPr>
            <a:r>
              <a:rPr lang="en-US" sz="1600" b="1" dirty="0">
                <a:solidFill>
                  <a:srgbClr val="1F2A24"/>
                </a:solidFill>
                <a:latin typeface="Cambria" pitchFamily="34" charset="0"/>
                <a:ea typeface="Cambria" pitchFamily="34" charset="-122"/>
                <a:cs typeface="Cambria" pitchFamily="34" charset="-120"/>
              </a:rPr>
              <a:t>Key Takeaways</a:t>
            </a:r>
            <a:endParaRPr lang="en-US" sz="1600" dirty="0"/>
          </a:p>
        </p:txBody>
      </p:sp>
      <p:sp>
        <p:nvSpPr>
          <p:cNvPr id="25" name="Shape 22"/>
          <p:cNvSpPr/>
          <p:nvPr/>
        </p:nvSpPr>
        <p:spPr>
          <a:xfrm>
            <a:off x="502920" y="3511296"/>
            <a:ext cx="292608" cy="292608"/>
          </a:xfrm>
          <a:prstGeom prst="ellipse">
            <a:avLst/>
          </a:prstGeom>
          <a:solidFill>
            <a:srgbClr val="1B7A43"/>
          </a:solidFill>
          <a:ln/>
        </p:spPr>
      </p:sp>
      <p:pic>
        <p:nvPicPr>
          <p:cNvPr id="26" name="Image 1" descr="preencoded.png"/>
          <p:cNvPicPr>
            <a:picLocks noChangeAspect="1"/>
          </p:cNvPicPr>
          <p:nvPr/>
        </p:nvPicPr>
        <p:blipFill>
          <a:blip r:embed="rId4"/>
          <a:stretch>
            <a:fillRect/>
          </a:stretch>
        </p:blipFill>
        <p:spPr>
          <a:xfrm>
            <a:off x="540959" y="3549335"/>
            <a:ext cx="216530" cy="216530"/>
          </a:xfrm>
          <a:prstGeom prst="rect">
            <a:avLst/>
          </a:prstGeom>
        </p:spPr>
      </p:pic>
      <p:sp>
        <p:nvSpPr>
          <p:cNvPr id="27" name="Text 23"/>
          <p:cNvSpPr/>
          <p:nvPr/>
        </p:nvSpPr>
        <p:spPr>
          <a:xfrm>
            <a:off x="960120" y="3438144"/>
            <a:ext cx="5074920" cy="640080"/>
          </a:xfrm>
          <a:prstGeom prst="rect">
            <a:avLst/>
          </a:prstGeom>
          <a:noFill/>
          <a:ln/>
        </p:spPr>
        <p:txBody>
          <a:bodyPr wrap="square" lIns="0" tIns="0" rIns="0" bIns="0" rtlCol="0" anchor="t"/>
          <a:lstStyle/>
          <a:p>
            <a:pPr marL="0" indent="0">
              <a:buNone/>
            </a:pPr>
            <a:r>
              <a:rPr lang="en-US" sz="1250" dirty="0">
                <a:solidFill>
                  <a:srgbClr val="1F2A24"/>
                </a:solidFill>
                <a:latin typeface="Calibri" pitchFamily="34" charset="0"/>
                <a:ea typeface="Calibri" pitchFamily="34" charset="-122"/>
                <a:cs typeface="Calibri" pitchFamily="34" charset="-120"/>
              </a:rPr>
              <a:t>Revenue climbed every month bar one, with a single‑month dip in March quickly reversed by a 23.7% April rebound.</a:t>
            </a:r>
            <a:endParaRPr lang="en-US" sz="1250" dirty="0"/>
          </a:p>
        </p:txBody>
      </p:sp>
      <p:sp>
        <p:nvSpPr>
          <p:cNvPr id="28" name="Shape 24"/>
          <p:cNvSpPr/>
          <p:nvPr/>
        </p:nvSpPr>
        <p:spPr>
          <a:xfrm>
            <a:off x="502920" y="4224528"/>
            <a:ext cx="292608" cy="292608"/>
          </a:xfrm>
          <a:prstGeom prst="ellipse">
            <a:avLst/>
          </a:prstGeom>
          <a:solidFill>
            <a:srgbClr val="1B7A43"/>
          </a:solidFill>
          <a:ln/>
        </p:spPr>
      </p:sp>
      <p:pic>
        <p:nvPicPr>
          <p:cNvPr id="29" name="Image 2" descr="preencoded.png"/>
          <p:cNvPicPr>
            <a:picLocks noChangeAspect="1"/>
          </p:cNvPicPr>
          <p:nvPr/>
        </p:nvPicPr>
        <p:blipFill>
          <a:blip r:embed="rId4"/>
          <a:stretch>
            <a:fillRect/>
          </a:stretch>
        </p:blipFill>
        <p:spPr>
          <a:xfrm>
            <a:off x="540959" y="4262567"/>
            <a:ext cx="216530" cy="216530"/>
          </a:xfrm>
          <a:prstGeom prst="rect">
            <a:avLst/>
          </a:prstGeom>
        </p:spPr>
      </p:pic>
      <p:sp>
        <p:nvSpPr>
          <p:cNvPr id="30" name="Text 25"/>
          <p:cNvSpPr/>
          <p:nvPr/>
        </p:nvSpPr>
        <p:spPr>
          <a:xfrm>
            <a:off x="960120" y="4151376"/>
            <a:ext cx="5074920" cy="640080"/>
          </a:xfrm>
          <a:prstGeom prst="rect">
            <a:avLst/>
          </a:prstGeom>
          <a:noFill/>
          <a:ln/>
        </p:spPr>
        <p:txBody>
          <a:bodyPr wrap="square" lIns="0" tIns="0" rIns="0" bIns="0" rtlCol="0" anchor="t"/>
          <a:lstStyle/>
          <a:p>
            <a:pPr marL="0" indent="0">
              <a:buNone/>
            </a:pPr>
            <a:r>
              <a:rPr lang="en-US" sz="1250" dirty="0">
                <a:solidFill>
                  <a:srgbClr val="1F2A24"/>
                </a:solidFill>
                <a:latin typeface="Calibri" pitchFamily="34" charset="0"/>
                <a:ea typeface="Calibri" pitchFamily="34" charset="-122"/>
                <a:cs typeface="Calibri" pitchFamily="34" charset="-120"/>
              </a:rPr>
              <a:t>Gross margin of roughly 59% sits comfortably above typical retail benchmarks, pointing to healthy pricing and cost discipline.</a:t>
            </a:r>
            <a:endParaRPr lang="en-US" sz="1250" dirty="0"/>
          </a:p>
        </p:txBody>
      </p:sp>
      <p:sp>
        <p:nvSpPr>
          <p:cNvPr id="31" name="Shape 26"/>
          <p:cNvSpPr/>
          <p:nvPr/>
        </p:nvSpPr>
        <p:spPr>
          <a:xfrm>
            <a:off x="502920" y="4937760"/>
            <a:ext cx="292608" cy="292608"/>
          </a:xfrm>
          <a:prstGeom prst="ellipse">
            <a:avLst/>
          </a:prstGeom>
          <a:solidFill>
            <a:srgbClr val="1B7A43"/>
          </a:solidFill>
          <a:ln/>
        </p:spPr>
      </p:sp>
      <p:pic>
        <p:nvPicPr>
          <p:cNvPr id="32" name="Image 3" descr="preencoded.png"/>
          <p:cNvPicPr>
            <a:picLocks noChangeAspect="1"/>
          </p:cNvPicPr>
          <p:nvPr/>
        </p:nvPicPr>
        <p:blipFill>
          <a:blip r:embed="rId4"/>
          <a:stretch>
            <a:fillRect/>
          </a:stretch>
        </p:blipFill>
        <p:spPr>
          <a:xfrm>
            <a:off x="540959" y="4975799"/>
            <a:ext cx="216530" cy="216530"/>
          </a:xfrm>
          <a:prstGeom prst="rect">
            <a:avLst/>
          </a:prstGeom>
        </p:spPr>
      </p:pic>
      <p:sp>
        <p:nvSpPr>
          <p:cNvPr id="33" name="Text 27"/>
          <p:cNvSpPr/>
          <p:nvPr/>
        </p:nvSpPr>
        <p:spPr>
          <a:xfrm>
            <a:off x="960120" y="4864608"/>
            <a:ext cx="5074920" cy="640080"/>
          </a:xfrm>
          <a:prstGeom prst="rect">
            <a:avLst/>
          </a:prstGeom>
          <a:noFill/>
          <a:ln/>
        </p:spPr>
        <p:txBody>
          <a:bodyPr wrap="square" lIns="0" tIns="0" rIns="0" bIns="0" rtlCol="0" anchor="t"/>
          <a:lstStyle/>
          <a:p>
            <a:pPr marL="0" indent="0">
              <a:buNone/>
            </a:pPr>
            <a:r>
              <a:rPr lang="en-US" sz="1250" dirty="0">
                <a:solidFill>
                  <a:srgbClr val="1F2A24"/>
                </a:solidFill>
                <a:latin typeface="Calibri" pitchFamily="34" charset="0"/>
                <a:ea typeface="Calibri" pitchFamily="34" charset="-122"/>
                <a:cs typeface="Calibri" pitchFamily="34" charset="-120"/>
              </a:rPr>
              <a:t>Service revenue is growing in lock‑step with product sales, broadening the income base beyond a single stream.</a:t>
            </a:r>
            <a:endParaRPr lang="en-US" sz="1250" dirty="0"/>
          </a:p>
        </p:txBody>
      </p:sp>
      <p:sp>
        <p:nvSpPr>
          <p:cNvPr id="34" name="Shape 28"/>
          <p:cNvSpPr/>
          <p:nvPr/>
        </p:nvSpPr>
        <p:spPr>
          <a:xfrm>
            <a:off x="502920" y="5650992"/>
            <a:ext cx="292608" cy="292608"/>
          </a:xfrm>
          <a:prstGeom prst="ellipse">
            <a:avLst/>
          </a:prstGeom>
          <a:solidFill>
            <a:srgbClr val="1B7A43"/>
          </a:solidFill>
          <a:ln/>
        </p:spPr>
      </p:sp>
      <p:pic>
        <p:nvPicPr>
          <p:cNvPr id="35" name="Image 4" descr="preencoded.png"/>
          <p:cNvPicPr>
            <a:picLocks noChangeAspect="1"/>
          </p:cNvPicPr>
          <p:nvPr/>
        </p:nvPicPr>
        <p:blipFill>
          <a:blip r:embed="rId4"/>
          <a:stretch>
            <a:fillRect/>
          </a:stretch>
        </p:blipFill>
        <p:spPr>
          <a:xfrm>
            <a:off x="540959" y="5689031"/>
            <a:ext cx="216530" cy="216530"/>
          </a:xfrm>
          <a:prstGeom prst="rect">
            <a:avLst/>
          </a:prstGeom>
        </p:spPr>
      </p:pic>
      <p:sp>
        <p:nvSpPr>
          <p:cNvPr id="36" name="Text 29"/>
          <p:cNvSpPr/>
          <p:nvPr/>
        </p:nvSpPr>
        <p:spPr>
          <a:xfrm>
            <a:off x="960120" y="5577840"/>
            <a:ext cx="5074920" cy="640080"/>
          </a:xfrm>
          <a:prstGeom prst="rect">
            <a:avLst/>
          </a:prstGeom>
          <a:noFill/>
          <a:ln/>
        </p:spPr>
        <p:txBody>
          <a:bodyPr wrap="square" lIns="0" tIns="0" rIns="0" bIns="0" rtlCol="0" anchor="t"/>
          <a:lstStyle/>
          <a:p>
            <a:pPr marL="0" indent="0">
              <a:buNone/>
            </a:pPr>
            <a:r>
              <a:rPr lang="en-US" sz="1250" dirty="0">
                <a:solidFill>
                  <a:srgbClr val="1F2A24"/>
                </a:solidFill>
                <a:latin typeface="Calibri" pitchFamily="34" charset="0"/>
                <a:ea typeface="Calibri" pitchFamily="34" charset="-122"/>
                <a:cs typeface="Calibri" pitchFamily="34" charset="-120"/>
              </a:rPr>
              <a:t>A formula-driven Excel framework (SUM, AVERAGE, growth‑%) keeps the dashboard auditable and easy to refresh monthly.</a:t>
            </a:r>
            <a:endParaRPr lang="en-US" sz="1250" dirty="0"/>
          </a:p>
        </p:txBody>
      </p:sp>
      <p:sp>
        <p:nvSpPr>
          <p:cNvPr id="37" name="Shape 30"/>
          <p:cNvSpPr/>
          <p:nvPr/>
        </p:nvSpPr>
        <p:spPr>
          <a:xfrm>
            <a:off x="6446520" y="3127248"/>
            <a:ext cx="5257800" cy="3154680"/>
          </a:xfrm>
          <a:prstGeom prst="roundRect">
            <a:avLst>
              <a:gd name="adj" fmla="val 2319"/>
            </a:avLst>
          </a:prstGeom>
          <a:solidFill>
            <a:srgbClr val="F4FAF6"/>
          </a:solidFill>
          <a:ln/>
          <a:effectLst>
            <a:outerShdw blurRad="76200" dist="25400" dir="5400000" algn="bl" rotWithShape="0">
              <a:srgbClr val="000000">
                <a:alpha val="8000"/>
              </a:srgbClr>
            </a:outerShdw>
          </a:effectLst>
        </p:spPr>
      </p:sp>
      <p:sp>
        <p:nvSpPr>
          <p:cNvPr id="38" name="Text 31"/>
          <p:cNvSpPr/>
          <p:nvPr/>
        </p:nvSpPr>
        <p:spPr>
          <a:xfrm>
            <a:off x="6720840" y="3246120"/>
            <a:ext cx="3657600" cy="274320"/>
          </a:xfrm>
          <a:prstGeom prst="rect">
            <a:avLst/>
          </a:prstGeom>
          <a:noFill/>
          <a:ln/>
        </p:spPr>
        <p:txBody>
          <a:bodyPr wrap="square" lIns="0" tIns="0" rIns="0" bIns="0" rtlCol="0" anchor="ctr"/>
          <a:lstStyle/>
          <a:p>
            <a:pPr marL="0" indent="0">
              <a:buNone/>
            </a:pPr>
            <a:r>
              <a:rPr lang="en-US" sz="1250" b="1" dirty="0">
                <a:solidFill>
                  <a:srgbClr val="1F2A24"/>
                </a:solidFill>
                <a:latin typeface="Calibri" pitchFamily="34" charset="0"/>
                <a:ea typeface="Calibri" pitchFamily="34" charset="-122"/>
                <a:cs typeface="Calibri" pitchFamily="34" charset="-120"/>
              </a:rPr>
              <a:t>Revenue Composition</a:t>
            </a:r>
            <a:endParaRPr lang="en-US" sz="1250" dirty="0"/>
          </a:p>
        </p:txBody>
      </p:sp>
      <p:graphicFrame>
        <p:nvGraphicFramePr>
          <p:cNvPr id="39" name="Chart 0"/>
          <p:cNvGraphicFramePr/>
          <p:nvPr/>
        </p:nvGraphicFramePr>
        <p:xfrm>
          <a:off x="6629400" y="3520440"/>
          <a:ext cx="2743200" cy="2651760"/>
        </p:xfrm>
        <a:graphic>
          <a:graphicData uri="http://schemas.openxmlformats.org/drawingml/2006/chart">
            <c:chart xmlns:c="http://schemas.openxmlformats.org/drawingml/2006/chart" xmlns:r="http://schemas.openxmlformats.org/officeDocument/2006/relationships" r:id="rId5"/>
          </a:graphicData>
        </a:graphic>
      </p:graphicFrame>
      <p:sp>
        <p:nvSpPr>
          <p:cNvPr id="40" name="Text 32"/>
          <p:cNvSpPr/>
          <p:nvPr/>
        </p:nvSpPr>
        <p:spPr>
          <a:xfrm>
            <a:off x="9464040" y="3749040"/>
            <a:ext cx="2103120" cy="640080"/>
          </a:xfrm>
          <a:prstGeom prst="rect">
            <a:avLst/>
          </a:prstGeom>
          <a:noFill/>
          <a:ln/>
        </p:spPr>
        <p:txBody>
          <a:bodyPr wrap="square" lIns="0" tIns="0" rIns="0" bIns="0" rtlCol="0" anchor="ctr"/>
          <a:lstStyle/>
          <a:p>
            <a:pPr marL="0" indent="0">
              <a:buNone/>
            </a:pPr>
            <a:r>
              <a:rPr lang="en-US" sz="1100" b="1" dirty="0">
                <a:solidFill>
                  <a:srgbClr val="0E5C36"/>
                </a:solidFill>
                <a:latin typeface="Calibri" pitchFamily="34" charset="0"/>
                <a:ea typeface="Calibri" pitchFamily="34" charset="-122"/>
                <a:cs typeface="Calibri" pitchFamily="34" charset="-120"/>
              </a:rPr>
              <a:t>Product Sales: </a:t>
            </a:r>
            <a:endParaRPr lang="en-US" sz="1100" dirty="0"/>
          </a:p>
          <a:p>
            <a:pPr marL="0" indent="0">
              <a:buNone/>
            </a:pPr>
            <a:r>
              <a:rPr lang="en-US" sz="1100" dirty="0">
                <a:solidFill>
                  <a:srgbClr val="1F2A24"/>
                </a:solidFill>
                <a:latin typeface="Calibri" pitchFamily="34" charset="0"/>
                <a:ea typeface="Calibri" pitchFamily="34" charset="-122"/>
                <a:cs typeface="Calibri" pitchFamily="34" charset="-120"/>
              </a:rPr>
              <a:t>₹2,73,500 (77%)</a:t>
            </a:r>
            <a:endParaRPr lang="en-US" sz="1100" dirty="0"/>
          </a:p>
        </p:txBody>
      </p:sp>
      <p:sp>
        <p:nvSpPr>
          <p:cNvPr id="41" name="Text 33"/>
          <p:cNvSpPr/>
          <p:nvPr/>
        </p:nvSpPr>
        <p:spPr>
          <a:xfrm>
            <a:off x="9464040" y="4434840"/>
            <a:ext cx="2103120" cy="548640"/>
          </a:xfrm>
          <a:prstGeom prst="rect">
            <a:avLst/>
          </a:prstGeom>
          <a:noFill/>
          <a:ln/>
        </p:spPr>
        <p:txBody>
          <a:bodyPr wrap="square" lIns="0" tIns="0" rIns="0" bIns="0" rtlCol="0" anchor="ctr"/>
          <a:lstStyle/>
          <a:p>
            <a:pPr marL="0" indent="0">
              <a:buNone/>
            </a:pPr>
            <a:r>
              <a:rPr lang="en-US" sz="1100" b="1" dirty="0">
                <a:solidFill>
                  <a:srgbClr val="B8860B"/>
                </a:solidFill>
                <a:latin typeface="Calibri" pitchFamily="34" charset="0"/>
                <a:ea typeface="Calibri" pitchFamily="34" charset="-122"/>
                <a:cs typeface="Calibri" pitchFamily="34" charset="-120"/>
              </a:rPr>
              <a:t>Service Revenue: </a:t>
            </a:r>
            <a:endParaRPr lang="en-US" sz="1100" dirty="0"/>
          </a:p>
          <a:p>
            <a:pPr marL="0" indent="0">
              <a:buNone/>
            </a:pPr>
            <a:r>
              <a:rPr lang="en-US" sz="1100" dirty="0">
                <a:solidFill>
                  <a:srgbClr val="1F2A24"/>
                </a:solidFill>
                <a:latin typeface="Calibri" pitchFamily="34" charset="0"/>
                <a:ea typeface="Calibri" pitchFamily="34" charset="-122"/>
                <a:cs typeface="Calibri" pitchFamily="34" charset="-120"/>
              </a:rPr>
              <a:t>₹80,700 (23%)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0E5C36"/>
          </a:solidFill>
          <a:ln/>
        </p:spPr>
      </p:sp>
      <p:pic>
        <p:nvPicPr>
          <p:cNvPr id="3" name="Image 0" descr="preencoded.png"/>
          <p:cNvPicPr>
            <a:picLocks noChangeAspect="1"/>
          </p:cNvPicPr>
          <p:nvPr/>
        </p:nvPicPr>
        <p:blipFill>
          <a:blip r:embed="rId3"/>
          <a:stretch>
            <a:fillRect/>
          </a:stretch>
        </p:blipFill>
        <p:spPr>
          <a:xfrm>
            <a:off x="568300" y="522580"/>
            <a:ext cx="372161" cy="372161"/>
          </a:xfrm>
          <a:prstGeom prst="rect">
            <a:avLst/>
          </a:prstGeom>
        </p:spPr>
      </p:pic>
      <p:sp>
        <p:nvSpPr>
          <p:cNvPr id="4" name="Text 1"/>
          <p:cNvSpPr/>
          <p:nvPr/>
        </p:nvSpPr>
        <p:spPr>
          <a:xfrm>
            <a:off x="1143000" y="420624"/>
            <a:ext cx="7315200" cy="274320"/>
          </a:xfrm>
          <a:prstGeom prst="rect">
            <a:avLst/>
          </a:prstGeom>
          <a:noFill/>
          <a:ln/>
        </p:spPr>
        <p:txBody>
          <a:bodyPr wrap="square" lIns="0" tIns="0" rIns="0" bIns="0" rtlCol="0" anchor="ctr"/>
          <a:lstStyle/>
          <a:p>
            <a:pPr marL="0" indent="0">
              <a:buNone/>
            </a:pPr>
            <a:r>
              <a:rPr lang="en-US" sz="1150" b="1" kern="0" spc="200" dirty="0">
                <a:solidFill>
                  <a:srgbClr val="1B7A43"/>
                </a:solidFill>
                <a:latin typeface="Calibri" pitchFamily="34" charset="0"/>
                <a:ea typeface="Calibri" pitchFamily="34" charset="-122"/>
                <a:cs typeface="Calibri" pitchFamily="34" charset="-120"/>
              </a:rPr>
              <a:t>FRAMEWORK</a:t>
            </a:r>
            <a:endParaRPr lang="en-US" sz="1150" dirty="0"/>
          </a:p>
        </p:txBody>
      </p:sp>
      <p:sp>
        <p:nvSpPr>
          <p:cNvPr id="5" name="Text 2"/>
          <p:cNvSpPr/>
          <p:nvPr/>
        </p:nvSpPr>
        <p:spPr>
          <a:xfrm>
            <a:off x="1143000" y="658368"/>
            <a:ext cx="9875520" cy="502920"/>
          </a:xfrm>
          <a:prstGeom prst="rect">
            <a:avLst/>
          </a:prstGeom>
          <a:noFill/>
          <a:ln/>
        </p:spPr>
        <p:txBody>
          <a:bodyPr wrap="square" lIns="0" tIns="0" rIns="0" bIns="0" rtlCol="0" anchor="ctr"/>
          <a:lstStyle/>
          <a:p>
            <a:pPr marL="0" indent="0">
              <a:buNone/>
            </a:pPr>
            <a:r>
              <a:rPr lang="en-US" sz="2600" b="1" dirty="0">
                <a:solidFill>
                  <a:srgbClr val="1F2A24"/>
                </a:solidFill>
                <a:latin typeface="Cambria" pitchFamily="34" charset="0"/>
                <a:ea typeface="Cambria" pitchFamily="34" charset="-122"/>
                <a:cs typeface="Cambria" pitchFamily="34" charset="-120"/>
              </a:rPr>
              <a:t>Business Analytics Overview</a:t>
            </a:r>
            <a:endParaRPr lang="en-US" sz="2600" dirty="0"/>
          </a:p>
        </p:txBody>
      </p:sp>
      <p:sp>
        <p:nvSpPr>
          <p:cNvPr id="6" name="Text 3"/>
          <p:cNvSpPr/>
          <p:nvPr/>
        </p:nvSpPr>
        <p:spPr>
          <a:xfrm>
            <a:off x="502920" y="6528816"/>
            <a:ext cx="7315200" cy="256032"/>
          </a:xfrm>
          <a:prstGeom prst="rect">
            <a:avLst/>
          </a:prstGeom>
          <a:noFill/>
          <a:ln/>
        </p:spPr>
        <p:txBody>
          <a:bodyPr wrap="square" lIns="0" tIns="0" rIns="0" bIns="0" rtlCol="0" anchor="ctr"/>
          <a:lstStyle/>
          <a:p>
            <a:pPr marL="0" indent="0">
              <a:buNone/>
            </a:pPr>
            <a:r>
              <a:rPr lang="en-US" sz="850" dirty="0">
                <a:solidFill>
                  <a:srgbClr val="5B6B62"/>
                </a:solidFill>
                <a:latin typeface="Calibri" pitchFamily="34" charset="0"/>
                <a:ea typeface="Calibri" pitchFamily="34" charset="-122"/>
                <a:cs typeface="Calibri" pitchFamily="34" charset="-120"/>
              </a:rPr>
              <a:t>BUSINESS ANALYTICS  •  REVENUE &amp; METRICS FRAMEWORK</a:t>
            </a:r>
            <a:endParaRPr lang="en-US" sz="850" dirty="0"/>
          </a:p>
        </p:txBody>
      </p:sp>
      <p:sp>
        <p:nvSpPr>
          <p:cNvPr id="7" name="Text 4"/>
          <p:cNvSpPr/>
          <p:nvPr/>
        </p:nvSpPr>
        <p:spPr>
          <a:xfrm>
            <a:off x="11228832" y="6528816"/>
            <a:ext cx="457200" cy="256032"/>
          </a:xfrm>
          <a:prstGeom prst="rect">
            <a:avLst/>
          </a:prstGeom>
          <a:noFill/>
          <a:ln/>
        </p:spPr>
        <p:txBody>
          <a:bodyPr wrap="square" lIns="0" tIns="0" rIns="0" bIns="0" rtlCol="0" anchor="ctr"/>
          <a:lstStyle/>
          <a:p>
            <a:pPr marL="0" indent="0" algn="r">
              <a:buNone/>
            </a:pPr>
            <a:r>
              <a:rPr lang="en-US" sz="850" dirty="0">
                <a:solidFill>
                  <a:srgbClr val="5B6B62"/>
                </a:solidFill>
                <a:latin typeface="Calibri" pitchFamily="34" charset="0"/>
                <a:ea typeface="Calibri" pitchFamily="34" charset="-122"/>
                <a:cs typeface="Calibri" pitchFamily="34" charset="-120"/>
              </a:rPr>
              <a:t>3</a:t>
            </a:r>
            <a:endParaRPr lang="en-US" sz="850" dirty="0"/>
          </a:p>
        </p:txBody>
      </p:sp>
      <p:sp>
        <p:nvSpPr>
          <p:cNvPr id="8" name="Text 5"/>
          <p:cNvSpPr/>
          <p:nvPr/>
        </p:nvSpPr>
        <p:spPr>
          <a:xfrm>
            <a:off x="502920" y="1371600"/>
            <a:ext cx="10515600" cy="457200"/>
          </a:xfrm>
          <a:prstGeom prst="rect">
            <a:avLst/>
          </a:prstGeom>
          <a:noFill/>
          <a:ln/>
        </p:spPr>
        <p:txBody>
          <a:bodyPr wrap="square" lIns="0" tIns="0" rIns="0" bIns="0" rtlCol="0" anchor="ctr"/>
          <a:lstStyle/>
          <a:p>
            <a:pPr marL="0" indent="0">
              <a:buNone/>
            </a:pPr>
            <a:r>
              <a:rPr lang="en-US" sz="1300" dirty="0">
                <a:solidFill>
                  <a:srgbClr val="5B6B62"/>
                </a:solidFill>
                <a:latin typeface="Calibri" pitchFamily="34" charset="0"/>
                <a:ea typeface="Calibri" pitchFamily="34" charset="-122"/>
                <a:cs typeface="Calibri" pitchFamily="34" charset="-120"/>
              </a:rPr>
              <a:t>A four-stage analytics loop turns raw transaction data into decisions leadership can act on every month.</a:t>
            </a:r>
            <a:endParaRPr lang="en-US" sz="1300" dirty="0"/>
          </a:p>
        </p:txBody>
      </p:sp>
      <p:sp>
        <p:nvSpPr>
          <p:cNvPr id="9" name="Shape 6"/>
          <p:cNvSpPr/>
          <p:nvPr/>
        </p:nvSpPr>
        <p:spPr>
          <a:xfrm>
            <a:off x="502920" y="2148840"/>
            <a:ext cx="2542032" cy="3246120"/>
          </a:xfrm>
          <a:prstGeom prst="roundRect">
            <a:avLst>
              <a:gd name="adj" fmla="val 2878"/>
            </a:avLst>
          </a:prstGeom>
          <a:solidFill>
            <a:srgbClr val="F4FAF6"/>
          </a:solidFill>
          <a:ln/>
          <a:effectLst>
            <a:outerShdw blurRad="76200" dist="25400" dir="5400000" algn="bl" rotWithShape="0">
              <a:srgbClr val="000000">
                <a:alpha val="8000"/>
              </a:srgbClr>
            </a:outerShdw>
          </a:effectLst>
        </p:spPr>
      </p:sp>
      <p:sp>
        <p:nvSpPr>
          <p:cNvPr id="10" name="Shape 7"/>
          <p:cNvSpPr/>
          <p:nvPr/>
        </p:nvSpPr>
        <p:spPr>
          <a:xfrm>
            <a:off x="1408176" y="2468880"/>
            <a:ext cx="731520" cy="731520"/>
          </a:xfrm>
          <a:prstGeom prst="ellipse">
            <a:avLst/>
          </a:prstGeom>
          <a:solidFill>
            <a:srgbClr val="0E5C36"/>
          </a:solidFill>
          <a:ln/>
        </p:spPr>
      </p:sp>
      <p:pic>
        <p:nvPicPr>
          <p:cNvPr id="11" name="Image 1" descr="preencoded.png"/>
          <p:cNvPicPr>
            <a:picLocks noChangeAspect="1"/>
          </p:cNvPicPr>
          <p:nvPr/>
        </p:nvPicPr>
        <p:blipFill>
          <a:blip r:embed="rId4"/>
          <a:stretch>
            <a:fillRect/>
          </a:stretch>
        </p:blipFill>
        <p:spPr>
          <a:xfrm>
            <a:off x="1503274" y="2563978"/>
            <a:ext cx="541325" cy="541325"/>
          </a:xfrm>
          <a:prstGeom prst="rect">
            <a:avLst/>
          </a:prstGeom>
        </p:spPr>
      </p:pic>
      <p:sp>
        <p:nvSpPr>
          <p:cNvPr id="12" name="Text 8"/>
          <p:cNvSpPr/>
          <p:nvPr/>
        </p:nvSpPr>
        <p:spPr>
          <a:xfrm>
            <a:off x="667512" y="2331720"/>
            <a:ext cx="731520" cy="365760"/>
          </a:xfrm>
          <a:prstGeom prst="rect">
            <a:avLst/>
          </a:prstGeom>
          <a:noFill/>
          <a:ln/>
        </p:spPr>
        <p:txBody>
          <a:bodyPr wrap="square" lIns="0" tIns="0" rIns="0" bIns="0" rtlCol="0" anchor="ctr"/>
          <a:lstStyle/>
          <a:p>
            <a:pPr marL="0" indent="0">
              <a:buNone/>
            </a:pPr>
            <a:r>
              <a:rPr lang="en-US" sz="1400" b="1" dirty="0">
                <a:solidFill>
                  <a:srgbClr val="5FA779"/>
                </a:solidFill>
                <a:latin typeface="Cambria" pitchFamily="34" charset="0"/>
                <a:ea typeface="Cambria" pitchFamily="34" charset="-122"/>
                <a:cs typeface="Cambria" pitchFamily="34" charset="-120"/>
              </a:rPr>
              <a:t>01</a:t>
            </a:r>
            <a:endParaRPr lang="en-US" sz="1400" dirty="0"/>
          </a:p>
        </p:txBody>
      </p:sp>
      <p:sp>
        <p:nvSpPr>
          <p:cNvPr id="13" name="Text 9"/>
          <p:cNvSpPr/>
          <p:nvPr/>
        </p:nvSpPr>
        <p:spPr>
          <a:xfrm>
            <a:off x="685800" y="3383280"/>
            <a:ext cx="2176272" cy="457200"/>
          </a:xfrm>
          <a:prstGeom prst="rect">
            <a:avLst/>
          </a:prstGeom>
          <a:noFill/>
          <a:ln/>
        </p:spPr>
        <p:txBody>
          <a:bodyPr wrap="square" lIns="0" tIns="0" rIns="0" bIns="0" rtlCol="0" anchor="ctr"/>
          <a:lstStyle/>
          <a:p>
            <a:pPr marL="0" indent="0" algn="ctr">
              <a:buNone/>
            </a:pPr>
            <a:r>
              <a:rPr lang="en-US" sz="1600" b="1" dirty="0">
                <a:solidFill>
                  <a:srgbClr val="1F2A24"/>
                </a:solidFill>
                <a:latin typeface="Cambria" pitchFamily="34" charset="0"/>
                <a:ea typeface="Cambria" pitchFamily="34" charset="-122"/>
                <a:cs typeface="Cambria" pitchFamily="34" charset="-120"/>
              </a:rPr>
              <a:t>Capture Data</a:t>
            </a:r>
            <a:endParaRPr lang="en-US" sz="1600" dirty="0"/>
          </a:p>
        </p:txBody>
      </p:sp>
      <p:sp>
        <p:nvSpPr>
          <p:cNvPr id="14" name="Text 10"/>
          <p:cNvSpPr/>
          <p:nvPr/>
        </p:nvSpPr>
        <p:spPr>
          <a:xfrm>
            <a:off x="731520" y="3931920"/>
            <a:ext cx="2084832" cy="1325880"/>
          </a:xfrm>
          <a:prstGeom prst="rect">
            <a:avLst/>
          </a:prstGeom>
          <a:noFill/>
          <a:ln/>
        </p:spPr>
        <p:txBody>
          <a:bodyPr wrap="square" lIns="0" tIns="0" rIns="0" bIns="0" rtlCol="0" anchor="t"/>
          <a:lstStyle/>
          <a:p>
            <a:pPr marL="0" indent="0" algn="ctr">
              <a:buNone/>
            </a:pPr>
            <a:r>
              <a:rPr lang="en-US" sz="1150" dirty="0">
                <a:solidFill>
                  <a:srgbClr val="5B6B62"/>
                </a:solidFill>
                <a:latin typeface="Calibri" pitchFamily="34" charset="0"/>
                <a:ea typeface="Calibri" pitchFamily="34" charset="-122"/>
                <a:cs typeface="Calibri" pitchFamily="34" charset="-120"/>
              </a:rPr>
              <a:t>Monthly revenue, COGS, expenses &amp; headcount logged in a single source sheet.</a:t>
            </a:r>
            <a:endParaRPr lang="en-US" sz="1150" dirty="0"/>
          </a:p>
        </p:txBody>
      </p:sp>
      <p:sp>
        <p:nvSpPr>
          <p:cNvPr id="15" name="Shape 11"/>
          <p:cNvSpPr/>
          <p:nvPr/>
        </p:nvSpPr>
        <p:spPr>
          <a:xfrm>
            <a:off x="2926080" y="3680460"/>
            <a:ext cx="292608" cy="182880"/>
          </a:xfrm>
          <a:prstGeom prst="rightArrow">
            <a:avLst/>
          </a:prstGeom>
          <a:solidFill>
            <a:srgbClr val="1B7A43"/>
          </a:solidFill>
          <a:ln/>
        </p:spPr>
      </p:sp>
      <p:sp>
        <p:nvSpPr>
          <p:cNvPr id="16" name="Shape 12"/>
          <p:cNvSpPr/>
          <p:nvPr/>
        </p:nvSpPr>
        <p:spPr>
          <a:xfrm>
            <a:off x="3246120" y="2148840"/>
            <a:ext cx="2542032" cy="3246120"/>
          </a:xfrm>
          <a:prstGeom prst="roundRect">
            <a:avLst>
              <a:gd name="adj" fmla="val 2878"/>
            </a:avLst>
          </a:prstGeom>
          <a:solidFill>
            <a:srgbClr val="EAF6EF"/>
          </a:solidFill>
          <a:ln/>
          <a:effectLst>
            <a:outerShdw blurRad="76200" dist="25400" dir="5400000" algn="bl" rotWithShape="0">
              <a:srgbClr val="000000">
                <a:alpha val="8000"/>
              </a:srgbClr>
            </a:outerShdw>
          </a:effectLst>
        </p:spPr>
      </p:sp>
      <p:sp>
        <p:nvSpPr>
          <p:cNvPr id="17" name="Shape 13"/>
          <p:cNvSpPr/>
          <p:nvPr/>
        </p:nvSpPr>
        <p:spPr>
          <a:xfrm>
            <a:off x="4151376" y="2468880"/>
            <a:ext cx="731520" cy="731520"/>
          </a:xfrm>
          <a:prstGeom prst="ellipse">
            <a:avLst/>
          </a:prstGeom>
          <a:solidFill>
            <a:srgbClr val="0E5C36"/>
          </a:solidFill>
          <a:ln/>
        </p:spPr>
      </p:sp>
      <p:pic>
        <p:nvPicPr>
          <p:cNvPr id="18" name="Image 2" descr="preencoded.png"/>
          <p:cNvPicPr>
            <a:picLocks noChangeAspect="1"/>
          </p:cNvPicPr>
          <p:nvPr/>
        </p:nvPicPr>
        <p:blipFill>
          <a:blip r:embed="rId5"/>
          <a:stretch>
            <a:fillRect/>
          </a:stretch>
        </p:blipFill>
        <p:spPr>
          <a:xfrm>
            <a:off x="4246474" y="2563978"/>
            <a:ext cx="541325" cy="541325"/>
          </a:xfrm>
          <a:prstGeom prst="rect">
            <a:avLst/>
          </a:prstGeom>
        </p:spPr>
      </p:pic>
      <p:sp>
        <p:nvSpPr>
          <p:cNvPr id="19" name="Text 14"/>
          <p:cNvSpPr/>
          <p:nvPr/>
        </p:nvSpPr>
        <p:spPr>
          <a:xfrm>
            <a:off x="3410712" y="2331720"/>
            <a:ext cx="731520" cy="365760"/>
          </a:xfrm>
          <a:prstGeom prst="rect">
            <a:avLst/>
          </a:prstGeom>
          <a:noFill/>
          <a:ln/>
        </p:spPr>
        <p:txBody>
          <a:bodyPr wrap="square" lIns="0" tIns="0" rIns="0" bIns="0" rtlCol="0" anchor="ctr"/>
          <a:lstStyle/>
          <a:p>
            <a:pPr marL="0" indent="0">
              <a:buNone/>
            </a:pPr>
            <a:r>
              <a:rPr lang="en-US" sz="1400" b="1" dirty="0">
                <a:solidFill>
                  <a:srgbClr val="5FA779"/>
                </a:solidFill>
                <a:latin typeface="Cambria" pitchFamily="34" charset="0"/>
                <a:ea typeface="Cambria" pitchFamily="34" charset="-122"/>
                <a:cs typeface="Cambria" pitchFamily="34" charset="-120"/>
              </a:rPr>
              <a:t>02</a:t>
            </a:r>
            <a:endParaRPr lang="en-US" sz="1400" dirty="0"/>
          </a:p>
        </p:txBody>
      </p:sp>
      <p:sp>
        <p:nvSpPr>
          <p:cNvPr id="20" name="Text 15"/>
          <p:cNvSpPr/>
          <p:nvPr/>
        </p:nvSpPr>
        <p:spPr>
          <a:xfrm>
            <a:off x="3429000" y="3383280"/>
            <a:ext cx="2176272" cy="457200"/>
          </a:xfrm>
          <a:prstGeom prst="rect">
            <a:avLst/>
          </a:prstGeom>
          <a:noFill/>
          <a:ln/>
        </p:spPr>
        <p:txBody>
          <a:bodyPr wrap="square" lIns="0" tIns="0" rIns="0" bIns="0" rtlCol="0" anchor="ctr"/>
          <a:lstStyle/>
          <a:p>
            <a:pPr marL="0" indent="0" algn="ctr">
              <a:buNone/>
            </a:pPr>
            <a:r>
              <a:rPr lang="en-US" sz="1600" b="1" dirty="0">
                <a:solidFill>
                  <a:srgbClr val="1F2A24"/>
                </a:solidFill>
                <a:latin typeface="Cambria" pitchFamily="34" charset="0"/>
                <a:ea typeface="Cambria" pitchFamily="34" charset="-122"/>
                <a:cs typeface="Cambria" pitchFamily="34" charset="-120"/>
              </a:rPr>
              <a:t>Apply Formulas</a:t>
            </a:r>
            <a:endParaRPr lang="en-US" sz="1600" dirty="0"/>
          </a:p>
        </p:txBody>
      </p:sp>
      <p:sp>
        <p:nvSpPr>
          <p:cNvPr id="21" name="Text 16"/>
          <p:cNvSpPr/>
          <p:nvPr/>
        </p:nvSpPr>
        <p:spPr>
          <a:xfrm>
            <a:off x="3474720" y="3931920"/>
            <a:ext cx="2084832" cy="1325880"/>
          </a:xfrm>
          <a:prstGeom prst="rect">
            <a:avLst/>
          </a:prstGeom>
          <a:noFill/>
          <a:ln/>
        </p:spPr>
        <p:txBody>
          <a:bodyPr wrap="square" lIns="0" tIns="0" rIns="0" bIns="0" rtlCol="0" anchor="t"/>
          <a:lstStyle/>
          <a:p>
            <a:pPr marL="0" indent="0" algn="ctr">
              <a:buNone/>
            </a:pPr>
            <a:r>
              <a:rPr lang="en-US" sz="1150" dirty="0">
                <a:solidFill>
                  <a:srgbClr val="5B6B62"/>
                </a:solidFill>
                <a:latin typeface="Calibri" pitchFamily="34" charset="0"/>
                <a:ea typeface="Calibri" pitchFamily="34" charset="-122"/>
                <a:cs typeface="Calibri" pitchFamily="34" charset="-120"/>
              </a:rPr>
              <a:t>SUM, AVERAGE &amp; ratio formulas convert raw rows into revenue and profit metrics.</a:t>
            </a:r>
            <a:endParaRPr lang="en-US" sz="1150" dirty="0"/>
          </a:p>
        </p:txBody>
      </p:sp>
      <p:sp>
        <p:nvSpPr>
          <p:cNvPr id="22" name="Shape 17"/>
          <p:cNvSpPr/>
          <p:nvPr/>
        </p:nvSpPr>
        <p:spPr>
          <a:xfrm>
            <a:off x="5669280" y="3680460"/>
            <a:ext cx="292608" cy="182880"/>
          </a:xfrm>
          <a:prstGeom prst="rightArrow">
            <a:avLst/>
          </a:prstGeom>
          <a:solidFill>
            <a:srgbClr val="1B7A43"/>
          </a:solidFill>
          <a:ln/>
        </p:spPr>
      </p:sp>
      <p:sp>
        <p:nvSpPr>
          <p:cNvPr id="23" name="Shape 18"/>
          <p:cNvSpPr/>
          <p:nvPr/>
        </p:nvSpPr>
        <p:spPr>
          <a:xfrm>
            <a:off x="5989320" y="2148840"/>
            <a:ext cx="2542032" cy="3246120"/>
          </a:xfrm>
          <a:prstGeom prst="roundRect">
            <a:avLst>
              <a:gd name="adj" fmla="val 2878"/>
            </a:avLst>
          </a:prstGeom>
          <a:solidFill>
            <a:srgbClr val="F4FAF6"/>
          </a:solidFill>
          <a:ln/>
          <a:effectLst>
            <a:outerShdw blurRad="76200" dist="25400" dir="5400000" algn="bl" rotWithShape="0">
              <a:srgbClr val="000000">
                <a:alpha val="8000"/>
              </a:srgbClr>
            </a:outerShdw>
          </a:effectLst>
        </p:spPr>
      </p:sp>
      <p:sp>
        <p:nvSpPr>
          <p:cNvPr id="24" name="Shape 19"/>
          <p:cNvSpPr/>
          <p:nvPr/>
        </p:nvSpPr>
        <p:spPr>
          <a:xfrm>
            <a:off x="6894576" y="2468880"/>
            <a:ext cx="731520" cy="731520"/>
          </a:xfrm>
          <a:prstGeom prst="ellipse">
            <a:avLst/>
          </a:prstGeom>
          <a:solidFill>
            <a:srgbClr val="0E5C36"/>
          </a:solidFill>
          <a:ln/>
        </p:spPr>
      </p:sp>
      <p:pic>
        <p:nvPicPr>
          <p:cNvPr id="25" name="Image 3" descr="preencoded.png"/>
          <p:cNvPicPr>
            <a:picLocks noChangeAspect="1"/>
          </p:cNvPicPr>
          <p:nvPr/>
        </p:nvPicPr>
        <p:blipFill>
          <a:blip r:embed="rId6"/>
          <a:stretch>
            <a:fillRect/>
          </a:stretch>
        </p:blipFill>
        <p:spPr>
          <a:xfrm>
            <a:off x="6989674" y="2563978"/>
            <a:ext cx="541325" cy="541325"/>
          </a:xfrm>
          <a:prstGeom prst="rect">
            <a:avLst/>
          </a:prstGeom>
        </p:spPr>
      </p:pic>
      <p:sp>
        <p:nvSpPr>
          <p:cNvPr id="26" name="Text 20"/>
          <p:cNvSpPr/>
          <p:nvPr/>
        </p:nvSpPr>
        <p:spPr>
          <a:xfrm>
            <a:off x="6153912" y="2331720"/>
            <a:ext cx="731520" cy="365760"/>
          </a:xfrm>
          <a:prstGeom prst="rect">
            <a:avLst/>
          </a:prstGeom>
          <a:noFill/>
          <a:ln/>
        </p:spPr>
        <p:txBody>
          <a:bodyPr wrap="square" lIns="0" tIns="0" rIns="0" bIns="0" rtlCol="0" anchor="ctr"/>
          <a:lstStyle/>
          <a:p>
            <a:pPr marL="0" indent="0">
              <a:buNone/>
            </a:pPr>
            <a:r>
              <a:rPr lang="en-US" sz="1400" b="1" dirty="0">
                <a:solidFill>
                  <a:srgbClr val="5FA779"/>
                </a:solidFill>
                <a:latin typeface="Cambria" pitchFamily="34" charset="0"/>
                <a:ea typeface="Cambria" pitchFamily="34" charset="-122"/>
                <a:cs typeface="Cambria" pitchFamily="34" charset="-120"/>
              </a:rPr>
              <a:t>03</a:t>
            </a:r>
            <a:endParaRPr lang="en-US" sz="1400" dirty="0"/>
          </a:p>
        </p:txBody>
      </p:sp>
      <p:sp>
        <p:nvSpPr>
          <p:cNvPr id="27" name="Text 21"/>
          <p:cNvSpPr/>
          <p:nvPr/>
        </p:nvSpPr>
        <p:spPr>
          <a:xfrm>
            <a:off x="6172200" y="3383280"/>
            <a:ext cx="2176272" cy="457200"/>
          </a:xfrm>
          <a:prstGeom prst="rect">
            <a:avLst/>
          </a:prstGeom>
          <a:noFill/>
          <a:ln/>
        </p:spPr>
        <p:txBody>
          <a:bodyPr wrap="square" lIns="0" tIns="0" rIns="0" bIns="0" rtlCol="0" anchor="ctr"/>
          <a:lstStyle/>
          <a:p>
            <a:pPr marL="0" indent="0" algn="ctr">
              <a:buNone/>
            </a:pPr>
            <a:r>
              <a:rPr lang="en-US" sz="1600" b="1" dirty="0">
                <a:solidFill>
                  <a:srgbClr val="1F2A24"/>
                </a:solidFill>
                <a:latin typeface="Cambria" pitchFamily="34" charset="0"/>
                <a:ea typeface="Cambria" pitchFamily="34" charset="-122"/>
                <a:cs typeface="Cambria" pitchFamily="34" charset="-120"/>
              </a:rPr>
              <a:t>Track KPIs</a:t>
            </a:r>
            <a:endParaRPr lang="en-US" sz="1600" dirty="0"/>
          </a:p>
        </p:txBody>
      </p:sp>
      <p:sp>
        <p:nvSpPr>
          <p:cNvPr id="28" name="Text 22"/>
          <p:cNvSpPr/>
          <p:nvPr/>
        </p:nvSpPr>
        <p:spPr>
          <a:xfrm>
            <a:off x="6217920" y="3931920"/>
            <a:ext cx="2084832" cy="1325880"/>
          </a:xfrm>
          <a:prstGeom prst="rect">
            <a:avLst/>
          </a:prstGeom>
          <a:noFill/>
          <a:ln/>
        </p:spPr>
        <p:txBody>
          <a:bodyPr wrap="square" lIns="0" tIns="0" rIns="0" bIns="0" rtlCol="0" anchor="t"/>
          <a:lstStyle/>
          <a:p>
            <a:pPr marL="0" indent="0" algn="ctr">
              <a:buNone/>
            </a:pPr>
            <a:r>
              <a:rPr lang="en-US" sz="1150" dirty="0">
                <a:solidFill>
                  <a:srgbClr val="5B6B62"/>
                </a:solidFill>
                <a:latin typeface="Calibri" pitchFamily="34" charset="0"/>
                <a:ea typeface="Calibri" pitchFamily="34" charset="-122"/>
                <a:cs typeface="Calibri" pitchFamily="34" charset="-120"/>
              </a:rPr>
              <a:t>Margins, CAC, ROI &amp; turnover are benchmarked against targets each period.</a:t>
            </a:r>
            <a:endParaRPr lang="en-US" sz="1150" dirty="0"/>
          </a:p>
        </p:txBody>
      </p:sp>
      <p:sp>
        <p:nvSpPr>
          <p:cNvPr id="29" name="Shape 23"/>
          <p:cNvSpPr/>
          <p:nvPr/>
        </p:nvSpPr>
        <p:spPr>
          <a:xfrm>
            <a:off x="8412480" y="3680460"/>
            <a:ext cx="292608" cy="182880"/>
          </a:xfrm>
          <a:prstGeom prst="rightArrow">
            <a:avLst/>
          </a:prstGeom>
          <a:solidFill>
            <a:srgbClr val="1B7A43"/>
          </a:solidFill>
          <a:ln/>
        </p:spPr>
      </p:sp>
      <p:sp>
        <p:nvSpPr>
          <p:cNvPr id="30" name="Shape 24"/>
          <p:cNvSpPr/>
          <p:nvPr/>
        </p:nvSpPr>
        <p:spPr>
          <a:xfrm>
            <a:off x="8732520" y="2148840"/>
            <a:ext cx="2542032" cy="3246120"/>
          </a:xfrm>
          <a:prstGeom prst="roundRect">
            <a:avLst>
              <a:gd name="adj" fmla="val 2878"/>
            </a:avLst>
          </a:prstGeom>
          <a:solidFill>
            <a:srgbClr val="EAF6EF"/>
          </a:solidFill>
          <a:ln/>
          <a:effectLst>
            <a:outerShdw blurRad="76200" dist="25400" dir="5400000" algn="bl" rotWithShape="0">
              <a:srgbClr val="000000">
                <a:alpha val="8000"/>
              </a:srgbClr>
            </a:outerShdw>
          </a:effectLst>
        </p:spPr>
      </p:sp>
      <p:sp>
        <p:nvSpPr>
          <p:cNvPr id="31" name="Shape 25"/>
          <p:cNvSpPr/>
          <p:nvPr/>
        </p:nvSpPr>
        <p:spPr>
          <a:xfrm>
            <a:off x="9637776" y="2468880"/>
            <a:ext cx="731520" cy="731520"/>
          </a:xfrm>
          <a:prstGeom prst="ellipse">
            <a:avLst/>
          </a:prstGeom>
          <a:solidFill>
            <a:srgbClr val="0E5C36"/>
          </a:solidFill>
          <a:ln/>
        </p:spPr>
      </p:sp>
      <p:pic>
        <p:nvPicPr>
          <p:cNvPr id="32" name="Image 4" descr="preencoded.png"/>
          <p:cNvPicPr>
            <a:picLocks noChangeAspect="1"/>
          </p:cNvPicPr>
          <p:nvPr/>
        </p:nvPicPr>
        <p:blipFill>
          <a:blip r:embed="rId7"/>
          <a:stretch>
            <a:fillRect/>
          </a:stretch>
        </p:blipFill>
        <p:spPr>
          <a:xfrm>
            <a:off x="9732874" y="2563978"/>
            <a:ext cx="541325" cy="541325"/>
          </a:xfrm>
          <a:prstGeom prst="rect">
            <a:avLst/>
          </a:prstGeom>
        </p:spPr>
      </p:pic>
      <p:sp>
        <p:nvSpPr>
          <p:cNvPr id="33" name="Text 26"/>
          <p:cNvSpPr/>
          <p:nvPr/>
        </p:nvSpPr>
        <p:spPr>
          <a:xfrm>
            <a:off x="8897112" y="2331720"/>
            <a:ext cx="731520" cy="365760"/>
          </a:xfrm>
          <a:prstGeom prst="rect">
            <a:avLst/>
          </a:prstGeom>
          <a:noFill/>
          <a:ln/>
        </p:spPr>
        <p:txBody>
          <a:bodyPr wrap="square" lIns="0" tIns="0" rIns="0" bIns="0" rtlCol="0" anchor="ctr"/>
          <a:lstStyle/>
          <a:p>
            <a:pPr marL="0" indent="0">
              <a:buNone/>
            </a:pPr>
            <a:r>
              <a:rPr lang="en-US" sz="1400" b="1" dirty="0">
                <a:solidFill>
                  <a:srgbClr val="5FA779"/>
                </a:solidFill>
                <a:latin typeface="Cambria" pitchFamily="34" charset="0"/>
                <a:ea typeface="Cambria" pitchFamily="34" charset="-122"/>
                <a:cs typeface="Cambria" pitchFamily="34" charset="-120"/>
              </a:rPr>
              <a:t>04</a:t>
            </a:r>
            <a:endParaRPr lang="en-US" sz="1400" dirty="0"/>
          </a:p>
        </p:txBody>
      </p:sp>
      <p:sp>
        <p:nvSpPr>
          <p:cNvPr id="34" name="Text 27"/>
          <p:cNvSpPr/>
          <p:nvPr/>
        </p:nvSpPr>
        <p:spPr>
          <a:xfrm>
            <a:off x="8915400" y="3383280"/>
            <a:ext cx="2176272" cy="457200"/>
          </a:xfrm>
          <a:prstGeom prst="rect">
            <a:avLst/>
          </a:prstGeom>
          <a:noFill/>
          <a:ln/>
        </p:spPr>
        <p:txBody>
          <a:bodyPr wrap="square" lIns="0" tIns="0" rIns="0" bIns="0" rtlCol="0" anchor="ctr"/>
          <a:lstStyle/>
          <a:p>
            <a:pPr marL="0" indent="0" algn="ctr">
              <a:buNone/>
            </a:pPr>
            <a:r>
              <a:rPr lang="en-US" sz="1600" b="1" dirty="0">
                <a:solidFill>
                  <a:srgbClr val="1F2A24"/>
                </a:solidFill>
                <a:latin typeface="Cambria" pitchFamily="34" charset="0"/>
                <a:ea typeface="Cambria" pitchFamily="34" charset="-122"/>
                <a:cs typeface="Cambria" pitchFamily="34" charset="-120"/>
              </a:rPr>
              <a:t>Visualize &amp; Decide</a:t>
            </a:r>
            <a:endParaRPr lang="en-US" sz="1600" dirty="0"/>
          </a:p>
        </p:txBody>
      </p:sp>
      <p:sp>
        <p:nvSpPr>
          <p:cNvPr id="35" name="Text 28"/>
          <p:cNvSpPr/>
          <p:nvPr/>
        </p:nvSpPr>
        <p:spPr>
          <a:xfrm>
            <a:off x="8961120" y="3931920"/>
            <a:ext cx="2084832" cy="1325880"/>
          </a:xfrm>
          <a:prstGeom prst="rect">
            <a:avLst/>
          </a:prstGeom>
          <a:noFill/>
          <a:ln/>
        </p:spPr>
        <p:txBody>
          <a:bodyPr wrap="square" lIns="0" tIns="0" rIns="0" bIns="0" rtlCol="0" anchor="t"/>
          <a:lstStyle/>
          <a:p>
            <a:pPr marL="0" indent="0" algn="ctr">
              <a:buNone/>
            </a:pPr>
            <a:r>
              <a:rPr lang="en-US" sz="1150" dirty="0">
                <a:solidFill>
                  <a:srgbClr val="5B6B62"/>
                </a:solidFill>
                <a:latin typeface="Calibri" pitchFamily="34" charset="0"/>
                <a:ea typeface="Calibri" pitchFamily="34" charset="-122"/>
                <a:cs typeface="Calibri" pitchFamily="34" charset="-120"/>
              </a:rPr>
              <a:t>Charts and pivot dashboards surface trends for leadership review and action.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0E5C36"/>
          </a:solidFill>
          <a:ln/>
        </p:spPr>
      </p:sp>
      <p:pic>
        <p:nvPicPr>
          <p:cNvPr id="3" name="Image 0" descr="preencoded.png"/>
          <p:cNvPicPr>
            <a:picLocks noChangeAspect="1"/>
          </p:cNvPicPr>
          <p:nvPr/>
        </p:nvPicPr>
        <p:blipFill>
          <a:blip r:embed="rId3"/>
          <a:stretch>
            <a:fillRect/>
          </a:stretch>
        </p:blipFill>
        <p:spPr>
          <a:xfrm>
            <a:off x="568300" y="522580"/>
            <a:ext cx="372161" cy="372161"/>
          </a:xfrm>
          <a:prstGeom prst="rect">
            <a:avLst/>
          </a:prstGeom>
        </p:spPr>
      </p:pic>
      <p:sp>
        <p:nvSpPr>
          <p:cNvPr id="4" name="Text 1"/>
          <p:cNvSpPr/>
          <p:nvPr/>
        </p:nvSpPr>
        <p:spPr>
          <a:xfrm>
            <a:off x="1143000" y="420624"/>
            <a:ext cx="7315200" cy="274320"/>
          </a:xfrm>
          <a:prstGeom prst="rect">
            <a:avLst/>
          </a:prstGeom>
          <a:noFill/>
          <a:ln/>
        </p:spPr>
        <p:txBody>
          <a:bodyPr wrap="square" lIns="0" tIns="0" rIns="0" bIns="0" rtlCol="0" anchor="ctr"/>
          <a:lstStyle/>
          <a:p>
            <a:pPr marL="0" indent="0">
              <a:buNone/>
            </a:pPr>
            <a:r>
              <a:rPr lang="en-US" sz="1150" b="1" kern="0" spc="200" dirty="0">
                <a:solidFill>
                  <a:srgbClr val="1B7A43"/>
                </a:solidFill>
                <a:latin typeface="Calibri" pitchFamily="34" charset="0"/>
                <a:ea typeface="Calibri" pitchFamily="34" charset="-122"/>
                <a:cs typeface="Calibri" pitchFamily="34" charset="-120"/>
              </a:rPr>
              <a:t>MODULE 1</a:t>
            </a:r>
            <a:endParaRPr lang="en-US" sz="1150" dirty="0"/>
          </a:p>
        </p:txBody>
      </p:sp>
      <p:sp>
        <p:nvSpPr>
          <p:cNvPr id="5" name="Text 2"/>
          <p:cNvSpPr/>
          <p:nvPr/>
        </p:nvSpPr>
        <p:spPr>
          <a:xfrm>
            <a:off x="1143000" y="658368"/>
            <a:ext cx="9875520" cy="502920"/>
          </a:xfrm>
          <a:prstGeom prst="rect">
            <a:avLst/>
          </a:prstGeom>
          <a:noFill/>
          <a:ln/>
        </p:spPr>
        <p:txBody>
          <a:bodyPr wrap="square" lIns="0" tIns="0" rIns="0" bIns="0" rtlCol="0" anchor="ctr"/>
          <a:lstStyle/>
          <a:p>
            <a:pPr marL="0" indent="0">
              <a:buNone/>
            </a:pPr>
            <a:r>
              <a:rPr lang="en-US" sz="2600" b="1" dirty="0">
                <a:solidFill>
                  <a:srgbClr val="1F2A24"/>
                </a:solidFill>
                <a:latin typeface="Cambria" pitchFamily="34" charset="0"/>
                <a:ea typeface="Cambria" pitchFamily="34" charset="-122"/>
                <a:cs typeface="Cambria" pitchFamily="34" charset="-120"/>
              </a:rPr>
              <a:t>Revenue Metrics Analysis</a:t>
            </a:r>
            <a:endParaRPr lang="en-US" sz="2600" dirty="0"/>
          </a:p>
        </p:txBody>
      </p:sp>
      <p:sp>
        <p:nvSpPr>
          <p:cNvPr id="6" name="Text 3"/>
          <p:cNvSpPr/>
          <p:nvPr/>
        </p:nvSpPr>
        <p:spPr>
          <a:xfrm>
            <a:off x="502920" y="6528816"/>
            <a:ext cx="7315200" cy="256032"/>
          </a:xfrm>
          <a:prstGeom prst="rect">
            <a:avLst/>
          </a:prstGeom>
          <a:noFill/>
          <a:ln/>
        </p:spPr>
        <p:txBody>
          <a:bodyPr wrap="square" lIns="0" tIns="0" rIns="0" bIns="0" rtlCol="0" anchor="ctr"/>
          <a:lstStyle/>
          <a:p>
            <a:pPr marL="0" indent="0">
              <a:buNone/>
            </a:pPr>
            <a:r>
              <a:rPr lang="en-US" sz="850" dirty="0">
                <a:solidFill>
                  <a:srgbClr val="5B6B62"/>
                </a:solidFill>
                <a:latin typeface="Calibri" pitchFamily="34" charset="0"/>
                <a:ea typeface="Calibri" pitchFamily="34" charset="-122"/>
                <a:cs typeface="Calibri" pitchFamily="34" charset="-120"/>
              </a:rPr>
              <a:t>BUSINESS ANALYTICS  •  REVENUE &amp; METRICS FRAMEWORK</a:t>
            </a:r>
            <a:endParaRPr lang="en-US" sz="850" dirty="0"/>
          </a:p>
        </p:txBody>
      </p:sp>
      <p:sp>
        <p:nvSpPr>
          <p:cNvPr id="7" name="Text 4"/>
          <p:cNvSpPr/>
          <p:nvPr/>
        </p:nvSpPr>
        <p:spPr>
          <a:xfrm>
            <a:off x="11228832" y="6528816"/>
            <a:ext cx="457200" cy="256032"/>
          </a:xfrm>
          <a:prstGeom prst="rect">
            <a:avLst/>
          </a:prstGeom>
          <a:noFill/>
          <a:ln/>
        </p:spPr>
        <p:txBody>
          <a:bodyPr wrap="square" lIns="0" tIns="0" rIns="0" bIns="0" rtlCol="0" anchor="ctr"/>
          <a:lstStyle/>
          <a:p>
            <a:pPr marL="0" indent="0" algn="r">
              <a:buNone/>
            </a:pPr>
            <a:r>
              <a:rPr lang="en-US" sz="850" dirty="0">
                <a:solidFill>
                  <a:srgbClr val="5B6B62"/>
                </a:solidFill>
                <a:latin typeface="Calibri" pitchFamily="34" charset="0"/>
                <a:ea typeface="Calibri" pitchFamily="34" charset="-122"/>
                <a:cs typeface="Calibri" pitchFamily="34" charset="-120"/>
              </a:rPr>
              <a:t>4</a:t>
            </a:r>
            <a:endParaRPr lang="en-US" sz="850" dirty="0"/>
          </a:p>
        </p:txBody>
      </p:sp>
      <p:sp>
        <p:nvSpPr>
          <p:cNvPr id="8" name="Text 5"/>
          <p:cNvSpPr/>
          <p:nvPr/>
        </p:nvSpPr>
        <p:spPr>
          <a:xfrm>
            <a:off x="502920" y="1371600"/>
            <a:ext cx="6675120" cy="685800"/>
          </a:xfrm>
          <a:prstGeom prst="rect">
            <a:avLst/>
          </a:prstGeom>
          <a:noFill/>
          <a:ln/>
        </p:spPr>
        <p:txBody>
          <a:bodyPr wrap="square" lIns="0" tIns="0" rIns="0" bIns="0" rtlCol="0" anchor="t"/>
          <a:lstStyle/>
          <a:p>
            <a:pPr marL="0" indent="0">
              <a:buNone/>
            </a:pPr>
            <a:r>
              <a:rPr lang="en-US" sz="1300" dirty="0">
                <a:solidFill>
                  <a:srgbClr val="5B6B62"/>
                </a:solidFill>
                <a:latin typeface="Calibri" pitchFamily="34" charset="0"/>
                <a:ea typeface="Calibri" pitchFamily="34" charset="-122"/>
                <a:cs typeface="Calibri" pitchFamily="34" charset="-120"/>
              </a:rPr>
              <a:t>Revenue is total income earned from products and services before any costs are deducted — the foundation every other metric builds on.</a:t>
            </a:r>
            <a:endParaRPr lang="en-US" sz="1300" dirty="0"/>
          </a:p>
        </p:txBody>
      </p:sp>
      <p:sp>
        <p:nvSpPr>
          <p:cNvPr id="9" name="Shape 6"/>
          <p:cNvSpPr/>
          <p:nvPr/>
        </p:nvSpPr>
        <p:spPr>
          <a:xfrm>
            <a:off x="502920" y="2286000"/>
            <a:ext cx="6675120" cy="1078992"/>
          </a:xfrm>
          <a:prstGeom prst="roundRect">
            <a:avLst>
              <a:gd name="adj" fmla="val 5932"/>
            </a:avLst>
          </a:prstGeom>
          <a:solidFill>
            <a:srgbClr val="F4FAF6"/>
          </a:solidFill>
          <a:ln/>
          <a:effectLst>
            <a:outerShdw blurRad="76200" dist="25400" dir="5400000" algn="bl" rotWithShape="0">
              <a:srgbClr val="000000">
                <a:alpha val="7000"/>
              </a:srgbClr>
            </a:outerShdw>
          </a:effectLst>
        </p:spPr>
      </p:sp>
      <p:sp>
        <p:nvSpPr>
          <p:cNvPr id="10" name="Shape 7"/>
          <p:cNvSpPr/>
          <p:nvPr/>
        </p:nvSpPr>
        <p:spPr>
          <a:xfrm>
            <a:off x="713232" y="2505456"/>
            <a:ext cx="640080" cy="640080"/>
          </a:xfrm>
          <a:prstGeom prst="ellipse">
            <a:avLst/>
          </a:prstGeom>
          <a:solidFill>
            <a:srgbClr val="0E5C36"/>
          </a:solidFill>
          <a:ln/>
        </p:spPr>
      </p:sp>
      <p:pic>
        <p:nvPicPr>
          <p:cNvPr id="11" name="Image 1" descr="preencoded.png"/>
          <p:cNvPicPr>
            <a:picLocks noChangeAspect="1"/>
          </p:cNvPicPr>
          <p:nvPr/>
        </p:nvPicPr>
        <p:blipFill>
          <a:blip r:embed="rId4"/>
          <a:stretch>
            <a:fillRect/>
          </a:stretch>
        </p:blipFill>
        <p:spPr>
          <a:xfrm>
            <a:off x="796442" y="2588666"/>
            <a:ext cx="473659" cy="473659"/>
          </a:xfrm>
          <a:prstGeom prst="rect">
            <a:avLst/>
          </a:prstGeom>
        </p:spPr>
      </p:pic>
      <p:sp>
        <p:nvSpPr>
          <p:cNvPr id="12" name="Text 8"/>
          <p:cNvSpPr/>
          <p:nvPr/>
        </p:nvSpPr>
        <p:spPr>
          <a:xfrm>
            <a:off x="1554480" y="2395728"/>
            <a:ext cx="2377440" cy="320040"/>
          </a:xfrm>
          <a:prstGeom prst="rect">
            <a:avLst/>
          </a:prstGeom>
          <a:noFill/>
          <a:ln/>
        </p:spPr>
        <p:txBody>
          <a:bodyPr wrap="square" lIns="0" tIns="0" rIns="0" bIns="0" rtlCol="0" anchor="ctr"/>
          <a:lstStyle/>
          <a:p>
            <a:pPr marL="0" indent="0">
              <a:buNone/>
            </a:pPr>
            <a:r>
              <a:rPr lang="en-US" sz="1450" b="1" dirty="0">
                <a:solidFill>
                  <a:srgbClr val="1F2A24"/>
                </a:solidFill>
                <a:latin typeface="Cambria" pitchFamily="34" charset="0"/>
                <a:ea typeface="Cambria" pitchFamily="34" charset="-122"/>
                <a:cs typeface="Cambria" pitchFamily="34" charset="-120"/>
              </a:rPr>
              <a:t>Total Revenue</a:t>
            </a:r>
            <a:endParaRPr lang="en-US" sz="1450" dirty="0"/>
          </a:p>
        </p:txBody>
      </p:sp>
      <p:sp>
        <p:nvSpPr>
          <p:cNvPr id="13" name="Text 9"/>
          <p:cNvSpPr/>
          <p:nvPr/>
        </p:nvSpPr>
        <p:spPr>
          <a:xfrm>
            <a:off x="1554480" y="2743200"/>
            <a:ext cx="3657600" cy="548640"/>
          </a:xfrm>
          <a:prstGeom prst="rect">
            <a:avLst/>
          </a:prstGeom>
          <a:noFill/>
          <a:ln/>
        </p:spPr>
        <p:txBody>
          <a:bodyPr wrap="square" lIns="0" tIns="0" rIns="0" bIns="0" rtlCol="0" anchor="t"/>
          <a:lstStyle/>
          <a:p>
            <a:pPr marL="0" indent="0">
              <a:buNone/>
            </a:pPr>
            <a:r>
              <a:rPr lang="en-US" sz="1080" dirty="0">
                <a:solidFill>
                  <a:srgbClr val="5B6B62"/>
                </a:solidFill>
                <a:latin typeface="Calibri" pitchFamily="34" charset="0"/>
                <a:ea typeface="Calibri" pitchFamily="34" charset="-122"/>
                <a:cs typeface="Calibri" pitchFamily="34" charset="-120"/>
              </a:rPr>
              <a:t>Adds all revenue values across every period.</a:t>
            </a:r>
            <a:endParaRPr lang="en-US" sz="1080" dirty="0"/>
          </a:p>
        </p:txBody>
      </p:sp>
      <p:sp>
        <p:nvSpPr>
          <p:cNvPr id="14" name="Text 10"/>
          <p:cNvSpPr/>
          <p:nvPr/>
        </p:nvSpPr>
        <p:spPr>
          <a:xfrm>
            <a:off x="5074920" y="2542032"/>
            <a:ext cx="1965960" cy="502920"/>
          </a:xfrm>
          <a:prstGeom prst="rect">
            <a:avLst/>
          </a:prstGeom>
          <a:solidFill>
            <a:srgbClr val="1B7A43"/>
          </a:solid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=SUM(B2:B13)</a:t>
            </a:r>
            <a:endParaRPr lang="en-US" sz="1300" dirty="0"/>
          </a:p>
        </p:txBody>
      </p:sp>
      <p:sp>
        <p:nvSpPr>
          <p:cNvPr id="15" name="Shape 11"/>
          <p:cNvSpPr/>
          <p:nvPr/>
        </p:nvSpPr>
        <p:spPr>
          <a:xfrm>
            <a:off x="502920" y="3529584"/>
            <a:ext cx="6675120" cy="1078992"/>
          </a:xfrm>
          <a:prstGeom prst="roundRect">
            <a:avLst>
              <a:gd name="adj" fmla="val 5932"/>
            </a:avLst>
          </a:prstGeom>
          <a:solidFill>
            <a:srgbClr val="F4FAF6"/>
          </a:solidFill>
          <a:ln/>
          <a:effectLst>
            <a:outerShdw blurRad="76200" dist="25400" dir="5400000" algn="bl" rotWithShape="0">
              <a:srgbClr val="000000">
                <a:alpha val="7000"/>
              </a:srgbClr>
            </a:outerShdw>
          </a:effectLst>
        </p:spPr>
      </p:sp>
      <p:sp>
        <p:nvSpPr>
          <p:cNvPr id="16" name="Shape 12"/>
          <p:cNvSpPr/>
          <p:nvPr/>
        </p:nvSpPr>
        <p:spPr>
          <a:xfrm>
            <a:off x="713232" y="3749040"/>
            <a:ext cx="640080" cy="640080"/>
          </a:xfrm>
          <a:prstGeom prst="ellipse">
            <a:avLst/>
          </a:prstGeom>
          <a:solidFill>
            <a:srgbClr val="0E5C36"/>
          </a:solidFill>
          <a:ln/>
        </p:spPr>
      </p:sp>
      <p:pic>
        <p:nvPicPr>
          <p:cNvPr id="17" name="Image 2" descr="preencoded.png"/>
          <p:cNvPicPr>
            <a:picLocks noChangeAspect="1"/>
          </p:cNvPicPr>
          <p:nvPr/>
        </p:nvPicPr>
        <p:blipFill>
          <a:blip r:embed="rId5"/>
          <a:stretch>
            <a:fillRect/>
          </a:stretch>
        </p:blipFill>
        <p:spPr>
          <a:xfrm>
            <a:off x="796442" y="3832250"/>
            <a:ext cx="473659" cy="473659"/>
          </a:xfrm>
          <a:prstGeom prst="rect">
            <a:avLst/>
          </a:prstGeom>
        </p:spPr>
      </p:pic>
      <p:sp>
        <p:nvSpPr>
          <p:cNvPr id="18" name="Text 13"/>
          <p:cNvSpPr/>
          <p:nvPr/>
        </p:nvSpPr>
        <p:spPr>
          <a:xfrm>
            <a:off x="1554480" y="3639312"/>
            <a:ext cx="2377440" cy="320040"/>
          </a:xfrm>
          <a:prstGeom prst="rect">
            <a:avLst/>
          </a:prstGeom>
          <a:noFill/>
          <a:ln/>
        </p:spPr>
        <p:txBody>
          <a:bodyPr wrap="square" lIns="0" tIns="0" rIns="0" bIns="0" rtlCol="0" anchor="ctr"/>
          <a:lstStyle/>
          <a:p>
            <a:pPr marL="0" indent="0">
              <a:buNone/>
            </a:pPr>
            <a:r>
              <a:rPr lang="en-US" sz="1450" b="1" dirty="0">
                <a:solidFill>
                  <a:srgbClr val="1F2A24"/>
                </a:solidFill>
                <a:latin typeface="Cambria" pitchFamily="34" charset="0"/>
                <a:ea typeface="Cambria" pitchFamily="34" charset="-122"/>
                <a:cs typeface="Cambria" pitchFamily="34" charset="-120"/>
              </a:rPr>
              <a:t>Average Revenue</a:t>
            </a:r>
            <a:endParaRPr lang="en-US" sz="1450" dirty="0"/>
          </a:p>
        </p:txBody>
      </p:sp>
      <p:sp>
        <p:nvSpPr>
          <p:cNvPr id="19" name="Text 14"/>
          <p:cNvSpPr/>
          <p:nvPr/>
        </p:nvSpPr>
        <p:spPr>
          <a:xfrm>
            <a:off x="1554480" y="3986784"/>
            <a:ext cx="3657600" cy="548640"/>
          </a:xfrm>
          <a:prstGeom prst="rect">
            <a:avLst/>
          </a:prstGeom>
          <a:noFill/>
          <a:ln/>
        </p:spPr>
        <p:txBody>
          <a:bodyPr wrap="square" lIns="0" tIns="0" rIns="0" bIns="0" rtlCol="0" anchor="t"/>
          <a:lstStyle/>
          <a:p>
            <a:pPr marL="0" indent="0">
              <a:buNone/>
            </a:pPr>
            <a:r>
              <a:rPr lang="en-US" sz="1080" dirty="0">
                <a:solidFill>
                  <a:srgbClr val="5B6B62"/>
                </a:solidFill>
                <a:latin typeface="Calibri" pitchFamily="34" charset="0"/>
                <a:ea typeface="Calibri" pitchFamily="34" charset="-122"/>
                <a:cs typeface="Calibri" pitchFamily="34" charset="-120"/>
              </a:rPr>
              <a:t>Mean revenue earned per month.</a:t>
            </a:r>
            <a:endParaRPr lang="en-US" sz="1080" dirty="0"/>
          </a:p>
        </p:txBody>
      </p:sp>
      <p:sp>
        <p:nvSpPr>
          <p:cNvPr id="20" name="Text 15"/>
          <p:cNvSpPr/>
          <p:nvPr/>
        </p:nvSpPr>
        <p:spPr>
          <a:xfrm>
            <a:off x="5074920" y="3785616"/>
            <a:ext cx="1965960" cy="502920"/>
          </a:xfrm>
          <a:prstGeom prst="rect">
            <a:avLst/>
          </a:prstGeom>
          <a:solidFill>
            <a:srgbClr val="1B7A43"/>
          </a:solid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=AVERAGE(B2:B13)</a:t>
            </a:r>
            <a:endParaRPr lang="en-US" sz="1300" dirty="0"/>
          </a:p>
        </p:txBody>
      </p:sp>
      <p:sp>
        <p:nvSpPr>
          <p:cNvPr id="21" name="Shape 16"/>
          <p:cNvSpPr/>
          <p:nvPr/>
        </p:nvSpPr>
        <p:spPr>
          <a:xfrm>
            <a:off x="502920" y="4773168"/>
            <a:ext cx="6675120" cy="1078992"/>
          </a:xfrm>
          <a:prstGeom prst="roundRect">
            <a:avLst>
              <a:gd name="adj" fmla="val 5932"/>
            </a:avLst>
          </a:prstGeom>
          <a:solidFill>
            <a:srgbClr val="F4FAF6"/>
          </a:solidFill>
          <a:ln/>
          <a:effectLst>
            <a:outerShdw blurRad="76200" dist="25400" dir="5400000" algn="bl" rotWithShape="0">
              <a:srgbClr val="000000">
                <a:alpha val="7000"/>
              </a:srgbClr>
            </a:outerShdw>
          </a:effectLst>
        </p:spPr>
      </p:sp>
      <p:sp>
        <p:nvSpPr>
          <p:cNvPr id="22" name="Shape 17"/>
          <p:cNvSpPr/>
          <p:nvPr/>
        </p:nvSpPr>
        <p:spPr>
          <a:xfrm>
            <a:off x="713232" y="4992624"/>
            <a:ext cx="640080" cy="640080"/>
          </a:xfrm>
          <a:prstGeom prst="ellipse">
            <a:avLst/>
          </a:prstGeom>
          <a:solidFill>
            <a:srgbClr val="0E5C36"/>
          </a:solidFill>
          <a:ln/>
        </p:spPr>
      </p:sp>
      <p:pic>
        <p:nvPicPr>
          <p:cNvPr id="23" name="Image 3" descr="preencoded.png"/>
          <p:cNvPicPr>
            <a:picLocks noChangeAspect="1"/>
          </p:cNvPicPr>
          <p:nvPr/>
        </p:nvPicPr>
        <p:blipFill>
          <a:blip r:embed="rId6"/>
          <a:stretch>
            <a:fillRect/>
          </a:stretch>
        </p:blipFill>
        <p:spPr>
          <a:xfrm>
            <a:off x="796442" y="5075834"/>
            <a:ext cx="473659" cy="473659"/>
          </a:xfrm>
          <a:prstGeom prst="rect">
            <a:avLst/>
          </a:prstGeom>
        </p:spPr>
      </p:pic>
      <p:sp>
        <p:nvSpPr>
          <p:cNvPr id="24" name="Text 18"/>
          <p:cNvSpPr/>
          <p:nvPr/>
        </p:nvSpPr>
        <p:spPr>
          <a:xfrm>
            <a:off x="1554480" y="4882896"/>
            <a:ext cx="2377440" cy="320040"/>
          </a:xfrm>
          <a:prstGeom prst="rect">
            <a:avLst/>
          </a:prstGeom>
          <a:noFill/>
          <a:ln/>
        </p:spPr>
        <p:txBody>
          <a:bodyPr wrap="square" lIns="0" tIns="0" rIns="0" bIns="0" rtlCol="0" anchor="ctr"/>
          <a:lstStyle/>
          <a:p>
            <a:pPr marL="0" indent="0">
              <a:buNone/>
            </a:pPr>
            <a:r>
              <a:rPr lang="en-US" sz="1450" b="1" dirty="0">
                <a:solidFill>
                  <a:srgbClr val="1F2A24"/>
                </a:solidFill>
                <a:latin typeface="Cambria" pitchFamily="34" charset="0"/>
                <a:ea typeface="Cambria" pitchFamily="34" charset="-122"/>
                <a:cs typeface="Cambria" pitchFamily="34" charset="-120"/>
              </a:rPr>
              <a:t>Revenue Growth %</a:t>
            </a:r>
            <a:endParaRPr lang="en-US" sz="1450" dirty="0"/>
          </a:p>
        </p:txBody>
      </p:sp>
      <p:sp>
        <p:nvSpPr>
          <p:cNvPr id="25" name="Text 19"/>
          <p:cNvSpPr/>
          <p:nvPr/>
        </p:nvSpPr>
        <p:spPr>
          <a:xfrm>
            <a:off x="1554480" y="5230368"/>
            <a:ext cx="3657600" cy="548640"/>
          </a:xfrm>
          <a:prstGeom prst="rect">
            <a:avLst/>
          </a:prstGeom>
          <a:noFill/>
          <a:ln/>
        </p:spPr>
        <p:txBody>
          <a:bodyPr wrap="square" lIns="0" tIns="0" rIns="0" bIns="0" rtlCol="0" anchor="t"/>
          <a:lstStyle/>
          <a:p>
            <a:pPr marL="0" indent="0">
              <a:buNone/>
            </a:pPr>
            <a:r>
              <a:rPr lang="en-US" sz="1080" dirty="0">
                <a:solidFill>
                  <a:srgbClr val="5B6B62"/>
                </a:solidFill>
                <a:latin typeface="Calibri" pitchFamily="34" charset="0"/>
                <a:ea typeface="Calibri" pitchFamily="34" charset="-122"/>
                <a:cs typeface="Calibri" pitchFamily="34" charset="-120"/>
              </a:rPr>
              <a:t>Percentage change from first to last period.</a:t>
            </a:r>
            <a:endParaRPr lang="en-US" sz="1080" dirty="0"/>
          </a:p>
        </p:txBody>
      </p:sp>
      <p:sp>
        <p:nvSpPr>
          <p:cNvPr id="26" name="Text 20"/>
          <p:cNvSpPr/>
          <p:nvPr/>
        </p:nvSpPr>
        <p:spPr>
          <a:xfrm>
            <a:off x="5074920" y="5029200"/>
            <a:ext cx="1965960" cy="502920"/>
          </a:xfrm>
          <a:prstGeom prst="rect">
            <a:avLst/>
          </a:prstGeom>
          <a:solidFill>
            <a:srgbClr val="1B7A43"/>
          </a:solid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=(B13-B2)/B2*100</a:t>
            </a:r>
            <a:endParaRPr lang="en-US" sz="1300" dirty="0"/>
          </a:p>
        </p:txBody>
      </p:sp>
      <p:sp>
        <p:nvSpPr>
          <p:cNvPr id="27" name="Shape 21"/>
          <p:cNvSpPr/>
          <p:nvPr/>
        </p:nvSpPr>
        <p:spPr>
          <a:xfrm>
            <a:off x="7406640" y="1371600"/>
            <a:ext cx="4297680" cy="4892040"/>
          </a:xfrm>
          <a:prstGeom prst="roundRect">
            <a:avLst>
              <a:gd name="adj" fmla="val 1702"/>
            </a:avLst>
          </a:prstGeom>
          <a:solidFill>
            <a:srgbClr val="EAF6EF"/>
          </a:solidFill>
          <a:ln/>
          <a:effectLst>
            <a:outerShdw blurRad="76200" dist="25400" dir="5400000" algn="bl" rotWithShape="0">
              <a:srgbClr val="000000">
                <a:alpha val="8000"/>
              </a:srgbClr>
            </a:outerShdw>
          </a:effectLst>
        </p:spPr>
      </p:sp>
      <p:sp>
        <p:nvSpPr>
          <p:cNvPr id="28" name="Text 22"/>
          <p:cNvSpPr/>
          <p:nvPr/>
        </p:nvSpPr>
        <p:spPr>
          <a:xfrm>
            <a:off x="7635240" y="1508760"/>
            <a:ext cx="3840480" cy="292608"/>
          </a:xfrm>
          <a:prstGeom prst="rect">
            <a:avLst/>
          </a:prstGeom>
          <a:noFill/>
          <a:ln/>
        </p:spPr>
        <p:txBody>
          <a:bodyPr wrap="square" lIns="0" tIns="0" rIns="0" bIns="0" rtlCol="0" anchor="ctr"/>
          <a:lstStyle/>
          <a:p>
            <a:pPr marL="0" indent="0">
              <a:buNone/>
            </a:pPr>
            <a:r>
              <a:rPr lang="en-US" sz="1250" b="1" dirty="0">
                <a:solidFill>
                  <a:srgbClr val="1F2A24"/>
                </a:solidFill>
                <a:latin typeface="Calibri" pitchFamily="34" charset="0"/>
                <a:ea typeface="Calibri" pitchFamily="34" charset="-122"/>
                <a:cs typeface="Calibri" pitchFamily="34" charset="-120"/>
              </a:rPr>
              <a:t>Sample Revenue Breakdown</a:t>
            </a:r>
            <a:endParaRPr lang="en-US" sz="12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635240" y="1874520"/>
          <a:ext cx="3840480" cy="3968496"/>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56692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Month</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solidFill>
                      <a:srgbClr val="0E5C3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Total Rev.</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solidFill>
                      <a:srgbClr val="0E5C3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vs Prior</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solidFill>
                      <a:srgbClr val="0E5C36"/>
                    </a:solidFill>
                  </a:tcPr>
                </a:tc>
                <a:extLst>
                  <a:ext uri="{0D108BD9-81ED-4DB2-BD59-A6C34878D82A}">
                    <a16:rowId xmlns:a16="http://schemas.microsoft.com/office/drawing/2014/main" val="10000"/>
                  </a:ext>
                </a:extLst>
              </a:tr>
              <a:tr h="566928">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January</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₹57,000</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February</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₹66,500</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+16.7%</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March</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₹64,000</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April</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₹79,200</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+23.7%</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May</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₹87,500</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100" b="1" dirty="0">
                          <a:solidFill>
                            <a:srgbClr val="1F2A24"/>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solidFill>
                      <a:srgbClr val="F4FAF6"/>
                    </a:solidFill>
                  </a:tcPr>
                </a:tc>
                <a:tc>
                  <a:txBody>
                    <a:bodyPr/>
                    <a:lstStyle/>
                    <a:p>
                      <a:pPr marL="0" indent="0">
                        <a:buNone/>
                      </a:pPr>
                      <a:r>
                        <a:rPr lang="en-US" sz="1100" b="1" dirty="0">
                          <a:solidFill>
                            <a:srgbClr val="1F2A24"/>
                          </a:solidFill>
                          <a:latin typeface="Calibri" pitchFamily="34" charset="0"/>
                          <a:ea typeface="Calibri" pitchFamily="34" charset="-122"/>
                          <a:cs typeface="Calibri" pitchFamily="34" charset="-120"/>
                        </a:rPr>
                        <a:t>₹3,54,200</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solidFill>
                      <a:srgbClr val="F4FAF6"/>
                    </a:solidFill>
                  </a:tcPr>
                </a:tc>
                <a:tc>
                  <a:txBody>
                    <a:bodyPr/>
                    <a:lstStyle/>
                    <a:p>
                      <a:pPr marL="0" indent="0">
                        <a:buNone/>
                      </a:pPr>
                      <a:r>
                        <a:rPr lang="en-US" sz="1100" b="1" dirty="0">
                          <a:solidFill>
                            <a:srgbClr val="1F2A24"/>
                          </a:solidFill>
                          <a:latin typeface="Calibri" pitchFamily="34" charset="0"/>
                          <a:ea typeface="Calibri" pitchFamily="34" charset="-122"/>
                          <a:cs typeface="Calibri" pitchFamily="34" charset="-120"/>
                        </a:rPr>
                        <a:t>+53.5%</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solidFill>
                      <a:srgbClr val="F4FA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0E5C36"/>
          </a:solidFill>
          <a:ln/>
        </p:spPr>
      </p:sp>
      <p:pic>
        <p:nvPicPr>
          <p:cNvPr id="3" name="Image 0" descr="preencoded.png"/>
          <p:cNvPicPr>
            <a:picLocks noChangeAspect="1"/>
          </p:cNvPicPr>
          <p:nvPr/>
        </p:nvPicPr>
        <p:blipFill>
          <a:blip r:embed="rId3"/>
          <a:stretch>
            <a:fillRect/>
          </a:stretch>
        </p:blipFill>
        <p:spPr>
          <a:xfrm>
            <a:off x="568300" y="522580"/>
            <a:ext cx="372161" cy="372161"/>
          </a:xfrm>
          <a:prstGeom prst="rect">
            <a:avLst/>
          </a:prstGeom>
        </p:spPr>
      </p:pic>
      <p:sp>
        <p:nvSpPr>
          <p:cNvPr id="4" name="Text 1"/>
          <p:cNvSpPr/>
          <p:nvPr/>
        </p:nvSpPr>
        <p:spPr>
          <a:xfrm>
            <a:off x="1143000" y="420624"/>
            <a:ext cx="7315200" cy="274320"/>
          </a:xfrm>
          <a:prstGeom prst="rect">
            <a:avLst/>
          </a:prstGeom>
          <a:noFill/>
          <a:ln/>
        </p:spPr>
        <p:txBody>
          <a:bodyPr wrap="square" lIns="0" tIns="0" rIns="0" bIns="0" rtlCol="0" anchor="ctr"/>
          <a:lstStyle/>
          <a:p>
            <a:pPr marL="0" indent="0">
              <a:buNone/>
            </a:pPr>
            <a:r>
              <a:rPr lang="en-US" sz="1150" b="1" kern="0" spc="200" dirty="0">
                <a:solidFill>
                  <a:srgbClr val="1B7A43"/>
                </a:solidFill>
                <a:latin typeface="Calibri" pitchFamily="34" charset="0"/>
                <a:ea typeface="Calibri" pitchFamily="34" charset="-122"/>
                <a:cs typeface="Calibri" pitchFamily="34" charset="-120"/>
              </a:rPr>
              <a:t>MODULE 1 · TRENDS</a:t>
            </a:r>
            <a:endParaRPr lang="en-US" sz="1150" dirty="0"/>
          </a:p>
        </p:txBody>
      </p:sp>
      <p:sp>
        <p:nvSpPr>
          <p:cNvPr id="5" name="Text 2"/>
          <p:cNvSpPr/>
          <p:nvPr/>
        </p:nvSpPr>
        <p:spPr>
          <a:xfrm>
            <a:off x="1143000" y="658368"/>
            <a:ext cx="9875520" cy="502920"/>
          </a:xfrm>
          <a:prstGeom prst="rect">
            <a:avLst/>
          </a:prstGeom>
          <a:noFill/>
          <a:ln/>
        </p:spPr>
        <p:txBody>
          <a:bodyPr wrap="square" lIns="0" tIns="0" rIns="0" bIns="0" rtlCol="0" anchor="ctr"/>
          <a:lstStyle/>
          <a:p>
            <a:pPr marL="0" indent="0">
              <a:buNone/>
            </a:pPr>
            <a:r>
              <a:rPr lang="en-US" sz="2600" b="1" dirty="0">
                <a:solidFill>
                  <a:srgbClr val="1F2A24"/>
                </a:solidFill>
                <a:latin typeface="Cambria" pitchFamily="34" charset="0"/>
                <a:ea typeface="Cambria" pitchFamily="34" charset="-122"/>
                <a:cs typeface="Cambria" pitchFamily="34" charset="-120"/>
              </a:rPr>
              <a:t>Revenue Growth Calculations &amp; Trends</a:t>
            </a:r>
            <a:endParaRPr lang="en-US" sz="2600" dirty="0"/>
          </a:p>
        </p:txBody>
      </p:sp>
      <p:sp>
        <p:nvSpPr>
          <p:cNvPr id="6" name="Text 3"/>
          <p:cNvSpPr/>
          <p:nvPr/>
        </p:nvSpPr>
        <p:spPr>
          <a:xfrm>
            <a:off x="502920" y="6528816"/>
            <a:ext cx="7315200" cy="256032"/>
          </a:xfrm>
          <a:prstGeom prst="rect">
            <a:avLst/>
          </a:prstGeom>
          <a:noFill/>
          <a:ln/>
        </p:spPr>
        <p:txBody>
          <a:bodyPr wrap="square" lIns="0" tIns="0" rIns="0" bIns="0" rtlCol="0" anchor="ctr"/>
          <a:lstStyle/>
          <a:p>
            <a:pPr marL="0" indent="0">
              <a:buNone/>
            </a:pPr>
            <a:r>
              <a:rPr lang="en-US" sz="850" dirty="0">
                <a:solidFill>
                  <a:srgbClr val="5B6B62"/>
                </a:solidFill>
                <a:latin typeface="Calibri" pitchFamily="34" charset="0"/>
                <a:ea typeface="Calibri" pitchFamily="34" charset="-122"/>
                <a:cs typeface="Calibri" pitchFamily="34" charset="-120"/>
              </a:rPr>
              <a:t>BUSINESS ANALYTICS  •  REVENUE &amp; METRICS FRAMEWORK</a:t>
            </a:r>
            <a:endParaRPr lang="en-US" sz="850" dirty="0"/>
          </a:p>
        </p:txBody>
      </p:sp>
      <p:sp>
        <p:nvSpPr>
          <p:cNvPr id="7" name="Text 4"/>
          <p:cNvSpPr/>
          <p:nvPr/>
        </p:nvSpPr>
        <p:spPr>
          <a:xfrm>
            <a:off x="11228832" y="6528816"/>
            <a:ext cx="457200" cy="256032"/>
          </a:xfrm>
          <a:prstGeom prst="rect">
            <a:avLst/>
          </a:prstGeom>
          <a:noFill/>
          <a:ln/>
        </p:spPr>
        <p:txBody>
          <a:bodyPr wrap="square" lIns="0" tIns="0" rIns="0" bIns="0" rtlCol="0" anchor="ctr"/>
          <a:lstStyle/>
          <a:p>
            <a:pPr marL="0" indent="0" algn="r">
              <a:buNone/>
            </a:pPr>
            <a:r>
              <a:rPr lang="en-US" sz="850" dirty="0">
                <a:solidFill>
                  <a:srgbClr val="5B6B62"/>
                </a:solidFill>
                <a:latin typeface="Calibri" pitchFamily="34" charset="0"/>
                <a:ea typeface="Calibri" pitchFamily="34" charset="-122"/>
                <a:cs typeface="Calibri" pitchFamily="34" charset="-120"/>
              </a:rPr>
              <a:t>5</a:t>
            </a:r>
            <a:endParaRPr lang="en-US" sz="850" dirty="0"/>
          </a:p>
        </p:txBody>
      </p:sp>
      <p:graphicFrame>
        <p:nvGraphicFramePr>
          <p:cNvPr id="8" name="Chart 0"/>
          <p:cNvGraphicFramePr/>
          <p:nvPr/>
        </p:nvGraphicFramePr>
        <p:xfrm>
          <a:off x="502920" y="1417320"/>
          <a:ext cx="6949440" cy="411480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1508760" y="5623560"/>
            <a:ext cx="1097280" cy="548640"/>
          </a:xfrm>
          <a:prstGeom prst="rect">
            <a:avLst/>
          </a:prstGeom>
          <a:noFill/>
          <a:ln/>
        </p:spPr>
        <p:txBody>
          <a:bodyPr wrap="square" lIns="0" tIns="0" rIns="0" bIns="0" rtlCol="0" anchor="ctr"/>
          <a:lstStyle/>
          <a:p>
            <a:pPr marL="0" indent="0" algn="ctr">
              <a:buNone/>
            </a:pPr>
            <a:r>
              <a:rPr lang="en-US" sz="950" dirty="0">
                <a:solidFill>
                  <a:srgbClr val="5B6B62"/>
                </a:solidFill>
                <a:latin typeface="Calibri" pitchFamily="34" charset="0"/>
                <a:ea typeface="Calibri" pitchFamily="34" charset="-122"/>
                <a:cs typeface="Calibri" pitchFamily="34" charset="-120"/>
              </a:rPr>
              <a:t>Jan
</a:t>
            </a:r>
            <a:endParaRPr lang="en-US" sz="950" dirty="0"/>
          </a:p>
          <a:p>
            <a:pPr marL="0" indent="0" algn="ctr">
              <a:buNone/>
            </a:pPr>
            <a:r>
              <a:rPr lang="en-US" sz="1300" b="1" dirty="0">
                <a:solidFill>
                  <a:srgbClr val="5B6B62"/>
                </a:solidFill>
                <a:latin typeface="Calibri" pitchFamily="34" charset="0"/>
                <a:ea typeface="Calibri" pitchFamily="34" charset="-122"/>
                <a:cs typeface="Calibri" pitchFamily="34" charset="-120"/>
              </a:rPr>
              <a:t>—</a:t>
            </a:r>
            <a:endParaRPr lang="en-US" sz="950" dirty="0"/>
          </a:p>
        </p:txBody>
      </p:sp>
      <p:sp>
        <p:nvSpPr>
          <p:cNvPr id="10" name="Text 6"/>
          <p:cNvSpPr/>
          <p:nvPr/>
        </p:nvSpPr>
        <p:spPr>
          <a:xfrm>
            <a:off x="2697480" y="5623560"/>
            <a:ext cx="1097280" cy="548640"/>
          </a:xfrm>
          <a:prstGeom prst="rect">
            <a:avLst/>
          </a:prstGeom>
          <a:noFill/>
          <a:ln/>
        </p:spPr>
        <p:txBody>
          <a:bodyPr wrap="square" lIns="0" tIns="0" rIns="0" bIns="0" rtlCol="0" anchor="ctr"/>
          <a:lstStyle/>
          <a:p>
            <a:pPr marL="0" indent="0" algn="ctr">
              <a:buNone/>
            </a:pPr>
            <a:r>
              <a:rPr lang="en-US" sz="950" dirty="0">
                <a:solidFill>
                  <a:srgbClr val="5B6B62"/>
                </a:solidFill>
                <a:latin typeface="Calibri" pitchFamily="34" charset="0"/>
                <a:ea typeface="Calibri" pitchFamily="34" charset="-122"/>
                <a:cs typeface="Calibri" pitchFamily="34" charset="-120"/>
              </a:rPr>
              <a:t>Feb
</a:t>
            </a:r>
            <a:endParaRPr lang="en-US" sz="950" dirty="0"/>
          </a:p>
          <a:p>
            <a:pPr marL="0" indent="0" algn="ctr">
              <a:buNone/>
            </a:pPr>
            <a:r>
              <a:rPr lang="en-US" sz="1300" b="1" dirty="0">
                <a:solidFill>
                  <a:srgbClr val="1B7A43"/>
                </a:solidFill>
                <a:latin typeface="Calibri" pitchFamily="34" charset="0"/>
                <a:ea typeface="Calibri" pitchFamily="34" charset="-122"/>
                <a:cs typeface="Calibri" pitchFamily="34" charset="-120"/>
              </a:rPr>
              <a:t>+16.7%</a:t>
            </a:r>
            <a:endParaRPr lang="en-US" sz="950" dirty="0"/>
          </a:p>
        </p:txBody>
      </p:sp>
      <p:sp>
        <p:nvSpPr>
          <p:cNvPr id="11" name="Text 7"/>
          <p:cNvSpPr/>
          <p:nvPr/>
        </p:nvSpPr>
        <p:spPr>
          <a:xfrm>
            <a:off x="3886200" y="5623560"/>
            <a:ext cx="1097280" cy="548640"/>
          </a:xfrm>
          <a:prstGeom prst="rect">
            <a:avLst/>
          </a:prstGeom>
          <a:noFill/>
          <a:ln/>
        </p:spPr>
        <p:txBody>
          <a:bodyPr wrap="square" lIns="0" tIns="0" rIns="0" bIns="0" rtlCol="0" anchor="ctr"/>
          <a:lstStyle/>
          <a:p>
            <a:pPr marL="0" indent="0" algn="ctr">
              <a:buNone/>
            </a:pPr>
            <a:r>
              <a:rPr lang="en-US" sz="950" dirty="0">
                <a:solidFill>
                  <a:srgbClr val="5B6B62"/>
                </a:solidFill>
                <a:latin typeface="Calibri" pitchFamily="34" charset="0"/>
                <a:ea typeface="Calibri" pitchFamily="34" charset="-122"/>
                <a:cs typeface="Calibri" pitchFamily="34" charset="-120"/>
              </a:rPr>
              <a:t>Mar
</a:t>
            </a:r>
            <a:endParaRPr lang="en-US" sz="950" dirty="0"/>
          </a:p>
          <a:p>
            <a:pPr marL="0" indent="0" algn="ctr">
              <a:buNone/>
            </a:pPr>
            <a:r>
              <a:rPr lang="en-US" sz="1300" b="1" dirty="0">
                <a:solidFill>
                  <a:srgbClr val="B23A2E"/>
                </a:solidFill>
                <a:latin typeface="Calibri" pitchFamily="34" charset="0"/>
                <a:ea typeface="Calibri" pitchFamily="34" charset="-122"/>
                <a:cs typeface="Calibri" pitchFamily="34" charset="-120"/>
              </a:rPr>
              <a:t>−3.8%</a:t>
            </a:r>
            <a:endParaRPr lang="en-US" sz="950" dirty="0"/>
          </a:p>
        </p:txBody>
      </p:sp>
      <p:sp>
        <p:nvSpPr>
          <p:cNvPr id="12" name="Text 8"/>
          <p:cNvSpPr/>
          <p:nvPr/>
        </p:nvSpPr>
        <p:spPr>
          <a:xfrm>
            <a:off x="5074920" y="5623560"/>
            <a:ext cx="1097280" cy="548640"/>
          </a:xfrm>
          <a:prstGeom prst="rect">
            <a:avLst/>
          </a:prstGeom>
          <a:noFill/>
          <a:ln/>
        </p:spPr>
        <p:txBody>
          <a:bodyPr wrap="square" lIns="0" tIns="0" rIns="0" bIns="0" rtlCol="0" anchor="ctr"/>
          <a:lstStyle/>
          <a:p>
            <a:pPr marL="0" indent="0" algn="ctr">
              <a:buNone/>
            </a:pPr>
            <a:r>
              <a:rPr lang="en-US" sz="950" dirty="0">
                <a:solidFill>
                  <a:srgbClr val="5B6B62"/>
                </a:solidFill>
                <a:latin typeface="Calibri" pitchFamily="34" charset="0"/>
                <a:ea typeface="Calibri" pitchFamily="34" charset="-122"/>
                <a:cs typeface="Calibri" pitchFamily="34" charset="-120"/>
              </a:rPr>
              <a:t>Apr
</a:t>
            </a:r>
            <a:endParaRPr lang="en-US" sz="950" dirty="0"/>
          </a:p>
          <a:p>
            <a:pPr marL="0" indent="0" algn="ctr">
              <a:buNone/>
            </a:pPr>
            <a:r>
              <a:rPr lang="en-US" sz="1300" b="1" dirty="0">
                <a:solidFill>
                  <a:srgbClr val="1B7A43"/>
                </a:solidFill>
                <a:latin typeface="Calibri" pitchFamily="34" charset="0"/>
                <a:ea typeface="Calibri" pitchFamily="34" charset="-122"/>
                <a:cs typeface="Calibri" pitchFamily="34" charset="-120"/>
              </a:rPr>
              <a:t>+23.7%</a:t>
            </a:r>
            <a:endParaRPr lang="en-US" sz="950" dirty="0"/>
          </a:p>
        </p:txBody>
      </p:sp>
      <p:sp>
        <p:nvSpPr>
          <p:cNvPr id="13" name="Text 9"/>
          <p:cNvSpPr/>
          <p:nvPr/>
        </p:nvSpPr>
        <p:spPr>
          <a:xfrm>
            <a:off x="6263640" y="5623560"/>
            <a:ext cx="1097280" cy="548640"/>
          </a:xfrm>
          <a:prstGeom prst="rect">
            <a:avLst/>
          </a:prstGeom>
          <a:noFill/>
          <a:ln/>
        </p:spPr>
        <p:txBody>
          <a:bodyPr wrap="square" lIns="0" tIns="0" rIns="0" bIns="0" rtlCol="0" anchor="ctr"/>
          <a:lstStyle/>
          <a:p>
            <a:pPr marL="0" indent="0" algn="ctr">
              <a:buNone/>
            </a:pPr>
            <a:r>
              <a:rPr lang="en-US" sz="950" dirty="0">
                <a:solidFill>
                  <a:srgbClr val="5B6B62"/>
                </a:solidFill>
                <a:latin typeface="Calibri" pitchFamily="34" charset="0"/>
                <a:ea typeface="Calibri" pitchFamily="34" charset="-122"/>
                <a:cs typeface="Calibri" pitchFamily="34" charset="-120"/>
              </a:rPr>
              <a:t>May
</a:t>
            </a:r>
            <a:endParaRPr lang="en-US" sz="950" dirty="0"/>
          </a:p>
          <a:p>
            <a:pPr marL="0" indent="0" algn="ctr">
              <a:buNone/>
            </a:pPr>
            <a:r>
              <a:rPr lang="en-US" sz="1300" b="1" dirty="0">
                <a:solidFill>
                  <a:srgbClr val="1B7A43"/>
                </a:solidFill>
                <a:latin typeface="Calibri" pitchFamily="34" charset="0"/>
                <a:ea typeface="Calibri" pitchFamily="34" charset="-122"/>
                <a:cs typeface="Calibri" pitchFamily="34" charset="-120"/>
              </a:rPr>
              <a:t>+10.5%</a:t>
            </a:r>
            <a:endParaRPr lang="en-US" sz="950" dirty="0"/>
          </a:p>
        </p:txBody>
      </p:sp>
      <p:sp>
        <p:nvSpPr>
          <p:cNvPr id="14" name="Shape 10"/>
          <p:cNvSpPr/>
          <p:nvPr/>
        </p:nvSpPr>
        <p:spPr>
          <a:xfrm>
            <a:off x="7680960" y="1417320"/>
            <a:ext cx="4023360" cy="4114800"/>
          </a:xfrm>
          <a:prstGeom prst="roundRect">
            <a:avLst>
              <a:gd name="adj" fmla="val 1818"/>
            </a:avLst>
          </a:prstGeom>
          <a:solidFill>
            <a:srgbClr val="F4FAF6"/>
          </a:solidFill>
          <a:ln/>
          <a:effectLst>
            <a:outerShdw blurRad="76200" dist="25400" dir="5400000" algn="bl" rotWithShape="0">
              <a:srgbClr val="000000">
                <a:alpha val="8000"/>
              </a:srgbClr>
            </a:outerShdw>
          </a:effectLst>
        </p:spPr>
      </p:sp>
      <p:sp>
        <p:nvSpPr>
          <p:cNvPr id="15" name="Text 11"/>
          <p:cNvSpPr/>
          <p:nvPr/>
        </p:nvSpPr>
        <p:spPr>
          <a:xfrm>
            <a:off x="7909560" y="1572768"/>
            <a:ext cx="3474720" cy="292608"/>
          </a:xfrm>
          <a:prstGeom prst="rect">
            <a:avLst/>
          </a:prstGeom>
          <a:noFill/>
          <a:ln/>
        </p:spPr>
        <p:txBody>
          <a:bodyPr wrap="square" lIns="0" tIns="0" rIns="0" bIns="0" rtlCol="0" anchor="ctr"/>
          <a:lstStyle/>
          <a:p>
            <a:pPr marL="0" indent="0">
              <a:buNone/>
            </a:pPr>
            <a:r>
              <a:rPr lang="en-US" sz="1500" b="1" dirty="0">
                <a:solidFill>
                  <a:srgbClr val="1F2A24"/>
                </a:solidFill>
                <a:latin typeface="Cambria" pitchFamily="34" charset="0"/>
                <a:ea typeface="Cambria" pitchFamily="34" charset="-122"/>
                <a:cs typeface="Cambria" pitchFamily="34" charset="-120"/>
              </a:rPr>
              <a:t>Growth Drivers</a:t>
            </a:r>
            <a:endParaRPr lang="en-US" sz="1500" dirty="0"/>
          </a:p>
        </p:txBody>
      </p:sp>
      <p:sp>
        <p:nvSpPr>
          <p:cNvPr id="16" name="Text 12"/>
          <p:cNvSpPr/>
          <p:nvPr/>
        </p:nvSpPr>
        <p:spPr>
          <a:xfrm>
            <a:off x="7909560" y="2011680"/>
            <a:ext cx="1463040" cy="457200"/>
          </a:xfrm>
          <a:prstGeom prst="rect">
            <a:avLst/>
          </a:prstGeom>
          <a:noFill/>
          <a:ln/>
        </p:spPr>
        <p:txBody>
          <a:bodyPr wrap="square" lIns="0" tIns="0" rIns="0" bIns="0" rtlCol="0" anchor="ctr"/>
          <a:lstStyle/>
          <a:p>
            <a:pPr marL="0" indent="0">
              <a:buNone/>
            </a:pPr>
            <a:r>
              <a:rPr lang="en-US" sz="1900" b="1" dirty="0">
                <a:solidFill>
                  <a:srgbClr val="0E5C36"/>
                </a:solidFill>
                <a:latin typeface="Cambria" pitchFamily="34" charset="0"/>
                <a:ea typeface="Cambria" pitchFamily="34" charset="-122"/>
                <a:cs typeface="Cambria" pitchFamily="34" charset="-120"/>
              </a:rPr>
              <a:t>+53.5%</a:t>
            </a:r>
            <a:endParaRPr lang="en-US" sz="1900" dirty="0"/>
          </a:p>
        </p:txBody>
      </p:sp>
      <p:sp>
        <p:nvSpPr>
          <p:cNvPr id="17" name="Text 13"/>
          <p:cNvSpPr/>
          <p:nvPr/>
        </p:nvSpPr>
        <p:spPr>
          <a:xfrm>
            <a:off x="7909560" y="2432304"/>
            <a:ext cx="3566160" cy="502920"/>
          </a:xfrm>
          <a:prstGeom prst="rect">
            <a:avLst/>
          </a:prstGeom>
          <a:noFill/>
          <a:ln/>
        </p:spPr>
        <p:txBody>
          <a:bodyPr wrap="square" lIns="0" tIns="0" rIns="0" bIns="0" rtlCol="0" anchor="t"/>
          <a:lstStyle/>
          <a:p>
            <a:pPr marL="0" indent="0">
              <a:buNone/>
            </a:pPr>
            <a:r>
              <a:rPr lang="en-US" sz="1080" dirty="0">
                <a:solidFill>
                  <a:srgbClr val="5B6B62"/>
                </a:solidFill>
                <a:latin typeface="Calibri" pitchFamily="34" charset="0"/>
                <a:ea typeface="Calibri" pitchFamily="34" charset="-122"/>
                <a:cs typeface="Calibri" pitchFamily="34" charset="-120"/>
              </a:rPr>
              <a:t>Cumulative growth, January to May</a:t>
            </a:r>
            <a:endParaRPr lang="en-US" sz="1080" dirty="0"/>
          </a:p>
        </p:txBody>
      </p:sp>
      <p:sp>
        <p:nvSpPr>
          <p:cNvPr id="18" name="Text 14"/>
          <p:cNvSpPr/>
          <p:nvPr/>
        </p:nvSpPr>
        <p:spPr>
          <a:xfrm>
            <a:off x="7909560" y="2898648"/>
            <a:ext cx="1463040" cy="457200"/>
          </a:xfrm>
          <a:prstGeom prst="rect">
            <a:avLst/>
          </a:prstGeom>
          <a:noFill/>
          <a:ln/>
        </p:spPr>
        <p:txBody>
          <a:bodyPr wrap="square" lIns="0" tIns="0" rIns="0" bIns="0" rtlCol="0" anchor="ctr"/>
          <a:lstStyle/>
          <a:p>
            <a:pPr marL="0" indent="0">
              <a:buNone/>
            </a:pPr>
            <a:r>
              <a:rPr lang="en-US" sz="1900" b="1" dirty="0">
                <a:solidFill>
                  <a:srgbClr val="0E5C36"/>
                </a:solidFill>
                <a:latin typeface="Cambria" pitchFamily="34" charset="0"/>
                <a:ea typeface="Cambria" pitchFamily="34" charset="-122"/>
                <a:cs typeface="Cambria" pitchFamily="34" charset="-120"/>
              </a:rPr>
              <a:t>+23.7%</a:t>
            </a:r>
            <a:endParaRPr lang="en-US" sz="1900" dirty="0"/>
          </a:p>
        </p:txBody>
      </p:sp>
      <p:sp>
        <p:nvSpPr>
          <p:cNvPr id="19" name="Text 15"/>
          <p:cNvSpPr/>
          <p:nvPr/>
        </p:nvSpPr>
        <p:spPr>
          <a:xfrm>
            <a:off x="7909560" y="3319272"/>
            <a:ext cx="3566160" cy="502920"/>
          </a:xfrm>
          <a:prstGeom prst="rect">
            <a:avLst/>
          </a:prstGeom>
          <a:noFill/>
          <a:ln/>
        </p:spPr>
        <p:txBody>
          <a:bodyPr wrap="square" lIns="0" tIns="0" rIns="0" bIns="0" rtlCol="0" anchor="t"/>
          <a:lstStyle/>
          <a:p>
            <a:pPr marL="0" indent="0">
              <a:buNone/>
            </a:pPr>
            <a:r>
              <a:rPr lang="en-US" sz="1080" dirty="0">
                <a:solidFill>
                  <a:srgbClr val="5B6B62"/>
                </a:solidFill>
                <a:latin typeface="Calibri" pitchFamily="34" charset="0"/>
                <a:ea typeface="Calibri" pitchFamily="34" charset="-122"/>
                <a:cs typeface="Calibri" pitchFamily="34" charset="-120"/>
              </a:rPr>
              <a:t>Largest single-month jump (Mar → Apr)</a:t>
            </a:r>
            <a:endParaRPr lang="en-US" sz="1080" dirty="0"/>
          </a:p>
        </p:txBody>
      </p:sp>
      <p:sp>
        <p:nvSpPr>
          <p:cNvPr id="20" name="Text 16"/>
          <p:cNvSpPr/>
          <p:nvPr/>
        </p:nvSpPr>
        <p:spPr>
          <a:xfrm>
            <a:off x="7909560" y="3785616"/>
            <a:ext cx="1463040" cy="457200"/>
          </a:xfrm>
          <a:prstGeom prst="rect">
            <a:avLst/>
          </a:prstGeom>
          <a:noFill/>
          <a:ln/>
        </p:spPr>
        <p:txBody>
          <a:bodyPr wrap="square" lIns="0" tIns="0" rIns="0" bIns="0" rtlCol="0" anchor="ctr"/>
          <a:lstStyle/>
          <a:p>
            <a:pPr marL="0" indent="0">
              <a:buNone/>
            </a:pPr>
            <a:r>
              <a:rPr lang="en-US" sz="1900" b="1" dirty="0">
                <a:solidFill>
                  <a:srgbClr val="0E5C36"/>
                </a:solidFill>
                <a:latin typeface="Cambria" pitchFamily="34" charset="0"/>
                <a:ea typeface="Cambria" pitchFamily="34" charset="-122"/>
                <a:cs typeface="Cambria" pitchFamily="34" charset="-120"/>
              </a:rPr>
              <a:t>−3.8%</a:t>
            </a:r>
            <a:endParaRPr lang="en-US" sz="1900" dirty="0"/>
          </a:p>
        </p:txBody>
      </p:sp>
      <p:sp>
        <p:nvSpPr>
          <p:cNvPr id="21" name="Text 17"/>
          <p:cNvSpPr/>
          <p:nvPr/>
        </p:nvSpPr>
        <p:spPr>
          <a:xfrm>
            <a:off x="7909560" y="4206240"/>
            <a:ext cx="3566160" cy="502920"/>
          </a:xfrm>
          <a:prstGeom prst="rect">
            <a:avLst/>
          </a:prstGeom>
          <a:noFill/>
          <a:ln/>
        </p:spPr>
        <p:txBody>
          <a:bodyPr wrap="square" lIns="0" tIns="0" rIns="0" bIns="0" rtlCol="0" anchor="t"/>
          <a:lstStyle/>
          <a:p>
            <a:pPr marL="0" indent="0">
              <a:buNone/>
            </a:pPr>
            <a:r>
              <a:rPr lang="en-US" sz="1080" dirty="0">
                <a:solidFill>
                  <a:srgbClr val="5B6B62"/>
                </a:solidFill>
                <a:latin typeface="Calibri" pitchFamily="34" charset="0"/>
                <a:ea typeface="Calibri" pitchFamily="34" charset="-122"/>
                <a:cs typeface="Calibri" pitchFamily="34" charset="-120"/>
              </a:rPr>
              <a:t>Only month of contraction (Feb → Mar)</a:t>
            </a:r>
            <a:endParaRPr lang="en-US" sz="1080" dirty="0"/>
          </a:p>
        </p:txBody>
      </p:sp>
      <p:sp>
        <p:nvSpPr>
          <p:cNvPr id="22" name="Text 18"/>
          <p:cNvSpPr/>
          <p:nvPr/>
        </p:nvSpPr>
        <p:spPr>
          <a:xfrm>
            <a:off x="7909560" y="4672584"/>
            <a:ext cx="1463040" cy="457200"/>
          </a:xfrm>
          <a:prstGeom prst="rect">
            <a:avLst/>
          </a:prstGeom>
          <a:noFill/>
          <a:ln/>
        </p:spPr>
        <p:txBody>
          <a:bodyPr wrap="square" lIns="0" tIns="0" rIns="0" bIns="0" rtlCol="0" anchor="ctr"/>
          <a:lstStyle/>
          <a:p>
            <a:pPr marL="0" indent="0">
              <a:buNone/>
            </a:pPr>
            <a:r>
              <a:rPr lang="en-US" sz="1900" b="1" dirty="0">
                <a:solidFill>
                  <a:srgbClr val="0E5C36"/>
                </a:solidFill>
                <a:latin typeface="Cambria" pitchFamily="34" charset="0"/>
                <a:ea typeface="Cambria" pitchFamily="34" charset="-122"/>
                <a:cs typeface="Cambria" pitchFamily="34" charset="-120"/>
              </a:rPr>
              <a:t>₹70,840</a:t>
            </a:r>
            <a:endParaRPr lang="en-US" sz="1900" dirty="0"/>
          </a:p>
        </p:txBody>
      </p:sp>
      <p:sp>
        <p:nvSpPr>
          <p:cNvPr id="23" name="Text 19"/>
          <p:cNvSpPr/>
          <p:nvPr/>
        </p:nvSpPr>
        <p:spPr>
          <a:xfrm>
            <a:off x="7909560" y="5093208"/>
            <a:ext cx="3566160" cy="502920"/>
          </a:xfrm>
          <a:prstGeom prst="rect">
            <a:avLst/>
          </a:prstGeom>
          <a:noFill/>
          <a:ln/>
        </p:spPr>
        <p:txBody>
          <a:bodyPr wrap="square" lIns="0" tIns="0" rIns="0" bIns="0" rtlCol="0" anchor="t"/>
          <a:lstStyle/>
          <a:p>
            <a:pPr marL="0" indent="0">
              <a:buNone/>
            </a:pPr>
            <a:r>
              <a:rPr lang="en-US" sz="1080" dirty="0">
                <a:solidFill>
                  <a:srgbClr val="5B6B62"/>
                </a:solidFill>
                <a:latin typeface="Calibri" pitchFamily="34" charset="0"/>
                <a:ea typeface="Calibri" pitchFamily="34" charset="-122"/>
                <a:cs typeface="Calibri" pitchFamily="34" charset="-120"/>
              </a:rPr>
              <a:t>Average monthly revenue across the period</a:t>
            </a:r>
            <a:endParaRPr lang="en-US" sz="10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0E5C36"/>
          </a:solidFill>
          <a:ln/>
        </p:spPr>
      </p:sp>
      <p:pic>
        <p:nvPicPr>
          <p:cNvPr id="3" name="Image 0" descr="preencoded.png"/>
          <p:cNvPicPr>
            <a:picLocks noChangeAspect="1"/>
          </p:cNvPicPr>
          <p:nvPr/>
        </p:nvPicPr>
        <p:blipFill>
          <a:blip r:embed="rId3"/>
          <a:stretch>
            <a:fillRect/>
          </a:stretch>
        </p:blipFill>
        <p:spPr>
          <a:xfrm>
            <a:off x="568300" y="522580"/>
            <a:ext cx="372161" cy="372161"/>
          </a:xfrm>
          <a:prstGeom prst="rect">
            <a:avLst/>
          </a:prstGeom>
        </p:spPr>
      </p:pic>
      <p:sp>
        <p:nvSpPr>
          <p:cNvPr id="4" name="Text 1"/>
          <p:cNvSpPr/>
          <p:nvPr/>
        </p:nvSpPr>
        <p:spPr>
          <a:xfrm>
            <a:off x="1143000" y="420624"/>
            <a:ext cx="7315200" cy="274320"/>
          </a:xfrm>
          <a:prstGeom prst="rect">
            <a:avLst/>
          </a:prstGeom>
          <a:noFill/>
          <a:ln/>
        </p:spPr>
        <p:txBody>
          <a:bodyPr wrap="square" lIns="0" tIns="0" rIns="0" bIns="0" rtlCol="0" anchor="ctr"/>
          <a:lstStyle/>
          <a:p>
            <a:pPr marL="0" indent="0">
              <a:buNone/>
            </a:pPr>
            <a:r>
              <a:rPr lang="en-US" sz="1150" b="1" kern="0" spc="200" dirty="0">
                <a:solidFill>
                  <a:srgbClr val="1B7A43"/>
                </a:solidFill>
                <a:latin typeface="Calibri" pitchFamily="34" charset="0"/>
                <a:ea typeface="Calibri" pitchFamily="34" charset="-122"/>
                <a:cs typeface="Calibri" pitchFamily="34" charset="-120"/>
              </a:rPr>
              <a:t>MODULE 1 · DASHBOARD</a:t>
            </a:r>
            <a:endParaRPr lang="en-US" sz="1150" dirty="0"/>
          </a:p>
        </p:txBody>
      </p:sp>
      <p:sp>
        <p:nvSpPr>
          <p:cNvPr id="5" name="Text 2"/>
          <p:cNvSpPr/>
          <p:nvPr/>
        </p:nvSpPr>
        <p:spPr>
          <a:xfrm>
            <a:off x="1143000" y="658368"/>
            <a:ext cx="9875520" cy="502920"/>
          </a:xfrm>
          <a:prstGeom prst="rect">
            <a:avLst/>
          </a:prstGeom>
          <a:noFill/>
          <a:ln/>
        </p:spPr>
        <p:txBody>
          <a:bodyPr wrap="square" lIns="0" tIns="0" rIns="0" bIns="0" rtlCol="0" anchor="ctr"/>
          <a:lstStyle/>
          <a:p>
            <a:pPr marL="0" indent="0">
              <a:buNone/>
            </a:pPr>
            <a:r>
              <a:rPr lang="en-US" sz="2600" b="1" dirty="0">
                <a:solidFill>
                  <a:srgbClr val="1F2A24"/>
                </a:solidFill>
                <a:latin typeface="Cambria" pitchFamily="34" charset="0"/>
                <a:ea typeface="Cambria" pitchFamily="34" charset="-122"/>
                <a:cs typeface="Cambria" pitchFamily="34" charset="-120"/>
              </a:rPr>
              <a:t>Revenue Performance Dashboard</a:t>
            </a:r>
            <a:endParaRPr lang="en-US" sz="2600" dirty="0"/>
          </a:p>
        </p:txBody>
      </p:sp>
      <p:sp>
        <p:nvSpPr>
          <p:cNvPr id="6" name="Text 3"/>
          <p:cNvSpPr/>
          <p:nvPr/>
        </p:nvSpPr>
        <p:spPr>
          <a:xfrm>
            <a:off x="502920" y="6528816"/>
            <a:ext cx="7315200" cy="256032"/>
          </a:xfrm>
          <a:prstGeom prst="rect">
            <a:avLst/>
          </a:prstGeom>
          <a:noFill/>
          <a:ln/>
        </p:spPr>
        <p:txBody>
          <a:bodyPr wrap="square" lIns="0" tIns="0" rIns="0" bIns="0" rtlCol="0" anchor="ctr"/>
          <a:lstStyle/>
          <a:p>
            <a:pPr marL="0" indent="0">
              <a:buNone/>
            </a:pPr>
            <a:r>
              <a:rPr lang="en-US" sz="850" dirty="0">
                <a:solidFill>
                  <a:srgbClr val="5B6B62"/>
                </a:solidFill>
                <a:latin typeface="Calibri" pitchFamily="34" charset="0"/>
                <a:ea typeface="Calibri" pitchFamily="34" charset="-122"/>
                <a:cs typeface="Calibri" pitchFamily="34" charset="-120"/>
              </a:rPr>
              <a:t>BUSINESS ANALYTICS  •  REVENUE &amp; METRICS FRAMEWORK</a:t>
            </a:r>
            <a:endParaRPr lang="en-US" sz="850" dirty="0"/>
          </a:p>
        </p:txBody>
      </p:sp>
      <p:sp>
        <p:nvSpPr>
          <p:cNvPr id="7" name="Text 4"/>
          <p:cNvSpPr/>
          <p:nvPr/>
        </p:nvSpPr>
        <p:spPr>
          <a:xfrm>
            <a:off x="11228832" y="6528816"/>
            <a:ext cx="457200" cy="256032"/>
          </a:xfrm>
          <a:prstGeom prst="rect">
            <a:avLst/>
          </a:prstGeom>
          <a:noFill/>
          <a:ln/>
        </p:spPr>
        <p:txBody>
          <a:bodyPr wrap="square" lIns="0" tIns="0" rIns="0" bIns="0" rtlCol="0" anchor="ctr"/>
          <a:lstStyle/>
          <a:p>
            <a:pPr marL="0" indent="0" algn="r">
              <a:buNone/>
            </a:pPr>
            <a:r>
              <a:rPr lang="en-US" sz="850" dirty="0">
                <a:solidFill>
                  <a:srgbClr val="5B6B62"/>
                </a:solidFill>
                <a:latin typeface="Calibri" pitchFamily="34" charset="0"/>
                <a:ea typeface="Calibri" pitchFamily="34" charset="-122"/>
                <a:cs typeface="Calibri" pitchFamily="34" charset="-120"/>
              </a:rPr>
              <a:t>6</a:t>
            </a:r>
            <a:endParaRPr lang="en-US" sz="850" dirty="0"/>
          </a:p>
        </p:txBody>
      </p:sp>
      <p:sp>
        <p:nvSpPr>
          <p:cNvPr id="8" name="Shape 5"/>
          <p:cNvSpPr/>
          <p:nvPr/>
        </p:nvSpPr>
        <p:spPr>
          <a:xfrm>
            <a:off x="502920" y="1417320"/>
            <a:ext cx="3456432" cy="1234440"/>
          </a:xfrm>
          <a:prstGeom prst="roundRect">
            <a:avLst>
              <a:gd name="adj" fmla="val 5926"/>
            </a:avLst>
          </a:prstGeom>
          <a:solidFill>
            <a:srgbClr val="F4FAF6"/>
          </a:solidFill>
          <a:ln/>
          <a:effectLst>
            <a:outerShdw blurRad="88900" dist="38100" dir="5400000" algn="bl" rotWithShape="0">
              <a:srgbClr val="000000">
                <a:alpha val="10000"/>
              </a:srgbClr>
            </a:outerShdw>
          </a:effectLst>
        </p:spPr>
      </p:sp>
      <p:sp>
        <p:nvSpPr>
          <p:cNvPr id="9" name="Text 6"/>
          <p:cNvSpPr/>
          <p:nvPr/>
        </p:nvSpPr>
        <p:spPr>
          <a:xfrm>
            <a:off x="731520" y="1563624"/>
            <a:ext cx="2999232" cy="617220"/>
          </a:xfrm>
          <a:prstGeom prst="rect">
            <a:avLst/>
          </a:prstGeom>
          <a:noFill/>
          <a:ln/>
        </p:spPr>
        <p:txBody>
          <a:bodyPr wrap="square" lIns="0" tIns="0" rIns="0" bIns="0" rtlCol="0" anchor="ctr"/>
          <a:lstStyle/>
          <a:p>
            <a:pPr marL="0" indent="0" algn="l">
              <a:buNone/>
            </a:pPr>
            <a:r>
              <a:rPr lang="en-US" sz="3000" b="1" dirty="0">
                <a:solidFill>
                  <a:srgbClr val="0E5C36"/>
                </a:solidFill>
                <a:latin typeface="Cambria" pitchFamily="34" charset="0"/>
                <a:ea typeface="Cambria" pitchFamily="34" charset="-122"/>
                <a:cs typeface="Cambria" pitchFamily="34" charset="-120"/>
              </a:rPr>
              <a:t>₹3,54,200</a:t>
            </a:r>
            <a:endParaRPr lang="en-US" sz="3000" dirty="0"/>
          </a:p>
        </p:txBody>
      </p:sp>
      <p:sp>
        <p:nvSpPr>
          <p:cNvPr id="10" name="Text 7"/>
          <p:cNvSpPr/>
          <p:nvPr/>
        </p:nvSpPr>
        <p:spPr>
          <a:xfrm>
            <a:off x="731520" y="2182673"/>
            <a:ext cx="2999232" cy="274320"/>
          </a:xfrm>
          <a:prstGeom prst="rect">
            <a:avLst/>
          </a:prstGeom>
          <a:noFill/>
          <a:ln/>
        </p:spPr>
        <p:txBody>
          <a:bodyPr wrap="square" lIns="0" tIns="0" rIns="0" bIns="0" rtlCol="0" anchor="ctr"/>
          <a:lstStyle/>
          <a:p>
            <a:pPr marL="0" indent="0">
              <a:buNone/>
            </a:pPr>
            <a:r>
              <a:rPr lang="en-US" sz="1300" b="1" dirty="0">
                <a:solidFill>
                  <a:srgbClr val="1F2A24"/>
                </a:solidFill>
                <a:latin typeface="Calibri" pitchFamily="34" charset="0"/>
                <a:ea typeface="Calibri" pitchFamily="34" charset="-122"/>
                <a:cs typeface="Calibri" pitchFamily="34" charset="-120"/>
              </a:rPr>
              <a:t>Total Revenue</a:t>
            </a:r>
            <a:endParaRPr lang="en-US" sz="1300" dirty="0"/>
          </a:p>
        </p:txBody>
      </p:sp>
      <p:sp>
        <p:nvSpPr>
          <p:cNvPr id="11" name="Text 8"/>
          <p:cNvSpPr/>
          <p:nvPr/>
        </p:nvSpPr>
        <p:spPr>
          <a:xfrm>
            <a:off x="731520" y="2359152"/>
            <a:ext cx="2999232" cy="256032"/>
          </a:xfrm>
          <a:prstGeom prst="rect">
            <a:avLst/>
          </a:prstGeom>
          <a:noFill/>
          <a:ln/>
        </p:spPr>
        <p:txBody>
          <a:bodyPr wrap="square" lIns="0" tIns="0" rIns="0" bIns="0" rtlCol="0" anchor="ctr"/>
          <a:lstStyle/>
          <a:p>
            <a:pPr marL="0" indent="0">
              <a:buNone/>
            </a:pPr>
            <a:r>
              <a:rPr lang="en-US" sz="1000" dirty="0">
                <a:solidFill>
                  <a:srgbClr val="5B6B62"/>
                </a:solidFill>
                <a:latin typeface="Calibri" pitchFamily="34" charset="0"/>
                <a:ea typeface="Calibri" pitchFamily="34" charset="-122"/>
                <a:cs typeface="Calibri" pitchFamily="34" charset="-120"/>
              </a:rPr>
              <a:t>Jan–May</a:t>
            </a:r>
            <a:endParaRPr lang="en-US" sz="1000" dirty="0"/>
          </a:p>
        </p:txBody>
      </p:sp>
      <p:sp>
        <p:nvSpPr>
          <p:cNvPr id="12" name="Shape 9"/>
          <p:cNvSpPr/>
          <p:nvPr/>
        </p:nvSpPr>
        <p:spPr>
          <a:xfrm>
            <a:off x="4160520" y="1417320"/>
            <a:ext cx="3456432" cy="1234440"/>
          </a:xfrm>
          <a:prstGeom prst="roundRect">
            <a:avLst>
              <a:gd name="adj" fmla="val 5926"/>
            </a:avLst>
          </a:prstGeom>
          <a:solidFill>
            <a:srgbClr val="F4FAF6"/>
          </a:solidFill>
          <a:ln/>
          <a:effectLst>
            <a:outerShdw blurRad="88900" dist="38100" dir="5400000" algn="bl" rotWithShape="0">
              <a:srgbClr val="000000">
                <a:alpha val="10000"/>
              </a:srgbClr>
            </a:outerShdw>
          </a:effectLst>
        </p:spPr>
      </p:sp>
      <p:sp>
        <p:nvSpPr>
          <p:cNvPr id="13" name="Text 10"/>
          <p:cNvSpPr/>
          <p:nvPr/>
        </p:nvSpPr>
        <p:spPr>
          <a:xfrm>
            <a:off x="4389120" y="1563624"/>
            <a:ext cx="2999232" cy="617220"/>
          </a:xfrm>
          <a:prstGeom prst="rect">
            <a:avLst/>
          </a:prstGeom>
          <a:noFill/>
          <a:ln/>
        </p:spPr>
        <p:txBody>
          <a:bodyPr wrap="square" lIns="0" tIns="0" rIns="0" bIns="0" rtlCol="0" anchor="ctr"/>
          <a:lstStyle/>
          <a:p>
            <a:pPr marL="0" indent="0" algn="l">
              <a:buNone/>
            </a:pPr>
            <a:r>
              <a:rPr lang="en-US" sz="3000" b="1" dirty="0">
                <a:solidFill>
                  <a:srgbClr val="1B7A43"/>
                </a:solidFill>
                <a:latin typeface="Cambria" pitchFamily="34" charset="0"/>
                <a:ea typeface="Cambria" pitchFamily="34" charset="-122"/>
                <a:cs typeface="Cambria" pitchFamily="34" charset="-120"/>
              </a:rPr>
              <a:t>₹70,840</a:t>
            </a:r>
            <a:endParaRPr lang="en-US" sz="3000" dirty="0"/>
          </a:p>
        </p:txBody>
      </p:sp>
      <p:sp>
        <p:nvSpPr>
          <p:cNvPr id="14" name="Text 11"/>
          <p:cNvSpPr/>
          <p:nvPr/>
        </p:nvSpPr>
        <p:spPr>
          <a:xfrm>
            <a:off x="4389120" y="2182673"/>
            <a:ext cx="2999232" cy="274320"/>
          </a:xfrm>
          <a:prstGeom prst="rect">
            <a:avLst/>
          </a:prstGeom>
          <a:noFill/>
          <a:ln/>
        </p:spPr>
        <p:txBody>
          <a:bodyPr wrap="square" lIns="0" tIns="0" rIns="0" bIns="0" rtlCol="0" anchor="ctr"/>
          <a:lstStyle/>
          <a:p>
            <a:pPr marL="0" indent="0">
              <a:buNone/>
            </a:pPr>
            <a:r>
              <a:rPr lang="en-US" sz="1300" b="1" dirty="0">
                <a:solidFill>
                  <a:srgbClr val="1F2A24"/>
                </a:solidFill>
                <a:latin typeface="Calibri" pitchFamily="34" charset="0"/>
                <a:ea typeface="Calibri" pitchFamily="34" charset="-122"/>
                <a:cs typeface="Calibri" pitchFamily="34" charset="-120"/>
              </a:rPr>
              <a:t>Avg. Monthly Revenue</a:t>
            </a:r>
            <a:endParaRPr lang="en-US" sz="1300" dirty="0"/>
          </a:p>
        </p:txBody>
      </p:sp>
      <p:sp>
        <p:nvSpPr>
          <p:cNvPr id="15" name="Text 12"/>
          <p:cNvSpPr/>
          <p:nvPr/>
        </p:nvSpPr>
        <p:spPr>
          <a:xfrm>
            <a:off x="4389120" y="2359152"/>
            <a:ext cx="2999232" cy="256032"/>
          </a:xfrm>
          <a:prstGeom prst="rect">
            <a:avLst/>
          </a:prstGeom>
          <a:noFill/>
          <a:ln/>
        </p:spPr>
        <p:txBody>
          <a:bodyPr wrap="square" lIns="0" tIns="0" rIns="0" bIns="0" rtlCol="0" anchor="ctr"/>
          <a:lstStyle/>
          <a:p>
            <a:pPr marL="0" indent="0">
              <a:buNone/>
            </a:pPr>
            <a:r>
              <a:rPr lang="en-US" sz="1000" dirty="0">
                <a:solidFill>
                  <a:srgbClr val="5B6B62"/>
                </a:solidFill>
                <a:latin typeface="Calibri" pitchFamily="34" charset="0"/>
                <a:ea typeface="Calibri" pitchFamily="34" charset="-122"/>
                <a:cs typeface="Calibri" pitchFamily="34" charset="-120"/>
              </a:rPr>
              <a:t>5-month mean</a:t>
            </a:r>
            <a:endParaRPr lang="en-US" sz="1000" dirty="0"/>
          </a:p>
        </p:txBody>
      </p:sp>
      <p:sp>
        <p:nvSpPr>
          <p:cNvPr id="16" name="Shape 13"/>
          <p:cNvSpPr/>
          <p:nvPr/>
        </p:nvSpPr>
        <p:spPr>
          <a:xfrm>
            <a:off x="7818120" y="1417320"/>
            <a:ext cx="3456432" cy="1234440"/>
          </a:xfrm>
          <a:prstGeom prst="roundRect">
            <a:avLst>
              <a:gd name="adj" fmla="val 5926"/>
            </a:avLst>
          </a:prstGeom>
          <a:solidFill>
            <a:srgbClr val="F4FAF6"/>
          </a:solidFill>
          <a:ln/>
          <a:effectLst>
            <a:outerShdw blurRad="88900" dist="38100" dir="5400000" algn="bl" rotWithShape="0">
              <a:srgbClr val="000000">
                <a:alpha val="10000"/>
              </a:srgbClr>
            </a:outerShdw>
          </a:effectLst>
        </p:spPr>
      </p:sp>
      <p:sp>
        <p:nvSpPr>
          <p:cNvPr id="17" name="Text 14"/>
          <p:cNvSpPr/>
          <p:nvPr/>
        </p:nvSpPr>
        <p:spPr>
          <a:xfrm>
            <a:off x="8046720" y="1563624"/>
            <a:ext cx="2999232" cy="617220"/>
          </a:xfrm>
          <a:prstGeom prst="rect">
            <a:avLst/>
          </a:prstGeom>
          <a:noFill/>
          <a:ln/>
        </p:spPr>
        <p:txBody>
          <a:bodyPr wrap="square" lIns="0" tIns="0" rIns="0" bIns="0" rtlCol="0" anchor="ctr"/>
          <a:lstStyle/>
          <a:p>
            <a:pPr marL="0" indent="0" algn="l">
              <a:buNone/>
            </a:pPr>
            <a:r>
              <a:rPr lang="en-US" sz="3000" b="1" dirty="0">
                <a:solidFill>
                  <a:srgbClr val="0E5C36"/>
                </a:solidFill>
                <a:latin typeface="Cambria" pitchFamily="34" charset="0"/>
                <a:ea typeface="Cambria" pitchFamily="34" charset="-122"/>
                <a:cs typeface="Cambria" pitchFamily="34" charset="-120"/>
              </a:rPr>
              <a:t>+53.5%</a:t>
            </a:r>
            <a:endParaRPr lang="en-US" sz="3000" dirty="0"/>
          </a:p>
        </p:txBody>
      </p:sp>
      <p:sp>
        <p:nvSpPr>
          <p:cNvPr id="18" name="Text 15"/>
          <p:cNvSpPr/>
          <p:nvPr/>
        </p:nvSpPr>
        <p:spPr>
          <a:xfrm>
            <a:off x="8046720" y="2182673"/>
            <a:ext cx="2999232" cy="274320"/>
          </a:xfrm>
          <a:prstGeom prst="rect">
            <a:avLst/>
          </a:prstGeom>
          <a:noFill/>
          <a:ln/>
        </p:spPr>
        <p:txBody>
          <a:bodyPr wrap="square" lIns="0" tIns="0" rIns="0" bIns="0" rtlCol="0" anchor="ctr"/>
          <a:lstStyle/>
          <a:p>
            <a:pPr marL="0" indent="0">
              <a:buNone/>
            </a:pPr>
            <a:r>
              <a:rPr lang="en-US" sz="1300" b="1" dirty="0">
                <a:solidFill>
                  <a:srgbClr val="1F2A24"/>
                </a:solidFill>
                <a:latin typeface="Calibri" pitchFamily="34" charset="0"/>
                <a:ea typeface="Calibri" pitchFamily="34" charset="-122"/>
                <a:cs typeface="Calibri" pitchFamily="34" charset="-120"/>
              </a:rPr>
              <a:t>Period Growth</a:t>
            </a:r>
            <a:endParaRPr lang="en-US" sz="1300" dirty="0"/>
          </a:p>
        </p:txBody>
      </p:sp>
      <p:sp>
        <p:nvSpPr>
          <p:cNvPr id="19" name="Text 16"/>
          <p:cNvSpPr/>
          <p:nvPr/>
        </p:nvSpPr>
        <p:spPr>
          <a:xfrm>
            <a:off x="8046720" y="2359152"/>
            <a:ext cx="2999232" cy="256032"/>
          </a:xfrm>
          <a:prstGeom prst="rect">
            <a:avLst/>
          </a:prstGeom>
          <a:noFill/>
          <a:ln/>
        </p:spPr>
        <p:txBody>
          <a:bodyPr wrap="square" lIns="0" tIns="0" rIns="0" bIns="0" rtlCol="0" anchor="ctr"/>
          <a:lstStyle/>
          <a:p>
            <a:pPr marL="0" indent="0">
              <a:buNone/>
            </a:pPr>
            <a:r>
              <a:rPr lang="en-US" sz="1000" dirty="0">
                <a:solidFill>
                  <a:srgbClr val="5B6B62"/>
                </a:solidFill>
                <a:latin typeface="Calibri" pitchFamily="34" charset="0"/>
                <a:ea typeface="Calibri" pitchFamily="34" charset="-122"/>
                <a:cs typeface="Calibri" pitchFamily="34" charset="-120"/>
              </a:rPr>
              <a:t>Jan vs. May</a:t>
            </a:r>
            <a:endParaRPr lang="en-US" sz="1000" dirty="0"/>
          </a:p>
        </p:txBody>
      </p:sp>
      <p:sp>
        <p:nvSpPr>
          <p:cNvPr id="20" name="Text 17"/>
          <p:cNvSpPr/>
          <p:nvPr/>
        </p:nvSpPr>
        <p:spPr>
          <a:xfrm>
            <a:off x="502920" y="2880360"/>
            <a:ext cx="5486400" cy="292608"/>
          </a:xfrm>
          <a:prstGeom prst="rect">
            <a:avLst/>
          </a:prstGeom>
          <a:noFill/>
          <a:ln/>
        </p:spPr>
        <p:txBody>
          <a:bodyPr wrap="square" lIns="0" tIns="0" rIns="0" bIns="0" rtlCol="0" anchor="ctr"/>
          <a:lstStyle/>
          <a:p>
            <a:pPr marL="0" indent="0">
              <a:buNone/>
            </a:pPr>
            <a:r>
              <a:rPr lang="en-US" sz="1250" b="1" dirty="0">
                <a:solidFill>
                  <a:srgbClr val="1F2A24"/>
                </a:solidFill>
                <a:latin typeface="Calibri" pitchFamily="34" charset="0"/>
                <a:ea typeface="Calibri" pitchFamily="34" charset="-122"/>
                <a:cs typeface="Calibri" pitchFamily="34" charset="-120"/>
              </a:rPr>
              <a:t>Product Sales vs. Service Revenue by Month</a:t>
            </a:r>
            <a:endParaRPr lang="en-US" sz="1250" dirty="0"/>
          </a:p>
        </p:txBody>
      </p:sp>
      <p:graphicFrame>
        <p:nvGraphicFramePr>
          <p:cNvPr id="21" name="Chart 0"/>
          <p:cNvGraphicFramePr/>
          <p:nvPr/>
        </p:nvGraphicFramePr>
        <p:xfrm>
          <a:off x="365760" y="3200400"/>
          <a:ext cx="6903720" cy="3246120"/>
        </p:xfrm>
        <a:graphic>
          <a:graphicData uri="http://schemas.openxmlformats.org/drawingml/2006/chart">
            <c:chart xmlns:c="http://schemas.openxmlformats.org/drawingml/2006/chart" xmlns:r="http://schemas.openxmlformats.org/officeDocument/2006/relationships" r:id="rId4"/>
          </a:graphicData>
        </a:graphic>
      </p:graphicFrame>
      <p:sp>
        <p:nvSpPr>
          <p:cNvPr id="22" name="Shape 18"/>
          <p:cNvSpPr/>
          <p:nvPr/>
        </p:nvSpPr>
        <p:spPr>
          <a:xfrm>
            <a:off x="7680960" y="2880360"/>
            <a:ext cx="4023360" cy="3566160"/>
          </a:xfrm>
          <a:prstGeom prst="roundRect">
            <a:avLst>
              <a:gd name="adj" fmla="val 2051"/>
            </a:avLst>
          </a:prstGeom>
          <a:solidFill>
            <a:srgbClr val="EAF6EF"/>
          </a:solidFill>
          <a:ln/>
          <a:effectLst>
            <a:outerShdw blurRad="76200" dist="25400" dir="5400000" algn="bl" rotWithShape="0">
              <a:srgbClr val="000000">
                <a:alpha val="8000"/>
              </a:srgbClr>
            </a:outerShdw>
          </a:effectLst>
        </p:spPr>
      </p:sp>
      <p:sp>
        <p:nvSpPr>
          <p:cNvPr id="23" name="Text 19"/>
          <p:cNvSpPr/>
          <p:nvPr/>
        </p:nvSpPr>
        <p:spPr>
          <a:xfrm>
            <a:off x="7909560" y="3035808"/>
            <a:ext cx="3474720" cy="292608"/>
          </a:xfrm>
          <a:prstGeom prst="rect">
            <a:avLst/>
          </a:prstGeom>
          <a:noFill/>
          <a:ln/>
        </p:spPr>
        <p:txBody>
          <a:bodyPr wrap="square" lIns="0" tIns="0" rIns="0" bIns="0" rtlCol="0" anchor="ctr"/>
          <a:lstStyle/>
          <a:p>
            <a:pPr marL="0" indent="0">
              <a:buNone/>
            </a:pPr>
            <a:r>
              <a:rPr lang="en-US" sz="1500" b="1" dirty="0">
                <a:solidFill>
                  <a:srgbClr val="1F2A24"/>
                </a:solidFill>
                <a:latin typeface="Cambria" pitchFamily="34" charset="0"/>
                <a:ea typeface="Cambria" pitchFamily="34" charset="-122"/>
                <a:cs typeface="Cambria" pitchFamily="34" charset="-120"/>
              </a:rPr>
              <a:t>Mix Shift</a:t>
            </a:r>
            <a:endParaRPr lang="en-US" sz="1500" dirty="0"/>
          </a:p>
        </p:txBody>
      </p:sp>
      <p:graphicFrame>
        <p:nvGraphicFramePr>
          <p:cNvPr id="24" name="Chart 1"/>
          <p:cNvGraphicFramePr/>
          <p:nvPr/>
        </p:nvGraphicFramePr>
        <p:xfrm>
          <a:off x="7863840" y="3383280"/>
          <a:ext cx="2194560" cy="2194560"/>
        </p:xfrm>
        <a:graphic>
          <a:graphicData uri="http://schemas.openxmlformats.org/drawingml/2006/chart">
            <c:chart xmlns:c="http://schemas.openxmlformats.org/drawingml/2006/chart" xmlns:r="http://schemas.openxmlformats.org/officeDocument/2006/relationships" r:id="rId5"/>
          </a:graphicData>
        </a:graphic>
      </p:graphicFrame>
      <p:sp>
        <p:nvSpPr>
          <p:cNvPr id="25" name="Text 20"/>
          <p:cNvSpPr/>
          <p:nvPr/>
        </p:nvSpPr>
        <p:spPr>
          <a:xfrm>
            <a:off x="10149840" y="3931920"/>
            <a:ext cx="1463040" cy="1097280"/>
          </a:xfrm>
          <a:prstGeom prst="rect">
            <a:avLst/>
          </a:prstGeom>
          <a:noFill/>
          <a:ln/>
        </p:spPr>
        <p:txBody>
          <a:bodyPr wrap="square" lIns="0" tIns="0" rIns="0" bIns="0" rtlCol="0" anchor="ctr"/>
          <a:lstStyle/>
          <a:p>
            <a:pPr marL="0" indent="0">
              <a:buNone/>
            </a:pPr>
            <a:r>
              <a:rPr lang="en-US" sz="1000" b="1" dirty="0">
                <a:solidFill>
                  <a:srgbClr val="0E5C36"/>
                </a:solidFill>
                <a:latin typeface="Calibri" pitchFamily="34" charset="0"/>
                <a:ea typeface="Calibri" pitchFamily="34" charset="-122"/>
                <a:cs typeface="Calibri" pitchFamily="34" charset="-120"/>
              </a:rPr>
              <a:t>● </a:t>
            </a:r>
            <a:r>
              <a:rPr lang="en-US" sz="1000" dirty="0">
                <a:solidFill>
                  <a:srgbClr val="1F2A24"/>
                </a:solidFill>
                <a:latin typeface="Calibri" pitchFamily="34" charset="0"/>
                <a:ea typeface="Calibri" pitchFamily="34" charset="-122"/>
                <a:cs typeface="Calibri" pitchFamily="34" charset="-120"/>
              </a:rPr>
              <a:t>Product Sales — 77%
</a:t>
            </a:r>
            <a:endParaRPr lang="en-US" sz="1000" dirty="0"/>
          </a:p>
          <a:p>
            <a:pPr marL="0" indent="0">
              <a:buNone/>
            </a:pPr>
            <a:r>
              <a:rPr lang="en-US" sz="1000" b="1" dirty="0">
                <a:solidFill>
                  <a:srgbClr val="B8860B"/>
                </a:solidFill>
                <a:latin typeface="Calibri" pitchFamily="34" charset="0"/>
                <a:ea typeface="Calibri" pitchFamily="34" charset="-122"/>
                <a:cs typeface="Calibri" pitchFamily="34" charset="-120"/>
              </a:rPr>
              <a:t>● </a:t>
            </a:r>
            <a:r>
              <a:rPr lang="en-US" sz="1000" dirty="0">
                <a:solidFill>
                  <a:srgbClr val="1F2A24"/>
                </a:solidFill>
                <a:latin typeface="Calibri" pitchFamily="34" charset="0"/>
                <a:ea typeface="Calibri" pitchFamily="34" charset="-122"/>
                <a:cs typeface="Calibri" pitchFamily="34" charset="-120"/>
              </a:rPr>
              <a:t>Service Revenue — 23%</a:t>
            </a:r>
            <a:endParaRPr lang="en-US" sz="1000" dirty="0"/>
          </a:p>
        </p:txBody>
      </p:sp>
      <p:sp>
        <p:nvSpPr>
          <p:cNvPr id="26" name="Text 21"/>
          <p:cNvSpPr/>
          <p:nvPr/>
        </p:nvSpPr>
        <p:spPr>
          <a:xfrm>
            <a:off x="7909560" y="5715000"/>
            <a:ext cx="3611880" cy="640080"/>
          </a:xfrm>
          <a:prstGeom prst="rect">
            <a:avLst/>
          </a:prstGeom>
          <a:noFill/>
          <a:ln/>
        </p:spPr>
        <p:txBody>
          <a:bodyPr wrap="square" lIns="0" tIns="0" rIns="0" bIns="0" rtlCol="0" anchor="ctr"/>
          <a:lstStyle/>
          <a:p>
            <a:pPr marL="0" indent="0">
              <a:buNone/>
            </a:pPr>
            <a:r>
              <a:rPr lang="en-US" sz="1000" i="1" dirty="0">
                <a:solidFill>
                  <a:srgbClr val="5B6B62"/>
                </a:solidFill>
                <a:latin typeface="Calibri" pitchFamily="34" charset="0"/>
                <a:ea typeface="Calibri" pitchFamily="34" charset="-122"/>
                <a:cs typeface="Calibri" pitchFamily="34" charset="-120"/>
              </a:rPr>
              <a:t>Service revenue's share has held steady near a fifth to a quarter of the total — a base worth growing deliberately.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0E5C36"/>
          </a:solidFill>
          <a:ln/>
        </p:spPr>
      </p:sp>
      <p:pic>
        <p:nvPicPr>
          <p:cNvPr id="3" name="Image 0" descr="preencoded.png"/>
          <p:cNvPicPr>
            <a:picLocks noChangeAspect="1"/>
          </p:cNvPicPr>
          <p:nvPr/>
        </p:nvPicPr>
        <p:blipFill>
          <a:blip r:embed="rId3"/>
          <a:stretch>
            <a:fillRect/>
          </a:stretch>
        </p:blipFill>
        <p:spPr>
          <a:xfrm>
            <a:off x="568300" y="522580"/>
            <a:ext cx="372161" cy="372161"/>
          </a:xfrm>
          <a:prstGeom prst="rect">
            <a:avLst/>
          </a:prstGeom>
        </p:spPr>
      </p:pic>
      <p:sp>
        <p:nvSpPr>
          <p:cNvPr id="4" name="Text 1"/>
          <p:cNvSpPr/>
          <p:nvPr/>
        </p:nvSpPr>
        <p:spPr>
          <a:xfrm>
            <a:off x="1143000" y="420624"/>
            <a:ext cx="7315200" cy="274320"/>
          </a:xfrm>
          <a:prstGeom prst="rect">
            <a:avLst/>
          </a:prstGeom>
          <a:noFill/>
          <a:ln/>
        </p:spPr>
        <p:txBody>
          <a:bodyPr wrap="square" lIns="0" tIns="0" rIns="0" bIns="0" rtlCol="0" anchor="ctr"/>
          <a:lstStyle/>
          <a:p>
            <a:pPr marL="0" indent="0">
              <a:buNone/>
            </a:pPr>
            <a:r>
              <a:rPr lang="en-US" sz="1150" b="1" kern="0" spc="200" dirty="0">
                <a:solidFill>
                  <a:srgbClr val="1B7A43"/>
                </a:solidFill>
                <a:latin typeface="Calibri" pitchFamily="34" charset="0"/>
                <a:ea typeface="Calibri" pitchFamily="34" charset="-122"/>
                <a:cs typeface="Calibri" pitchFamily="34" charset="-120"/>
              </a:rPr>
              <a:t>MODULE 2</a:t>
            </a:r>
            <a:endParaRPr lang="en-US" sz="1150" dirty="0"/>
          </a:p>
        </p:txBody>
      </p:sp>
      <p:sp>
        <p:nvSpPr>
          <p:cNvPr id="5" name="Text 2"/>
          <p:cNvSpPr/>
          <p:nvPr/>
        </p:nvSpPr>
        <p:spPr>
          <a:xfrm>
            <a:off x="1143000" y="658368"/>
            <a:ext cx="9875520" cy="502920"/>
          </a:xfrm>
          <a:prstGeom prst="rect">
            <a:avLst/>
          </a:prstGeom>
          <a:noFill/>
          <a:ln/>
        </p:spPr>
        <p:txBody>
          <a:bodyPr wrap="square" lIns="0" tIns="0" rIns="0" bIns="0" rtlCol="0" anchor="ctr"/>
          <a:lstStyle/>
          <a:p>
            <a:pPr marL="0" indent="0">
              <a:buNone/>
            </a:pPr>
            <a:r>
              <a:rPr lang="en-US" sz="2600" b="1" dirty="0">
                <a:solidFill>
                  <a:srgbClr val="1F2A24"/>
                </a:solidFill>
                <a:latin typeface="Cambria" pitchFamily="34" charset="0"/>
                <a:ea typeface="Cambria" pitchFamily="34" charset="-122"/>
                <a:cs typeface="Cambria" pitchFamily="34" charset="-120"/>
              </a:rPr>
              <a:t>Profit &amp; Cost Metrics</a:t>
            </a:r>
            <a:endParaRPr lang="en-US" sz="2600" dirty="0"/>
          </a:p>
        </p:txBody>
      </p:sp>
      <p:sp>
        <p:nvSpPr>
          <p:cNvPr id="6" name="Text 3"/>
          <p:cNvSpPr/>
          <p:nvPr/>
        </p:nvSpPr>
        <p:spPr>
          <a:xfrm>
            <a:off x="502920" y="6528816"/>
            <a:ext cx="7315200" cy="256032"/>
          </a:xfrm>
          <a:prstGeom prst="rect">
            <a:avLst/>
          </a:prstGeom>
          <a:noFill/>
          <a:ln/>
        </p:spPr>
        <p:txBody>
          <a:bodyPr wrap="square" lIns="0" tIns="0" rIns="0" bIns="0" rtlCol="0" anchor="ctr"/>
          <a:lstStyle/>
          <a:p>
            <a:pPr marL="0" indent="0">
              <a:buNone/>
            </a:pPr>
            <a:r>
              <a:rPr lang="en-US" sz="850" dirty="0">
                <a:solidFill>
                  <a:srgbClr val="5B6B62"/>
                </a:solidFill>
                <a:latin typeface="Calibri" pitchFamily="34" charset="0"/>
                <a:ea typeface="Calibri" pitchFamily="34" charset="-122"/>
                <a:cs typeface="Calibri" pitchFamily="34" charset="-120"/>
              </a:rPr>
              <a:t>BUSINESS ANALYTICS  •  REVENUE &amp; METRICS FRAMEWORK</a:t>
            </a:r>
            <a:endParaRPr lang="en-US" sz="850" dirty="0"/>
          </a:p>
        </p:txBody>
      </p:sp>
      <p:sp>
        <p:nvSpPr>
          <p:cNvPr id="7" name="Text 4"/>
          <p:cNvSpPr/>
          <p:nvPr/>
        </p:nvSpPr>
        <p:spPr>
          <a:xfrm>
            <a:off x="11228832" y="6528816"/>
            <a:ext cx="457200" cy="256032"/>
          </a:xfrm>
          <a:prstGeom prst="rect">
            <a:avLst/>
          </a:prstGeom>
          <a:noFill/>
          <a:ln/>
        </p:spPr>
        <p:txBody>
          <a:bodyPr wrap="square" lIns="0" tIns="0" rIns="0" bIns="0" rtlCol="0" anchor="ctr"/>
          <a:lstStyle/>
          <a:p>
            <a:pPr marL="0" indent="0" algn="r">
              <a:buNone/>
            </a:pPr>
            <a:r>
              <a:rPr lang="en-US" sz="850" dirty="0">
                <a:solidFill>
                  <a:srgbClr val="5B6B62"/>
                </a:solidFill>
                <a:latin typeface="Calibri" pitchFamily="34" charset="0"/>
                <a:ea typeface="Calibri" pitchFamily="34" charset="-122"/>
                <a:cs typeface="Calibri" pitchFamily="34" charset="-120"/>
              </a:rPr>
              <a:t>7</a:t>
            </a:r>
            <a:endParaRPr lang="en-US" sz="850" dirty="0"/>
          </a:p>
        </p:txBody>
      </p:sp>
      <p:sp>
        <p:nvSpPr>
          <p:cNvPr id="8" name="Shape 5"/>
          <p:cNvSpPr/>
          <p:nvPr/>
        </p:nvSpPr>
        <p:spPr>
          <a:xfrm>
            <a:off x="502920" y="1417320"/>
            <a:ext cx="3456432" cy="1188720"/>
          </a:xfrm>
          <a:prstGeom prst="roundRect">
            <a:avLst>
              <a:gd name="adj" fmla="val 6154"/>
            </a:avLst>
          </a:prstGeom>
          <a:solidFill>
            <a:srgbClr val="F4FAF6"/>
          </a:solidFill>
          <a:ln/>
          <a:effectLst>
            <a:outerShdw blurRad="88900" dist="38100" dir="5400000" algn="bl" rotWithShape="0">
              <a:srgbClr val="000000">
                <a:alpha val="10000"/>
              </a:srgbClr>
            </a:outerShdw>
          </a:effectLst>
        </p:spPr>
      </p:sp>
      <p:sp>
        <p:nvSpPr>
          <p:cNvPr id="9" name="Text 6"/>
          <p:cNvSpPr/>
          <p:nvPr/>
        </p:nvSpPr>
        <p:spPr>
          <a:xfrm>
            <a:off x="731520" y="1563624"/>
            <a:ext cx="2999232" cy="594360"/>
          </a:xfrm>
          <a:prstGeom prst="rect">
            <a:avLst/>
          </a:prstGeom>
          <a:noFill/>
          <a:ln/>
        </p:spPr>
        <p:txBody>
          <a:bodyPr wrap="square" lIns="0" tIns="0" rIns="0" bIns="0" rtlCol="0" anchor="ctr"/>
          <a:lstStyle/>
          <a:p>
            <a:pPr marL="0" indent="0" algn="l">
              <a:buNone/>
            </a:pPr>
            <a:r>
              <a:rPr lang="en-US" sz="3000" b="1" dirty="0">
                <a:solidFill>
                  <a:srgbClr val="0E5C36"/>
                </a:solidFill>
                <a:latin typeface="Cambria" pitchFamily="34" charset="0"/>
                <a:ea typeface="Cambria" pitchFamily="34" charset="-122"/>
                <a:cs typeface="Cambria" pitchFamily="34" charset="-120"/>
              </a:rPr>
              <a:t>₹2,10,000</a:t>
            </a:r>
            <a:endParaRPr lang="en-US" sz="3000" dirty="0"/>
          </a:p>
        </p:txBody>
      </p:sp>
      <p:sp>
        <p:nvSpPr>
          <p:cNvPr id="10" name="Text 7"/>
          <p:cNvSpPr/>
          <p:nvPr/>
        </p:nvSpPr>
        <p:spPr>
          <a:xfrm>
            <a:off x="731520" y="2154326"/>
            <a:ext cx="2999232" cy="274320"/>
          </a:xfrm>
          <a:prstGeom prst="rect">
            <a:avLst/>
          </a:prstGeom>
          <a:noFill/>
          <a:ln/>
        </p:spPr>
        <p:txBody>
          <a:bodyPr wrap="square" lIns="0" tIns="0" rIns="0" bIns="0" rtlCol="0" anchor="ctr"/>
          <a:lstStyle/>
          <a:p>
            <a:pPr marL="0" indent="0">
              <a:buNone/>
            </a:pPr>
            <a:r>
              <a:rPr lang="en-US" sz="1300" b="1" dirty="0">
                <a:solidFill>
                  <a:srgbClr val="1F2A24"/>
                </a:solidFill>
                <a:latin typeface="Calibri" pitchFamily="34" charset="0"/>
                <a:ea typeface="Calibri" pitchFamily="34" charset="-122"/>
                <a:cs typeface="Calibri" pitchFamily="34" charset="-120"/>
              </a:rPr>
              <a:t>Gross Profit</a:t>
            </a:r>
            <a:endParaRPr lang="en-US" sz="1300" dirty="0"/>
          </a:p>
        </p:txBody>
      </p:sp>
      <p:sp>
        <p:nvSpPr>
          <p:cNvPr id="11" name="Text 8"/>
          <p:cNvSpPr/>
          <p:nvPr/>
        </p:nvSpPr>
        <p:spPr>
          <a:xfrm>
            <a:off x="731520" y="2313432"/>
            <a:ext cx="2999232" cy="256032"/>
          </a:xfrm>
          <a:prstGeom prst="rect">
            <a:avLst/>
          </a:prstGeom>
          <a:noFill/>
          <a:ln/>
        </p:spPr>
        <p:txBody>
          <a:bodyPr wrap="square" lIns="0" tIns="0" rIns="0" bIns="0" rtlCol="0" anchor="ctr"/>
          <a:lstStyle/>
          <a:p>
            <a:pPr marL="0" indent="0">
              <a:buNone/>
            </a:pPr>
            <a:r>
              <a:rPr lang="en-US" sz="1000" dirty="0">
                <a:solidFill>
                  <a:srgbClr val="5B6B62"/>
                </a:solidFill>
                <a:latin typeface="Calibri" pitchFamily="34" charset="0"/>
                <a:ea typeface="Calibri" pitchFamily="34" charset="-122"/>
                <a:cs typeface="Calibri" pitchFamily="34" charset="-120"/>
              </a:rPr>
              <a:t>Revenue − COGS</a:t>
            </a:r>
            <a:endParaRPr lang="en-US" sz="1000" dirty="0"/>
          </a:p>
        </p:txBody>
      </p:sp>
      <p:sp>
        <p:nvSpPr>
          <p:cNvPr id="12" name="Shape 9"/>
          <p:cNvSpPr/>
          <p:nvPr/>
        </p:nvSpPr>
        <p:spPr>
          <a:xfrm>
            <a:off x="4160520" y="1417320"/>
            <a:ext cx="3456432" cy="1188720"/>
          </a:xfrm>
          <a:prstGeom prst="roundRect">
            <a:avLst>
              <a:gd name="adj" fmla="val 6154"/>
            </a:avLst>
          </a:prstGeom>
          <a:solidFill>
            <a:srgbClr val="F4FAF6"/>
          </a:solidFill>
          <a:ln/>
          <a:effectLst>
            <a:outerShdw blurRad="88900" dist="38100" dir="5400000" algn="bl" rotWithShape="0">
              <a:srgbClr val="000000">
                <a:alpha val="10000"/>
              </a:srgbClr>
            </a:outerShdw>
          </a:effectLst>
        </p:spPr>
      </p:sp>
      <p:sp>
        <p:nvSpPr>
          <p:cNvPr id="13" name="Text 10"/>
          <p:cNvSpPr/>
          <p:nvPr/>
        </p:nvSpPr>
        <p:spPr>
          <a:xfrm>
            <a:off x="4389120" y="1563624"/>
            <a:ext cx="2999232" cy="594360"/>
          </a:xfrm>
          <a:prstGeom prst="rect">
            <a:avLst/>
          </a:prstGeom>
          <a:noFill/>
          <a:ln/>
        </p:spPr>
        <p:txBody>
          <a:bodyPr wrap="square" lIns="0" tIns="0" rIns="0" bIns="0" rtlCol="0" anchor="ctr"/>
          <a:lstStyle/>
          <a:p>
            <a:pPr marL="0" indent="0" algn="l">
              <a:buNone/>
            </a:pPr>
            <a:r>
              <a:rPr lang="en-US" sz="3000" b="1" dirty="0">
                <a:solidFill>
                  <a:srgbClr val="1B7A43"/>
                </a:solidFill>
                <a:latin typeface="Cambria" pitchFamily="34" charset="0"/>
                <a:ea typeface="Cambria" pitchFamily="34" charset="-122"/>
                <a:cs typeface="Cambria" pitchFamily="34" charset="-120"/>
              </a:rPr>
              <a:t>₹1,25,000</a:t>
            </a:r>
            <a:endParaRPr lang="en-US" sz="3000" dirty="0"/>
          </a:p>
        </p:txBody>
      </p:sp>
      <p:sp>
        <p:nvSpPr>
          <p:cNvPr id="14" name="Text 11"/>
          <p:cNvSpPr/>
          <p:nvPr/>
        </p:nvSpPr>
        <p:spPr>
          <a:xfrm>
            <a:off x="4389120" y="2154326"/>
            <a:ext cx="2999232" cy="274320"/>
          </a:xfrm>
          <a:prstGeom prst="rect">
            <a:avLst/>
          </a:prstGeom>
          <a:noFill/>
          <a:ln/>
        </p:spPr>
        <p:txBody>
          <a:bodyPr wrap="square" lIns="0" tIns="0" rIns="0" bIns="0" rtlCol="0" anchor="ctr"/>
          <a:lstStyle/>
          <a:p>
            <a:pPr marL="0" indent="0">
              <a:buNone/>
            </a:pPr>
            <a:r>
              <a:rPr lang="en-US" sz="1300" b="1" dirty="0">
                <a:solidFill>
                  <a:srgbClr val="1F2A24"/>
                </a:solidFill>
                <a:latin typeface="Calibri" pitchFamily="34" charset="0"/>
                <a:ea typeface="Calibri" pitchFamily="34" charset="-122"/>
                <a:cs typeface="Calibri" pitchFamily="34" charset="-120"/>
              </a:rPr>
              <a:t>Net Profit</a:t>
            </a:r>
            <a:endParaRPr lang="en-US" sz="1300" dirty="0"/>
          </a:p>
        </p:txBody>
      </p:sp>
      <p:sp>
        <p:nvSpPr>
          <p:cNvPr id="15" name="Text 12"/>
          <p:cNvSpPr/>
          <p:nvPr/>
        </p:nvSpPr>
        <p:spPr>
          <a:xfrm>
            <a:off x="4389120" y="2313432"/>
            <a:ext cx="2999232" cy="256032"/>
          </a:xfrm>
          <a:prstGeom prst="rect">
            <a:avLst/>
          </a:prstGeom>
          <a:noFill/>
          <a:ln/>
        </p:spPr>
        <p:txBody>
          <a:bodyPr wrap="square" lIns="0" tIns="0" rIns="0" bIns="0" rtlCol="0" anchor="ctr"/>
          <a:lstStyle/>
          <a:p>
            <a:pPr marL="0" indent="0">
              <a:buNone/>
            </a:pPr>
            <a:r>
              <a:rPr lang="en-US" sz="1000" dirty="0">
                <a:solidFill>
                  <a:srgbClr val="5B6B62"/>
                </a:solidFill>
                <a:latin typeface="Calibri" pitchFamily="34" charset="0"/>
                <a:ea typeface="Calibri" pitchFamily="34" charset="-122"/>
                <a:cs typeface="Calibri" pitchFamily="34" charset="-120"/>
              </a:rPr>
              <a:t>Gross − Expenses</a:t>
            </a:r>
            <a:endParaRPr lang="en-US" sz="1000" dirty="0"/>
          </a:p>
        </p:txBody>
      </p:sp>
      <p:sp>
        <p:nvSpPr>
          <p:cNvPr id="16" name="Shape 13"/>
          <p:cNvSpPr/>
          <p:nvPr/>
        </p:nvSpPr>
        <p:spPr>
          <a:xfrm>
            <a:off x="7818120" y="1417320"/>
            <a:ext cx="3456432" cy="1188720"/>
          </a:xfrm>
          <a:prstGeom prst="roundRect">
            <a:avLst>
              <a:gd name="adj" fmla="val 6154"/>
            </a:avLst>
          </a:prstGeom>
          <a:solidFill>
            <a:srgbClr val="F4FAF6"/>
          </a:solidFill>
          <a:ln/>
          <a:effectLst>
            <a:outerShdw blurRad="88900" dist="38100" dir="5400000" algn="bl" rotWithShape="0">
              <a:srgbClr val="000000">
                <a:alpha val="10000"/>
              </a:srgbClr>
            </a:outerShdw>
          </a:effectLst>
        </p:spPr>
      </p:sp>
      <p:sp>
        <p:nvSpPr>
          <p:cNvPr id="17" name="Text 14"/>
          <p:cNvSpPr/>
          <p:nvPr/>
        </p:nvSpPr>
        <p:spPr>
          <a:xfrm>
            <a:off x="8046720" y="1563624"/>
            <a:ext cx="2999232" cy="594360"/>
          </a:xfrm>
          <a:prstGeom prst="rect">
            <a:avLst/>
          </a:prstGeom>
          <a:noFill/>
          <a:ln/>
        </p:spPr>
        <p:txBody>
          <a:bodyPr wrap="square" lIns="0" tIns="0" rIns="0" bIns="0" rtlCol="0" anchor="ctr"/>
          <a:lstStyle/>
          <a:p>
            <a:pPr marL="0" indent="0" algn="l">
              <a:buNone/>
            </a:pPr>
            <a:r>
              <a:rPr lang="en-US" sz="3000" b="1" dirty="0">
                <a:solidFill>
                  <a:srgbClr val="0E5C36"/>
                </a:solidFill>
                <a:latin typeface="Cambria" pitchFamily="34" charset="0"/>
                <a:ea typeface="Cambria" pitchFamily="34" charset="-122"/>
                <a:cs typeface="Cambria" pitchFamily="34" charset="-120"/>
              </a:rPr>
              <a:t>₹1,45,000</a:t>
            </a:r>
            <a:endParaRPr lang="en-US" sz="3000" dirty="0"/>
          </a:p>
        </p:txBody>
      </p:sp>
      <p:sp>
        <p:nvSpPr>
          <p:cNvPr id="18" name="Text 15"/>
          <p:cNvSpPr/>
          <p:nvPr/>
        </p:nvSpPr>
        <p:spPr>
          <a:xfrm>
            <a:off x="8046720" y="2154326"/>
            <a:ext cx="2999232" cy="274320"/>
          </a:xfrm>
          <a:prstGeom prst="rect">
            <a:avLst/>
          </a:prstGeom>
          <a:noFill/>
          <a:ln/>
        </p:spPr>
        <p:txBody>
          <a:bodyPr wrap="square" lIns="0" tIns="0" rIns="0" bIns="0" rtlCol="0" anchor="ctr"/>
          <a:lstStyle/>
          <a:p>
            <a:pPr marL="0" indent="0">
              <a:buNone/>
            </a:pPr>
            <a:r>
              <a:rPr lang="en-US" sz="1300" b="1" dirty="0">
                <a:solidFill>
                  <a:srgbClr val="1F2A24"/>
                </a:solidFill>
                <a:latin typeface="Calibri" pitchFamily="34" charset="0"/>
                <a:ea typeface="Calibri" pitchFamily="34" charset="-122"/>
                <a:cs typeface="Calibri" pitchFamily="34" charset="-120"/>
              </a:rPr>
              <a:t>EBITDA</a:t>
            </a:r>
            <a:endParaRPr lang="en-US" sz="1300" dirty="0"/>
          </a:p>
        </p:txBody>
      </p:sp>
      <p:sp>
        <p:nvSpPr>
          <p:cNvPr id="19" name="Text 16"/>
          <p:cNvSpPr/>
          <p:nvPr/>
        </p:nvSpPr>
        <p:spPr>
          <a:xfrm>
            <a:off x="8046720" y="2313432"/>
            <a:ext cx="2999232" cy="256032"/>
          </a:xfrm>
          <a:prstGeom prst="rect">
            <a:avLst/>
          </a:prstGeom>
          <a:noFill/>
          <a:ln/>
        </p:spPr>
        <p:txBody>
          <a:bodyPr wrap="square" lIns="0" tIns="0" rIns="0" bIns="0" rtlCol="0" anchor="ctr"/>
          <a:lstStyle/>
          <a:p>
            <a:pPr marL="0" indent="0">
              <a:buNone/>
            </a:pPr>
            <a:r>
              <a:rPr lang="en-US" sz="1000" dirty="0">
                <a:solidFill>
                  <a:srgbClr val="5B6B62"/>
                </a:solidFill>
                <a:latin typeface="Calibri" pitchFamily="34" charset="0"/>
                <a:ea typeface="Calibri" pitchFamily="34" charset="-122"/>
                <a:cs typeface="Calibri" pitchFamily="34" charset="-120"/>
              </a:rPr>
              <a:t>Before tax &amp; interest</a:t>
            </a:r>
            <a:endParaRPr lang="en-US" sz="1000" dirty="0"/>
          </a:p>
        </p:txBody>
      </p:sp>
      <p:sp>
        <p:nvSpPr>
          <p:cNvPr id="20" name="Text 17"/>
          <p:cNvSpPr/>
          <p:nvPr/>
        </p:nvSpPr>
        <p:spPr>
          <a:xfrm>
            <a:off x="502920" y="2788920"/>
            <a:ext cx="7315200" cy="274320"/>
          </a:xfrm>
          <a:prstGeom prst="rect">
            <a:avLst/>
          </a:prstGeom>
          <a:noFill/>
          <a:ln/>
        </p:spPr>
        <p:txBody>
          <a:bodyPr wrap="square" lIns="0" tIns="0" rIns="0" bIns="0" rtlCol="0" anchor="ctr"/>
          <a:lstStyle/>
          <a:p>
            <a:pPr marL="0" indent="0">
              <a:buNone/>
            </a:pPr>
            <a:r>
              <a:rPr lang="en-US" sz="1200" b="1" dirty="0">
                <a:solidFill>
                  <a:srgbClr val="1F2A24"/>
                </a:solidFill>
                <a:latin typeface="Calibri" pitchFamily="34" charset="0"/>
                <a:ea typeface="Calibri" pitchFamily="34" charset="-122"/>
                <a:cs typeface="Calibri" pitchFamily="34" charset="-120"/>
              </a:rPr>
              <a:t>Illustrative Monthly Trend — Revenue, Cost &amp; Profit (Sample Data)</a:t>
            </a:r>
            <a:endParaRPr lang="en-US" sz="1200" dirty="0"/>
          </a:p>
        </p:txBody>
      </p:sp>
      <p:graphicFrame>
        <p:nvGraphicFramePr>
          <p:cNvPr id="21" name="Chart 0"/>
          <p:cNvGraphicFramePr/>
          <p:nvPr/>
        </p:nvGraphicFramePr>
        <p:xfrm>
          <a:off x="365760" y="3108960"/>
          <a:ext cx="7315200" cy="3383280"/>
        </p:xfrm>
        <a:graphic>
          <a:graphicData uri="http://schemas.openxmlformats.org/drawingml/2006/chart">
            <c:chart xmlns:c="http://schemas.openxmlformats.org/drawingml/2006/chart" xmlns:r="http://schemas.openxmlformats.org/officeDocument/2006/relationships" r:id="rId4"/>
          </a:graphicData>
        </a:graphic>
      </p:graphicFrame>
      <p:sp>
        <p:nvSpPr>
          <p:cNvPr id="22" name="Shape 18"/>
          <p:cNvSpPr/>
          <p:nvPr/>
        </p:nvSpPr>
        <p:spPr>
          <a:xfrm>
            <a:off x="7955280" y="2788920"/>
            <a:ext cx="3749040" cy="3703320"/>
          </a:xfrm>
          <a:prstGeom prst="roundRect">
            <a:avLst>
              <a:gd name="adj" fmla="val 1975"/>
            </a:avLst>
          </a:prstGeom>
          <a:solidFill>
            <a:srgbClr val="F4FAF6"/>
          </a:solidFill>
          <a:ln/>
          <a:effectLst>
            <a:outerShdw blurRad="76200" dist="25400" dir="5400000" algn="bl" rotWithShape="0">
              <a:srgbClr val="000000">
                <a:alpha val="8000"/>
              </a:srgbClr>
            </a:outerShdw>
          </a:effectLst>
        </p:spPr>
      </p:sp>
      <p:sp>
        <p:nvSpPr>
          <p:cNvPr id="23" name="Text 19"/>
          <p:cNvSpPr/>
          <p:nvPr/>
        </p:nvSpPr>
        <p:spPr>
          <a:xfrm>
            <a:off x="8183880" y="2926080"/>
            <a:ext cx="3291840" cy="274320"/>
          </a:xfrm>
          <a:prstGeom prst="rect">
            <a:avLst/>
          </a:prstGeom>
          <a:noFill/>
          <a:ln/>
        </p:spPr>
        <p:txBody>
          <a:bodyPr wrap="square" lIns="0" tIns="0" rIns="0" bIns="0" rtlCol="0" anchor="ctr"/>
          <a:lstStyle/>
          <a:p>
            <a:pPr marL="0" indent="0">
              <a:buNone/>
            </a:pPr>
            <a:r>
              <a:rPr lang="en-US" sz="1400" b="1" dirty="0">
                <a:solidFill>
                  <a:srgbClr val="1F2A24"/>
                </a:solidFill>
                <a:latin typeface="Cambria" pitchFamily="34" charset="0"/>
                <a:ea typeface="Cambria" pitchFamily="34" charset="-122"/>
                <a:cs typeface="Cambria" pitchFamily="34" charset="-120"/>
              </a:rPr>
              <a:t>Core Formulas</a:t>
            </a:r>
            <a:endParaRPr lang="en-US" sz="1400" dirty="0"/>
          </a:p>
        </p:txBody>
      </p:sp>
      <p:sp>
        <p:nvSpPr>
          <p:cNvPr id="24" name="Text 20"/>
          <p:cNvSpPr/>
          <p:nvPr/>
        </p:nvSpPr>
        <p:spPr>
          <a:xfrm>
            <a:off x="8183880" y="3310128"/>
            <a:ext cx="1828800" cy="384048"/>
          </a:xfrm>
          <a:prstGeom prst="rect">
            <a:avLst/>
          </a:prstGeom>
          <a:noFill/>
          <a:ln/>
        </p:spPr>
        <p:txBody>
          <a:bodyPr wrap="square" lIns="0" tIns="0" rIns="0" bIns="0" rtlCol="0" anchor="ctr"/>
          <a:lstStyle/>
          <a:p>
            <a:pPr marL="0" indent="0">
              <a:buNone/>
            </a:pPr>
            <a:r>
              <a:rPr lang="en-US" sz="1100" dirty="0">
                <a:solidFill>
                  <a:srgbClr val="1F2A24"/>
                </a:solidFill>
                <a:latin typeface="Calibri" pitchFamily="34" charset="0"/>
                <a:ea typeface="Calibri" pitchFamily="34" charset="-122"/>
                <a:cs typeface="Calibri" pitchFamily="34" charset="-120"/>
              </a:rPr>
              <a:t>Gross Profit</a:t>
            </a:r>
            <a:endParaRPr lang="en-US" sz="1100" dirty="0"/>
          </a:p>
        </p:txBody>
      </p:sp>
      <p:sp>
        <p:nvSpPr>
          <p:cNvPr id="25" name="Text 21"/>
          <p:cNvSpPr/>
          <p:nvPr/>
        </p:nvSpPr>
        <p:spPr>
          <a:xfrm>
            <a:off x="10012680" y="3310128"/>
            <a:ext cx="1554480" cy="384048"/>
          </a:xfrm>
          <a:prstGeom prst="rect">
            <a:avLst/>
          </a:prstGeom>
          <a:noFill/>
          <a:ln/>
        </p:spPr>
        <p:txBody>
          <a:bodyPr wrap="square" lIns="0" tIns="0" rIns="0" bIns="0" rtlCol="0" anchor="ctr"/>
          <a:lstStyle/>
          <a:p>
            <a:pPr marL="0" indent="0" algn="r">
              <a:buNone/>
            </a:pPr>
            <a:r>
              <a:rPr lang="en-US" sz="1050" b="1" dirty="0">
                <a:solidFill>
                  <a:srgbClr val="1B7A43"/>
                </a:solidFill>
                <a:latin typeface="Courier New" pitchFamily="34" charset="0"/>
                <a:ea typeface="Courier New" pitchFamily="34" charset="-122"/>
                <a:cs typeface="Courier New" pitchFamily="34" charset="-120"/>
              </a:rPr>
              <a:t>=B2−C2</a:t>
            </a:r>
            <a:endParaRPr lang="en-US" sz="1050" dirty="0"/>
          </a:p>
        </p:txBody>
      </p:sp>
      <p:sp>
        <p:nvSpPr>
          <p:cNvPr id="26" name="Text 22"/>
          <p:cNvSpPr/>
          <p:nvPr/>
        </p:nvSpPr>
        <p:spPr>
          <a:xfrm>
            <a:off x="8183880" y="3767328"/>
            <a:ext cx="1828800" cy="384048"/>
          </a:xfrm>
          <a:prstGeom prst="rect">
            <a:avLst/>
          </a:prstGeom>
          <a:noFill/>
          <a:ln/>
        </p:spPr>
        <p:txBody>
          <a:bodyPr wrap="square" lIns="0" tIns="0" rIns="0" bIns="0" rtlCol="0" anchor="ctr"/>
          <a:lstStyle/>
          <a:p>
            <a:pPr marL="0" indent="0">
              <a:buNone/>
            </a:pPr>
            <a:r>
              <a:rPr lang="en-US" sz="1100" dirty="0">
                <a:solidFill>
                  <a:srgbClr val="1F2A24"/>
                </a:solidFill>
                <a:latin typeface="Calibri" pitchFamily="34" charset="0"/>
                <a:ea typeface="Calibri" pitchFamily="34" charset="-122"/>
                <a:cs typeface="Calibri" pitchFamily="34" charset="-120"/>
              </a:rPr>
              <a:t>Net Profit</a:t>
            </a:r>
            <a:endParaRPr lang="en-US" sz="1100" dirty="0"/>
          </a:p>
        </p:txBody>
      </p:sp>
      <p:sp>
        <p:nvSpPr>
          <p:cNvPr id="27" name="Text 23"/>
          <p:cNvSpPr/>
          <p:nvPr/>
        </p:nvSpPr>
        <p:spPr>
          <a:xfrm>
            <a:off x="10012680" y="3767328"/>
            <a:ext cx="1554480" cy="384048"/>
          </a:xfrm>
          <a:prstGeom prst="rect">
            <a:avLst/>
          </a:prstGeom>
          <a:noFill/>
          <a:ln/>
        </p:spPr>
        <p:txBody>
          <a:bodyPr wrap="square" lIns="0" tIns="0" rIns="0" bIns="0" rtlCol="0" anchor="ctr"/>
          <a:lstStyle/>
          <a:p>
            <a:pPr marL="0" indent="0" algn="r">
              <a:buNone/>
            </a:pPr>
            <a:r>
              <a:rPr lang="en-US" sz="1050" b="1" dirty="0">
                <a:solidFill>
                  <a:srgbClr val="1B7A43"/>
                </a:solidFill>
                <a:latin typeface="Courier New" pitchFamily="34" charset="0"/>
                <a:ea typeface="Courier New" pitchFamily="34" charset="-122"/>
                <a:cs typeface="Courier New" pitchFamily="34" charset="-120"/>
              </a:rPr>
              <a:t>=D2−E2</a:t>
            </a:r>
            <a:endParaRPr lang="en-US" sz="1050" dirty="0"/>
          </a:p>
        </p:txBody>
      </p:sp>
      <p:sp>
        <p:nvSpPr>
          <p:cNvPr id="28" name="Text 24"/>
          <p:cNvSpPr/>
          <p:nvPr/>
        </p:nvSpPr>
        <p:spPr>
          <a:xfrm>
            <a:off x="8183880" y="4224528"/>
            <a:ext cx="1828800" cy="384048"/>
          </a:xfrm>
          <a:prstGeom prst="rect">
            <a:avLst/>
          </a:prstGeom>
          <a:noFill/>
          <a:ln/>
        </p:spPr>
        <p:txBody>
          <a:bodyPr wrap="square" lIns="0" tIns="0" rIns="0" bIns="0" rtlCol="0" anchor="ctr"/>
          <a:lstStyle/>
          <a:p>
            <a:pPr marL="0" indent="0">
              <a:buNone/>
            </a:pPr>
            <a:r>
              <a:rPr lang="en-US" sz="1100" dirty="0">
                <a:solidFill>
                  <a:srgbClr val="1F2A24"/>
                </a:solidFill>
                <a:latin typeface="Calibri" pitchFamily="34" charset="0"/>
                <a:ea typeface="Calibri" pitchFamily="34" charset="-122"/>
                <a:cs typeface="Calibri" pitchFamily="34" charset="-120"/>
              </a:rPr>
              <a:t>EBITDA (approx.)</a:t>
            </a:r>
            <a:endParaRPr lang="en-US" sz="1100" dirty="0"/>
          </a:p>
        </p:txBody>
      </p:sp>
      <p:sp>
        <p:nvSpPr>
          <p:cNvPr id="29" name="Text 25"/>
          <p:cNvSpPr/>
          <p:nvPr/>
        </p:nvSpPr>
        <p:spPr>
          <a:xfrm>
            <a:off x="10012680" y="4224528"/>
            <a:ext cx="1554480" cy="384048"/>
          </a:xfrm>
          <a:prstGeom prst="rect">
            <a:avLst/>
          </a:prstGeom>
          <a:noFill/>
          <a:ln/>
        </p:spPr>
        <p:txBody>
          <a:bodyPr wrap="square" lIns="0" tIns="0" rIns="0" bIns="0" rtlCol="0" anchor="ctr"/>
          <a:lstStyle/>
          <a:p>
            <a:pPr marL="0" indent="0" algn="r">
              <a:buNone/>
            </a:pPr>
            <a:r>
              <a:rPr lang="en-US" sz="1050" b="1" dirty="0">
                <a:solidFill>
                  <a:srgbClr val="1B7A43"/>
                </a:solidFill>
                <a:latin typeface="Courier New" pitchFamily="34" charset="0"/>
                <a:ea typeface="Courier New" pitchFamily="34" charset="-122"/>
                <a:cs typeface="Courier New" pitchFamily="34" charset="-120"/>
              </a:rPr>
              <a:t>=D2−E2+Dep+Int</a:t>
            </a:r>
            <a:endParaRPr lang="en-US" sz="1050" dirty="0"/>
          </a:p>
        </p:txBody>
      </p:sp>
      <p:sp>
        <p:nvSpPr>
          <p:cNvPr id="30" name="Text 26"/>
          <p:cNvSpPr/>
          <p:nvPr/>
        </p:nvSpPr>
        <p:spPr>
          <a:xfrm>
            <a:off x="8183880" y="4681728"/>
            <a:ext cx="1828800" cy="384048"/>
          </a:xfrm>
          <a:prstGeom prst="rect">
            <a:avLst/>
          </a:prstGeom>
          <a:noFill/>
          <a:ln/>
        </p:spPr>
        <p:txBody>
          <a:bodyPr wrap="square" lIns="0" tIns="0" rIns="0" bIns="0" rtlCol="0" anchor="ctr"/>
          <a:lstStyle/>
          <a:p>
            <a:pPr marL="0" indent="0">
              <a:buNone/>
            </a:pPr>
            <a:r>
              <a:rPr lang="en-US" sz="1100" dirty="0">
                <a:solidFill>
                  <a:srgbClr val="1F2A24"/>
                </a:solidFill>
                <a:latin typeface="Calibri" pitchFamily="34" charset="0"/>
                <a:ea typeface="Calibri" pitchFamily="34" charset="-122"/>
                <a:cs typeface="Calibri" pitchFamily="34" charset="-120"/>
              </a:rPr>
              <a:t>COGS Ratio %</a:t>
            </a:r>
            <a:endParaRPr lang="en-US" sz="1100" dirty="0"/>
          </a:p>
        </p:txBody>
      </p:sp>
      <p:sp>
        <p:nvSpPr>
          <p:cNvPr id="31" name="Text 27"/>
          <p:cNvSpPr/>
          <p:nvPr/>
        </p:nvSpPr>
        <p:spPr>
          <a:xfrm>
            <a:off x="10012680" y="4681728"/>
            <a:ext cx="1554480" cy="384048"/>
          </a:xfrm>
          <a:prstGeom prst="rect">
            <a:avLst/>
          </a:prstGeom>
          <a:noFill/>
          <a:ln/>
        </p:spPr>
        <p:txBody>
          <a:bodyPr wrap="square" lIns="0" tIns="0" rIns="0" bIns="0" rtlCol="0" anchor="ctr"/>
          <a:lstStyle/>
          <a:p>
            <a:pPr marL="0" indent="0" algn="r">
              <a:buNone/>
            </a:pPr>
            <a:r>
              <a:rPr lang="en-US" sz="1050" b="1" dirty="0">
                <a:solidFill>
                  <a:srgbClr val="1B7A43"/>
                </a:solidFill>
                <a:latin typeface="Courier New" pitchFamily="34" charset="0"/>
                <a:ea typeface="Courier New" pitchFamily="34" charset="-122"/>
                <a:cs typeface="Courier New" pitchFamily="34" charset="-120"/>
              </a:rPr>
              <a:t>=(C2/B2)*100</a:t>
            </a:r>
            <a:endParaRPr lang="en-US" sz="1050" dirty="0"/>
          </a:p>
        </p:txBody>
      </p:sp>
      <p:sp>
        <p:nvSpPr>
          <p:cNvPr id="32" name="Text 28"/>
          <p:cNvSpPr/>
          <p:nvPr/>
        </p:nvSpPr>
        <p:spPr>
          <a:xfrm>
            <a:off x="8183880" y="5230368"/>
            <a:ext cx="3291840" cy="868680"/>
          </a:xfrm>
          <a:prstGeom prst="rect">
            <a:avLst/>
          </a:prstGeom>
          <a:noFill/>
          <a:ln/>
        </p:spPr>
        <p:txBody>
          <a:bodyPr wrap="square" lIns="0" tIns="0" rIns="0" bIns="0" rtlCol="0" anchor="t"/>
          <a:lstStyle/>
          <a:p>
            <a:pPr marL="0" indent="0">
              <a:buNone/>
            </a:pPr>
            <a:r>
              <a:rPr lang="en-US" sz="1000" i="1" dirty="0">
                <a:solidFill>
                  <a:srgbClr val="5B6B62"/>
                </a:solidFill>
                <a:latin typeface="Calibri" pitchFamily="34" charset="0"/>
                <a:ea typeface="Calibri" pitchFamily="34" charset="-122"/>
                <a:cs typeface="Calibri" pitchFamily="34" charset="-120"/>
              </a:rPr>
              <a:t>Cost of Goods Sold tracks at roughly 41% of revenue across the sample period, leaving consistent gross margin headroom near 59%.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0E5C36"/>
          </a:solidFill>
          <a:ln/>
        </p:spPr>
      </p:sp>
      <p:pic>
        <p:nvPicPr>
          <p:cNvPr id="3" name="Image 0" descr="preencoded.png"/>
          <p:cNvPicPr>
            <a:picLocks noChangeAspect="1"/>
          </p:cNvPicPr>
          <p:nvPr/>
        </p:nvPicPr>
        <p:blipFill>
          <a:blip r:embed="rId3"/>
          <a:stretch>
            <a:fillRect/>
          </a:stretch>
        </p:blipFill>
        <p:spPr>
          <a:xfrm>
            <a:off x="568300" y="522580"/>
            <a:ext cx="372161" cy="372161"/>
          </a:xfrm>
          <a:prstGeom prst="rect">
            <a:avLst/>
          </a:prstGeom>
        </p:spPr>
      </p:pic>
      <p:sp>
        <p:nvSpPr>
          <p:cNvPr id="4" name="Text 1"/>
          <p:cNvSpPr/>
          <p:nvPr/>
        </p:nvSpPr>
        <p:spPr>
          <a:xfrm>
            <a:off x="1143000" y="420624"/>
            <a:ext cx="7315200" cy="274320"/>
          </a:xfrm>
          <a:prstGeom prst="rect">
            <a:avLst/>
          </a:prstGeom>
          <a:noFill/>
          <a:ln/>
        </p:spPr>
        <p:txBody>
          <a:bodyPr wrap="square" lIns="0" tIns="0" rIns="0" bIns="0" rtlCol="0" anchor="ctr"/>
          <a:lstStyle/>
          <a:p>
            <a:pPr marL="0" indent="0">
              <a:buNone/>
            </a:pPr>
            <a:r>
              <a:rPr lang="en-US" sz="1150" b="1" kern="0" spc="200" dirty="0">
                <a:solidFill>
                  <a:srgbClr val="1B7A43"/>
                </a:solidFill>
                <a:latin typeface="Calibri" pitchFamily="34" charset="0"/>
                <a:ea typeface="Calibri" pitchFamily="34" charset="-122"/>
                <a:cs typeface="Calibri" pitchFamily="34" charset="-120"/>
              </a:rPr>
              <a:t>MODULE 2 · MARGINS</a:t>
            </a:r>
            <a:endParaRPr lang="en-US" sz="1150" dirty="0"/>
          </a:p>
        </p:txBody>
      </p:sp>
      <p:sp>
        <p:nvSpPr>
          <p:cNvPr id="5" name="Text 2"/>
          <p:cNvSpPr/>
          <p:nvPr/>
        </p:nvSpPr>
        <p:spPr>
          <a:xfrm>
            <a:off x="1143000" y="658368"/>
            <a:ext cx="9875520" cy="502920"/>
          </a:xfrm>
          <a:prstGeom prst="rect">
            <a:avLst/>
          </a:prstGeom>
          <a:noFill/>
          <a:ln/>
        </p:spPr>
        <p:txBody>
          <a:bodyPr wrap="square" lIns="0" tIns="0" rIns="0" bIns="0" rtlCol="0" anchor="ctr"/>
          <a:lstStyle/>
          <a:p>
            <a:pPr marL="0" indent="0">
              <a:buNone/>
            </a:pPr>
            <a:r>
              <a:rPr lang="en-US" sz="2600" b="1" dirty="0">
                <a:solidFill>
                  <a:srgbClr val="1F2A24"/>
                </a:solidFill>
                <a:latin typeface="Cambria" pitchFamily="34" charset="0"/>
                <a:ea typeface="Cambria" pitchFamily="34" charset="-122"/>
                <a:cs typeface="Cambria" pitchFamily="34" charset="-120"/>
              </a:rPr>
              <a:t>Profit Margin Analysis</a:t>
            </a:r>
            <a:endParaRPr lang="en-US" sz="2600" dirty="0"/>
          </a:p>
        </p:txBody>
      </p:sp>
      <p:sp>
        <p:nvSpPr>
          <p:cNvPr id="6" name="Text 3"/>
          <p:cNvSpPr/>
          <p:nvPr/>
        </p:nvSpPr>
        <p:spPr>
          <a:xfrm>
            <a:off x="502920" y="6528816"/>
            <a:ext cx="7315200" cy="256032"/>
          </a:xfrm>
          <a:prstGeom prst="rect">
            <a:avLst/>
          </a:prstGeom>
          <a:noFill/>
          <a:ln/>
        </p:spPr>
        <p:txBody>
          <a:bodyPr wrap="square" lIns="0" tIns="0" rIns="0" bIns="0" rtlCol="0" anchor="ctr"/>
          <a:lstStyle/>
          <a:p>
            <a:pPr marL="0" indent="0">
              <a:buNone/>
            </a:pPr>
            <a:r>
              <a:rPr lang="en-US" sz="850" dirty="0">
                <a:solidFill>
                  <a:srgbClr val="5B6B62"/>
                </a:solidFill>
                <a:latin typeface="Calibri" pitchFamily="34" charset="0"/>
                <a:ea typeface="Calibri" pitchFamily="34" charset="-122"/>
                <a:cs typeface="Calibri" pitchFamily="34" charset="-120"/>
              </a:rPr>
              <a:t>BUSINESS ANALYTICS  •  REVENUE &amp; METRICS FRAMEWORK</a:t>
            </a:r>
            <a:endParaRPr lang="en-US" sz="850" dirty="0"/>
          </a:p>
        </p:txBody>
      </p:sp>
      <p:sp>
        <p:nvSpPr>
          <p:cNvPr id="7" name="Text 4"/>
          <p:cNvSpPr/>
          <p:nvPr/>
        </p:nvSpPr>
        <p:spPr>
          <a:xfrm>
            <a:off x="11228832" y="6528816"/>
            <a:ext cx="457200" cy="256032"/>
          </a:xfrm>
          <a:prstGeom prst="rect">
            <a:avLst/>
          </a:prstGeom>
          <a:noFill/>
          <a:ln/>
        </p:spPr>
        <p:txBody>
          <a:bodyPr wrap="square" lIns="0" tIns="0" rIns="0" bIns="0" rtlCol="0" anchor="ctr"/>
          <a:lstStyle/>
          <a:p>
            <a:pPr marL="0" indent="0" algn="r">
              <a:buNone/>
            </a:pPr>
            <a:r>
              <a:rPr lang="en-US" sz="850" dirty="0">
                <a:solidFill>
                  <a:srgbClr val="5B6B62"/>
                </a:solidFill>
                <a:latin typeface="Calibri" pitchFamily="34" charset="0"/>
                <a:ea typeface="Calibri" pitchFamily="34" charset="-122"/>
                <a:cs typeface="Calibri" pitchFamily="34" charset="-120"/>
              </a:rPr>
              <a:t>8</a:t>
            </a:r>
            <a:endParaRPr lang="en-US" sz="850" dirty="0"/>
          </a:p>
        </p:txBody>
      </p:sp>
      <p:graphicFrame>
        <p:nvGraphicFramePr>
          <p:cNvPr id="8" name="Chart 0"/>
          <p:cNvGraphicFramePr/>
          <p:nvPr/>
        </p:nvGraphicFramePr>
        <p:xfrm>
          <a:off x="502920" y="1417320"/>
          <a:ext cx="603504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6858000" y="1417320"/>
            <a:ext cx="4846320" cy="1828800"/>
          </a:xfrm>
          <a:prstGeom prst="roundRect">
            <a:avLst>
              <a:gd name="adj" fmla="val 4000"/>
            </a:avLst>
          </a:prstGeom>
          <a:solidFill>
            <a:srgbClr val="F4FAF6"/>
          </a:solidFill>
          <a:ln/>
          <a:effectLst>
            <a:outerShdw blurRad="76200" dist="25400" dir="5400000" algn="bl" rotWithShape="0">
              <a:srgbClr val="000000">
                <a:alpha val="8000"/>
              </a:srgbClr>
            </a:outerShdw>
          </a:effectLst>
        </p:spPr>
      </p:sp>
      <p:sp>
        <p:nvSpPr>
          <p:cNvPr id="10" name="Shape 6"/>
          <p:cNvSpPr/>
          <p:nvPr/>
        </p:nvSpPr>
        <p:spPr>
          <a:xfrm>
            <a:off x="7086600" y="1627632"/>
            <a:ext cx="548640" cy="548640"/>
          </a:xfrm>
          <a:prstGeom prst="ellipse">
            <a:avLst/>
          </a:prstGeom>
          <a:solidFill>
            <a:srgbClr val="0E5C36"/>
          </a:solidFill>
          <a:ln/>
        </p:spPr>
      </p:sp>
      <p:pic>
        <p:nvPicPr>
          <p:cNvPr id="11" name="Image 1" descr="preencoded.png"/>
          <p:cNvPicPr>
            <a:picLocks noChangeAspect="1"/>
          </p:cNvPicPr>
          <p:nvPr/>
        </p:nvPicPr>
        <p:blipFill>
          <a:blip r:embed="rId5"/>
          <a:stretch>
            <a:fillRect/>
          </a:stretch>
        </p:blipFill>
        <p:spPr>
          <a:xfrm>
            <a:off x="7157923" y="1698955"/>
            <a:ext cx="405994" cy="405994"/>
          </a:xfrm>
          <a:prstGeom prst="rect">
            <a:avLst/>
          </a:prstGeom>
        </p:spPr>
      </p:pic>
      <p:sp>
        <p:nvSpPr>
          <p:cNvPr id="12" name="Text 7"/>
          <p:cNvSpPr/>
          <p:nvPr/>
        </p:nvSpPr>
        <p:spPr>
          <a:xfrm>
            <a:off x="7818120" y="1572768"/>
            <a:ext cx="3749040" cy="274320"/>
          </a:xfrm>
          <a:prstGeom prst="rect">
            <a:avLst/>
          </a:prstGeom>
          <a:noFill/>
          <a:ln/>
        </p:spPr>
        <p:txBody>
          <a:bodyPr wrap="square" lIns="0" tIns="0" rIns="0" bIns="0" rtlCol="0" anchor="ctr"/>
          <a:lstStyle/>
          <a:p>
            <a:pPr marL="0" indent="0">
              <a:buNone/>
            </a:pPr>
            <a:r>
              <a:rPr lang="en-US" sz="1400" b="1" dirty="0">
                <a:solidFill>
                  <a:srgbClr val="1F2A24"/>
                </a:solidFill>
                <a:latin typeface="Cambria" pitchFamily="34" charset="0"/>
                <a:ea typeface="Cambria" pitchFamily="34" charset="-122"/>
                <a:cs typeface="Cambria" pitchFamily="34" charset="-120"/>
              </a:rPr>
              <a:t>Gross Profit Margin</a:t>
            </a:r>
            <a:endParaRPr lang="en-US" sz="1400" dirty="0"/>
          </a:p>
        </p:txBody>
      </p:sp>
      <p:sp>
        <p:nvSpPr>
          <p:cNvPr id="13" name="Text 8"/>
          <p:cNvSpPr/>
          <p:nvPr/>
        </p:nvSpPr>
        <p:spPr>
          <a:xfrm>
            <a:off x="7086600" y="2148840"/>
            <a:ext cx="4434840" cy="1005840"/>
          </a:xfrm>
          <a:prstGeom prst="rect">
            <a:avLst/>
          </a:prstGeom>
          <a:noFill/>
          <a:ln/>
        </p:spPr>
        <p:txBody>
          <a:bodyPr wrap="square" lIns="0" tIns="0" rIns="0" bIns="0" rtlCol="0" anchor="t"/>
          <a:lstStyle/>
          <a:p>
            <a:pPr marL="0" indent="0">
              <a:buNone/>
            </a:pPr>
            <a:r>
              <a:rPr lang="en-US" sz="1050" dirty="0">
                <a:solidFill>
                  <a:srgbClr val="5B6B62"/>
                </a:solidFill>
                <a:latin typeface="Calibri" pitchFamily="34" charset="0"/>
                <a:ea typeface="Calibri" pitchFamily="34" charset="-122"/>
                <a:cs typeface="Calibri" pitchFamily="34" charset="-120"/>
              </a:rPr>
              <a:t>Profit retained after COGS. Industry benchmark: 40–60% (retail typically 20–30%). The sample's 59.3% sits at the top of the general benchmark.</a:t>
            </a:r>
            <a:endParaRPr lang="en-US" sz="1050" dirty="0"/>
          </a:p>
        </p:txBody>
      </p:sp>
      <p:sp>
        <p:nvSpPr>
          <p:cNvPr id="14" name="Shape 9"/>
          <p:cNvSpPr/>
          <p:nvPr/>
        </p:nvSpPr>
        <p:spPr>
          <a:xfrm>
            <a:off x="6858000" y="3429000"/>
            <a:ext cx="4846320" cy="1828800"/>
          </a:xfrm>
          <a:prstGeom prst="roundRect">
            <a:avLst>
              <a:gd name="adj" fmla="val 4000"/>
            </a:avLst>
          </a:prstGeom>
          <a:solidFill>
            <a:srgbClr val="EAF6EF"/>
          </a:solidFill>
          <a:ln/>
          <a:effectLst>
            <a:outerShdw blurRad="76200" dist="25400" dir="5400000" algn="bl" rotWithShape="0">
              <a:srgbClr val="000000">
                <a:alpha val="8000"/>
              </a:srgbClr>
            </a:outerShdw>
          </a:effectLst>
        </p:spPr>
      </p:sp>
      <p:sp>
        <p:nvSpPr>
          <p:cNvPr id="15" name="Shape 10"/>
          <p:cNvSpPr/>
          <p:nvPr/>
        </p:nvSpPr>
        <p:spPr>
          <a:xfrm>
            <a:off x="7086600" y="3639312"/>
            <a:ext cx="548640" cy="548640"/>
          </a:xfrm>
          <a:prstGeom prst="ellipse">
            <a:avLst/>
          </a:prstGeom>
          <a:solidFill>
            <a:srgbClr val="1B7A43"/>
          </a:solidFill>
          <a:ln/>
        </p:spPr>
      </p:sp>
      <p:pic>
        <p:nvPicPr>
          <p:cNvPr id="16" name="Image 2" descr="preencoded.png"/>
          <p:cNvPicPr>
            <a:picLocks noChangeAspect="1"/>
          </p:cNvPicPr>
          <p:nvPr/>
        </p:nvPicPr>
        <p:blipFill>
          <a:blip r:embed="rId6"/>
          <a:stretch>
            <a:fillRect/>
          </a:stretch>
        </p:blipFill>
        <p:spPr>
          <a:xfrm>
            <a:off x="7157923" y="3710635"/>
            <a:ext cx="405994" cy="405994"/>
          </a:xfrm>
          <a:prstGeom prst="rect">
            <a:avLst/>
          </a:prstGeom>
        </p:spPr>
      </p:pic>
      <p:sp>
        <p:nvSpPr>
          <p:cNvPr id="17" name="Text 11"/>
          <p:cNvSpPr/>
          <p:nvPr/>
        </p:nvSpPr>
        <p:spPr>
          <a:xfrm>
            <a:off x="7818120" y="3584448"/>
            <a:ext cx="3749040" cy="274320"/>
          </a:xfrm>
          <a:prstGeom prst="rect">
            <a:avLst/>
          </a:prstGeom>
          <a:noFill/>
          <a:ln/>
        </p:spPr>
        <p:txBody>
          <a:bodyPr wrap="square" lIns="0" tIns="0" rIns="0" bIns="0" rtlCol="0" anchor="ctr"/>
          <a:lstStyle/>
          <a:p>
            <a:pPr marL="0" indent="0">
              <a:buNone/>
            </a:pPr>
            <a:r>
              <a:rPr lang="en-US" sz="1400" b="1" dirty="0">
                <a:solidFill>
                  <a:srgbClr val="1F2A24"/>
                </a:solidFill>
                <a:latin typeface="Cambria" pitchFamily="34" charset="0"/>
                <a:ea typeface="Cambria" pitchFamily="34" charset="-122"/>
                <a:cs typeface="Cambria" pitchFamily="34" charset="-120"/>
              </a:rPr>
              <a:t>Net Profit Margin</a:t>
            </a:r>
            <a:endParaRPr lang="en-US" sz="1400" dirty="0"/>
          </a:p>
        </p:txBody>
      </p:sp>
      <p:sp>
        <p:nvSpPr>
          <p:cNvPr id="18" name="Text 12"/>
          <p:cNvSpPr/>
          <p:nvPr/>
        </p:nvSpPr>
        <p:spPr>
          <a:xfrm>
            <a:off x="7086600" y="4160520"/>
            <a:ext cx="4434840" cy="1005840"/>
          </a:xfrm>
          <a:prstGeom prst="rect">
            <a:avLst/>
          </a:prstGeom>
          <a:noFill/>
          <a:ln/>
        </p:spPr>
        <p:txBody>
          <a:bodyPr wrap="square" lIns="0" tIns="0" rIns="0" bIns="0" rtlCol="0" anchor="t"/>
          <a:lstStyle/>
          <a:p>
            <a:pPr marL="0" indent="0">
              <a:buNone/>
            </a:pPr>
            <a:r>
              <a:rPr lang="en-US" sz="1050" dirty="0">
                <a:solidFill>
                  <a:srgbClr val="5B6B62"/>
                </a:solidFill>
                <a:latin typeface="Calibri" pitchFamily="34" charset="0"/>
                <a:ea typeface="Calibri" pitchFamily="34" charset="-122"/>
                <a:cs typeface="Calibri" pitchFamily="34" charset="-120"/>
              </a:rPr>
              <a:t>Profitability after ALL costs — the clearest single indicator of business health. A good margin runs 10–20% for most industries; the sample's 35.3% is well above that range.</a:t>
            </a:r>
            <a:endParaRPr lang="en-US" sz="1050" dirty="0"/>
          </a:p>
        </p:txBody>
      </p:sp>
      <p:sp>
        <p:nvSpPr>
          <p:cNvPr id="19" name="Text 13"/>
          <p:cNvSpPr/>
          <p:nvPr/>
        </p:nvSpPr>
        <p:spPr>
          <a:xfrm>
            <a:off x="502920" y="5623560"/>
            <a:ext cx="11155680" cy="365760"/>
          </a:xfrm>
          <a:prstGeom prst="rect">
            <a:avLst/>
          </a:prstGeom>
          <a:noFill/>
          <a:ln/>
        </p:spPr>
        <p:txBody>
          <a:bodyPr wrap="square" lIns="0" tIns="0" rIns="0" bIns="0" rtlCol="0" anchor="ctr"/>
          <a:lstStyle/>
          <a:p>
            <a:pPr marL="0" indent="0">
              <a:buNone/>
            </a:pPr>
            <a:r>
              <a:rPr lang="en-US" sz="950" i="1" dirty="0">
                <a:solidFill>
                  <a:srgbClr val="5B6B62"/>
                </a:solidFill>
                <a:latin typeface="Calibri" pitchFamily="34" charset="0"/>
                <a:ea typeface="Calibri" pitchFamily="34" charset="-122"/>
                <a:cs typeface="Calibri" pitchFamily="34" charset="-120"/>
              </a:rPr>
              <a:t>Benchmarks are general guides; always compare against your own sector and prior-year baseline before drawing conclusions.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0E5C36"/>
          </a:solidFill>
          <a:ln/>
        </p:spPr>
      </p:sp>
      <p:pic>
        <p:nvPicPr>
          <p:cNvPr id="3" name="Image 0" descr="preencoded.png"/>
          <p:cNvPicPr>
            <a:picLocks noChangeAspect="1"/>
          </p:cNvPicPr>
          <p:nvPr/>
        </p:nvPicPr>
        <p:blipFill>
          <a:blip r:embed="rId3"/>
          <a:stretch>
            <a:fillRect/>
          </a:stretch>
        </p:blipFill>
        <p:spPr>
          <a:xfrm>
            <a:off x="568300" y="522580"/>
            <a:ext cx="372161" cy="372161"/>
          </a:xfrm>
          <a:prstGeom prst="rect">
            <a:avLst/>
          </a:prstGeom>
        </p:spPr>
      </p:pic>
      <p:sp>
        <p:nvSpPr>
          <p:cNvPr id="4" name="Text 1"/>
          <p:cNvSpPr/>
          <p:nvPr/>
        </p:nvSpPr>
        <p:spPr>
          <a:xfrm>
            <a:off x="1143000" y="420624"/>
            <a:ext cx="7315200" cy="274320"/>
          </a:xfrm>
          <a:prstGeom prst="rect">
            <a:avLst/>
          </a:prstGeom>
          <a:noFill/>
          <a:ln/>
        </p:spPr>
        <p:txBody>
          <a:bodyPr wrap="square" lIns="0" tIns="0" rIns="0" bIns="0" rtlCol="0" anchor="ctr"/>
          <a:lstStyle/>
          <a:p>
            <a:pPr marL="0" indent="0">
              <a:buNone/>
            </a:pPr>
            <a:r>
              <a:rPr lang="en-US" sz="1150" b="1" kern="0" spc="200" dirty="0">
                <a:solidFill>
                  <a:srgbClr val="1B7A43"/>
                </a:solidFill>
                <a:latin typeface="Calibri" pitchFamily="34" charset="0"/>
                <a:ea typeface="Calibri" pitchFamily="34" charset="-122"/>
                <a:cs typeface="Calibri" pitchFamily="34" charset="-120"/>
              </a:rPr>
              <a:t>MODULE 3</a:t>
            </a:r>
            <a:endParaRPr lang="en-US" sz="1150" dirty="0"/>
          </a:p>
        </p:txBody>
      </p:sp>
      <p:sp>
        <p:nvSpPr>
          <p:cNvPr id="5" name="Text 2"/>
          <p:cNvSpPr/>
          <p:nvPr/>
        </p:nvSpPr>
        <p:spPr>
          <a:xfrm>
            <a:off x="1143000" y="658368"/>
            <a:ext cx="9875520" cy="502920"/>
          </a:xfrm>
          <a:prstGeom prst="rect">
            <a:avLst/>
          </a:prstGeom>
          <a:noFill/>
          <a:ln/>
        </p:spPr>
        <p:txBody>
          <a:bodyPr wrap="square" lIns="0" tIns="0" rIns="0" bIns="0" rtlCol="0" anchor="ctr"/>
          <a:lstStyle/>
          <a:p>
            <a:pPr marL="0" indent="0">
              <a:buNone/>
            </a:pPr>
            <a:r>
              <a:rPr lang="en-US" sz="2600" b="1" dirty="0">
                <a:solidFill>
                  <a:srgbClr val="1F2A24"/>
                </a:solidFill>
                <a:latin typeface="Cambria" pitchFamily="34" charset="0"/>
                <a:ea typeface="Cambria" pitchFamily="34" charset="-122"/>
                <a:cs typeface="Cambria" pitchFamily="34" charset="-120"/>
              </a:rPr>
              <a:t>Key Business KPIs</a:t>
            </a:r>
            <a:endParaRPr lang="en-US" sz="2600" dirty="0"/>
          </a:p>
        </p:txBody>
      </p:sp>
      <p:sp>
        <p:nvSpPr>
          <p:cNvPr id="6" name="Text 3"/>
          <p:cNvSpPr/>
          <p:nvPr/>
        </p:nvSpPr>
        <p:spPr>
          <a:xfrm>
            <a:off x="502920" y="6528816"/>
            <a:ext cx="7315200" cy="256032"/>
          </a:xfrm>
          <a:prstGeom prst="rect">
            <a:avLst/>
          </a:prstGeom>
          <a:noFill/>
          <a:ln/>
        </p:spPr>
        <p:txBody>
          <a:bodyPr wrap="square" lIns="0" tIns="0" rIns="0" bIns="0" rtlCol="0" anchor="ctr"/>
          <a:lstStyle/>
          <a:p>
            <a:pPr marL="0" indent="0">
              <a:buNone/>
            </a:pPr>
            <a:r>
              <a:rPr lang="en-US" sz="850" dirty="0">
                <a:solidFill>
                  <a:srgbClr val="5B6B62"/>
                </a:solidFill>
                <a:latin typeface="Calibri" pitchFamily="34" charset="0"/>
                <a:ea typeface="Calibri" pitchFamily="34" charset="-122"/>
                <a:cs typeface="Calibri" pitchFamily="34" charset="-120"/>
              </a:rPr>
              <a:t>BUSINESS ANALYTICS  •  REVENUE &amp; METRICS FRAMEWORK</a:t>
            </a:r>
            <a:endParaRPr lang="en-US" sz="850" dirty="0"/>
          </a:p>
        </p:txBody>
      </p:sp>
      <p:sp>
        <p:nvSpPr>
          <p:cNvPr id="7" name="Text 4"/>
          <p:cNvSpPr/>
          <p:nvPr/>
        </p:nvSpPr>
        <p:spPr>
          <a:xfrm>
            <a:off x="11228832" y="6528816"/>
            <a:ext cx="457200" cy="256032"/>
          </a:xfrm>
          <a:prstGeom prst="rect">
            <a:avLst/>
          </a:prstGeom>
          <a:noFill/>
          <a:ln/>
        </p:spPr>
        <p:txBody>
          <a:bodyPr wrap="square" lIns="0" tIns="0" rIns="0" bIns="0" rtlCol="0" anchor="ctr"/>
          <a:lstStyle/>
          <a:p>
            <a:pPr marL="0" indent="0" algn="r">
              <a:buNone/>
            </a:pPr>
            <a:r>
              <a:rPr lang="en-US" sz="850" dirty="0">
                <a:solidFill>
                  <a:srgbClr val="5B6B62"/>
                </a:solidFill>
                <a:latin typeface="Calibri" pitchFamily="34" charset="0"/>
                <a:ea typeface="Calibri" pitchFamily="34" charset="-122"/>
                <a:cs typeface="Calibri" pitchFamily="34" charset="-120"/>
              </a:rPr>
              <a:t>9</a:t>
            </a:r>
            <a:endParaRPr lang="en-US" sz="850" dirty="0"/>
          </a:p>
        </p:txBody>
      </p:sp>
      <p:sp>
        <p:nvSpPr>
          <p:cNvPr id="8" name="Shape 5"/>
          <p:cNvSpPr/>
          <p:nvPr/>
        </p:nvSpPr>
        <p:spPr>
          <a:xfrm>
            <a:off x="502920" y="1417320"/>
            <a:ext cx="3611880" cy="2057400"/>
          </a:xfrm>
          <a:prstGeom prst="roundRect">
            <a:avLst>
              <a:gd name="adj" fmla="val 3556"/>
            </a:avLst>
          </a:prstGeom>
          <a:solidFill>
            <a:srgbClr val="F4FAF6"/>
          </a:solidFill>
          <a:ln/>
          <a:effectLst>
            <a:outerShdw blurRad="76200" dist="25400" dir="5400000" algn="bl" rotWithShape="0">
              <a:srgbClr val="000000">
                <a:alpha val="8000"/>
              </a:srgbClr>
            </a:outerShdw>
          </a:effectLst>
        </p:spPr>
      </p:sp>
      <p:sp>
        <p:nvSpPr>
          <p:cNvPr id="9" name="Shape 6"/>
          <p:cNvSpPr/>
          <p:nvPr/>
        </p:nvSpPr>
        <p:spPr>
          <a:xfrm>
            <a:off x="731520" y="1645920"/>
            <a:ext cx="566928" cy="566928"/>
          </a:xfrm>
          <a:prstGeom prst="ellipse">
            <a:avLst/>
          </a:prstGeom>
          <a:solidFill>
            <a:srgbClr val="0E5C36"/>
          </a:solidFill>
          <a:ln/>
        </p:spPr>
      </p:sp>
      <p:pic>
        <p:nvPicPr>
          <p:cNvPr id="10" name="Image 1" descr="preencoded.png"/>
          <p:cNvPicPr>
            <a:picLocks noChangeAspect="1"/>
          </p:cNvPicPr>
          <p:nvPr/>
        </p:nvPicPr>
        <p:blipFill>
          <a:blip r:embed="rId3"/>
          <a:stretch>
            <a:fillRect/>
          </a:stretch>
        </p:blipFill>
        <p:spPr>
          <a:xfrm>
            <a:off x="805221" y="1719621"/>
            <a:ext cx="419527" cy="419527"/>
          </a:xfrm>
          <a:prstGeom prst="rect">
            <a:avLst/>
          </a:prstGeom>
        </p:spPr>
      </p:pic>
      <p:sp>
        <p:nvSpPr>
          <p:cNvPr id="11" name="Text 7"/>
          <p:cNvSpPr/>
          <p:nvPr/>
        </p:nvSpPr>
        <p:spPr>
          <a:xfrm>
            <a:off x="1463040" y="1618488"/>
            <a:ext cx="2468880" cy="548640"/>
          </a:xfrm>
          <a:prstGeom prst="rect">
            <a:avLst/>
          </a:prstGeom>
          <a:noFill/>
          <a:ln/>
        </p:spPr>
        <p:txBody>
          <a:bodyPr wrap="square" lIns="0" tIns="0" rIns="0" bIns="0" rtlCol="0" anchor="t"/>
          <a:lstStyle/>
          <a:p>
            <a:pPr marL="0" indent="0">
              <a:buNone/>
            </a:pPr>
            <a:r>
              <a:rPr lang="en-US" sz="1300" b="1" dirty="0">
                <a:solidFill>
                  <a:srgbClr val="1F2A24"/>
                </a:solidFill>
                <a:latin typeface="Cambria" pitchFamily="34" charset="0"/>
                <a:ea typeface="Cambria" pitchFamily="34" charset="-122"/>
                <a:cs typeface="Cambria" pitchFamily="34" charset="-120"/>
              </a:rPr>
              <a:t>Customer Acquisition Cost</a:t>
            </a:r>
            <a:endParaRPr lang="en-US" sz="1300" dirty="0"/>
          </a:p>
        </p:txBody>
      </p:sp>
      <p:sp>
        <p:nvSpPr>
          <p:cNvPr id="12" name="Text 8"/>
          <p:cNvSpPr/>
          <p:nvPr/>
        </p:nvSpPr>
        <p:spPr>
          <a:xfrm>
            <a:off x="731520" y="2331720"/>
            <a:ext cx="3154680" cy="457200"/>
          </a:xfrm>
          <a:prstGeom prst="rect">
            <a:avLst/>
          </a:prstGeom>
          <a:noFill/>
          <a:ln/>
        </p:spPr>
        <p:txBody>
          <a:bodyPr wrap="square" lIns="0" tIns="0" rIns="0" bIns="0" rtlCol="0" anchor="ctr"/>
          <a:lstStyle/>
          <a:p>
            <a:pPr marL="0" indent="0">
              <a:buNone/>
            </a:pPr>
            <a:r>
              <a:rPr lang="en-US" sz="980" dirty="0">
                <a:solidFill>
                  <a:srgbClr val="1B7A43"/>
                </a:solidFill>
                <a:latin typeface="Courier New" pitchFamily="34" charset="0"/>
                <a:ea typeface="Courier New" pitchFamily="34" charset="-122"/>
                <a:cs typeface="Courier New" pitchFamily="34" charset="-120"/>
              </a:rPr>
              <a:t>=Marketing Cost / New Customers</a:t>
            </a:r>
            <a:endParaRPr lang="en-US" sz="980" dirty="0"/>
          </a:p>
        </p:txBody>
      </p:sp>
      <p:sp>
        <p:nvSpPr>
          <p:cNvPr id="13" name="Text 9"/>
          <p:cNvSpPr/>
          <p:nvPr/>
        </p:nvSpPr>
        <p:spPr>
          <a:xfrm>
            <a:off x="731520" y="2834640"/>
            <a:ext cx="3154680" cy="457200"/>
          </a:xfrm>
          <a:prstGeom prst="rect">
            <a:avLst/>
          </a:prstGeom>
          <a:noFill/>
          <a:ln/>
        </p:spPr>
        <p:txBody>
          <a:bodyPr wrap="square" lIns="0" tIns="0" rIns="0" bIns="0" rtlCol="0" anchor="ctr"/>
          <a:lstStyle/>
          <a:p>
            <a:pPr marL="0" indent="0">
              <a:buNone/>
            </a:pPr>
            <a:r>
              <a:rPr lang="en-US" sz="1500" b="1" dirty="0">
                <a:solidFill>
                  <a:srgbClr val="B8860B"/>
                </a:solidFill>
                <a:latin typeface="Calibri" pitchFamily="34" charset="0"/>
                <a:ea typeface="Calibri" pitchFamily="34" charset="-122"/>
                <a:cs typeface="Calibri" pitchFamily="34" charset="-120"/>
              </a:rPr>
              <a:t>≈ ₹850 / customer</a:t>
            </a:r>
            <a:endParaRPr lang="en-US" sz="1500" dirty="0"/>
          </a:p>
        </p:txBody>
      </p:sp>
      <p:sp>
        <p:nvSpPr>
          <p:cNvPr id="14" name="Shape 10"/>
          <p:cNvSpPr/>
          <p:nvPr/>
        </p:nvSpPr>
        <p:spPr>
          <a:xfrm>
            <a:off x="4315968" y="1417320"/>
            <a:ext cx="3611880" cy="2057400"/>
          </a:xfrm>
          <a:prstGeom prst="roundRect">
            <a:avLst>
              <a:gd name="adj" fmla="val 3556"/>
            </a:avLst>
          </a:prstGeom>
          <a:solidFill>
            <a:srgbClr val="F4FAF6"/>
          </a:solidFill>
          <a:ln/>
          <a:effectLst>
            <a:outerShdw blurRad="76200" dist="25400" dir="5400000" algn="bl" rotWithShape="0">
              <a:srgbClr val="000000">
                <a:alpha val="8000"/>
              </a:srgbClr>
            </a:outerShdw>
          </a:effectLst>
        </p:spPr>
      </p:sp>
      <p:sp>
        <p:nvSpPr>
          <p:cNvPr id="15" name="Shape 11"/>
          <p:cNvSpPr/>
          <p:nvPr/>
        </p:nvSpPr>
        <p:spPr>
          <a:xfrm>
            <a:off x="4544568" y="1645920"/>
            <a:ext cx="566928" cy="566928"/>
          </a:xfrm>
          <a:prstGeom prst="ellipse">
            <a:avLst/>
          </a:prstGeom>
          <a:solidFill>
            <a:srgbClr val="0E5C36"/>
          </a:solidFill>
          <a:ln/>
        </p:spPr>
      </p:sp>
      <p:pic>
        <p:nvPicPr>
          <p:cNvPr id="16" name="Image 2" descr="preencoded.png"/>
          <p:cNvPicPr>
            <a:picLocks noChangeAspect="1"/>
          </p:cNvPicPr>
          <p:nvPr/>
        </p:nvPicPr>
        <p:blipFill>
          <a:blip r:embed="rId4"/>
          <a:stretch>
            <a:fillRect/>
          </a:stretch>
        </p:blipFill>
        <p:spPr>
          <a:xfrm>
            <a:off x="4618269" y="1719621"/>
            <a:ext cx="419527" cy="419527"/>
          </a:xfrm>
          <a:prstGeom prst="rect">
            <a:avLst/>
          </a:prstGeom>
        </p:spPr>
      </p:pic>
      <p:sp>
        <p:nvSpPr>
          <p:cNvPr id="17" name="Text 12"/>
          <p:cNvSpPr/>
          <p:nvPr/>
        </p:nvSpPr>
        <p:spPr>
          <a:xfrm>
            <a:off x="5276088" y="1618488"/>
            <a:ext cx="2468880" cy="548640"/>
          </a:xfrm>
          <a:prstGeom prst="rect">
            <a:avLst/>
          </a:prstGeom>
          <a:noFill/>
          <a:ln/>
        </p:spPr>
        <p:txBody>
          <a:bodyPr wrap="square" lIns="0" tIns="0" rIns="0" bIns="0" rtlCol="0" anchor="t"/>
          <a:lstStyle/>
          <a:p>
            <a:pPr marL="0" indent="0">
              <a:buNone/>
            </a:pPr>
            <a:r>
              <a:rPr lang="en-US" sz="1300" b="1" dirty="0">
                <a:solidFill>
                  <a:srgbClr val="1F2A24"/>
                </a:solidFill>
                <a:latin typeface="Cambria" pitchFamily="34" charset="0"/>
                <a:ea typeface="Cambria" pitchFamily="34" charset="-122"/>
                <a:cs typeface="Cambria" pitchFamily="34" charset="-120"/>
              </a:rPr>
              <a:t>Customer Lifetime Value</a:t>
            </a:r>
            <a:endParaRPr lang="en-US" sz="1300" dirty="0"/>
          </a:p>
        </p:txBody>
      </p:sp>
      <p:sp>
        <p:nvSpPr>
          <p:cNvPr id="18" name="Text 13"/>
          <p:cNvSpPr/>
          <p:nvPr/>
        </p:nvSpPr>
        <p:spPr>
          <a:xfrm>
            <a:off x="4544568" y="2331720"/>
            <a:ext cx="3154680" cy="457200"/>
          </a:xfrm>
          <a:prstGeom prst="rect">
            <a:avLst/>
          </a:prstGeom>
          <a:noFill/>
          <a:ln/>
        </p:spPr>
        <p:txBody>
          <a:bodyPr wrap="square" lIns="0" tIns="0" rIns="0" bIns="0" rtlCol="0" anchor="ctr"/>
          <a:lstStyle/>
          <a:p>
            <a:pPr marL="0" indent="0">
              <a:buNone/>
            </a:pPr>
            <a:r>
              <a:rPr lang="en-US" sz="980" dirty="0">
                <a:solidFill>
                  <a:srgbClr val="1B7A43"/>
                </a:solidFill>
                <a:latin typeface="Courier New" pitchFamily="34" charset="0"/>
                <a:ea typeface="Courier New" pitchFamily="34" charset="-122"/>
                <a:cs typeface="Courier New" pitchFamily="34" charset="-120"/>
              </a:rPr>
              <a:t>=Avg Purchase × Frequency × Duration</a:t>
            </a:r>
            <a:endParaRPr lang="en-US" sz="980" dirty="0"/>
          </a:p>
        </p:txBody>
      </p:sp>
      <p:sp>
        <p:nvSpPr>
          <p:cNvPr id="19" name="Text 14"/>
          <p:cNvSpPr/>
          <p:nvPr/>
        </p:nvSpPr>
        <p:spPr>
          <a:xfrm>
            <a:off x="4544568" y="2834640"/>
            <a:ext cx="3154680" cy="457200"/>
          </a:xfrm>
          <a:prstGeom prst="rect">
            <a:avLst/>
          </a:prstGeom>
          <a:noFill/>
          <a:ln/>
        </p:spPr>
        <p:txBody>
          <a:bodyPr wrap="square" lIns="0" tIns="0" rIns="0" bIns="0" rtlCol="0" anchor="ctr"/>
          <a:lstStyle/>
          <a:p>
            <a:pPr marL="0" indent="0">
              <a:buNone/>
            </a:pPr>
            <a:r>
              <a:rPr lang="en-US" sz="1500" b="1" dirty="0">
                <a:solidFill>
                  <a:srgbClr val="B8860B"/>
                </a:solidFill>
                <a:latin typeface="Calibri" pitchFamily="34" charset="0"/>
                <a:ea typeface="Calibri" pitchFamily="34" charset="-122"/>
                <a:cs typeface="Calibri" pitchFamily="34" charset="-120"/>
              </a:rPr>
              <a:t>≈ ₹18,500 / customer</a:t>
            </a:r>
            <a:endParaRPr lang="en-US" sz="1500" dirty="0"/>
          </a:p>
        </p:txBody>
      </p:sp>
      <p:sp>
        <p:nvSpPr>
          <p:cNvPr id="20" name="Shape 15"/>
          <p:cNvSpPr/>
          <p:nvPr/>
        </p:nvSpPr>
        <p:spPr>
          <a:xfrm>
            <a:off x="8129016" y="1417320"/>
            <a:ext cx="3611880" cy="2057400"/>
          </a:xfrm>
          <a:prstGeom prst="roundRect">
            <a:avLst>
              <a:gd name="adj" fmla="val 3556"/>
            </a:avLst>
          </a:prstGeom>
          <a:solidFill>
            <a:srgbClr val="F4FAF6"/>
          </a:solidFill>
          <a:ln/>
          <a:effectLst>
            <a:outerShdw blurRad="76200" dist="25400" dir="5400000" algn="bl" rotWithShape="0">
              <a:srgbClr val="000000">
                <a:alpha val="8000"/>
              </a:srgbClr>
            </a:outerShdw>
          </a:effectLst>
        </p:spPr>
      </p:sp>
      <p:sp>
        <p:nvSpPr>
          <p:cNvPr id="21" name="Shape 16"/>
          <p:cNvSpPr/>
          <p:nvPr/>
        </p:nvSpPr>
        <p:spPr>
          <a:xfrm>
            <a:off x="8357616" y="1645920"/>
            <a:ext cx="566928" cy="566928"/>
          </a:xfrm>
          <a:prstGeom prst="ellipse">
            <a:avLst/>
          </a:prstGeom>
          <a:solidFill>
            <a:srgbClr val="0E5C36"/>
          </a:solidFill>
          <a:ln/>
        </p:spPr>
      </p:sp>
      <p:pic>
        <p:nvPicPr>
          <p:cNvPr id="22" name="Image 3" descr="preencoded.png"/>
          <p:cNvPicPr>
            <a:picLocks noChangeAspect="1"/>
          </p:cNvPicPr>
          <p:nvPr/>
        </p:nvPicPr>
        <p:blipFill>
          <a:blip r:embed="rId5"/>
          <a:stretch>
            <a:fillRect/>
          </a:stretch>
        </p:blipFill>
        <p:spPr>
          <a:xfrm>
            <a:off x="8431317" y="1719621"/>
            <a:ext cx="419527" cy="419527"/>
          </a:xfrm>
          <a:prstGeom prst="rect">
            <a:avLst/>
          </a:prstGeom>
        </p:spPr>
      </p:pic>
      <p:sp>
        <p:nvSpPr>
          <p:cNvPr id="23" name="Text 17"/>
          <p:cNvSpPr/>
          <p:nvPr/>
        </p:nvSpPr>
        <p:spPr>
          <a:xfrm>
            <a:off x="9089136" y="1618488"/>
            <a:ext cx="2468880" cy="548640"/>
          </a:xfrm>
          <a:prstGeom prst="rect">
            <a:avLst/>
          </a:prstGeom>
          <a:noFill/>
          <a:ln/>
        </p:spPr>
        <p:txBody>
          <a:bodyPr wrap="square" lIns="0" tIns="0" rIns="0" bIns="0" rtlCol="0" anchor="t"/>
          <a:lstStyle/>
          <a:p>
            <a:pPr marL="0" indent="0">
              <a:buNone/>
            </a:pPr>
            <a:r>
              <a:rPr lang="en-US" sz="1300" b="1" dirty="0">
                <a:solidFill>
                  <a:srgbClr val="1F2A24"/>
                </a:solidFill>
                <a:latin typeface="Cambria" pitchFamily="34" charset="0"/>
                <a:ea typeface="Cambria" pitchFamily="34" charset="-122"/>
                <a:cs typeface="Cambria" pitchFamily="34" charset="-120"/>
              </a:rPr>
              <a:t>Return on Investment</a:t>
            </a:r>
            <a:endParaRPr lang="en-US" sz="1300" dirty="0"/>
          </a:p>
        </p:txBody>
      </p:sp>
      <p:sp>
        <p:nvSpPr>
          <p:cNvPr id="24" name="Text 18"/>
          <p:cNvSpPr/>
          <p:nvPr/>
        </p:nvSpPr>
        <p:spPr>
          <a:xfrm>
            <a:off x="8357616" y="2331720"/>
            <a:ext cx="3154680" cy="457200"/>
          </a:xfrm>
          <a:prstGeom prst="rect">
            <a:avLst/>
          </a:prstGeom>
          <a:noFill/>
          <a:ln/>
        </p:spPr>
        <p:txBody>
          <a:bodyPr wrap="square" lIns="0" tIns="0" rIns="0" bIns="0" rtlCol="0" anchor="ctr"/>
          <a:lstStyle/>
          <a:p>
            <a:pPr marL="0" indent="0">
              <a:buNone/>
            </a:pPr>
            <a:r>
              <a:rPr lang="en-US" sz="980" dirty="0">
                <a:solidFill>
                  <a:srgbClr val="1B7A43"/>
                </a:solidFill>
                <a:latin typeface="Courier New" pitchFamily="34" charset="0"/>
                <a:ea typeface="Courier New" pitchFamily="34" charset="-122"/>
                <a:cs typeface="Courier New" pitchFamily="34" charset="-120"/>
              </a:rPr>
              <a:t>=(Net Profit / Investment)×100</a:t>
            </a:r>
            <a:endParaRPr lang="en-US" sz="980" dirty="0"/>
          </a:p>
        </p:txBody>
      </p:sp>
      <p:sp>
        <p:nvSpPr>
          <p:cNvPr id="25" name="Text 19"/>
          <p:cNvSpPr/>
          <p:nvPr/>
        </p:nvSpPr>
        <p:spPr>
          <a:xfrm>
            <a:off x="8357616" y="2834640"/>
            <a:ext cx="3154680" cy="457200"/>
          </a:xfrm>
          <a:prstGeom prst="rect">
            <a:avLst/>
          </a:prstGeom>
          <a:noFill/>
          <a:ln/>
        </p:spPr>
        <p:txBody>
          <a:bodyPr wrap="square" lIns="0" tIns="0" rIns="0" bIns="0" rtlCol="0" anchor="ctr"/>
          <a:lstStyle/>
          <a:p>
            <a:pPr marL="0" indent="0">
              <a:buNone/>
            </a:pPr>
            <a:r>
              <a:rPr lang="en-US" sz="1500" b="1" dirty="0">
                <a:solidFill>
                  <a:srgbClr val="B8860B"/>
                </a:solidFill>
                <a:latin typeface="Calibri" pitchFamily="34" charset="0"/>
                <a:ea typeface="Calibri" pitchFamily="34" charset="-122"/>
                <a:cs typeface="Calibri" pitchFamily="34" charset="-120"/>
              </a:rPr>
              <a:t>≈ 28%</a:t>
            </a:r>
            <a:endParaRPr lang="en-US" sz="1500" dirty="0"/>
          </a:p>
        </p:txBody>
      </p:sp>
      <p:sp>
        <p:nvSpPr>
          <p:cNvPr id="26" name="Shape 20"/>
          <p:cNvSpPr/>
          <p:nvPr/>
        </p:nvSpPr>
        <p:spPr>
          <a:xfrm>
            <a:off x="502920" y="3675888"/>
            <a:ext cx="3611880" cy="2057400"/>
          </a:xfrm>
          <a:prstGeom prst="roundRect">
            <a:avLst>
              <a:gd name="adj" fmla="val 3556"/>
            </a:avLst>
          </a:prstGeom>
          <a:solidFill>
            <a:srgbClr val="EAF6EF"/>
          </a:solidFill>
          <a:ln/>
          <a:effectLst>
            <a:outerShdw blurRad="76200" dist="25400" dir="5400000" algn="bl" rotWithShape="0">
              <a:srgbClr val="000000">
                <a:alpha val="8000"/>
              </a:srgbClr>
            </a:outerShdw>
          </a:effectLst>
        </p:spPr>
      </p:sp>
      <p:sp>
        <p:nvSpPr>
          <p:cNvPr id="27" name="Shape 21"/>
          <p:cNvSpPr/>
          <p:nvPr/>
        </p:nvSpPr>
        <p:spPr>
          <a:xfrm>
            <a:off x="731520" y="3904488"/>
            <a:ext cx="566928" cy="566928"/>
          </a:xfrm>
          <a:prstGeom prst="ellipse">
            <a:avLst/>
          </a:prstGeom>
          <a:solidFill>
            <a:srgbClr val="0E5C36"/>
          </a:solidFill>
          <a:ln/>
        </p:spPr>
      </p:sp>
      <p:pic>
        <p:nvPicPr>
          <p:cNvPr id="28" name="Image 4" descr="preencoded.png"/>
          <p:cNvPicPr>
            <a:picLocks noChangeAspect="1"/>
          </p:cNvPicPr>
          <p:nvPr/>
        </p:nvPicPr>
        <p:blipFill>
          <a:blip r:embed="rId6"/>
          <a:stretch>
            <a:fillRect/>
          </a:stretch>
        </p:blipFill>
        <p:spPr>
          <a:xfrm>
            <a:off x="805221" y="3978189"/>
            <a:ext cx="419527" cy="419527"/>
          </a:xfrm>
          <a:prstGeom prst="rect">
            <a:avLst/>
          </a:prstGeom>
        </p:spPr>
      </p:pic>
      <p:sp>
        <p:nvSpPr>
          <p:cNvPr id="29" name="Text 22"/>
          <p:cNvSpPr/>
          <p:nvPr/>
        </p:nvSpPr>
        <p:spPr>
          <a:xfrm>
            <a:off x="1463040" y="3877056"/>
            <a:ext cx="2468880" cy="548640"/>
          </a:xfrm>
          <a:prstGeom prst="rect">
            <a:avLst/>
          </a:prstGeom>
          <a:noFill/>
          <a:ln/>
        </p:spPr>
        <p:txBody>
          <a:bodyPr wrap="square" lIns="0" tIns="0" rIns="0" bIns="0" rtlCol="0" anchor="t"/>
          <a:lstStyle/>
          <a:p>
            <a:pPr marL="0" indent="0">
              <a:buNone/>
            </a:pPr>
            <a:r>
              <a:rPr lang="en-US" sz="1300" b="1" dirty="0">
                <a:solidFill>
                  <a:srgbClr val="1F2A24"/>
                </a:solidFill>
                <a:latin typeface="Cambria" pitchFamily="34" charset="0"/>
                <a:ea typeface="Cambria" pitchFamily="34" charset="-122"/>
                <a:cs typeface="Cambria" pitchFamily="34" charset="-120"/>
              </a:rPr>
              <a:t>Inventory Turnover</a:t>
            </a:r>
            <a:endParaRPr lang="en-US" sz="1300" dirty="0"/>
          </a:p>
        </p:txBody>
      </p:sp>
      <p:sp>
        <p:nvSpPr>
          <p:cNvPr id="30" name="Text 23"/>
          <p:cNvSpPr/>
          <p:nvPr/>
        </p:nvSpPr>
        <p:spPr>
          <a:xfrm>
            <a:off x="731520" y="4590288"/>
            <a:ext cx="3154680" cy="457200"/>
          </a:xfrm>
          <a:prstGeom prst="rect">
            <a:avLst/>
          </a:prstGeom>
          <a:noFill/>
          <a:ln/>
        </p:spPr>
        <p:txBody>
          <a:bodyPr wrap="square" lIns="0" tIns="0" rIns="0" bIns="0" rtlCol="0" anchor="ctr"/>
          <a:lstStyle/>
          <a:p>
            <a:pPr marL="0" indent="0">
              <a:buNone/>
            </a:pPr>
            <a:r>
              <a:rPr lang="en-US" sz="980" dirty="0">
                <a:solidFill>
                  <a:srgbClr val="1B7A43"/>
                </a:solidFill>
                <a:latin typeface="Courier New" pitchFamily="34" charset="0"/>
                <a:ea typeface="Courier New" pitchFamily="34" charset="-122"/>
                <a:cs typeface="Courier New" pitchFamily="34" charset="-120"/>
              </a:rPr>
              <a:t>=COGS / Avg. Inventory</a:t>
            </a:r>
            <a:endParaRPr lang="en-US" sz="980" dirty="0"/>
          </a:p>
        </p:txBody>
      </p:sp>
      <p:sp>
        <p:nvSpPr>
          <p:cNvPr id="31" name="Text 24"/>
          <p:cNvSpPr/>
          <p:nvPr/>
        </p:nvSpPr>
        <p:spPr>
          <a:xfrm>
            <a:off x="731520" y="5093208"/>
            <a:ext cx="3154680" cy="457200"/>
          </a:xfrm>
          <a:prstGeom prst="rect">
            <a:avLst/>
          </a:prstGeom>
          <a:noFill/>
          <a:ln/>
        </p:spPr>
        <p:txBody>
          <a:bodyPr wrap="square" lIns="0" tIns="0" rIns="0" bIns="0" rtlCol="0" anchor="ctr"/>
          <a:lstStyle/>
          <a:p>
            <a:pPr marL="0" indent="0">
              <a:buNone/>
            </a:pPr>
            <a:r>
              <a:rPr lang="en-US" sz="1500" b="1" dirty="0">
                <a:solidFill>
                  <a:srgbClr val="B8860B"/>
                </a:solidFill>
                <a:latin typeface="Calibri" pitchFamily="34" charset="0"/>
                <a:ea typeface="Calibri" pitchFamily="34" charset="-122"/>
                <a:cs typeface="Calibri" pitchFamily="34" charset="-120"/>
              </a:rPr>
              <a:t>≈ 6.2×</a:t>
            </a:r>
            <a:endParaRPr lang="en-US" sz="1500" dirty="0"/>
          </a:p>
        </p:txBody>
      </p:sp>
      <p:sp>
        <p:nvSpPr>
          <p:cNvPr id="32" name="Shape 25"/>
          <p:cNvSpPr/>
          <p:nvPr/>
        </p:nvSpPr>
        <p:spPr>
          <a:xfrm>
            <a:off x="4315968" y="3675888"/>
            <a:ext cx="3611880" cy="2057400"/>
          </a:xfrm>
          <a:prstGeom prst="roundRect">
            <a:avLst>
              <a:gd name="adj" fmla="val 3556"/>
            </a:avLst>
          </a:prstGeom>
          <a:solidFill>
            <a:srgbClr val="EAF6EF"/>
          </a:solidFill>
          <a:ln/>
          <a:effectLst>
            <a:outerShdw blurRad="76200" dist="25400" dir="5400000" algn="bl" rotWithShape="0">
              <a:srgbClr val="000000">
                <a:alpha val="8000"/>
              </a:srgbClr>
            </a:outerShdw>
          </a:effectLst>
        </p:spPr>
      </p:sp>
      <p:sp>
        <p:nvSpPr>
          <p:cNvPr id="33" name="Shape 26"/>
          <p:cNvSpPr/>
          <p:nvPr/>
        </p:nvSpPr>
        <p:spPr>
          <a:xfrm>
            <a:off x="4544568" y="3904488"/>
            <a:ext cx="566928" cy="566928"/>
          </a:xfrm>
          <a:prstGeom prst="ellipse">
            <a:avLst/>
          </a:prstGeom>
          <a:solidFill>
            <a:srgbClr val="0E5C36"/>
          </a:solidFill>
          <a:ln/>
        </p:spPr>
      </p:sp>
      <p:pic>
        <p:nvPicPr>
          <p:cNvPr id="34" name="Image 5" descr="preencoded.png"/>
          <p:cNvPicPr>
            <a:picLocks noChangeAspect="1"/>
          </p:cNvPicPr>
          <p:nvPr/>
        </p:nvPicPr>
        <p:blipFill>
          <a:blip r:embed="rId7"/>
          <a:stretch>
            <a:fillRect/>
          </a:stretch>
        </p:blipFill>
        <p:spPr>
          <a:xfrm>
            <a:off x="4618269" y="3978189"/>
            <a:ext cx="419527" cy="419527"/>
          </a:xfrm>
          <a:prstGeom prst="rect">
            <a:avLst/>
          </a:prstGeom>
        </p:spPr>
      </p:pic>
      <p:sp>
        <p:nvSpPr>
          <p:cNvPr id="35" name="Text 27"/>
          <p:cNvSpPr/>
          <p:nvPr/>
        </p:nvSpPr>
        <p:spPr>
          <a:xfrm>
            <a:off x="5276088" y="3877056"/>
            <a:ext cx="2468880" cy="548640"/>
          </a:xfrm>
          <a:prstGeom prst="rect">
            <a:avLst/>
          </a:prstGeom>
          <a:noFill/>
          <a:ln/>
        </p:spPr>
        <p:txBody>
          <a:bodyPr wrap="square" lIns="0" tIns="0" rIns="0" bIns="0" rtlCol="0" anchor="t"/>
          <a:lstStyle/>
          <a:p>
            <a:pPr marL="0" indent="0">
              <a:buNone/>
            </a:pPr>
            <a:r>
              <a:rPr lang="en-US" sz="1300" b="1" dirty="0">
                <a:solidFill>
                  <a:srgbClr val="1F2A24"/>
                </a:solidFill>
                <a:latin typeface="Cambria" pitchFamily="34" charset="0"/>
                <a:ea typeface="Cambria" pitchFamily="34" charset="-122"/>
                <a:cs typeface="Cambria" pitchFamily="34" charset="-120"/>
              </a:rPr>
              <a:t>Current Ratio</a:t>
            </a:r>
            <a:endParaRPr lang="en-US" sz="1300" dirty="0"/>
          </a:p>
        </p:txBody>
      </p:sp>
      <p:sp>
        <p:nvSpPr>
          <p:cNvPr id="36" name="Text 28"/>
          <p:cNvSpPr/>
          <p:nvPr/>
        </p:nvSpPr>
        <p:spPr>
          <a:xfrm>
            <a:off x="4544568" y="4590288"/>
            <a:ext cx="3154680" cy="457200"/>
          </a:xfrm>
          <a:prstGeom prst="rect">
            <a:avLst/>
          </a:prstGeom>
          <a:noFill/>
          <a:ln/>
        </p:spPr>
        <p:txBody>
          <a:bodyPr wrap="square" lIns="0" tIns="0" rIns="0" bIns="0" rtlCol="0" anchor="ctr"/>
          <a:lstStyle/>
          <a:p>
            <a:pPr marL="0" indent="0">
              <a:buNone/>
            </a:pPr>
            <a:r>
              <a:rPr lang="en-US" sz="980" dirty="0">
                <a:solidFill>
                  <a:srgbClr val="1B7A43"/>
                </a:solidFill>
                <a:latin typeface="Courier New" pitchFamily="34" charset="0"/>
                <a:ea typeface="Courier New" pitchFamily="34" charset="-122"/>
                <a:cs typeface="Courier New" pitchFamily="34" charset="-120"/>
              </a:rPr>
              <a:t>=Current Assets / Liabilities</a:t>
            </a:r>
            <a:endParaRPr lang="en-US" sz="980" dirty="0"/>
          </a:p>
        </p:txBody>
      </p:sp>
      <p:sp>
        <p:nvSpPr>
          <p:cNvPr id="37" name="Text 29"/>
          <p:cNvSpPr/>
          <p:nvPr/>
        </p:nvSpPr>
        <p:spPr>
          <a:xfrm>
            <a:off x="4544568" y="5093208"/>
            <a:ext cx="3154680" cy="457200"/>
          </a:xfrm>
          <a:prstGeom prst="rect">
            <a:avLst/>
          </a:prstGeom>
          <a:noFill/>
          <a:ln/>
        </p:spPr>
        <p:txBody>
          <a:bodyPr wrap="square" lIns="0" tIns="0" rIns="0" bIns="0" rtlCol="0" anchor="ctr"/>
          <a:lstStyle/>
          <a:p>
            <a:pPr marL="0" indent="0">
              <a:buNone/>
            </a:pPr>
            <a:r>
              <a:rPr lang="en-US" sz="1500" b="1" dirty="0">
                <a:solidFill>
                  <a:srgbClr val="B8860B"/>
                </a:solidFill>
                <a:latin typeface="Calibri" pitchFamily="34" charset="0"/>
                <a:ea typeface="Calibri" pitchFamily="34" charset="-122"/>
                <a:cs typeface="Calibri" pitchFamily="34" charset="-120"/>
              </a:rPr>
              <a:t>≈ 1.8</a:t>
            </a:r>
            <a:endParaRPr lang="en-US" sz="1500" dirty="0"/>
          </a:p>
        </p:txBody>
      </p:sp>
      <p:sp>
        <p:nvSpPr>
          <p:cNvPr id="38" name="Shape 30"/>
          <p:cNvSpPr/>
          <p:nvPr/>
        </p:nvSpPr>
        <p:spPr>
          <a:xfrm>
            <a:off x="8129016" y="3675888"/>
            <a:ext cx="3611880" cy="2057400"/>
          </a:xfrm>
          <a:prstGeom prst="roundRect">
            <a:avLst>
              <a:gd name="adj" fmla="val 3556"/>
            </a:avLst>
          </a:prstGeom>
          <a:solidFill>
            <a:srgbClr val="EAF6EF"/>
          </a:solidFill>
          <a:ln/>
          <a:effectLst>
            <a:outerShdw blurRad="76200" dist="25400" dir="5400000" algn="bl" rotWithShape="0">
              <a:srgbClr val="000000">
                <a:alpha val="8000"/>
              </a:srgbClr>
            </a:outerShdw>
          </a:effectLst>
        </p:spPr>
      </p:sp>
      <p:sp>
        <p:nvSpPr>
          <p:cNvPr id="39" name="Shape 31"/>
          <p:cNvSpPr/>
          <p:nvPr/>
        </p:nvSpPr>
        <p:spPr>
          <a:xfrm>
            <a:off x="8357616" y="3904488"/>
            <a:ext cx="566928" cy="566928"/>
          </a:xfrm>
          <a:prstGeom prst="ellipse">
            <a:avLst/>
          </a:prstGeom>
          <a:solidFill>
            <a:srgbClr val="0E5C36"/>
          </a:solidFill>
          <a:ln/>
        </p:spPr>
      </p:sp>
      <p:pic>
        <p:nvPicPr>
          <p:cNvPr id="40" name="Image 6" descr="preencoded.png"/>
          <p:cNvPicPr>
            <a:picLocks noChangeAspect="1"/>
          </p:cNvPicPr>
          <p:nvPr/>
        </p:nvPicPr>
        <p:blipFill>
          <a:blip r:embed="rId8"/>
          <a:stretch>
            <a:fillRect/>
          </a:stretch>
        </p:blipFill>
        <p:spPr>
          <a:xfrm>
            <a:off x="8431317" y="3978189"/>
            <a:ext cx="419527" cy="419527"/>
          </a:xfrm>
          <a:prstGeom prst="rect">
            <a:avLst/>
          </a:prstGeom>
        </p:spPr>
      </p:pic>
      <p:sp>
        <p:nvSpPr>
          <p:cNvPr id="41" name="Text 32"/>
          <p:cNvSpPr/>
          <p:nvPr/>
        </p:nvSpPr>
        <p:spPr>
          <a:xfrm>
            <a:off x="9089136" y="3877056"/>
            <a:ext cx="2468880" cy="548640"/>
          </a:xfrm>
          <a:prstGeom prst="rect">
            <a:avLst/>
          </a:prstGeom>
          <a:noFill/>
          <a:ln/>
        </p:spPr>
        <p:txBody>
          <a:bodyPr wrap="square" lIns="0" tIns="0" rIns="0" bIns="0" rtlCol="0" anchor="t"/>
          <a:lstStyle/>
          <a:p>
            <a:pPr marL="0" indent="0">
              <a:buNone/>
            </a:pPr>
            <a:r>
              <a:rPr lang="en-US" sz="1300" b="1" dirty="0">
                <a:solidFill>
                  <a:srgbClr val="1F2A24"/>
                </a:solidFill>
                <a:latin typeface="Cambria" pitchFamily="34" charset="0"/>
                <a:ea typeface="Cambria" pitchFamily="34" charset="-122"/>
                <a:cs typeface="Cambria" pitchFamily="34" charset="-120"/>
              </a:rPr>
              <a:t>Revenue per Employee</a:t>
            </a:r>
            <a:endParaRPr lang="en-US" sz="1300" dirty="0"/>
          </a:p>
        </p:txBody>
      </p:sp>
      <p:sp>
        <p:nvSpPr>
          <p:cNvPr id="42" name="Text 33"/>
          <p:cNvSpPr/>
          <p:nvPr/>
        </p:nvSpPr>
        <p:spPr>
          <a:xfrm>
            <a:off x="8357616" y="4590288"/>
            <a:ext cx="3154680" cy="457200"/>
          </a:xfrm>
          <a:prstGeom prst="rect">
            <a:avLst/>
          </a:prstGeom>
          <a:noFill/>
          <a:ln/>
        </p:spPr>
        <p:txBody>
          <a:bodyPr wrap="square" lIns="0" tIns="0" rIns="0" bIns="0" rtlCol="0" anchor="ctr"/>
          <a:lstStyle/>
          <a:p>
            <a:pPr marL="0" indent="0">
              <a:buNone/>
            </a:pPr>
            <a:r>
              <a:rPr lang="en-US" sz="980" dirty="0">
                <a:solidFill>
                  <a:srgbClr val="1B7A43"/>
                </a:solidFill>
                <a:latin typeface="Courier New" pitchFamily="34" charset="0"/>
                <a:ea typeface="Courier New" pitchFamily="34" charset="-122"/>
                <a:cs typeface="Courier New" pitchFamily="34" charset="-120"/>
              </a:rPr>
              <a:t>=Total Revenue / Employees</a:t>
            </a:r>
            <a:endParaRPr lang="en-US" sz="980" dirty="0"/>
          </a:p>
        </p:txBody>
      </p:sp>
      <p:sp>
        <p:nvSpPr>
          <p:cNvPr id="43" name="Text 34"/>
          <p:cNvSpPr/>
          <p:nvPr/>
        </p:nvSpPr>
        <p:spPr>
          <a:xfrm>
            <a:off x="8357616" y="5093208"/>
            <a:ext cx="3154680" cy="457200"/>
          </a:xfrm>
          <a:prstGeom prst="rect">
            <a:avLst/>
          </a:prstGeom>
          <a:noFill/>
          <a:ln/>
        </p:spPr>
        <p:txBody>
          <a:bodyPr wrap="square" lIns="0" tIns="0" rIns="0" bIns="0" rtlCol="0" anchor="ctr"/>
          <a:lstStyle/>
          <a:p>
            <a:pPr marL="0" indent="0">
              <a:buNone/>
            </a:pPr>
            <a:r>
              <a:rPr lang="en-US" sz="1500" b="1" dirty="0">
                <a:solidFill>
                  <a:srgbClr val="B8860B"/>
                </a:solidFill>
                <a:latin typeface="Calibri" pitchFamily="34" charset="0"/>
                <a:ea typeface="Calibri" pitchFamily="34" charset="-122"/>
                <a:cs typeface="Calibri" pitchFamily="34" charset="-120"/>
              </a:rPr>
              <a:t>≈ ₹12.4 L</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0E5C36"/>
          </a:solidFill>
          <a:ln/>
        </p:spPr>
      </p:sp>
      <p:pic>
        <p:nvPicPr>
          <p:cNvPr id="3" name="Image 0" descr="preencoded.png"/>
          <p:cNvPicPr>
            <a:picLocks noChangeAspect="1"/>
          </p:cNvPicPr>
          <p:nvPr/>
        </p:nvPicPr>
        <p:blipFill>
          <a:blip r:embed="rId3"/>
          <a:stretch>
            <a:fillRect/>
          </a:stretch>
        </p:blipFill>
        <p:spPr>
          <a:xfrm>
            <a:off x="568300" y="522580"/>
            <a:ext cx="372161" cy="372161"/>
          </a:xfrm>
          <a:prstGeom prst="rect">
            <a:avLst/>
          </a:prstGeom>
        </p:spPr>
      </p:pic>
      <p:sp>
        <p:nvSpPr>
          <p:cNvPr id="4" name="Text 1"/>
          <p:cNvSpPr/>
          <p:nvPr/>
        </p:nvSpPr>
        <p:spPr>
          <a:xfrm>
            <a:off x="1143000" y="420624"/>
            <a:ext cx="7315200" cy="274320"/>
          </a:xfrm>
          <a:prstGeom prst="rect">
            <a:avLst/>
          </a:prstGeom>
          <a:noFill/>
          <a:ln/>
        </p:spPr>
        <p:txBody>
          <a:bodyPr wrap="square" lIns="0" tIns="0" rIns="0" bIns="0" rtlCol="0" anchor="ctr"/>
          <a:lstStyle/>
          <a:p>
            <a:pPr marL="0" indent="0">
              <a:buNone/>
            </a:pPr>
            <a:r>
              <a:rPr lang="en-US" sz="1150" b="1" kern="0" spc="200" dirty="0">
                <a:solidFill>
                  <a:srgbClr val="1B7A43"/>
                </a:solidFill>
                <a:latin typeface="Calibri" pitchFamily="34" charset="0"/>
                <a:ea typeface="Calibri" pitchFamily="34" charset="-122"/>
                <a:cs typeface="Calibri" pitchFamily="34" charset="-120"/>
              </a:rPr>
              <a:t>MODULE 3 · OPERATIONS</a:t>
            </a:r>
            <a:endParaRPr lang="en-US" sz="1150" dirty="0"/>
          </a:p>
        </p:txBody>
      </p:sp>
      <p:sp>
        <p:nvSpPr>
          <p:cNvPr id="5" name="Text 2"/>
          <p:cNvSpPr/>
          <p:nvPr/>
        </p:nvSpPr>
        <p:spPr>
          <a:xfrm>
            <a:off x="1143000" y="658368"/>
            <a:ext cx="9875520" cy="502920"/>
          </a:xfrm>
          <a:prstGeom prst="rect">
            <a:avLst/>
          </a:prstGeom>
          <a:noFill/>
          <a:ln/>
        </p:spPr>
        <p:txBody>
          <a:bodyPr wrap="square" lIns="0" tIns="0" rIns="0" bIns="0" rtlCol="0" anchor="ctr"/>
          <a:lstStyle/>
          <a:p>
            <a:pPr marL="0" indent="0">
              <a:buNone/>
            </a:pPr>
            <a:r>
              <a:rPr lang="en-US" sz="2600" b="1" dirty="0">
                <a:solidFill>
                  <a:srgbClr val="1F2A24"/>
                </a:solidFill>
                <a:latin typeface="Cambria" pitchFamily="34" charset="0"/>
                <a:ea typeface="Cambria" pitchFamily="34" charset="-122"/>
                <a:cs typeface="Cambria" pitchFamily="34" charset="-120"/>
              </a:rPr>
              <a:t>Operational Performance Metrics</a:t>
            </a:r>
            <a:endParaRPr lang="en-US" sz="2600" dirty="0"/>
          </a:p>
        </p:txBody>
      </p:sp>
      <p:sp>
        <p:nvSpPr>
          <p:cNvPr id="6" name="Text 3"/>
          <p:cNvSpPr/>
          <p:nvPr/>
        </p:nvSpPr>
        <p:spPr>
          <a:xfrm>
            <a:off x="502920" y="6528816"/>
            <a:ext cx="7315200" cy="256032"/>
          </a:xfrm>
          <a:prstGeom prst="rect">
            <a:avLst/>
          </a:prstGeom>
          <a:noFill/>
          <a:ln/>
        </p:spPr>
        <p:txBody>
          <a:bodyPr wrap="square" lIns="0" tIns="0" rIns="0" bIns="0" rtlCol="0" anchor="ctr"/>
          <a:lstStyle/>
          <a:p>
            <a:pPr marL="0" indent="0">
              <a:buNone/>
            </a:pPr>
            <a:r>
              <a:rPr lang="en-US" sz="850" dirty="0">
                <a:solidFill>
                  <a:srgbClr val="5B6B62"/>
                </a:solidFill>
                <a:latin typeface="Calibri" pitchFamily="34" charset="0"/>
                <a:ea typeface="Calibri" pitchFamily="34" charset="-122"/>
                <a:cs typeface="Calibri" pitchFamily="34" charset="-120"/>
              </a:rPr>
              <a:t>BUSINESS ANALYTICS  •  REVENUE &amp; METRICS FRAMEWORK</a:t>
            </a:r>
            <a:endParaRPr lang="en-US" sz="850" dirty="0"/>
          </a:p>
        </p:txBody>
      </p:sp>
      <p:sp>
        <p:nvSpPr>
          <p:cNvPr id="7" name="Text 4"/>
          <p:cNvSpPr/>
          <p:nvPr/>
        </p:nvSpPr>
        <p:spPr>
          <a:xfrm>
            <a:off x="11228832" y="6528816"/>
            <a:ext cx="457200" cy="256032"/>
          </a:xfrm>
          <a:prstGeom prst="rect">
            <a:avLst/>
          </a:prstGeom>
          <a:noFill/>
          <a:ln/>
        </p:spPr>
        <p:txBody>
          <a:bodyPr wrap="square" lIns="0" tIns="0" rIns="0" bIns="0" rtlCol="0" anchor="ctr"/>
          <a:lstStyle/>
          <a:p>
            <a:pPr marL="0" indent="0" algn="r">
              <a:buNone/>
            </a:pPr>
            <a:r>
              <a:rPr lang="en-US" sz="850" dirty="0">
                <a:solidFill>
                  <a:srgbClr val="5B6B62"/>
                </a:solidFill>
                <a:latin typeface="Calibri" pitchFamily="34" charset="0"/>
                <a:ea typeface="Calibri" pitchFamily="34" charset="-122"/>
                <a:cs typeface="Calibri" pitchFamily="34" charset="-120"/>
              </a:rPr>
              <a:t>10</a:t>
            </a:r>
            <a:endParaRPr lang="en-US" sz="850" dirty="0"/>
          </a:p>
        </p:txBody>
      </p:sp>
      <p:sp>
        <p:nvSpPr>
          <p:cNvPr id="8" name="Text 5"/>
          <p:cNvSpPr/>
          <p:nvPr/>
        </p:nvSpPr>
        <p:spPr>
          <a:xfrm>
            <a:off x="502920" y="1371600"/>
            <a:ext cx="5486400" cy="274320"/>
          </a:xfrm>
          <a:prstGeom prst="rect">
            <a:avLst/>
          </a:prstGeom>
          <a:noFill/>
          <a:ln/>
        </p:spPr>
        <p:txBody>
          <a:bodyPr wrap="square" lIns="0" tIns="0" rIns="0" bIns="0" rtlCol="0" anchor="ctr"/>
          <a:lstStyle/>
          <a:p>
            <a:pPr marL="0" indent="0">
              <a:buNone/>
            </a:pPr>
            <a:r>
              <a:rPr lang="en-US" sz="1250" b="1" dirty="0">
                <a:solidFill>
                  <a:srgbClr val="1F2A24"/>
                </a:solidFill>
                <a:latin typeface="Calibri" pitchFamily="34" charset="0"/>
                <a:ea typeface="Calibri" pitchFamily="34" charset="-122"/>
                <a:cs typeface="Calibri" pitchFamily="34" charset="-120"/>
              </a:rPr>
              <a:t>Quarterly ROI Trend (Illustrative)</a:t>
            </a:r>
            <a:endParaRPr lang="en-US" sz="1250" dirty="0"/>
          </a:p>
        </p:txBody>
      </p:sp>
      <p:graphicFrame>
        <p:nvGraphicFramePr>
          <p:cNvPr id="9" name="Chart 0"/>
          <p:cNvGraphicFramePr/>
          <p:nvPr/>
        </p:nvGraphicFramePr>
        <p:xfrm>
          <a:off x="365760" y="1691640"/>
          <a:ext cx="630936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p:nvPr/>
        </p:nvSpPr>
        <p:spPr>
          <a:xfrm>
            <a:off x="502920" y="4526280"/>
            <a:ext cx="6126480" cy="594360"/>
          </a:xfrm>
          <a:prstGeom prst="rect">
            <a:avLst/>
          </a:prstGeom>
          <a:noFill/>
          <a:ln/>
        </p:spPr>
        <p:txBody>
          <a:bodyPr wrap="square" lIns="0" tIns="0" rIns="0" bIns="0" rtlCol="0" anchor="ctr"/>
          <a:lstStyle/>
          <a:p>
            <a:pPr marL="0" indent="0">
              <a:buNone/>
            </a:pPr>
            <a:r>
              <a:rPr lang="en-US" sz="1050" i="1" dirty="0">
                <a:solidFill>
                  <a:srgbClr val="5B6B62"/>
                </a:solidFill>
                <a:latin typeface="Calibri" pitchFamily="34" charset="0"/>
                <a:ea typeface="Calibri" pitchFamily="34" charset="-122"/>
                <a:cs typeface="Calibri" pitchFamily="34" charset="-120"/>
              </a:rPr>
              <a:t>ROI has climbed each quarter as operating efficiency and pricing discipline compound — a trend worth protecting as volume scales.</a:t>
            </a:r>
            <a:endParaRPr lang="en-US" sz="1050" dirty="0"/>
          </a:p>
        </p:txBody>
      </p:sp>
      <p:sp>
        <p:nvSpPr>
          <p:cNvPr id="11" name="Shape 7"/>
          <p:cNvSpPr/>
          <p:nvPr/>
        </p:nvSpPr>
        <p:spPr>
          <a:xfrm>
            <a:off x="502920" y="5349240"/>
            <a:ext cx="502920" cy="502920"/>
          </a:xfrm>
          <a:prstGeom prst="ellipse">
            <a:avLst/>
          </a:prstGeom>
          <a:solidFill>
            <a:srgbClr val="5FA779"/>
          </a:solidFill>
          <a:ln/>
        </p:spPr>
      </p:sp>
      <p:pic>
        <p:nvPicPr>
          <p:cNvPr id="12" name="Image 1" descr="preencoded.png"/>
          <p:cNvPicPr>
            <a:picLocks noChangeAspect="1"/>
          </p:cNvPicPr>
          <p:nvPr/>
        </p:nvPicPr>
        <p:blipFill>
          <a:blip r:embed="rId5"/>
          <a:stretch>
            <a:fillRect/>
          </a:stretch>
        </p:blipFill>
        <p:spPr>
          <a:xfrm>
            <a:off x="568300" y="5414620"/>
            <a:ext cx="372161" cy="372161"/>
          </a:xfrm>
          <a:prstGeom prst="rect">
            <a:avLst/>
          </a:prstGeom>
        </p:spPr>
      </p:pic>
      <p:sp>
        <p:nvSpPr>
          <p:cNvPr id="13" name="Text 8"/>
          <p:cNvSpPr/>
          <p:nvPr/>
        </p:nvSpPr>
        <p:spPr>
          <a:xfrm>
            <a:off x="1124712" y="5358384"/>
            <a:ext cx="1417320" cy="274320"/>
          </a:xfrm>
          <a:prstGeom prst="rect">
            <a:avLst/>
          </a:prstGeom>
          <a:noFill/>
          <a:ln/>
        </p:spPr>
        <p:txBody>
          <a:bodyPr wrap="square" lIns="0" tIns="0" rIns="0" bIns="0" rtlCol="0" anchor="ctr"/>
          <a:lstStyle/>
          <a:p>
            <a:pPr marL="0" indent="0">
              <a:buNone/>
            </a:pPr>
            <a:r>
              <a:rPr lang="en-US" sz="1150" b="1" dirty="0">
                <a:solidFill>
                  <a:srgbClr val="1F2A24"/>
                </a:solidFill>
                <a:latin typeface="Calibri" pitchFamily="34" charset="0"/>
                <a:ea typeface="Calibri" pitchFamily="34" charset="-122"/>
                <a:cs typeface="Calibri" pitchFamily="34" charset="-120"/>
              </a:rPr>
              <a:t>Liquidity</a:t>
            </a:r>
            <a:endParaRPr lang="en-US" sz="1150" dirty="0"/>
          </a:p>
        </p:txBody>
      </p:sp>
      <p:sp>
        <p:nvSpPr>
          <p:cNvPr id="14" name="Text 9"/>
          <p:cNvSpPr/>
          <p:nvPr/>
        </p:nvSpPr>
        <p:spPr>
          <a:xfrm>
            <a:off x="1124712" y="5614416"/>
            <a:ext cx="1417320" cy="256032"/>
          </a:xfrm>
          <a:prstGeom prst="rect">
            <a:avLst/>
          </a:prstGeom>
          <a:noFill/>
          <a:ln/>
        </p:spPr>
        <p:txBody>
          <a:bodyPr wrap="square" lIns="0" tIns="0" rIns="0" bIns="0" rtlCol="0" anchor="ctr"/>
          <a:lstStyle/>
          <a:p>
            <a:pPr marL="0" indent="0">
              <a:buNone/>
            </a:pPr>
            <a:r>
              <a:rPr lang="en-US" sz="950" dirty="0">
                <a:solidFill>
                  <a:srgbClr val="5B6B62"/>
                </a:solidFill>
                <a:latin typeface="Calibri" pitchFamily="34" charset="0"/>
                <a:ea typeface="Calibri" pitchFamily="34" charset="-122"/>
                <a:cs typeface="Calibri" pitchFamily="34" charset="-120"/>
              </a:rPr>
              <a:t>Current ratio</a:t>
            </a:r>
            <a:endParaRPr lang="en-US" sz="950" dirty="0"/>
          </a:p>
        </p:txBody>
      </p:sp>
      <p:sp>
        <p:nvSpPr>
          <p:cNvPr id="15" name="Shape 10"/>
          <p:cNvSpPr/>
          <p:nvPr/>
        </p:nvSpPr>
        <p:spPr>
          <a:xfrm>
            <a:off x="2743200" y="5349240"/>
            <a:ext cx="502920" cy="502920"/>
          </a:xfrm>
          <a:prstGeom prst="ellipse">
            <a:avLst/>
          </a:prstGeom>
          <a:solidFill>
            <a:srgbClr val="5FA779"/>
          </a:solidFill>
          <a:ln/>
        </p:spPr>
      </p:sp>
      <p:pic>
        <p:nvPicPr>
          <p:cNvPr id="16" name="Image 2" descr="preencoded.png"/>
          <p:cNvPicPr>
            <a:picLocks noChangeAspect="1"/>
          </p:cNvPicPr>
          <p:nvPr/>
        </p:nvPicPr>
        <p:blipFill>
          <a:blip r:embed="rId6"/>
          <a:stretch>
            <a:fillRect/>
          </a:stretch>
        </p:blipFill>
        <p:spPr>
          <a:xfrm>
            <a:off x="2808580" y="5414620"/>
            <a:ext cx="372161" cy="372161"/>
          </a:xfrm>
          <a:prstGeom prst="rect">
            <a:avLst/>
          </a:prstGeom>
        </p:spPr>
      </p:pic>
      <p:sp>
        <p:nvSpPr>
          <p:cNvPr id="17" name="Text 11"/>
          <p:cNvSpPr/>
          <p:nvPr/>
        </p:nvSpPr>
        <p:spPr>
          <a:xfrm>
            <a:off x="3364992" y="5358384"/>
            <a:ext cx="1417320" cy="274320"/>
          </a:xfrm>
          <a:prstGeom prst="rect">
            <a:avLst/>
          </a:prstGeom>
          <a:noFill/>
          <a:ln/>
        </p:spPr>
        <p:txBody>
          <a:bodyPr wrap="square" lIns="0" tIns="0" rIns="0" bIns="0" rtlCol="0" anchor="ctr"/>
          <a:lstStyle/>
          <a:p>
            <a:pPr marL="0" indent="0">
              <a:buNone/>
            </a:pPr>
            <a:r>
              <a:rPr lang="en-US" sz="1150" b="1" dirty="0">
                <a:solidFill>
                  <a:srgbClr val="1F2A24"/>
                </a:solidFill>
                <a:latin typeface="Calibri" pitchFamily="34" charset="0"/>
                <a:ea typeface="Calibri" pitchFamily="34" charset="-122"/>
                <a:cs typeface="Calibri" pitchFamily="34" charset="-120"/>
              </a:rPr>
              <a:t>Efficiency</a:t>
            </a:r>
            <a:endParaRPr lang="en-US" sz="1150" dirty="0"/>
          </a:p>
        </p:txBody>
      </p:sp>
      <p:sp>
        <p:nvSpPr>
          <p:cNvPr id="18" name="Text 12"/>
          <p:cNvSpPr/>
          <p:nvPr/>
        </p:nvSpPr>
        <p:spPr>
          <a:xfrm>
            <a:off x="3364992" y="5614416"/>
            <a:ext cx="1417320" cy="256032"/>
          </a:xfrm>
          <a:prstGeom prst="rect">
            <a:avLst/>
          </a:prstGeom>
          <a:noFill/>
          <a:ln/>
        </p:spPr>
        <p:txBody>
          <a:bodyPr wrap="square" lIns="0" tIns="0" rIns="0" bIns="0" rtlCol="0" anchor="ctr"/>
          <a:lstStyle/>
          <a:p>
            <a:pPr marL="0" indent="0">
              <a:buNone/>
            </a:pPr>
            <a:r>
              <a:rPr lang="en-US" sz="950" dirty="0">
                <a:solidFill>
                  <a:srgbClr val="5B6B62"/>
                </a:solidFill>
                <a:latin typeface="Calibri" pitchFamily="34" charset="0"/>
                <a:ea typeface="Calibri" pitchFamily="34" charset="-122"/>
                <a:cs typeface="Calibri" pitchFamily="34" charset="-120"/>
              </a:rPr>
              <a:t>Inventory turns</a:t>
            </a:r>
            <a:endParaRPr lang="en-US" sz="950" dirty="0"/>
          </a:p>
        </p:txBody>
      </p:sp>
      <p:sp>
        <p:nvSpPr>
          <p:cNvPr id="19" name="Shape 13"/>
          <p:cNvSpPr/>
          <p:nvPr/>
        </p:nvSpPr>
        <p:spPr>
          <a:xfrm>
            <a:off x="4983480" y="5349240"/>
            <a:ext cx="502920" cy="502920"/>
          </a:xfrm>
          <a:prstGeom prst="ellipse">
            <a:avLst/>
          </a:prstGeom>
          <a:solidFill>
            <a:srgbClr val="5FA779"/>
          </a:solidFill>
          <a:ln/>
        </p:spPr>
      </p:sp>
      <p:pic>
        <p:nvPicPr>
          <p:cNvPr id="20" name="Image 3" descr="preencoded.png"/>
          <p:cNvPicPr>
            <a:picLocks noChangeAspect="1"/>
          </p:cNvPicPr>
          <p:nvPr/>
        </p:nvPicPr>
        <p:blipFill>
          <a:blip r:embed="rId7"/>
          <a:stretch>
            <a:fillRect/>
          </a:stretch>
        </p:blipFill>
        <p:spPr>
          <a:xfrm>
            <a:off x="5048860" y="5414620"/>
            <a:ext cx="372161" cy="372161"/>
          </a:xfrm>
          <a:prstGeom prst="rect">
            <a:avLst/>
          </a:prstGeom>
        </p:spPr>
      </p:pic>
      <p:sp>
        <p:nvSpPr>
          <p:cNvPr id="21" name="Text 14"/>
          <p:cNvSpPr/>
          <p:nvPr/>
        </p:nvSpPr>
        <p:spPr>
          <a:xfrm>
            <a:off x="5605272" y="5358384"/>
            <a:ext cx="1417320" cy="274320"/>
          </a:xfrm>
          <a:prstGeom prst="rect">
            <a:avLst/>
          </a:prstGeom>
          <a:noFill/>
          <a:ln/>
        </p:spPr>
        <p:txBody>
          <a:bodyPr wrap="square" lIns="0" tIns="0" rIns="0" bIns="0" rtlCol="0" anchor="ctr"/>
          <a:lstStyle/>
          <a:p>
            <a:pPr marL="0" indent="0">
              <a:buNone/>
            </a:pPr>
            <a:r>
              <a:rPr lang="en-US" sz="1150" b="1" dirty="0">
                <a:solidFill>
                  <a:srgbClr val="1F2A24"/>
                </a:solidFill>
                <a:latin typeface="Calibri" pitchFamily="34" charset="0"/>
                <a:ea typeface="Calibri" pitchFamily="34" charset="-122"/>
                <a:cs typeface="Calibri" pitchFamily="34" charset="-120"/>
              </a:rPr>
              <a:t>Productivity</a:t>
            </a:r>
            <a:endParaRPr lang="en-US" sz="1150" dirty="0"/>
          </a:p>
        </p:txBody>
      </p:sp>
      <p:sp>
        <p:nvSpPr>
          <p:cNvPr id="22" name="Text 15"/>
          <p:cNvSpPr/>
          <p:nvPr/>
        </p:nvSpPr>
        <p:spPr>
          <a:xfrm>
            <a:off x="5605272" y="5614416"/>
            <a:ext cx="1417320" cy="256032"/>
          </a:xfrm>
          <a:prstGeom prst="rect">
            <a:avLst/>
          </a:prstGeom>
          <a:noFill/>
          <a:ln/>
        </p:spPr>
        <p:txBody>
          <a:bodyPr wrap="square" lIns="0" tIns="0" rIns="0" bIns="0" rtlCol="0" anchor="ctr"/>
          <a:lstStyle/>
          <a:p>
            <a:pPr marL="0" indent="0">
              <a:buNone/>
            </a:pPr>
            <a:r>
              <a:rPr lang="en-US" sz="950" dirty="0">
                <a:solidFill>
                  <a:srgbClr val="5B6B62"/>
                </a:solidFill>
                <a:latin typeface="Calibri" pitchFamily="34" charset="0"/>
                <a:ea typeface="Calibri" pitchFamily="34" charset="-122"/>
                <a:cs typeface="Calibri" pitchFamily="34" charset="-120"/>
              </a:rPr>
              <a:t>Revenue / head</a:t>
            </a:r>
            <a:endParaRPr lang="en-US" sz="950" dirty="0"/>
          </a:p>
        </p:txBody>
      </p:sp>
      <p:sp>
        <p:nvSpPr>
          <p:cNvPr id="23" name="Shape 16"/>
          <p:cNvSpPr/>
          <p:nvPr/>
        </p:nvSpPr>
        <p:spPr>
          <a:xfrm>
            <a:off x="6949440" y="1371600"/>
            <a:ext cx="4754880" cy="3749040"/>
          </a:xfrm>
          <a:prstGeom prst="roundRect">
            <a:avLst>
              <a:gd name="adj" fmla="val 1951"/>
            </a:avLst>
          </a:prstGeom>
          <a:solidFill>
            <a:srgbClr val="F4FAF6"/>
          </a:solidFill>
          <a:ln/>
          <a:effectLst>
            <a:outerShdw blurRad="76200" dist="25400" dir="5400000" algn="bl" rotWithShape="0">
              <a:srgbClr val="000000">
                <a:alpha val="8000"/>
              </a:srgbClr>
            </a:outerShdw>
          </a:effectLst>
        </p:spPr>
      </p:sp>
      <p:sp>
        <p:nvSpPr>
          <p:cNvPr id="24" name="Text 17"/>
          <p:cNvSpPr/>
          <p:nvPr/>
        </p:nvSpPr>
        <p:spPr>
          <a:xfrm>
            <a:off x="7178040" y="1508760"/>
            <a:ext cx="4114800" cy="274320"/>
          </a:xfrm>
          <a:prstGeom prst="rect">
            <a:avLst/>
          </a:prstGeom>
          <a:noFill/>
          <a:ln/>
        </p:spPr>
        <p:txBody>
          <a:bodyPr wrap="square" lIns="0" tIns="0" rIns="0" bIns="0" rtlCol="0" anchor="ctr"/>
          <a:lstStyle/>
          <a:p>
            <a:pPr marL="0" indent="0">
              <a:buNone/>
            </a:pPr>
            <a:r>
              <a:rPr lang="en-US" sz="1400" b="1" dirty="0">
                <a:solidFill>
                  <a:srgbClr val="1F2A24"/>
                </a:solidFill>
                <a:latin typeface="Cambria" pitchFamily="34" charset="0"/>
                <a:ea typeface="Cambria" pitchFamily="34" charset="-122"/>
                <a:cs typeface="Cambria" pitchFamily="34" charset="-120"/>
              </a:rPr>
              <a:t>Operational Scorecard</a:t>
            </a:r>
            <a:endParaRPr lang="en-US" sz="1400" dirty="0"/>
          </a:p>
        </p:txBody>
      </p:sp>
      <p:sp>
        <p:nvSpPr>
          <p:cNvPr id="25" name="Text 18"/>
          <p:cNvSpPr/>
          <p:nvPr/>
        </p:nvSpPr>
        <p:spPr>
          <a:xfrm>
            <a:off x="7178040" y="1920240"/>
            <a:ext cx="1920240" cy="457200"/>
          </a:xfrm>
          <a:prstGeom prst="rect">
            <a:avLst/>
          </a:prstGeom>
          <a:noFill/>
          <a:ln/>
        </p:spPr>
        <p:txBody>
          <a:bodyPr wrap="square" lIns="0" tIns="0" rIns="0" bIns="0" rtlCol="0" anchor="ctr"/>
          <a:lstStyle/>
          <a:p>
            <a:pPr marL="0" indent="0">
              <a:buNone/>
            </a:pPr>
            <a:r>
              <a:rPr lang="en-US" sz="1150" dirty="0">
                <a:solidFill>
                  <a:srgbClr val="1F2A24"/>
                </a:solidFill>
                <a:latin typeface="Calibri" pitchFamily="34" charset="0"/>
                <a:ea typeface="Calibri" pitchFamily="34" charset="-122"/>
                <a:cs typeface="Calibri" pitchFamily="34" charset="-120"/>
              </a:rPr>
              <a:t>Inventory Turnover</a:t>
            </a:r>
            <a:endParaRPr lang="en-US" sz="1150" dirty="0"/>
          </a:p>
        </p:txBody>
      </p:sp>
      <p:sp>
        <p:nvSpPr>
          <p:cNvPr id="26" name="Text 19"/>
          <p:cNvSpPr/>
          <p:nvPr/>
        </p:nvSpPr>
        <p:spPr>
          <a:xfrm>
            <a:off x="9144000" y="1920240"/>
            <a:ext cx="1005840" cy="457200"/>
          </a:xfrm>
          <a:prstGeom prst="rect">
            <a:avLst/>
          </a:prstGeom>
          <a:noFill/>
          <a:ln/>
        </p:spPr>
        <p:txBody>
          <a:bodyPr wrap="square" lIns="0" tIns="0" rIns="0" bIns="0" rtlCol="0" anchor="ctr"/>
          <a:lstStyle/>
          <a:p>
            <a:pPr marL="0" indent="0" algn="r">
              <a:buNone/>
            </a:pPr>
            <a:r>
              <a:rPr lang="en-US" sz="1250" b="1" dirty="0">
                <a:solidFill>
                  <a:srgbClr val="0E5C36"/>
                </a:solidFill>
                <a:latin typeface="Calibri" pitchFamily="34" charset="0"/>
                <a:ea typeface="Calibri" pitchFamily="34" charset="-122"/>
                <a:cs typeface="Calibri" pitchFamily="34" charset="-120"/>
              </a:rPr>
              <a:t>6.2×</a:t>
            </a:r>
            <a:endParaRPr lang="en-US" sz="1250" dirty="0"/>
          </a:p>
        </p:txBody>
      </p:sp>
      <p:sp>
        <p:nvSpPr>
          <p:cNvPr id="27" name="Shape 20"/>
          <p:cNvSpPr/>
          <p:nvPr/>
        </p:nvSpPr>
        <p:spPr>
          <a:xfrm>
            <a:off x="10287000" y="2039112"/>
            <a:ext cx="146304" cy="146304"/>
          </a:xfrm>
          <a:prstGeom prst="ellipse">
            <a:avLst/>
          </a:prstGeom>
          <a:solidFill>
            <a:srgbClr val="1B7A43"/>
          </a:solidFill>
          <a:ln/>
        </p:spPr>
      </p:sp>
      <p:sp>
        <p:nvSpPr>
          <p:cNvPr id="28" name="Text 21"/>
          <p:cNvSpPr/>
          <p:nvPr/>
        </p:nvSpPr>
        <p:spPr>
          <a:xfrm>
            <a:off x="10515600" y="1920240"/>
            <a:ext cx="1097280" cy="457200"/>
          </a:xfrm>
          <a:prstGeom prst="rect">
            <a:avLst/>
          </a:prstGeom>
          <a:noFill/>
          <a:ln/>
        </p:spPr>
        <p:txBody>
          <a:bodyPr wrap="square" lIns="0" tIns="0" rIns="0" bIns="0" rtlCol="0" anchor="ctr"/>
          <a:lstStyle/>
          <a:p>
            <a:pPr marL="0" indent="0">
              <a:buNone/>
            </a:pPr>
            <a:r>
              <a:rPr lang="en-US" sz="1000" dirty="0">
                <a:solidFill>
                  <a:srgbClr val="5B6B62"/>
                </a:solidFill>
                <a:latin typeface="Calibri" pitchFamily="34" charset="0"/>
                <a:ea typeface="Calibri" pitchFamily="34" charset="-122"/>
                <a:cs typeface="Calibri" pitchFamily="34" charset="-120"/>
              </a:rPr>
              <a:t>Healthy</a:t>
            </a:r>
            <a:endParaRPr lang="en-US" sz="1000" dirty="0"/>
          </a:p>
        </p:txBody>
      </p:sp>
      <p:sp>
        <p:nvSpPr>
          <p:cNvPr id="29" name="Shape 22"/>
          <p:cNvSpPr/>
          <p:nvPr/>
        </p:nvSpPr>
        <p:spPr>
          <a:xfrm>
            <a:off x="7178040" y="2432304"/>
            <a:ext cx="4297680" cy="0"/>
          </a:xfrm>
          <a:prstGeom prst="line">
            <a:avLst/>
          </a:prstGeom>
          <a:noFill/>
          <a:ln w="12700">
            <a:solidFill>
              <a:srgbClr val="DCEEE3"/>
            </a:solidFill>
            <a:prstDash val="solid"/>
          </a:ln>
        </p:spPr>
      </p:sp>
      <p:sp>
        <p:nvSpPr>
          <p:cNvPr id="30" name="Text 23"/>
          <p:cNvSpPr/>
          <p:nvPr/>
        </p:nvSpPr>
        <p:spPr>
          <a:xfrm>
            <a:off x="7178040" y="2487168"/>
            <a:ext cx="1920240" cy="457200"/>
          </a:xfrm>
          <a:prstGeom prst="rect">
            <a:avLst/>
          </a:prstGeom>
          <a:noFill/>
          <a:ln/>
        </p:spPr>
        <p:txBody>
          <a:bodyPr wrap="square" lIns="0" tIns="0" rIns="0" bIns="0" rtlCol="0" anchor="ctr"/>
          <a:lstStyle/>
          <a:p>
            <a:pPr marL="0" indent="0">
              <a:buNone/>
            </a:pPr>
            <a:r>
              <a:rPr lang="en-US" sz="1150" dirty="0">
                <a:solidFill>
                  <a:srgbClr val="1F2A24"/>
                </a:solidFill>
                <a:latin typeface="Calibri" pitchFamily="34" charset="0"/>
                <a:ea typeface="Calibri" pitchFamily="34" charset="-122"/>
                <a:cs typeface="Calibri" pitchFamily="34" charset="-120"/>
              </a:rPr>
              <a:t>Current Ratio</a:t>
            </a:r>
            <a:endParaRPr lang="en-US" sz="1150" dirty="0"/>
          </a:p>
        </p:txBody>
      </p:sp>
      <p:sp>
        <p:nvSpPr>
          <p:cNvPr id="31" name="Text 24"/>
          <p:cNvSpPr/>
          <p:nvPr/>
        </p:nvSpPr>
        <p:spPr>
          <a:xfrm>
            <a:off x="9144000" y="2487168"/>
            <a:ext cx="1005840" cy="457200"/>
          </a:xfrm>
          <a:prstGeom prst="rect">
            <a:avLst/>
          </a:prstGeom>
          <a:noFill/>
          <a:ln/>
        </p:spPr>
        <p:txBody>
          <a:bodyPr wrap="square" lIns="0" tIns="0" rIns="0" bIns="0" rtlCol="0" anchor="ctr"/>
          <a:lstStyle/>
          <a:p>
            <a:pPr marL="0" indent="0" algn="r">
              <a:buNone/>
            </a:pPr>
            <a:r>
              <a:rPr lang="en-US" sz="1250" b="1" dirty="0">
                <a:solidFill>
                  <a:srgbClr val="0E5C36"/>
                </a:solidFill>
                <a:latin typeface="Calibri" pitchFamily="34" charset="0"/>
                <a:ea typeface="Calibri" pitchFamily="34" charset="-122"/>
                <a:cs typeface="Calibri" pitchFamily="34" charset="-120"/>
              </a:rPr>
              <a:t>1.8</a:t>
            </a:r>
            <a:endParaRPr lang="en-US" sz="1250" dirty="0"/>
          </a:p>
        </p:txBody>
      </p:sp>
      <p:sp>
        <p:nvSpPr>
          <p:cNvPr id="32" name="Shape 25"/>
          <p:cNvSpPr/>
          <p:nvPr/>
        </p:nvSpPr>
        <p:spPr>
          <a:xfrm>
            <a:off x="10287000" y="2606040"/>
            <a:ext cx="146304" cy="146304"/>
          </a:xfrm>
          <a:prstGeom prst="ellipse">
            <a:avLst/>
          </a:prstGeom>
          <a:solidFill>
            <a:srgbClr val="1B7A43"/>
          </a:solidFill>
          <a:ln/>
        </p:spPr>
      </p:sp>
      <p:sp>
        <p:nvSpPr>
          <p:cNvPr id="33" name="Text 26"/>
          <p:cNvSpPr/>
          <p:nvPr/>
        </p:nvSpPr>
        <p:spPr>
          <a:xfrm>
            <a:off x="10515600" y="2487168"/>
            <a:ext cx="1097280" cy="457200"/>
          </a:xfrm>
          <a:prstGeom prst="rect">
            <a:avLst/>
          </a:prstGeom>
          <a:noFill/>
          <a:ln/>
        </p:spPr>
        <p:txBody>
          <a:bodyPr wrap="square" lIns="0" tIns="0" rIns="0" bIns="0" rtlCol="0" anchor="ctr"/>
          <a:lstStyle/>
          <a:p>
            <a:pPr marL="0" indent="0">
              <a:buNone/>
            </a:pPr>
            <a:r>
              <a:rPr lang="en-US" sz="1000" dirty="0">
                <a:solidFill>
                  <a:srgbClr val="5B6B62"/>
                </a:solidFill>
                <a:latin typeface="Calibri" pitchFamily="34" charset="0"/>
                <a:ea typeface="Calibri" pitchFamily="34" charset="-122"/>
                <a:cs typeface="Calibri" pitchFamily="34" charset="-120"/>
              </a:rPr>
              <a:t>Healthy</a:t>
            </a:r>
            <a:endParaRPr lang="en-US" sz="1000" dirty="0"/>
          </a:p>
        </p:txBody>
      </p:sp>
      <p:sp>
        <p:nvSpPr>
          <p:cNvPr id="34" name="Shape 27"/>
          <p:cNvSpPr/>
          <p:nvPr/>
        </p:nvSpPr>
        <p:spPr>
          <a:xfrm>
            <a:off x="7178040" y="2999232"/>
            <a:ext cx="4297680" cy="0"/>
          </a:xfrm>
          <a:prstGeom prst="line">
            <a:avLst/>
          </a:prstGeom>
          <a:noFill/>
          <a:ln w="12700">
            <a:solidFill>
              <a:srgbClr val="DCEEE3"/>
            </a:solidFill>
            <a:prstDash val="solid"/>
          </a:ln>
        </p:spPr>
      </p:sp>
      <p:sp>
        <p:nvSpPr>
          <p:cNvPr id="35" name="Text 28"/>
          <p:cNvSpPr/>
          <p:nvPr/>
        </p:nvSpPr>
        <p:spPr>
          <a:xfrm>
            <a:off x="7178040" y="3054096"/>
            <a:ext cx="1920240" cy="457200"/>
          </a:xfrm>
          <a:prstGeom prst="rect">
            <a:avLst/>
          </a:prstGeom>
          <a:noFill/>
          <a:ln/>
        </p:spPr>
        <p:txBody>
          <a:bodyPr wrap="square" lIns="0" tIns="0" rIns="0" bIns="0" rtlCol="0" anchor="ctr"/>
          <a:lstStyle/>
          <a:p>
            <a:pPr marL="0" indent="0">
              <a:buNone/>
            </a:pPr>
            <a:r>
              <a:rPr lang="en-US" sz="1150" dirty="0">
                <a:solidFill>
                  <a:srgbClr val="1F2A24"/>
                </a:solidFill>
                <a:latin typeface="Calibri" pitchFamily="34" charset="0"/>
                <a:ea typeface="Calibri" pitchFamily="34" charset="-122"/>
                <a:cs typeface="Calibri" pitchFamily="34" charset="-120"/>
              </a:rPr>
              <a:t>CAC</a:t>
            </a:r>
            <a:endParaRPr lang="en-US" sz="1150" dirty="0"/>
          </a:p>
        </p:txBody>
      </p:sp>
      <p:sp>
        <p:nvSpPr>
          <p:cNvPr id="36" name="Text 29"/>
          <p:cNvSpPr/>
          <p:nvPr/>
        </p:nvSpPr>
        <p:spPr>
          <a:xfrm>
            <a:off x="9144000" y="3054096"/>
            <a:ext cx="1005840" cy="457200"/>
          </a:xfrm>
          <a:prstGeom prst="rect">
            <a:avLst/>
          </a:prstGeom>
          <a:noFill/>
          <a:ln/>
        </p:spPr>
        <p:txBody>
          <a:bodyPr wrap="square" lIns="0" tIns="0" rIns="0" bIns="0" rtlCol="0" anchor="ctr"/>
          <a:lstStyle/>
          <a:p>
            <a:pPr marL="0" indent="0" algn="r">
              <a:buNone/>
            </a:pPr>
            <a:r>
              <a:rPr lang="en-US" sz="1250" b="1" dirty="0">
                <a:solidFill>
                  <a:srgbClr val="0E5C36"/>
                </a:solidFill>
                <a:latin typeface="Calibri" pitchFamily="34" charset="0"/>
                <a:ea typeface="Calibri" pitchFamily="34" charset="-122"/>
                <a:cs typeface="Calibri" pitchFamily="34" charset="-120"/>
              </a:rPr>
              <a:t>₹850</a:t>
            </a:r>
            <a:endParaRPr lang="en-US" sz="1250" dirty="0"/>
          </a:p>
        </p:txBody>
      </p:sp>
      <p:sp>
        <p:nvSpPr>
          <p:cNvPr id="37" name="Shape 30"/>
          <p:cNvSpPr/>
          <p:nvPr/>
        </p:nvSpPr>
        <p:spPr>
          <a:xfrm>
            <a:off x="10287000" y="3172968"/>
            <a:ext cx="146304" cy="146304"/>
          </a:xfrm>
          <a:prstGeom prst="ellipse">
            <a:avLst/>
          </a:prstGeom>
          <a:solidFill>
            <a:srgbClr val="1B7A43"/>
          </a:solidFill>
          <a:ln/>
        </p:spPr>
      </p:sp>
      <p:sp>
        <p:nvSpPr>
          <p:cNvPr id="38" name="Text 31"/>
          <p:cNvSpPr/>
          <p:nvPr/>
        </p:nvSpPr>
        <p:spPr>
          <a:xfrm>
            <a:off x="10515600" y="3054096"/>
            <a:ext cx="1097280" cy="457200"/>
          </a:xfrm>
          <a:prstGeom prst="rect">
            <a:avLst/>
          </a:prstGeom>
          <a:noFill/>
          <a:ln/>
        </p:spPr>
        <p:txBody>
          <a:bodyPr wrap="square" lIns="0" tIns="0" rIns="0" bIns="0" rtlCol="0" anchor="ctr"/>
          <a:lstStyle/>
          <a:p>
            <a:pPr marL="0" indent="0">
              <a:buNone/>
            </a:pPr>
            <a:r>
              <a:rPr lang="en-US" sz="1000" dirty="0">
                <a:solidFill>
                  <a:srgbClr val="5B6B62"/>
                </a:solidFill>
                <a:latin typeface="Calibri" pitchFamily="34" charset="0"/>
                <a:ea typeface="Calibri" pitchFamily="34" charset="-122"/>
                <a:cs typeface="Calibri" pitchFamily="34" charset="-120"/>
              </a:rPr>
              <a:t>On Target</a:t>
            </a:r>
            <a:endParaRPr lang="en-US" sz="1000" dirty="0"/>
          </a:p>
        </p:txBody>
      </p:sp>
      <p:sp>
        <p:nvSpPr>
          <p:cNvPr id="39" name="Shape 32"/>
          <p:cNvSpPr/>
          <p:nvPr/>
        </p:nvSpPr>
        <p:spPr>
          <a:xfrm>
            <a:off x="7178040" y="3566160"/>
            <a:ext cx="4297680" cy="0"/>
          </a:xfrm>
          <a:prstGeom prst="line">
            <a:avLst/>
          </a:prstGeom>
          <a:noFill/>
          <a:ln w="12700">
            <a:solidFill>
              <a:srgbClr val="DCEEE3"/>
            </a:solidFill>
            <a:prstDash val="solid"/>
          </a:ln>
        </p:spPr>
      </p:sp>
      <p:sp>
        <p:nvSpPr>
          <p:cNvPr id="40" name="Text 33"/>
          <p:cNvSpPr/>
          <p:nvPr/>
        </p:nvSpPr>
        <p:spPr>
          <a:xfrm>
            <a:off x="7178040" y="3621024"/>
            <a:ext cx="1920240" cy="457200"/>
          </a:xfrm>
          <a:prstGeom prst="rect">
            <a:avLst/>
          </a:prstGeom>
          <a:noFill/>
          <a:ln/>
        </p:spPr>
        <p:txBody>
          <a:bodyPr wrap="square" lIns="0" tIns="0" rIns="0" bIns="0" rtlCol="0" anchor="ctr"/>
          <a:lstStyle/>
          <a:p>
            <a:pPr marL="0" indent="0">
              <a:buNone/>
            </a:pPr>
            <a:r>
              <a:rPr lang="en-US" sz="1150" dirty="0">
                <a:solidFill>
                  <a:srgbClr val="1F2A24"/>
                </a:solidFill>
                <a:latin typeface="Calibri" pitchFamily="34" charset="0"/>
                <a:ea typeface="Calibri" pitchFamily="34" charset="-122"/>
                <a:cs typeface="Calibri" pitchFamily="34" charset="-120"/>
              </a:rPr>
              <a:t>Revenue / Employee</a:t>
            </a:r>
            <a:endParaRPr lang="en-US" sz="1150" dirty="0"/>
          </a:p>
        </p:txBody>
      </p:sp>
      <p:sp>
        <p:nvSpPr>
          <p:cNvPr id="41" name="Text 34"/>
          <p:cNvSpPr/>
          <p:nvPr/>
        </p:nvSpPr>
        <p:spPr>
          <a:xfrm>
            <a:off x="9144000" y="3621024"/>
            <a:ext cx="1005840" cy="457200"/>
          </a:xfrm>
          <a:prstGeom prst="rect">
            <a:avLst/>
          </a:prstGeom>
          <a:noFill/>
          <a:ln/>
        </p:spPr>
        <p:txBody>
          <a:bodyPr wrap="square" lIns="0" tIns="0" rIns="0" bIns="0" rtlCol="0" anchor="ctr"/>
          <a:lstStyle/>
          <a:p>
            <a:pPr marL="0" indent="0" algn="r">
              <a:buNone/>
            </a:pPr>
            <a:r>
              <a:rPr lang="en-US" sz="1250" b="1" dirty="0">
                <a:solidFill>
                  <a:srgbClr val="0E5C36"/>
                </a:solidFill>
                <a:latin typeface="Calibri" pitchFamily="34" charset="0"/>
                <a:ea typeface="Calibri" pitchFamily="34" charset="-122"/>
                <a:cs typeface="Calibri" pitchFamily="34" charset="-120"/>
              </a:rPr>
              <a:t>₹12.4 L</a:t>
            </a:r>
            <a:endParaRPr lang="en-US" sz="1250" dirty="0"/>
          </a:p>
        </p:txBody>
      </p:sp>
      <p:sp>
        <p:nvSpPr>
          <p:cNvPr id="42" name="Shape 35"/>
          <p:cNvSpPr/>
          <p:nvPr/>
        </p:nvSpPr>
        <p:spPr>
          <a:xfrm>
            <a:off x="10287000" y="3739896"/>
            <a:ext cx="146304" cy="146304"/>
          </a:xfrm>
          <a:prstGeom prst="ellipse">
            <a:avLst/>
          </a:prstGeom>
          <a:solidFill>
            <a:srgbClr val="1B7A43"/>
          </a:solidFill>
          <a:ln/>
        </p:spPr>
      </p:sp>
      <p:sp>
        <p:nvSpPr>
          <p:cNvPr id="43" name="Text 36"/>
          <p:cNvSpPr/>
          <p:nvPr/>
        </p:nvSpPr>
        <p:spPr>
          <a:xfrm>
            <a:off x="10515600" y="3621024"/>
            <a:ext cx="1097280" cy="457200"/>
          </a:xfrm>
          <a:prstGeom prst="rect">
            <a:avLst/>
          </a:prstGeom>
          <a:noFill/>
          <a:ln/>
        </p:spPr>
        <p:txBody>
          <a:bodyPr wrap="square" lIns="0" tIns="0" rIns="0" bIns="0" rtlCol="0" anchor="ctr"/>
          <a:lstStyle/>
          <a:p>
            <a:pPr marL="0" indent="0">
              <a:buNone/>
            </a:pPr>
            <a:r>
              <a:rPr lang="en-US" sz="1000" dirty="0">
                <a:solidFill>
                  <a:srgbClr val="5B6B62"/>
                </a:solidFill>
                <a:latin typeface="Calibri" pitchFamily="34" charset="0"/>
                <a:ea typeface="Calibri" pitchFamily="34" charset="-122"/>
                <a:cs typeface="Calibri" pitchFamily="34" charset="-120"/>
              </a:rPr>
              <a:t>Above Target</a:t>
            </a:r>
            <a:endParaRPr lang="en-US" sz="1000" dirty="0"/>
          </a:p>
        </p:txBody>
      </p:sp>
      <p:sp>
        <p:nvSpPr>
          <p:cNvPr id="44" name="Shape 37"/>
          <p:cNvSpPr/>
          <p:nvPr/>
        </p:nvSpPr>
        <p:spPr>
          <a:xfrm>
            <a:off x="7178040" y="4133088"/>
            <a:ext cx="4297680" cy="0"/>
          </a:xfrm>
          <a:prstGeom prst="line">
            <a:avLst/>
          </a:prstGeom>
          <a:noFill/>
          <a:ln w="12700">
            <a:solidFill>
              <a:srgbClr val="DCEEE3"/>
            </a:solidFill>
            <a:prstDash val="solid"/>
          </a:ln>
        </p:spPr>
      </p:sp>
      <p:sp>
        <p:nvSpPr>
          <p:cNvPr id="45" name="Text 38"/>
          <p:cNvSpPr/>
          <p:nvPr/>
        </p:nvSpPr>
        <p:spPr>
          <a:xfrm>
            <a:off x="7178040" y="4325112"/>
            <a:ext cx="4297680" cy="457200"/>
          </a:xfrm>
          <a:prstGeom prst="rect">
            <a:avLst/>
          </a:prstGeom>
          <a:noFill/>
          <a:ln/>
        </p:spPr>
        <p:txBody>
          <a:bodyPr wrap="square" lIns="0" tIns="0" rIns="0" bIns="0" rtlCol="0" anchor="ctr"/>
          <a:lstStyle/>
          <a:p>
            <a:pPr marL="0" indent="0">
              <a:buNone/>
            </a:pPr>
            <a:r>
              <a:rPr lang="en-US" sz="950" i="1" dirty="0">
                <a:solidFill>
                  <a:srgbClr val="5B6B62"/>
                </a:solidFill>
                <a:latin typeface="Calibri" pitchFamily="34" charset="0"/>
                <a:ea typeface="Calibri" pitchFamily="34" charset="-122"/>
                <a:cs typeface="Calibri" pitchFamily="34" charset="-120"/>
              </a:rPr>
              <a:t>Status reflects performance against typical sector benchmarks, not audited targets.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0E5C36"/>
          </a:solidFill>
          <a:ln/>
        </p:spPr>
      </p:sp>
      <p:pic>
        <p:nvPicPr>
          <p:cNvPr id="3" name="Image 0" descr="preencoded.png"/>
          <p:cNvPicPr>
            <a:picLocks noChangeAspect="1"/>
          </p:cNvPicPr>
          <p:nvPr/>
        </p:nvPicPr>
        <p:blipFill>
          <a:blip r:embed="rId3"/>
          <a:stretch>
            <a:fillRect/>
          </a:stretch>
        </p:blipFill>
        <p:spPr>
          <a:xfrm>
            <a:off x="568300" y="522580"/>
            <a:ext cx="372161" cy="372161"/>
          </a:xfrm>
          <a:prstGeom prst="rect">
            <a:avLst/>
          </a:prstGeom>
        </p:spPr>
      </p:pic>
      <p:sp>
        <p:nvSpPr>
          <p:cNvPr id="4" name="Text 1"/>
          <p:cNvSpPr/>
          <p:nvPr/>
        </p:nvSpPr>
        <p:spPr>
          <a:xfrm>
            <a:off x="1143000" y="420624"/>
            <a:ext cx="7315200" cy="274320"/>
          </a:xfrm>
          <a:prstGeom prst="rect">
            <a:avLst/>
          </a:prstGeom>
          <a:noFill/>
          <a:ln/>
        </p:spPr>
        <p:txBody>
          <a:bodyPr wrap="square" lIns="0" tIns="0" rIns="0" bIns="0" rtlCol="0" anchor="ctr"/>
          <a:lstStyle/>
          <a:p>
            <a:pPr marL="0" indent="0">
              <a:buNone/>
            </a:pPr>
            <a:r>
              <a:rPr lang="en-US" sz="1150" b="1" kern="0" spc="200" dirty="0">
                <a:solidFill>
                  <a:srgbClr val="1B7A43"/>
                </a:solidFill>
                <a:latin typeface="Calibri" pitchFamily="34" charset="0"/>
                <a:ea typeface="Calibri" pitchFamily="34" charset="-122"/>
                <a:cs typeface="Calibri" pitchFamily="34" charset="-120"/>
              </a:rPr>
              <a:t>MODULE 4</a:t>
            </a:r>
            <a:endParaRPr lang="en-US" sz="1150" dirty="0"/>
          </a:p>
        </p:txBody>
      </p:sp>
      <p:sp>
        <p:nvSpPr>
          <p:cNvPr id="5" name="Text 2"/>
          <p:cNvSpPr/>
          <p:nvPr/>
        </p:nvSpPr>
        <p:spPr>
          <a:xfrm>
            <a:off x="1143000" y="658368"/>
            <a:ext cx="9875520" cy="502920"/>
          </a:xfrm>
          <a:prstGeom prst="rect">
            <a:avLst/>
          </a:prstGeom>
          <a:noFill/>
          <a:ln/>
        </p:spPr>
        <p:txBody>
          <a:bodyPr wrap="square" lIns="0" tIns="0" rIns="0" bIns="0" rtlCol="0" anchor="ctr"/>
          <a:lstStyle/>
          <a:p>
            <a:pPr marL="0" indent="0">
              <a:buNone/>
            </a:pPr>
            <a:r>
              <a:rPr lang="en-US" sz="2600" b="1" dirty="0">
                <a:solidFill>
                  <a:srgbClr val="1F2A24"/>
                </a:solidFill>
                <a:latin typeface="Cambria" pitchFamily="34" charset="0"/>
                <a:ea typeface="Cambria" pitchFamily="34" charset="-122"/>
                <a:cs typeface="Cambria" pitchFamily="34" charset="-120"/>
              </a:rPr>
              <a:t>Excel Dashboard Architecture</a:t>
            </a:r>
            <a:endParaRPr lang="en-US" sz="2600" dirty="0"/>
          </a:p>
        </p:txBody>
      </p:sp>
      <p:sp>
        <p:nvSpPr>
          <p:cNvPr id="6" name="Text 3"/>
          <p:cNvSpPr/>
          <p:nvPr/>
        </p:nvSpPr>
        <p:spPr>
          <a:xfrm>
            <a:off x="502920" y="6528816"/>
            <a:ext cx="7315200" cy="256032"/>
          </a:xfrm>
          <a:prstGeom prst="rect">
            <a:avLst/>
          </a:prstGeom>
          <a:noFill/>
          <a:ln/>
        </p:spPr>
        <p:txBody>
          <a:bodyPr wrap="square" lIns="0" tIns="0" rIns="0" bIns="0" rtlCol="0" anchor="ctr"/>
          <a:lstStyle/>
          <a:p>
            <a:pPr marL="0" indent="0">
              <a:buNone/>
            </a:pPr>
            <a:r>
              <a:rPr lang="en-US" sz="850" dirty="0">
                <a:solidFill>
                  <a:srgbClr val="5B6B62"/>
                </a:solidFill>
                <a:latin typeface="Calibri" pitchFamily="34" charset="0"/>
                <a:ea typeface="Calibri" pitchFamily="34" charset="-122"/>
                <a:cs typeface="Calibri" pitchFamily="34" charset="-120"/>
              </a:rPr>
              <a:t>BUSINESS ANALYTICS  •  REVENUE &amp; METRICS FRAMEWORK</a:t>
            </a:r>
            <a:endParaRPr lang="en-US" sz="850" dirty="0"/>
          </a:p>
        </p:txBody>
      </p:sp>
      <p:sp>
        <p:nvSpPr>
          <p:cNvPr id="7" name="Text 4"/>
          <p:cNvSpPr/>
          <p:nvPr/>
        </p:nvSpPr>
        <p:spPr>
          <a:xfrm>
            <a:off x="11228832" y="6528816"/>
            <a:ext cx="457200" cy="256032"/>
          </a:xfrm>
          <a:prstGeom prst="rect">
            <a:avLst/>
          </a:prstGeom>
          <a:noFill/>
          <a:ln/>
        </p:spPr>
        <p:txBody>
          <a:bodyPr wrap="square" lIns="0" tIns="0" rIns="0" bIns="0" rtlCol="0" anchor="ctr"/>
          <a:lstStyle/>
          <a:p>
            <a:pPr marL="0" indent="0" algn="r">
              <a:buNone/>
            </a:pPr>
            <a:r>
              <a:rPr lang="en-US" sz="850" dirty="0">
                <a:solidFill>
                  <a:srgbClr val="5B6B62"/>
                </a:solidFill>
                <a:latin typeface="Calibri" pitchFamily="34" charset="0"/>
                <a:ea typeface="Calibri" pitchFamily="34" charset="-122"/>
                <a:cs typeface="Calibri" pitchFamily="34" charset="-120"/>
              </a:rPr>
              <a:t>11</a:t>
            </a:r>
            <a:endParaRPr lang="en-US" sz="850" dirty="0"/>
          </a:p>
        </p:txBody>
      </p:sp>
      <p:sp>
        <p:nvSpPr>
          <p:cNvPr id="8" name="Text 5"/>
          <p:cNvSpPr/>
          <p:nvPr/>
        </p:nvSpPr>
        <p:spPr>
          <a:xfrm>
            <a:off x="502920" y="1371600"/>
            <a:ext cx="10515600" cy="365760"/>
          </a:xfrm>
          <a:prstGeom prst="rect">
            <a:avLst/>
          </a:prstGeom>
          <a:noFill/>
          <a:ln/>
        </p:spPr>
        <p:txBody>
          <a:bodyPr wrap="square" lIns="0" tIns="0" rIns="0" bIns="0" rtlCol="0" anchor="ctr"/>
          <a:lstStyle/>
          <a:p>
            <a:pPr marL="0" indent="0">
              <a:buNone/>
            </a:pPr>
            <a:r>
              <a:rPr lang="en-US" sz="1300" dirty="0">
                <a:solidFill>
                  <a:srgbClr val="5B6B62"/>
                </a:solidFill>
                <a:latin typeface="Calibri" pitchFamily="34" charset="0"/>
                <a:ea typeface="Calibri" pitchFamily="34" charset="-122"/>
                <a:cs typeface="Calibri" pitchFamily="34" charset="-120"/>
              </a:rPr>
              <a:t>A four-layer workbook structure keeps raw data, calculations and visuals cleanly separated.</a:t>
            </a:r>
            <a:endParaRPr lang="en-US" sz="1300" dirty="0"/>
          </a:p>
        </p:txBody>
      </p:sp>
      <p:sp>
        <p:nvSpPr>
          <p:cNvPr id="9" name="Shape 6"/>
          <p:cNvSpPr/>
          <p:nvPr/>
        </p:nvSpPr>
        <p:spPr>
          <a:xfrm>
            <a:off x="502920" y="1965960"/>
            <a:ext cx="2542032" cy="3931920"/>
          </a:xfrm>
          <a:prstGeom prst="roundRect">
            <a:avLst>
              <a:gd name="adj" fmla="val 2878"/>
            </a:avLst>
          </a:prstGeom>
          <a:solidFill>
            <a:srgbClr val="F4FAF6"/>
          </a:solidFill>
          <a:ln/>
          <a:effectLst>
            <a:outerShdw blurRad="76200" dist="25400" dir="5400000" algn="bl" rotWithShape="0">
              <a:srgbClr val="000000">
                <a:alpha val="8000"/>
              </a:srgbClr>
            </a:outerShdw>
          </a:effectLst>
        </p:spPr>
      </p:sp>
      <p:sp>
        <p:nvSpPr>
          <p:cNvPr id="10" name="Shape 7"/>
          <p:cNvSpPr/>
          <p:nvPr/>
        </p:nvSpPr>
        <p:spPr>
          <a:xfrm>
            <a:off x="1481328" y="2240280"/>
            <a:ext cx="585216" cy="585216"/>
          </a:xfrm>
          <a:prstGeom prst="ellipse">
            <a:avLst/>
          </a:prstGeom>
          <a:solidFill>
            <a:srgbClr val="0E5C36"/>
          </a:solidFill>
          <a:ln/>
        </p:spPr>
      </p:sp>
      <p:sp>
        <p:nvSpPr>
          <p:cNvPr id="11" name="Text 8"/>
          <p:cNvSpPr/>
          <p:nvPr/>
        </p:nvSpPr>
        <p:spPr>
          <a:xfrm>
            <a:off x="1481328" y="2240280"/>
            <a:ext cx="58521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2" name="Shape 9"/>
          <p:cNvSpPr/>
          <p:nvPr/>
        </p:nvSpPr>
        <p:spPr>
          <a:xfrm>
            <a:off x="1463040" y="3108960"/>
            <a:ext cx="621792" cy="621792"/>
          </a:xfrm>
          <a:prstGeom prst="ellipse">
            <a:avLst/>
          </a:prstGeom>
          <a:solidFill>
            <a:srgbClr val="1B7A43"/>
          </a:solidFill>
          <a:ln/>
        </p:spPr>
      </p:sp>
      <p:pic>
        <p:nvPicPr>
          <p:cNvPr id="13" name="Image 1" descr="preencoded.png"/>
          <p:cNvPicPr>
            <a:picLocks noChangeAspect="1"/>
          </p:cNvPicPr>
          <p:nvPr/>
        </p:nvPicPr>
        <p:blipFill>
          <a:blip r:embed="rId4"/>
          <a:stretch>
            <a:fillRect/>
          </a:stretch>
        </p:blipFill>
        <p:spPr>
          <a:xfrm>
            <a:off x="1543873" y="3189793"/>
            <a:ext cx="460126" cy="460126"/>
          </a:xfrm>
          <a:prstGeom prst="rect">
            <a:avLst/>
          </a:prstGeom>
        </p:spPr>
      </p:pic>
      <p:sp>
        <p:nvSpPr>
          <p:cNvPr id="14" name="Text 10"/>
          <p:cNvSpPr/>
          <p:nvPr/>
        </p:nvSpPr>
        <p:spPr>
          <a:xfrm>
            <a:off x="685800" y="3931920"/>
            <a:ext cx="2176272" cy="411480"/>
          </a:xfrm>
          <a:prstGeom prst="rect">
            <a:avLst/>
          </a:prstGeom>
          <a:noFill/>
          <a:ln/>
        </p:spPr>
        <p:txBody>
          <a:bodyPr wrap="square" lIns="0" tIns="0" rIns="0" bIns="0" rtlCol="0" anchor="ctr"/>
          <a:lstStyle/>
          <a:p>
            <a:pPr marL="0" indent="0" algn="ctr">
              <a:buNone/>
            </a:pPr>
            <a:r>
              <a:rPr lang="en-US" sz="1500" b="1" dirty="0">
                <a:solidFill>
                  <a:srgbClr val="1F2A24"/>
                </a:solidFill>
                <a:latin typeface="Cambria" pitchFamily="34" charset="0"/>
                <a:ea typeface="Cambria" pitchFamily="34" charset="-122"/>
                <a:cs typeface="Cambria" pitchFamily="34" charset="-120"/>
              </a:rPr>
              <a:t>Data Sheet</a:t>
            </a:r>
            <a:endParaRPr lang="en-US" sz="1500" dirty="0"/>
          </a:p>
        </p:txBody>
      </p:sp>
      <p:sp>
        <p:nvSpPr>
          <p:cNvPr id="15" name="Text 11"/>
          <p:cNvSpPr/>
          <p:nvPr/>
        </p:nvSpPr>
        <p:spPr>
          <a:xfrm>
            <a:off x="731520" y="4389120"/>
            <a:ext cx="2084832" cy="1371600"/>
          </a:xfrm>
          <a:prstGeom prst="rect">
            <a:avLst/>
          </a:prstGeom>
          <a:noFill/>
          <a:ln/>
        </p:spPr>
        <p:txBody>
          <a:bodyPr wrap="square" lIns="0" tIns="0" rIns="0" bIns="0" rtlCol="0" anchor="t"/>
          <a:lstStyle/>
          <a:p>
            <a:pPr marL="0" indent="0" algn="ctr">
              <a:buNone/>
            </a:pPr>
            <a:r>
              <a:rPr lang="en-US" sz="1100" dirty="0">
                <a:solidFill>
                  <a:srgbClr val="5B6B62"/>
                </a:solidFill>
                <a:latin typeface="Calibri" pitchFamily="34" charset="0"/>
                <a:ea typeface="Calibri" pitchFamily="34" charset="-122"/>
                <a:cs typeface="Calibri" pitchFamily="34" charset="-120"/>
              </a:rPr>
              <a:t>One row per month: Revenue, COGS, Expenses, Customers, Employees.</a:t>
            </a:r>
            <a:endParaRPr lang="en-US" sz="1100" dirty="0"/>
          </a:p>
        </p:txBody>
      </p:sp>
      <p:sp>
        <p:nvSpPr>
          <p:cNvPr id="16" name="Shape 12"/>
          <p:cNvSpPr/>
          <p:nvPr/>
        </p:nvSpPr>
        <p:spPr>
          <a:xfrm>
            <a:off x="2926080" y="3840480"/>
            <a:ext cx="292608" cy="182880"/>
          </a:xfrm>
          <a:prstGeom prst="rightArrow">
            <a:avLst/>
          </a:prstGeom>
          <a:solidFill>
            <a:srgbClr val="B8860B"/>
          </a:solidFill>
          <a:ln/>
        </p:spPr>
      </p:sp>
      <p:sp>
        <p:nvSpPr>
          <p:cNvPr id="17" name="Shape 13"/>
          <p:cNvSpPr/>
          <p:nvPr/>
        </p:nvSpPr>
        <p:spPr>
          <a:xfrm>
            <a:off x="3246120" y="1965960"/>
            <a:ext cx="2542032" cy="3931920"/>
          </a:xfrm>
          <a:prstGeom prst="roundRect">
            <a:avLst>
              <a:gd name="adj" fmla="val 2878"/>
            </a:avLst>
          </a:prstGeom>
          <a:solidFill>
            <a:srgbClr val="EAF6EF"/>
          </a:solidFill>
          <a:ln/>
          <a:effectLst>
            <a:outerShdw blurRad="76200" dist="25400" dir="5400000" algn="bl" rotWithShape="0">
              <a:srgbClr val="000000">
                <a:alpha val="8000"/>
              </a:srgbClr>
            </a:outerShdw>
          </a:effectLst>
        </p:spPr>
      </p:sp>
      <p:sp>
        <p:nvSpPr>
          <p:cNvPr id="18" name="Shape 14"/>
          <p:cNvSpPr/>
          <p:nvPr/>
        </p:nvSpPr>
        <p:spPr>
          <a:xfrm>
            <a:off x="4224528" y="2240280"/>
            <a:ext cx="585216" cy="585216"/>
          </a:xfrm>
          <a:prstGeom prst="ellipse">
            <a:avLst/>
          </a:prstGeom>
          <a:solidFill>
            <a:srgbClr val="0E5C36"/>
          </a:solidFill>
          <a:ln/>
        </p:spPr>
      </p:sp>
      <p:sp>
        <p:nvSpPr>
          <p:cNvPr id="19" name="Text 15"/>
          <p:cNvSpPr/>
          <p:nvPr/>
        </p:nvSpPr>
        <p:spPr>
          <a:xfrm>
            <a:off x="4224528" y="2240280"/>
            <a:ext cx="58521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20" name="Shape 16"/>
          <p:cNvSpPr/>
          <p:nvPr/>
        </p:nvSpPr>
        <p:spPr>
          <a:xfrm>
            <a:off x="4206240" y="3108960"/>
            <a:ext cx="621792" cy="621792"/>
          </a:xfrm>
          <a:prstGeom prst="ellipse">
            <a:avLst/>
          </a:prstGeom>
          <a:solidFill>
            <a:srgbClr val="1B7A43"/>
          </a:solidFill>
          <a:ln/>
        </p:spPr>
      </p:sp>
      <p:pic>
        <p:nvPicPr>
          <p:cNvPr id="21" name="Image 2" descr="preencoded.png"/>
          <p:cNvPicPr>
            <a:picLocks noChangeAspect="1"/>
          </p:cNvPicPr>
          <p:nvPr/>
        </p:nvPicPr>
        <p:blipFill>
          <a:blip r:embed="rId5"/>
          <a:stretch>
            <a:fillRect/>
          </a:stretch>
        </p:blipFill>
        <p:spPr>
          <a:xfrm>
            <a:off x="4287073" y="3189793"/>
            <a:ext cx="460126" cy="460126"/>
          </a:xfrm>
          <a:prstGeom prst="rect">
            <a:avLst/>
          </a:prstGeom>
        </p:spPr>
      </p:pic>
      <p:sp>
        <p:nvSpPr>
          <p:cNvPr id="22" name="Text 17"/>
          <p:cNvSpPr/>
          <p:nvPr/>
        </p:nvSpPr>
        <p:spPr>
          <a:xfrm>
            <a:off x="3429000" y="3931920"/>
            <a:ext cx="2176272" cy="411480"/>
          </a:xfrm>
          <a:prstGeom prst="rect">
            <a:avLst/>
          </a:prstGeom>
          <a:noFill/>
          <a:ln/>
        </p:spPr>
        <p:txBody>
          <a:bodyPr wrap="square" lIns="0" tIns="0" rIns="0" bIns="0" rtlCol="0" anchor="ctr"/>
          <a:lstStyle/>
          <a:p>
            <a:pPr marL="0" indent="0" algn="ctr">
              <a:buNone/>
            </a:pPr>
            <a:r>
              <a:rPr lang="en-US" sz="1500" b="1" dirty="0">
                <a:solidFill>
                  <a:srgbClr val="1F2A24"/>
                </a:solidFill>
                <a:latin typeface="Cambria" pitchFamily="34" charset="0"/>
                <a:ea typeface="Cambria" pitchFamily="34" charset="-122"/>
                <a:cs typeface="Cambria" pitchFamily="34" charset="-120"/>
              </a:rPr>
              <a:t>Metrics Sheet</a:t>
            </a:r>
            <a:endParaRPr lang="en-US" sz="1500" dirty="0"/>
          </a:p>
        </p:txBody>
      </p:sp>
      <p:sp>
        <p:nvSpPr>
          <p:cNvPr id="23" name="Text 18"/>
          <p:cNvSpPr/>
          <p:nvPr/>
        </p:nvSpPr>
        <p:spPr>
          <a:xfrm>
            <a:off x="3474720" y="4389120"/>
            <a:ext cx="2084832" cy="1371600"/>
          </a:xfrm>
          <a:prstGeom prst="rect">
            <a:avLst/>
          </a:prstGeom>
          <a:noFill/>
          <a:ln/>
        </p:spPr>
        <p:txBody>
          <a:bodyPr wrap="square" lIns="0" tIns="0" rIns="0" bIns="0" rtlCol="0" anchor="t"/>
          <a:lstStyle/>
          <a:p>
            <a:pPr marL="0" indent="0" algn="ctr">
              <a:buNone/>
            </a:pPr>
            <a:r>
              <a:rPr lang="en-US" sz="1100" dirty="0">
                <a:solidFill>
                  <a:srgbClr val="5B6B62"/>
                </a:solidFill>
                <a:latin typeface="Calibri" pitchFamily="34" charset="0"/>
                <a:ea typeface="Calibri" pitchFamily="34" charset="-122"/>
                <a:cs typeface="Calibri" pitchFamily="34" charset="-120"/>
              </a:rPr>
              <a:t>Cell references pull raw data, e.g. =Data!B2, ready for formulas.</a:t>
            </a:r>
            <a:endParaRPr lang="en-US" sz="1100" dirty="0"/>
          </a:p>
        </p:txBody>
      </p:sp>
      <p:sp>
        <p:nvSpPr>
          <p:cNvPr id="24" name="Shape 19"/>
          <p:cNvSpPr/>
          <p:nvPr/>
        </p:nvSpPr>
        <p:spPr>
          <a:xfrm>
            <a:off x="5669280" y="3840480"/>
            <a:ext cx="292608" cy="182880"/>
          </a:xfrm>
          <a:prstGeom prst="rightArrow">
            <a:avLst/>
          </a:prstGeom>
          <a:solidFill>
            <a:srgbClr val="B8860B"/>
          </a:solidFill>
          <a:ln/>
        </p:spPr>
      </p:sp>
      <p:sp>
        <p:nvSpPr>
          <p:cNvPr id="25" name="Shape 20"/>
          <p:cNvSpPr/>
          <p:nvPr/>
        </p:nvSpPr>
        <p:spPr>
          <a:xfrm>
            <a:off x="5989320" y="1965960"/>
            <a:ext cx="2542032" cy="3931920"/>
          </a:xfrm>
          <a:prstGeom prst="roundRect">
            <a:avLst>
              <a:gd name="adj" fmla="val 2878"/>
            </a:avLst>
          </a:prstGeom>
          <a:solidFill>
            <a:srgbClr val="F4FAF6"/>
          </a:solidFill>
          <a:ln/>
          <a:effectLst>
            <a:outerShdw blurRad="76200" dist="25400" dir="5400000" algn="bl" rotWithShape="0">
              <a:srgbClr val="000000">
                <a:alpha val="8000"/>
              </a:srgbClr>
            </a:outerShdw>
          </a:effectLst>
        </p:spPr>
      </p:sp>
      <p:sp>
        <p:nvSpPr>
          <p:cNvPr id="26" name="Shape 21"/>
          <p:cNvSpPr/>
          <p:nvPr/>
        </p:nvSpPr>
        <p:spPr>
          <a:xfrm>
            <a:off x="6967728" y="2240280"/>
            <a:ext cx="585216" cy="585216"/>
          </a:xfrm>
          <a:prstGeom prst="ellipse">
            <a:avLst/>
          </a:prstGeom>
          <a:solidFill>
            <a:srgbClr val="0E5C36"/>
          </a:solidFill>
          <a:ln/>
        </p:spPr>
      </p:sp>
      <p:sp>
        <p:nvSpPr>
          <p:cNvPr id="27" name="Text 22"/>
          <p:cNvSpPr/>
          <p:nvPr/>
        </p:nvSpPr>
        <p:spPr>
          <a:xfrm>
            <a:off x="6967728" y="2240280"/>
            <a:ext cx="58521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8" name="Shape 23"/>
          <p:cNvSpPr/>
          <p:nvPr/>
        </p:nvSpPr>
        <p:spPr>
          <a:xfrm>
            <a:off x="6949440" y="3108960"/>
            <a:ext cx="621792" cy="621792"/>
          </a:xfrm>
          <a:prstGeom prst="ellipse">
            <a:avLst/>
          </a:prstGeom>
          <a:solidFill>
            <a:srgbClr val="1B7A43"/>
          </a:solidFill>
          <a:ln/>
        </p:spPr>
      </p:sp>
      <p:pic>
        <p:nvPicPr>
          <p:cNvPr id="29" name="Image 3" descr="preencoded.png"/>
          <p:cNvPicPr>
            <a:picLocks noChangeAspect="1"/>
          </p:cNvPicPr>
          <p:nvPr/>
        </p:nvPicPr>
        <p:blipFill>
          <a:blip r:embed="rId6"/>
          <a:stretch>
            <a:fillRect/>
          </a:stretch>
        </p:blipFill>
        <p:spPr>
          <a:xfrm>
            <a:off x="7030273" y="3189793"/>
            <a:ext cx="460126" cy="460126"/>
          </a:xfrm>
          <a:prstGeom prst="rect">
            <a:avLst/>
          </a:prstGeom>
        </p:spPr>
      </p:pic>
      <p:sp>
        <p:nvSpPr>
          <p:cNvPr id="30" name="Text 24"/>
          <p:cNvSpPr/>
          <p:nvPr/>
        </p:nvSpPr>
        <p:spPr>
          <a:xfrm>
            <a:off x="6172200" y="3931920"/>
            <a:ext cx="2176272" cy="411480"/>
          </a:xfrm>
          <a:prstGeom prst="rect">
            <a:avLst/>
          </a:prstGeom>
          <a:noFill/>
          <a:ln/>
        </p:spPr>
        <p:txBody>
          <a:bodyPr wrap="square" lIns="0" tIns="0" rIns="0" bIns="0" rtlCol="0" anchor="ctr"/>
          <a:lstStyle/>
          <a:p>
            <a:pPr marL="0" indent="0" algn="ctr">
              <a:buNone/>
            </a:pPr>
            <a:r>
              <a:rPr lang="en-US" sz="1500" b="1" dirty="0">
                <a:solidFill>
                  <a:srgbClr val="1F2A24"/>
                </a:solidFill>
                <a:latin typeface="Cambria" pitchFamily="34" charset="0"/>
                <a:ea typeface="Cambria" pitchFamily="34" charset="-122"/>
                <a:cs typeface="Cambria" pitchFamily="34" charset="-120"/>
              </a:rPr>
              <a:t>Calculated KPIs</a:t>
            </a:r>
            <a:endParaRPr lang="en-US" sz="1500" dirty="0"/>
          </a:p>
        </p:txBody>
      </p:sp>
      <p:sp>
        <p:nvSpPr>
          <p:cNvPr id="31" name="Text 25"/>
          <p:cNvSpPr/>
          <p:nvPr/>
        </p:nvSpPr>
        <p:spPr>
          <a:xfrm>
            <a:off x="6217920" y="4389120"/>
            <a:ext cx="2084832" cy="1371600"/>
          </a:xfrm>
          <a:prstGeom prst="rect">
            <a:avLst/>
          </a:prstGeom>
          <a:noFill/>
          <a:ln/>
        </p:spPr>
        <p:txBody>
          <a:bodyPr wrap="square" lIns="0" tIns="0" rIns="0" bIns="0" rtlCol="0" anchor="t"/>
          <a:lstStyle/>
          <a:p>
            <a:pPr marL="0" indent="0" algn="ctr">
              <a:buNone/>
            </a:pPr>
            <a:r>
              <a:rPr lang="en-US" sz="1100" dirty="0">
                <a:solidFill>
                  <a:srgbClr val="5B6B62"/>
                </a:solidFill>
                <a:latin typeface="Calibri" pitchFamily="34" charset="0"/>
                <a:ea typeface="Calibri" pitchFamily="34" charset="-122"/>
                <a:cs typeface="Calibri" pitchFamily="34" charset="-120"/>
              </a:rPr>
              <a:t>IF / IFERROR guard against zeros; cells formatted as currency or %.</a:t>
            </a:r>
            <a:endParaRPr lang="en-US" sz="1100" dirty="0"/>
          </a:p>
        </p:txBody>
      </p:sp>
      <p:sp>
        <p:nvSpPr>
          <p:cNvPr id="32" name="Shape 26"/>
          <p:cNvSpPr/>
          <p:nvPr/>
        </p:nvSpPr>
        <p:spPr>
          <a:xfrm>
            <a:off x="8412480" y="3840480"/>
            <a:ext cx="292608" cy="182880"/>
          </a:xfrm>
          <a:prstGeom prst="rightArrow">
            <a:avLst/>
          </a:prstGeom>
          <a:solidFill>
            <a:srgbClr val="B8860B"/>
          </a:solidFill>
          <a:ln/>
        </p:spPr>
      </p:sp>
      <p:sp>
        <p:nvSpPr>
          <p:cNvPr id="33" name="Shape 27"/>
          <p:cNvSpPr/>
          <p:nvPr/>
        </p:nvSpPr>
        <p:spPr>
          <a:xfrm>
            <a:off x="8732520" y="1965960"/>
            <a:ext cx="2542032" cy="3931920"/>
          </a:xfrm>
          <a:prstGeom prst="roundRect">
            <a:avLst>
              <a:gd name="adj" fmla="val 2878"/>
            </a:avLst>
          </a:prstGeom>
          <a:solidFill>
            <a:srgbClr val="EAF6EF"/>
          </a:solidFill>
          <a:ln/>
          <a:effectLst>
            <a:outerShdw blurRad="76200" dist="25400" dir="5400000" algn="bl" rotWithShape="0">
              <a:srgbClr val="000000">
                <a:alpha val="8000"/>
              </a:srgbClr>
            </a:outerShdw>
          </a:effectLst>
        </p:spPr>
      </p:sp>
      <p:sp>
        <p:nvSpPr>
          <p:cNvPr id="34" name="Shape 28"/>
          <p:cNvSpPr/>
          <p:nvPr/>
        </p:nvSpPr>
        <p:spPr>
          <a:xfrm>
            <a:off x="9710928" y="2240280"/>
            <a:ext cx="585216" cy="585216"/>
          </a:xfrm>
          <a:prstGeom prst="ellipse">
            <a:avLst/>
          </a:prstGeom>
          <a:solidFill>
            <a:srgbClr val="0E5C36"/>
          </a:solidFill>
          <a:ln/>
        </p:spPr>
      </p:sp>
      <p:sp>
        <p:nvSpPr>
          <p:cNvPr id="35" name="Text 29"/>
          <p:cNvSpPr/>
          <p:nvPr/>
        </p:nvSpPr>
        <p:spPr>
          <a:xfrm>
            <a:off x="9710928" y="2240280"/>
            <a:ext cx="585216" cy="58521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36" name="Shape 30"/>
          <p:cNvSpPr/>
          <p:nvPr/>
        </p:nvSpPr>
        <p:spPr>
          <a:xfrm>
            <a:off x="9692640" y="3108960"/>
            <a:ext cx="621792" cy="621792"/>
          </a:xfrm>
          <a:prstGeom prst="ellipse">
            <a:avLst/>
          </a:prstGeom>
          <a:solidFill>
            <a:srgbClr val="1B7A43"/>
          </a:solidFill>
          <a:ln/>
        </p:spPr>
      </p:sp>
      <p:pic>
        <p:nvPicPr>
          <p:cNvPr id="37" name="Image 4" descr="preencoded.png"/>
          <p:cNvPicPr>
            <a:picLocks noChangeAspect="1"/>
          </p:cNvPicPr>
          <p:nvPr/>
        </p:nvPicPr>
        <p:blipFill>
          <a:blip r:embed="rId7"/>
          <a:stretch>
            <a:fillRect/>
          </a:stretch>
        </p:blipFill>
        <p:spPr>
          <a:xfrm>
            <a:off x="9773473" y="3189793"/>
            <a:ext cx="460126" cy="460126"/>
          </a:xfrm>
          <a:prstGeom prst="rect">
            <a:avLst/>
          </a:prstGeom>
        </p:spPr>
      </p:pic>
      <p:sp>
        <p:nvSpPr>
          <p:cNvPr id="38" name="Text 31"/>
          <p:cNvSpPr/>
          <p:nvPr/>
        </p:nvSpPr>
        <p:spPr>
          <a:xfrm>
            <a:off x="8915400" y="3931920"/>
            <a:ext cx="2176272" cy="411480"/>
          </a:xfrm>
          <a:prstGeom prst="rect">
            <a:avLst/>
          </a:prstGeom>
          <a:noFill/>
          <a:ln/>
        </p:spPr>
        <p:txBody>
          <a:bodyPr wrap="square" lIns="0" tIns="0" rIns="0" bIns="0" rtlCol="0" anchor="ctr"/>
          <a:lstStyle/>
          <a:p>
            <a:pPr marL="0" indent="0" algn="ctr">
              <a:buNone/>
            </a:pPr>
            <a:r>
              <a:rPr lang="en-US" sz="1500" b="1" dirty="0">
                <a:solidFill>
                  <a:srgbClr val="1F2A24"/>
                </a:solidFill>
                <a:latin typeface="Cambria" pitchFamily="34" charset="0"/>
                <a:ea typeface="Cambria" pitchFamily="34" charset="-122"/>
                <a:cs typeface="Cambria" pitchFamily="34" charset="-120"/>
              </a:rPr>
              <a:t>Dashboard</a:t>
            </a:r>
            <a:endParaRPr lang="en-US" sz="1500" dirty="0"/>
          </a:p>
        </p:txBody>
      </p:sp>
      <p:sp>
        <p:nvSpPr>
          <p:cNvPr id="39" name="Text 32"/>
          <p:cNvSpPr/>
          <p:nvPr/>
        </p:nvSpPr>
        <p:spPr>
          <a:xfrm>
            <a:off x="8961120" y="4389120"/>
            <a:ext cx="2084832" cy="1371600"/>
          </a:xfrm>
          <a:prstGeom prst="rect">
            <a:avLst/>
          </a:prstGeom>
          <a:noFill/>
          <a:ln/>
        </p:spPr>
        <p:txBody>
          <a:bodyPr wrap="square" lIns="0" tIns="0" rIns="0" bIns="0" rtlCol="0" anchor="t"/>
          <a:lstStyle/>
          <a:p>
            <a:pPr marL="0" indent="0" algn="ctr">
              <a:buNone/>
            </a:pPr>
            <a:r>
              <a:rPr lang="en-US" sz="1100" dirty="0">
                <a:solidFill>
                  <a:srgbClr val="5B6B62"/>
                </a:solidFill>
                <a:latin typeface="Calibri" pitchFamily="34" charset="0"/>
                <a:ea typeface="Calibri" pitchFamily="34" charset="-122"/>
                <a:cs typeface="Calibri" pitchFamily="34" charset="-120"/>
              </a:rPr>
              <a:t>Line, Bar &amp; Pie charts plus Pivot Tables bring the workbook to life.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0E5C36"/>
          </a:solidFill>
          <a:ln/>
        </p:spPr>
      </p:sp>
      <p:pic>
        <p:nvPicPr>
          <p:cNvPr id="3" name="Image 0" descr="preencoded.png"/>
          <p:cNvPicPr>
            <a:picLocks noChangeAspect="1"/>
          </p:cNvPicPr>
          <p:nvPr/>
        </p:nvPicPr>
        <p:blipFill>
          <a:blip r:embed="rId3"/>
          <a:stretch>
            <a:fillRect/>
          </a:stretch>
        </p:blipFill>
        <p:spPr>
          <a:xfrm>
            <a:off x="568300" y="522580"/>
            <a:ext cx="372161" cy="372161"/>
          </a:xfrm>
          <a:prstGeom prst="rect">
            <a:avLst/>
          </a:prstGeom>
        </p:spPr>
      </p:pic>
      <p:sp>
        <p:nvSpPr>
          <p:cNvPr id="4" name="Text 1"/>
          <p:cNvSpPr/>
          <p:nvPr/>
        </p:nvSpPr>
        <p:spPr>
          <a:xfrm>
            <a:off x="1143000" y="420624"/>
            <a:ext cx="7315200" cy="274320"/>
          </a:xfrm>
          <a:prstGeom prst="rect">
            <a:avLst/>
          </a:prstGeom>
          <a:noFill/>
          <a:ln/>
        </p:spPr>
        <p:txBody>
          <a:bodyPr wrap="square" lIns="0" tIns="0" rIns="0" bIns="0" rtlCol="0" anchor="ctr"/>
          <a:lstStyle/>
          <a:p>
            <a:pPr marL="0" indent="0">
              <a:buNone/>
            </a:pPr>
            <a:r>
              <a:rPr lang="en-US" sz="1150" b="1" kern="0" spc="200" dirty="0">
                <a:solidFill>
                  <a:srgbClr val="1B7A43"/>
                </a:solidFill>
                <a:latin typeface="Calibri" pitchFamily="34" charset="0"/>
                <a:ea typeface="Calibri" pitchFamily="34" charset="-122"/>
                <a:cs typeface="Calibri" pitchFamily="34" charset="-120"/>
              </a:rPr>
              <a:t>MODULE 4 · VISUALIZATION</a:t>
            </a:r>
            <a:endParaRPr lang="en-US" sz="1150" dirty="0"/>
          </a:p>
        </p:txBody>
      </p:sp>
      <p:sp>
        <p:nvSpPr>
          <p:cNvPr id="5" name="Text 2"/>
          <p:cNvSpPr/>
          <p:nvPr/>
        </p:nvSpPr>
        <p:spPr>
          <a:xfrm>
            <a:off x="1143000" y="658368"/>
            <a:ext cx="9875520" cy="502920"/>
          </a:xfrm>
          <a:prstGeom prst="rect">
            <a:avLst/>
          </a:prstGeom>
          <a:noFill/>
          <a:ln/>
        </p:spPr>
        <p:txBody>
          <a:bodyPr wrap="square" lIns="0" tIns="0" rIns="0" bIns="0" rtlCol="0" anchor="ctr"/>
          <a:lstStyle/>
          <a:p>
            <a:pPr marL="0" indent="0">
              <a:buNone/>
            </a:pPr>
            <a:r>
              <a:rPr lang="en-US" sz="2600" b="1" dirty="0">
                <a:solidFill>
                  <a:srgbClr val="1F2A24"/>
                </a:solidFill>
                <a:latin typeface="Cambria" pitchFamily="34" charset="0"/>
                <a:ea typeface="Cambria" pitchFamily="34" charset="-122"/>
                <a:cs typeface="Cambria" pitchFamily="34" charset="-120"/>
              </a:rPr>
              <a:t>Data Visualization &amp; Reporting Techniques</a:t>
            </a:r>
            <a:endParaRPr lang="en-US" sz="2600" dirty="0"/>
          </a:p>
        </p:txBody>
      </p:sp>
      <p:sp>
        <p:nvSpPr>
          <p:cNvPr id="6" name="Text 3"/>
          <p:cNvSpPr/>
          <p:nvPr/>
        </p:nvSpPr>
        <p:spPr>
          <a:xfrm>
            <a:off x="502920" y="6528816"/>
            <a:ext cx="7315200" cy="256032"/>
          </a:xfrm>
          <a:prstGeom prst="rect">
            <a:avLst/>
          </a:prstGeom>
          <a:noFill/>
          <a:ln/>
        </p:spPr>
        <p:txBody>
          <a:bodyPr wrap="square" lIns="0" tIns="0" rIns="0" bIns="0" rtlCol="0" anchor="ctr"/>
          <a:lstStyle/>
          <a:p>
            <a:pPr marL="0" indent="0">
              <a:buNone/>
            </a:pPr>
            <a:r>
              <a:rPr lang="en-US" sz="850" dirty="0">
                <a:solidFill>
                  <a:srgbClr val="5B6B62"/>
                </a:solidFill>
                <a:latin typeface="Calibri" pitchFamily="34" charset="0"/>
                <a:ea typeface="Calibri" pitchFamily="34" charset="-122"/>
                <a:cs typeface="Calibri" pitchFamily="34" charset="-120"/>
              </a:rPr>
              <a:t>BUSINESS ANALYTICS  •  REVENUE &amp; METRICS FRAMEWORK</a:t>
            </a:r>
            <a:endParaRPr lang="en-US" sz="850" dirty="0"/>
          </a:p>
        </p:txBody>
      </p:sp>
      <p:sp>
        <p:nvSpPr>
          <p:cNvPr id="7" name="Text 4"/>
          <p:cNvSpPr/>
          <p:nvPr/>
        </p:nvSpPr>
        <p:spPr>
          <a:xfrm>
            <a:off x="11228832" y="6528816"/>
            <a:ext cx="457200" cy="256032"/>
          </a:xfrm>
          <a:prstGeom prst="rect">
            <a:avLst/>
          </a:prstGeom>
          <a:noFill/>
          <a:ln/>
        </p:spPr>
        <p:txBody>
          <a:bodyPr wrap="square" lIns="0" tIns="0" rIns="0" bIns="0" rtlCol="0" anchor="ctr"/>
          <a:lstStyle/>
          <a:p>
            <a:pPr marL="0" indent="0" algn="r">
              <a:buNone/>
            </a:pPr>
            <a:r>
              <a:rPr lang="en-US" sz="850" dirty="0">
                <a:solidFill>
                  <a:srgbClr val="5B6B62"/>
                </a:solidFill>
                <a:latin typeface="Calibri" pitchFamily="34" charset="0"/>
                <a:ea typeface="Calibri" pitchFamily="34" charset="-122"/>
                <a:cs typeface="Calibri" pitchFamily="34" charset="-120"/>
              </a:rPr>
              <a:t>12</a:t>
            </a:r>
            <a:endParaRPr lang="en-US" sz="850" dirty="0"/>
          </a:p>
        </p:txBody>
      </p:sp>
      <p:sp>
        <p:nvSpPr>
          <p:cNvPr id="8" name="Shape 5"/>
          <p:cNvSpPr/>
          <p:nvPr/>
        </p:nvSpPr>
        <p:spPr>
          <a:xfrm>
            <a:off x="502920" y="1417320"/>
            <a:ext cx="3611880" cy="2057400"/>
          </a:xfrm>
          <a:prstGeom prst="roundRect">
            <a:avLst>
              <a:gd name="adj" fmla="val 3556"/>
            </a:avLst>
          </a:prstGeom>
          <a:solidFill>
            <a:srgbClr val="F4FAF6"/>
          </a:solidFill>
          <a:ln/>
          <a:effectLst>
            <a:outerShdw blurRad="76200" dist="25400" dir="5400000" algn="bl" rotWithShape="0">
              <a:srgbClr val="000000">
                <a:alpha val="8000"/>
              </a:srgbClr>
            </a:outerShdw>
          </a:effectLst>
        </p:spPr>
      </p:sp>
      <p:sp>
        <p:nvSpPr>
          <p:cNvPr id="9" name="Shape 6"/>
          <p:cNvSpPr/>
          <p:nvPr/>
        </p:nvSpPr>
        <p:spPr>
          <a:xfrm>
            <a:off x="1943100" y="1709928"/>
            <a:ext cx="731520" cy="731520"/>
          </a:xfrm>
          <a:prstGeom prst="ellipse">
            <a:avLst/>
          </a:prstGeom>
          <a:solidFill>
            <a:srgbClr val="0E5C36"/>
          </a:solidFill>
          <a:ln/>
        </p:spPr>
      </p:sp>
      <p:pic>
        <p:nvPicPr>
          <p:cNvPr id="10" name="Image 1" descr="preencoded.png"/>
          <p:cNvPicPr>
            <a:picLocks noChangeAspect="1"/>
          </p:cNvPicPr>
          <p:nvPr/>
        </p:nvPicPr>
        <p:blipFill>
          <a:blip r:embed="rId4"/>
          <a:stretch>
            <a:fillRect/>
          </a:stretch>
        </p:blipFill>
        <p:spPr>
          <a:xfrm>
            <a:off x="2038198" y="1805026"/>
            <a:ext cx="541325" cy="541325"/>
          </a:xfrm>
          <a:prstGeom prst="rect">
            <a:avLst/>
          </a:prstGeom>
        </p:spPr>
      </p:pic>
      <p:sp>
        <p:nvSpPr>
          <p:cNvPr id="11" name="Text 7"/>
          <p:cNvSpPr/>
          <p:nvPr/>
        </p:nvSpPr>
        <p:spPr>
          <a:xfrm>
            <a:off x="685800" y="2587752"/>
            <a:ext cx="3246120" cy="365760"/>
          </a:xfrm>
          <a:prstGeom prst="rect">
            <a:avLst/>
          </a:prstGeom>
          <a:noFill/>
          <a:ln/>
        </p:spPr>
        <p:txBody>
          <a:bodyPr wrap="square" lIns="0" tIns="0" rIns="0" bIns="0" rtlCol="0" anchor="ctr"/>
          <a:lstStyle/>
          <a:p>
            <a:pPr marL="0" indent="0" algn="ctr">
              <a:buNone/>
            </a:pPr>
            <a:r>
              <a:rPr lang="en-US" sz="1450" b="1" dirty="0">
                <a:solidFill>
                  <a:srgbClr val="1F2A24"/>
                </a:solidFill>
                <a:latin typeface="Cambria" pitchFamily="34" charset="0"/>
                <a:ea typeface="Cambria" pitchFamily="34" charset="-122"/>
                <a:cs typeface="Cambria" pitchFamily="34" charset="-120"/>
              </a:rPr>
              <a:t>Line Charts</a:t>
            </a:r>
            <a:endParaRPr lang="en-US" sz="1450" dirty="0"/>
          </a:p>
        </p:txBody>
      </p:sp>
      <p:sp>
        <p:nvSpPr>
          <p:cNvPr id="12" name="Text 8"/>
          <p:cNvSpPr/>
          <p:nvPr/>
        </p:nvSpPr>
        <p:spPr>
          <a:xfrm>
            <a:off x="777240" y="2953512"/>
            <a:ext cx="3063240" cy="502920"/>
          </a:xfrm>
          <a:prstGeom prst="rect">
            <a:avLst/>
          </a:prstGeom>
          <a:noFill/>
          <a:ln/>
        </p:spPr>
        <p:txBody>
          <a:bodyPr wrap="square" lIns="0" tIns="0" rIns="0" bIns="0" rtlCol="0" anchor="t"/>
          <a:lstStyle/>
          <a:p>
            <a:pPr marL="0" indent="0" algn="ctr">
              <a:buNone/>
            </a:pPr>
            <a:r>
              <a:rPr lang="en-US" sz="1080" dirty="0">
                <a:solidFill>
                  <a:srgbClr val="5B6B62"/>
                </a:solidFill>
                <a:latin typeface="Calibri" pitchFamily="34" charset="0"/>
                <a:ea typeface="Calibri" pitchFamily="34" charset="-122"/>
                <a:cs typeface="Calibri" pitchFamily="34" charset="-120"/>
              </a:rPr>
              <a:t>Best for revenue &amp; KPI trends over time.</a:t>
            </a:r>
            <a:endParaRPr lang="en-US" sz="1080" dirty="0"/>
          </a:p>
        </p:txBody>
      </p:sp>
      <p:sp>
        <p:nvSpPr>
          <p:cNvPr id="13" name="Shape 9"/>
          <p:cNvSpPr/>
          <p:nvPr/>
        </p:nvSpPr>
        <p:spPr>
          <a:xfrm>
            <a:off x="4315968" y="1417320"/>
            <a:ext cx="3611880" cy="2057400"/>
          </a:xfrm>
          <a:prstGeom prst="roundRect">
            <a:avLst>
              <a:gd name="adj" fmla="val 3556"/>
            </a:avLst>
          </a:prstGeom>
          <a:solidFill>
            <a:srgbClr val="F4FAF6"/>
          </a:solidFill>
          <a:ln/>
          <a:effectLst>
            <a:outerShdw blurRad="76200" dist="25400" dir="5400000" algn="bl" rotWithShape="0">
              <a:srgbClr val="000000">
                <a:alpha val="8000"/>
              </a:srgbClr>
            </a:outerShdw>
          </a:effectLst>
        </p:spPr>
      </p:sp>
      <p:sp>
        <p:nvSpPr>
          <p:cNvPr id="14" name="Shape 10"/>
          <p:cNvSpPr/>
          <p:nvPr/>
        </p:nvSpPr>
        <p:spPr>
          <a:xfrm>
            <a:off x="5756148" y="1709928"/>
            <a:ext cx="731520" cy="731520"/>
          </a:xfrm>
          <a:prstGeom prst="ellipse">
            <a:avLst/>
          </a:prstGeom>
          <a:solidFill>
            <a:srgbClr val="0E5C36"/>
          </a:solidFill>
          <a:ln/>
        </p:spPr>
      </p:sp>
      <p:pic>
        <p:nvPicPr>
          <p:cNvPr id="15" name="Image 2" descr="preencoded.png"/>
          <p:cNvPicPr>
            <a:picLocks noChangeAspect="1"/>
          </p:cNvPicPr>
          <p:nvPr/>
        </p:nvPicPr>
        <p:blipFill>
          <a:blip r:embed="rId5"/>
          <a:stretch>
            <a:fillRect/>
          </a:stretch>
        </p:blipFill>
        <p:spPr>
          <a:xfrm>
            <a:off x="5851246" y="1805026"/>
            <a:ext cx="541325" cy="541325"/>
          </a:xfrm>
          <a:prstGeom prst="rect">
            <a:avLst/>
          </a:prstGeom>
        </p:spPr>
      </p:pic>
      <p:sp>
        <p:nvSpPr>
          <p:cNvPr id="16" name="Text 11"/>
          <p:cNvSpPr/>
          <p:nvPr/>
        </p:nvSpPr>
        <p:spPr>
          <a:xfrm>
            <a:off x="4498848" y="2587752"/>
            <a:ext cx="3246120" cy="365760"/>
          </a:xfrm>
          <a:prstGeom prst="rect">
            <a:avLst/>
          </a:prstGeom>
          <a:noFill/>
          <a:ln/>
        </p:spPr>
        <p:txBody>
          <a:bodyPr wrap="square" lIns="0" tIns="0" rIns="0" bIns="0" rtlCol="0" anchor="ctr"/>
          <a:lstStyle/>
          <a:p>
            <a:pPr marL="0" indent="0" algn="ctr">
              <a:buNone/>
            </a:pPr>
            <a:r>
              <a:rPr lang="en-US" sz="1450" b="1" dirty="0">
                <a:solidFill>
                  <a:srgbClr val="1F2A24"/>
                </a:solidFill>
                <a:latin typeface="Cambria" pitchFamily="34" charset="0"/>
                <a:ea typeface="Cambria" pitchFamily="34" charset="-122"/>
                <a:cs typeface="Cambria" pitchFamily="34" charset="-120"/>
              </a:rPr>
              <a:t>Bar / Column Charts</a:t>
            </a:r>
            <a:endParaRPr lang="en-US" sz="1450" dirty="0"/>
          </a:p>
        </p:txBody>
      </p:sp>
      <p:sp>
        <p:nvSpPr>
          <p:cNvPr id="17" name="Text 12"/>
          <p:cNvSpPr/>
          <p:nvPr/>
        </p:nvSpPr>
        <p:spPr>
          <a:xfrm>
            <a:off x="4590288" y="2953512"/>
            <a:ext cx="3063240" cy="502920"/>
          </a:xfrm>
          <a:prstGeom prst="rect">
            <a:avLst/>
          </a:prstGeom>
          <a:noFill/>
          <a:ln/>
        </p:spPr>
        <p:txBody>
          <a:bodyPr wrap="square" lIns="0" tIns="0" rIns="0" bIns="0" rtlCol="0" anchor="t"/>
          <a:lstStyle/>
          <a:p>
            <a:pPr marL="0" indent="0" algn="ctr">
              <a:buNone/>
            </a:pPr>
            <a:r>
              <a:rPr lang="en-US" sz="1080" dirty="0">
                <a:solidFill>
                  <a:srgbClr val="5B6B62"/>
                </a:solidFill>
                <a:latin typeface="Calibri" pitchFamily="34" charset="0"/>
                <a:ea typeface="Calibri" pitchFamily="34" charset="-122"/>
                <a:cs typeface="Calibri" pitchFamily="34" charset="-120"/>
              </a:rPr>
              <a:t>Ideal for comparing KPIs across periods or teams.</a:t>
            </a:r>
            <a:endParaRPr lang="en-US" sz="1080" dirty="0"/>
          </a:p>
        </p:txBody>
      </p:sp>
      <p:sp>
        <p:nvSpPr>
          <p:cNvPr id="18" name="Shape 13"/>
          <p:cNvSpPr/>
          <p:nvPr/>
        </p:nvSpPr>
        <p:spPr>
          <a:xfrm>
            <a:off x="8129016" y="1417320"/>
            <a:ext cx="3611880" cy="2057400"/>
          </a:xfrm>
          <a:prstGeom prst="roundRect">
            <a:avLst>
              <a:gd name="adj" fmla="val 3556"/>
            </a:avLst>
          </a:prstGeom>
          <a:solidFill>
            <a:srgbClr val="F4FAF6"/>
          </a:solidFill>
          <a:ln/>
          <a:effectLst>
            <a:outerShdw blurRad="76200" dist="25400" dir="5400000" algn="bl" rotWithShape="0">
              <a:srgbClr val="000000">
                <a:alpha val="8000"/>
              </a:srgbClr>
            </a:outerShdw>
          </a:effectLst>
        </p:spPr>
      </p:sp>
      <p:sp>
        <p:nvSpPr>
          <p:cNvPr id="19" name="Shape 14"/>
          <p:cNvSpPr/>
          <p:nvPr/>
        </p:nvSpPr>
        <p:spPr>
          <a:xfrm>
            <a:off x="9569196" y="1709928"/>
            <a:ext cx="731520" cy="731520"/>
          </a:xfrm>
          <a:prstGeom prst="ellipse">
            <a:avLst/>
          </a:prstGeom>
          <a:solidFill>
            <a:srgbClr val="0E5C36"/>
          </a:solidFill>
          <a:ln/>
        </p:spPr>
      </p:sp>
      <p:pic>
        <p:nvPicPr>
          <p:cNvPr id="20" name="Image 3" descr="preencoded.png"/>
          <p:cNvPicPr>
            <a:picLocks noChangeAspect="1"/>
          </p:cNvPicPr>
          <p:nvPr/>
        </p:nvPicPr>
        <p:blipFill>
          <a:blip r:embed="rId3"/>
          <a:stretch>
            <a:fillRect/>
          </a:stretch>
        </p:blipFill>
        <p:spPr>
          <a:xfrm>
            <a:off x="9664294" y="1805026"/>
            <a:ext cx="541325" cy="541325"/>
          </a:xfrm>
          <a:prstGeom prst="rect">
            <a:avLst/>
          </a:prstGeom>
        </p:spPr>
      </p:pic>
      <p:sp>
        <p:nvSpPr>
          <p:cNvPr id="21" name="Text 15"/>
          <p:cNvSpPr/>
          <p:nvPr/>
        </p:nvSpPr>
        <p:spPr>
          <a:xfrm>
            <a:off x="8311896" y="2587752"/>
            <a:ext cx="3246120" cy="365760"/>
          </a:xfrm>
          <a:prstGeom prst="rect">
            <a:avLst/>
          </a:prstGeom>
          <a:noFill/>
          <a:ln/>
        </p:spPr>
        <p:txBody>
          <a:bodyPr wrap="square" lIns="0" tIns="0" rIns="0" bIns="0" rtlCol="0" anchor="ctr"/>
          <a:lstStyle/>
          <a:p>
            <a:pPr marL="0" indent="0" algn="ctr">
              <a:buNone/>
            </a:pPr>
            <a:r>
              <a:rPr lang="en-US" sz="1450" b="1" dirty="0">
                <a:solidFill>
                  <a:srgbClr val="1F2A24"/>
                </a:solidFill>
                <a:latin typeface="Cambria" pitchFamily="34" charset="0"/>
                <a:ea typeface="Cambria" pitchFamily="34" charset="-122"/>
                <a:cs typeface="Cambria" pitchFamily="34" charset="-120"/>
              </a:rPr>
              <a:t>Pie / Donut Charts</a:t>
            </a:r>
            <a:endParaRPr lang="en-US" sz="1450" dirty="0"/>
          </a:p>
        </p:txBody>
      </p:sp>
      <p:sp>
        <p:nvSpPr>
          <p:cNvPr id="22" name="Text 16"/>
          <p:cNvSpPr/>
          <p:nvPr/>
        </p:nvSpPr>
        <p:spPr>
          <a:xfrm>
            <a:off x="8403336" y="2953512"/>
            <a:ext cx="3063240" cy="502920"/>
          </a:xfrm>
          <a:prstGeom prst="rect">
            <a:avLst/>
          </a:prstGeom>
          <a:noFill/>
          <a:ln/>
        </p:spPr>
        <p:txBody>
          <a:bodyPr wrap="square" lIns="0" tIns="0" rIns="0" bIns="0" rtlCol="0" anchor="t"/>
          <a:lstStyle/>
          <a:p>
            <a:pPr marL="0" indent="0" algn="ctr">
              <a:buNone/>
            </a:pPr>
            <a:r>
              <a:rPr lang="en-US" sz="1080" dirty="0">
                <a:solidFill>
                  <a:srgbClr val="5B6B62"/>
                </a:solidFill>
                <a:latin typeface="Calibri" pitchFamily="34" charset="0"/>
                <a:ea typeface="Calibri" pitchFamily="34" charset="-122"/>
                <a:cs typeface="Calibri" pitchFamily="34" charset="-120"/>
              </a:rPr>
              <a:t>Shows revenue or cost breakdown by category.</a:t>
            </a:r>
            <a:endParaRPr lang="en-US" sz="1080" dirty="0"/>
          </a:p>
        </p:txBody>
      </p:sp>
      <p:sp>
        <p:nvSpPr>
          <p:cNvPr id="23" name="Shape 17"/>
          <p:cNvSpPr/>
          <p:nvPr/>
        </p:nvSpPr>
        <p:spPr>
          <a:xfrm>
            <a:off x="502920" y="3675888"/>
            <a:ext cx="3611880" cy="2057400"/>
          </a:xfrm>
          <a:prstGeom prst="roundRect">
            <a:avLst>
              <a:gd name="adj" fmla="val 3556"/>
            </a:avLst>
          </a:prstGeom>
          <a:solidFill>
            <a:srgbClr val="EAF6EF"/>
          </a:solidFill>
          <a:ln/>
          <a:effectLst>
            <a:outerShdw blurRad="76200" dist="25400" dir="5400000" algn="bl" rotWithShape="0">
              <a:srgbClr val="000000">
                <a:alpha val="8000"/>
              </a:srgbClr>
            </a:outerShdw>
          </a:effectLst>
        </p:spPr>
      </p:sp>
      <p:sp>
        <p:nvSpPr>
          <p:cNvPr id="24" name="Shape 18"/>
          <p:cNvSpPr/>
          <p:nvPr/>
        </p:nvSpPr>
        <p:spPr>
          <a:xfrm>
            <a:off x="1943100" y="3968496"/>
            <a:ext cx="731520" cy="731520"/>
          </a:xfrm>
          <a:prstGeom prst="ellipse">
            <a:avLst/>
          </a:prstGeom>
          <a:solidFill>
            <a:srgbClr val="0E5C36"/>
          </a:solidFill>
          <a:ln/>
        </p:spPr>
      </p:sp>
      <p:pic>
        <p:nvPicPr>
          <p:cNvPr id="25" name="Image 4" descr="preencoded.png"/>
          <p:cNvPicPr>
            <a:picLocks noChangeAspect="1"/>
          </p:cNvPicPr>
          <p:nvPr/>
        </p:nvPicPr>
        <p:blipFill>
          <a:blip r:embed="rId6"/>
          <a:stretch>
            <a:fillRect/>
          </a:stretch>
        </p:blipFill>
        <p:spPr>
          <a:xfrm>
            <a:off x="2038198" y="4063594"/>
            <a:ext cx="541325" cy="541325"/>
          </a:xfrm>
          <a:prstGeom prst="rect">
            <a:avLst/>
          </a:prstGeom>
        </p:spPr>
      </p:pic>
      <p:sp>
        <p:nvSpPr>
          <p:cNvPr id="26" name="Text 19"/>
          <p:cNvSpPr/>
          <p:nvPr/>
        </p:nvSpPr>
        <p:spPr>
          <a:xfrm>
            <a:off x="685800" y="4846320"/>
            <a:ext cx="3246120" cy="365760"/>
          </a:xfrm>
          <a:prstGeom prst="rect">
            <a:avLst/>
          </a:prstGeom>
          <a:noFill/>
          <a:ln/>
        </p:spPr>
        <p:txBody>
          <a:bodyPr wrap="square" lIns="0" tIns="0" rIns="0" bIns="0" rtlCol="0" anchor="ctr"/>
          <a:lstStyle/>
          <a:p>
            <a:pPr marL="0" indent="0" algn="ctr">
              <a:buNone/>
            </a:pPr>
            <a:r>
              <a:rPr lang="en-US" sz="1450" b="1" dirty="0">
                <a:solidFill>
                  <a:srgbClr val="1F2A24"/>
                </a:solidFill>
                <a:latin typeface="Cambria" pitchFamily="34" charset="0"/>
                <a:ea typeface="Cambria" pitchFamily="34" charset="-122"/>
                <a:cs typeface="Cambria" pitchFamily="34" charset="-120"/>
              </a:rPr>
              <a:t>Pivot Tables</a:t>
            </a:r>
            <a:endParaRPr lang="en-US" sz="1450" dirty="0"/>
          </a:p>
        </p:txBody>
      </p:sp>
      <p:sp>
        <p:nvSpPr>
          <p:cNvPr id="27" name="Text 20"/>
          <p:cNvSpPr/>
          <p:nvPr/>
        </p:nvSpPr>
        <p:spPr>
          <a:xfrm>
            <a:off x="777240" y="5212080"/>
            <a:ext cx="3063240" cy="502920"/>
          </a:xfrm>
          <a:prstGeom prst="rect">
            <a:avLst/>
          </a:prstGeom>
          <a:noFill/>
          <a:ln/>
        </p:spPr>
        <p:txBody>
          <a:bodyPr wrap="square" lIns="0" tIns="0" rIns="0" bIns="0" rtlCol="0" anchor="t"/>
          <a:lstStyle/>
          <a:p>
            <a:pPr marL="0" indent="0" algn="ctr">
              <a:buNone/>
            </a:pPr>
            <a:r>
              <a:rPr lang="en-US" sz="1080" dirty="0">
                <a:solidFill>
                  <a:srgbClr val="5B6B62"/>
                </a:solidFill>
                <a:latin typeface="Calibri" pitchFamily="34" charset="0"/>
                <a:ea typeface="Calibri" pitchFamily="34" charset="-122"/>
                <a:cs typeface="Calibri" pitchFamily="34" charset="-120"/>
              </a:rPr>
              <a:t>Summarize large datasets without new formulas.</a:t>
            </a:r>
            <a:endParaRPr lang="en-US" sz="1080" dirty="0"/>
          </a:p>
        </p:txBody>
      </p:sp>
      <p:sp>
        <p:nvSpPr>
          <p:cNvPr id="28" name="Shape 21"/>
          <p:cNvSpPr/>
          <p:nvPr/>
        </p:nvSpPr>
        <p:spPr>
          <a:xfrm>
            <a:off x="4315968" y="3675888"/>
            <a:ext cx="3611880" cy="2057400"/>
          </a:xfrm>
          <a:prstGeom prst="roundRect">
            <a:avLst>
              <a:gd name="adj" fmla="val 3556"/>
            </a:avLst>
          </a:prstGeom>
          <a:solidFill>
            <a:srgbClr val="EAF6EF"/>
          </a:solidFill>
          <a:ln/>
          <a:effectLst>
            <a:outerShdw blurRad="76200" dist="25400" dir="5400000" algn="bl" rotWithShape="0">
              <a:srgbClr val="000000">
                <a:alpha val="8000"/>
              </a:srgbClr>
            </a:outerShdw>
          </a:effectLst>
        </p:spPr>
      </p:sp>
      <p:sp>
        <p:nvSpPr>
          <p:cNvPr id="29" name="Shape 22"/>
          <p:cNvSpPr/>
          <p:nvPr/>
        </p:nvSpPr>
        <p:spPr>
          <a:xfrm>
            <a:off x="5756148" y="3968496"/>
            <a:ext cx="731520" cy="731520"/>
          </a:xfrm>
          <a:prstGeom prst="ellipse">
            <a:avLst/>
          </a:prstGeom>
          <a:solidFill>
            <a:srgbClr val="0E5C36"/>
          </a:solidFill>
          <a:ln/>
        </p:spPr>
      </p:sp>
      <p:pic>
        <p:nvPicPr>
          <p:cNvPr id="30" name="Image 5" descr="preencoded.png"/>
          <p:cNvPicPr>
            <a:picLocks noChangeAspect="1"/>
          </p:cNvPicPr>
          <p:nvPr/>
        </p:nvPicPr>
        <p:blipFill>
          <a:blip r:embed="rId7"/>
          <a:stretch>
            <a:fillRect/>
          </a:stretch>
        </p:blipFill>
        <p:spPr>
          <a:xfrm>
            <a:off x="5851246" y="4063594"/>
            <a:ext cx="541325" cy="541325"/>
          </a:xfrm>
          <a:prstGeom prst="rect">
            <a:avLst/>
          </a:prstGeom>
        </p:spPr>
      </p:pic>
      <p:sp>
        <p:nvSpPr>
          <p:cNvPr id="31" name="Text 23"/>
          <p:cNvSpPr/>
          <p:nvPr/>
        </p:nvSpPr>
        <p:spPr>
          <a:xfrm>
            <a:off x="4498848" y="4846320"/>
            <a:ext cx="3246120" cy="365760"/>
          </a:xfrm>
          <a:prstGeom prst="rect">
            <a:avLst/>
          </a:prstGeom>
          <a:noFill/>
          <a:ln/>
        </p:spPr>
        <p:txBody>
          <a:bodyPr wrap="square" lIns="0" tIns="0" rIns="0" bIns="0" rtlCol="0" anchor="ctr"/>
          <a:lstStyle/>
          <a:p>
            <a:pPr marL="0" indent="0" algn="ctr">
              <a:buNone/>
            </a:pPr>
            <a:r>
              <a:rPr lang="en-US" sz="1450" b="1" dirty="0">
                <a:solidFill>
                  <a:srgbClr val="1F2A24"/>
                </a:solidFill>
                <a:latin typeface="Cambria" pitchFamily="34" charset="0"/>
                <a:ea typeface="Cambria" pitchFamily="34" charset="-122"/>
                <a:cs typeface="Cambria" pitchFamily="34" charset="-120"/>
              </a:rPr>
              <a:t>Conditional Formatting</a:t>
            </a:r>
            <a:endParaRPr lang="en-US" sz="1450" dirty="0"/>
          </a:p>
        </p:txBody>
      </p:sp>
      <p:sp>
        <p:nvSpPr>
          <p:cNvPr id="32" name="Text 24"/>
          <p:cNvSpPr/>
          <p:nvPr/>
        </p:nvSpPr>
        <p:spPr>
          <a:xfrm>
            <a:off x="4590288" y="5212080"/>
            <a:ext cx="3063240" cy="502920"/>
          </a:xfrm>
          <a:prstGeom prst="rect">
            <a:avLst/>
          </a:prstGeom>
          <a:noFill/>
          <a:ln/>
        </p:spPr>
        <p:txBody>
          <a:bodyPr wrap="square" lIns="0" tIns="0" rIns="0" bIns="0" rtlCol="0" anchor="t"/>
          <a:lstStyle/>
          <a:p>
            <a:pPr marL="0" indent="0" algn="ctr">
              <a:buNone/>
            </a:pPr>
            <a:r>
              <a:rPr lang="en-US" sz="1080" dirty="0">
                <a:solidFill>
                  <a:srgbClr val="5B6B62"/>
                </a:solidFill>
                <a:latin typeface="Calibri" pitchFamily="34" charset="0"/>
                <a:ea typeface="Calibri" pitchFamily="34" charset="-122"/>
                <a:cs typeface="Calibri" pitchFamily="34" charset="-120"/>
              </a:rPr>
              <a:t>Auto-highlights months above or below average.</a:t>
            </a:r>
            <a:endParaRPr lang="en-US" sz="1080" dirty="0"/>
          </a:p>
        </p:txBody>
      </p:sp>
      <p:sp>
        <p:nvSpPr>
          <p:cNvPr id="33" name="Shape 25"/>
          <p:cNvSpPr/>
          <p:nvPr/>
        </p:nvSpPr>
        <p:spPr>
          <a:xfrm>
            <a:off x="8129016" y="3675888"/>
            <a:ext cx="3611880" cy="2057400"/>
          </a:xfrm>
          <a:prstGeom prst="roundRect">
            <a:avLst>
              <a:gd name="adj" fmla="val 3556"/>
            </a:avLst>
          </a:prstGeom>
          <a:solidFill>
            <a:srgbClr val="EAF6EF"/>
          </a:solidFill>
          <a:ln/>
          <a:effectLst>
            <a:outerShdw blurRad="76200" dist="25400" dir="5400000" algn="bl" rotWithShape="0">
              <a:srgbClr val="000000">
                <a:alpha val="8000"/>
              </a:srgbClr>
            </a:outerShdw>
          </a:effectLst>
        </p:spPr>
      </p:sp>
      <p:sp>
        <p:nvSpPr>
          <p:cNvPr id="34" name="Shape 26"/>
          <p:cNvSpPr/>
          <p:nvPr/>
        </p:nvSpPr>
        <p:spPr>
          <a:xfrm>
            <a:off x="9569196" y="3968496"/>
            <a:ext cx="731520" cy="731520"/>
          </a:xfrm>
          <a:prstGeom prst="ellipse">
            <a:avLst/>
          </a:prstGeom>
          <a:solidFill>
            <a:srgbClr val="0E5C36"/>
          </a:solidFill>
          <a:ln/>
        </p:spPr>
      </p:sp>
      <p:pic>
        <p:nvPicPr>
          <p:cNvPr id="35" name="Image 6" descr="preencoded.png"/>
          <p:cNvPicPr>
            <a:picLocks noChangeAspect="1"/>
          </p:cNvPicPr>
          <p:nvPr/>
        </p:nvPicPr>
        <p:blipFill>
          <a:blip r:embed="rId8"/>
          <a:stretch>
            <a:fillRect/>
          </a:stretch>
        </p:blipFill>
        <p:spPr>
          <a:xfrm>
            <a:off x="9664294" y="4063594"/>
            <a:ext cx="541325" cy="541325"/>
          </a:xfrm>
          <a:prstGeom prst="rect">
            <a:avLst/>
          </a:prstGeom>
        </p:spPr>
      </p:pic>
      <p:sp>
        <p:nvSpPr>
          <p:cNvPr id="36" name="Text 27"/>
          <p:cNvSpPr/>
          <p:nvPr/>
        </p:nvSpPr>
        <p:spPr>
          <a:xfrm>
            <a:off x="8311896" y="4846320"/>
            <a:ext cx="3246120" cy="365760"/>
          </a:xfrm>
          <a:prstGeom prst="rect">
            <a:avLst/>
          </a:prstGeom>
          <a:noFill/>
          <a:ln/>
        </p:spPr>
        <p:txBody>
          <a:bodyPr wrap="square" lIns="0" tIns="0" rIns="0" bIns="0" rtlCol="0" anchor="ctr"/>
          <a:lstStyle/>
          <a:p>
            <a:pPr marL="0" indent="0" algn="ctr">
              <a:buNone/>
            </a:pPr>
            <a:r>
              <a:rPr lang="en-US" sz="1450" b="1" dirty="0">
                <a:solidFill>
                  <a:srgbClr val="1F2A24"/>
                </a:solidFill>
                <a:latin typeface="Cambria" pitchFamily="34" charset="0"/>
                <a:ea typeface="Cambria" pitchFamily="34" charset="-122"/>
                <a:cs typeface="Cambria" pitchFamily="34" charset="-120"/>
              </a:rPr>
              <a:t>Slicers &amp; Filters</a:t>
            </a:r>
            <a:endParaRPr lang="en-US" sz="1450" dirty="0"/>
          </a:p>
        </p:txBody>
      </p:sp>
      <p:sp>
        <p:nvSpPr>
          <p:cNvPr id="37" name="Text 28"/>
          <p:cNvSpPr/>
          <p:nvPr/>
        </p:nvSpPr>
        <p:spPr>
          <a:xfrm>
            <a:off x="8403336" y="5212080"/>
            <a:ext cx="3063240" cy="502920"/>
          </a:xfrm>
          <a:prstGeom prst="rect">
            <a:avLst/>
          </a:prstGeom>
          <a:noFill/>
          <a:ln/>
        </p:spPr>
        <p:txBody>
          <a:bodyPr wrap="square" lIns="0" tIns="0" rIns="0" bIns="0" rtlCol="0" anchor="t"/>
          <a:lstStyle/>
          <a:p>
            <a:pPr marL="0" indent="0" algn="ctr">
              <a:buNone/>
            </a:pPr>
            <a:r>
              <a:rPr lang="en-US" sz="1080" dirty="0">
                <a:solidFill>
                  <a:srgbClr val="5B6B62"/>
                </a:solidFill>
                <a:latin typeface="Calibri" pitchFamily="34" charset="0"/>
                <a:ea typeface="Calibri" pitchFamily="34" charset="-122"/>
                <a:cs typeface="Calibri" pitchFamily="34" charset="-120"/>
              </a:rPr>
              <a:t>Lets viewers drill into a specific month or segment.</a:t>
            </a:r>
            <a:endParaRPr lang="en-US" sz="10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0E5C36"/>
          </a:solidFill>
          <a:ln/>
        </p:spPr>
      </p:sp>
      <p:pic>
        <p:nvPicPr>
          <p:cNvPr id="3" name="Image 0" descr="preencoded.png"/>
          <p:cNvPicPr>
            <a:picLocks noChangeAspect="1"/>
          </p:cNvPicPr>
          <p:nvPr/>
        </p:nvPicPr>
        <p:blipFill>
          <a:blip r:embed="rId3"/>
          <a:stretch>
            <a:fillRect/>
          </a:stretch>
        </p:blipFill>
        <p:spPr>
          <a:xfrm>
            <a:off x="568300" y="522580"/>
            <a:ext cx="372161" cy="372161"/>
          </a:xfrm>
          <a:prstGeom prst="rect">
            <a:avLst/>
          </a:prstGeom>
        </p:spPr>
      </p:pic>
      <p:sp>
        <p:nvSpPr>
          <p:cNvPr id="4" name="Text 1"/>
          <p:cNvSpPr/>
          <p:nvPr/>
        </p:nvSpPr>
        <p:spPr>
          <a:xfrm>
            <a:off x="1143000" y="420624"/>
            <a:ext cx="7315200" cy="274320"/>
          </a:xfrm>
          <a:prstGeom prst="rect">
            <a:avLst/>
          </a:prstGeom>
          <a:noFill/>
          <a:ln/>
        </p:spPr>
        <p:txBody>
          <a:bodyPr wrap="square" lIns="0" tIns="0" rIns="0" bIns="0" rtlCol="0" anchor="ctr"/>
          <a:lstStyle/>
          <a:p>
            <a:pPr marL="0" indent="0">
              <a:buNone/>
            </a:pPr>
            <a:r>
              <a:rPr lang="en-US" sz="1150" b="1" kern="0" spc="200" dirty="0">
                <a:solidFill>
                  <a:srgbClr val="1B7A43"/>
                </a:solidFill>
                <a:latin typeface="Calibri" pitchFamily="34" charset="0"/>
                <a:ea typeface="Calibri" pitchFamily="34" charset="-122"/>
                <a:cs typeface="Calibri" pitchFamily="34" charset="-120"/>
              </a:rPr>
              <a:t>REFERENCE</a:t>
            </a:r>
            <a:endParaRPr lang="en-US" sz="1150" dirty="0"/>
          </a:p>
        </p:txBody>
      </p:sp>
      <p:sp>
        <p:nvSpPr>
          <p:cNvPr id="5" name="Text 2"/>
          <p:cNvSpPr/>
          <p:nvPr/>
        </p:nvSpPr>
        <p:spPr>
          <a:xfrm>
            <a:off x="1143000" y="658368"/>
            <a:ext cx="9875520" cy="502920"/>
          </a:xfrm>
          <a:prstGeom prst="rect">
            <a:avLst/>
          </a:prstGeom>
          <a:noFill/>
          <a:ln/>
        </p:spPr>
        <p:txBody>
          <a:bodyPr wrap="square" lIns="0" tIns="0" rIns="0" bIns="0" rtlCol="0" anchor="ctr"/>
          <a:lstStyle/>
          <a:p>
            <a:pPr marL="0" indent="0">
              <a:buNone/>
            </a:pPr>
            <a:r>
              <a:rPr lang="en-US" sz="2600" b="1" dirty="0">
                <a:solidFill>
                  <a:srgbClr val="1F2A24"/>
                </a:solidFill>
                <a:latin typeface="Cambria" pitchFamily="34" charset="0"/>
                <a:ea typeface="Cambria" pitchFamily="34" charset="-122"/>
                <a:cs typeface="Cambria" pitchFamily="34" charset="-120"/>
              </a:rPr>
              <a:t>Formula Reference &amp; Best Practices</a:t>
            </a:r>
            <a:endParaRPr lang="en-US" sz="2600" dirty="0"/>
          </a:p>
        </p:txBody>
      </p:sp>
      <p:sp>
        <p:nvSpPr>
          <p:cNvPr id="6" name="Text 3"/>
          <p:cNvSpPr/>
          <p:nvPr/>
        </p:nvSpPr>
        <p:spPr>
          <a:xfrm>
            <a:off x="502920" y="6528816"/>
            <a:ext cx="7315200" cy="256032"/>
          </a:xfrm>
          <a:prstGeom prst="rect">
            <a:avLst/>
          </a:prstGeom>
          <a:noFill/>
          <a:ln/>
        </p:spPr>
        <p:txBody>
          <a:bodyPr wrap="square" lIns="0" tIns="0" rIns="0" bIns="0" rtlCol="0" anchor="ctr"/>
          <a:lstStyle/>
          <a:p>
            <a:pPr marL="0" indent="0">
              <a:buNone/>
            </a:pPr>
            <a:r>
              <a:rPr lang="en-US" sz="850" dirty="0">
                <a:solidFill>
                  <a:srgbClr val="5B6B62"/>
                </a:solidFill>
                <a:latin typeface="Calibri" pitchFamily="34" charset="0"/>
                <a:ea typeface="Calibri" pitchFamily="34" charset="-122"/>
                <a:cs typeface="Calibri" pitchFamily="34" charset="-120"/>
              </a:rPr>
              <a:t>BUSINESS ANALYTICS  •  REVENUE &amp; METRICS FRAMEWORK</a:t>
            </a:r>
            <a:endParaRPr lang="en-US" sz="850" dirty="0"/>
          </a:p>
        </p:txBody>
      </p:sp>
      <p:sp>
        <p:nvSpPr>
          <p:cNvPr id="7" name="Text 4"/>
          <p:cNvSpPr/>
          <p:nvPr/>
        </p:nvSpPr>
        <p:spPr>
          <a:xfrm>
            <a:off x="11228832" y="6528816"/>
            <a:ext cx="457200" cy="256032"/>
          </a:xfrm>
          <a:prstGeom prst="rect">
            <a:avLst/>
          </a:prstGeom>
          <a:noFill/>
          <a:ln/>
        </p:spPr>
        <p:txBody>
          <a:bodyPr wrap="square" lIns="0" tIns="0" rIns="0" bIns="0" rtlCol="0" anchor="ctr"/>
          <a:lstStyle/>
          <a:p>
            <a:pPr marL="0" indent="0" algn="r">
              <a:buNone/>
            </a:pPr>
            <a:r>
              <a:rPr lang="en-US" sz="850" dirty="0">
                <a:solidFill>
                  <a:srgbClr val="5B6B62"/>
                </a:solidFill>
                <a:latin typeface="Calibri" pitchFamily="34" charset="0"/>
                <a:ea typeface="Calibri" pitchFamily="34" charset="-122"/>
                <a:cs typeface="Calibri" pitchFamily="34" charset="-120"/>
              </a:rPr>
              <a:t>13</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766560" cy="4626864"/>
        </p:xfrm>
        <a:graphic>
          <a:graphicData uri="http://schemas.openxmlformats.org/drawingml/2006/table">
            <a:tbl>
              <a:tblPr/>
              <a:tblGrid>
                <a:gridCol w="28346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2062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solidFill>
                      <a:srgbClr val="0E5C3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Excel Formula</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solidFill>
                      <a:srgbClr val="0E5C3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Format As</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solidFill>
                      <a:srgbClr val="0E5C36"/>
                    </a:solidFill>
                  </a:tcPr>
                </a:tc>
                <a:extLst>
                  <a:ext uri="{0D108BD9-81ED-4DB2-BD59-A6C34878D82A}">
                    <a16:rowId xmlns:a16="http://schemas.microsoft.com/office/drawing/2014/main" val="10000"/>
                  </a:ext>
                </a:extLst>
              </a:tr>
              <a:tr h="420624">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Total Revenue</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=SUM(B2:B13)</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Currency</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Average Monthly Revenue</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=AVERAGE(B2:B13)</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Currency</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Revenue Growth %</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=(B13-B2)/B2*100</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Percentage</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Gross Profit</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=B2-C2</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Currency</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Gross Margin %</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=(B2-C2)/B2*100</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Percentage</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Net Profit</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=D2-E2</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Currency</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06"/>
                  </a:ext>
                </a:extLst>
              </a:tr>
              <a:tr h="420624">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Net Margin %</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=F2/B2*100</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Percentage</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07"/>
                  </a:ext>
                </a:extLst>
              </a:tr>
              <a:tr h="420624">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ROI %</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=(F2-J2)/J2*100</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Percentage</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08"/>
                  </a:ext>
                </a:extLst>
              </a:tr>
              <a:tr h="420624">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CAC</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=E2/F2</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Currency</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09"/>
                  </a:ext>
                </a:extLst>
              </a:tr>
              <a:tr h="420624">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Inventory Turnover</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=C2/K2</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tc>
                  <a:txBody>
                    <a:bodyPr/>
                    <a:lstStyle/>
                    <a:p>
                      <a:pPr marL="0" indent="0">
                        <a:buNone/>
                      </a:pPr>
                      <a:r>
                        <a:rPr lang="en-US" sz="1100" dirty="0">
                          <a:solidFill>
                            <a:srgbClr val="1F2A24"/>
                          </a:solidFill>
                          <a:latin typeface="Calibri" pitchFamily="34" charset="0"/>
                          <a:ea typeface="Calibri" pitchFamily="34" charset="-122"/>
                          <a:cs typeface="Calibri" pitchFamily="34" charset="-120"/>
                        </a:rPr>
                        <a:t>Number</a:t>
                      </a:r>
                      <a:endParaRPr lang="en-US" sz="1100" dirty="0">
                        <a:latin typeface="Calibri" charset="0"/>
                        <a:ea typeface="Calibri" charset="0"/>
                        <a:cs typeface="Calibri" charset="0"/>
                      </a:endParaRPr>
                    </a:p>
                  </a:txBody>
                  <a:tcPr anchor="ctr">
                    <a:lnL w="6350" cap="flat" cmpd="sng" algn="ctr">
                      <a:solidFill>
                        <a:srgbClr val="CFE6D9"/>
                      </a:solidFill>
                      <a:prstDash val="solid"/>
                      <a:round/>
                      <a:headEnd type="none" w="med" len="med"/>
                      <a:tailEnd type="none" w="med" len="med"/>
                    </a:lnL>
                    <a:lnR w="6350" cap="flat" cmpd="sng" algn="ctr">
                      <a:solidFill>
                        <a:srgbClr val="CFE6D9"/>
                      </a:solidFill>
                      <a:prstDash val="solid"/>
                      <a:round/>
                      <a:headEnd type="none" w="med" len="med"/>
                      <a:tailEnd type="none" w="med" len="med"/>
                    </a:lnR>
                    <a:lnT w="6350" cap="flat" cmpd="sng" algn="ctr">
                      <a:solidFill>
                        <a:srgbClr val="CFE6D9"/>
                      </a:solidFill>
                      <a:prstDash val="solid"/>
                      <a:round/>
                      <a:headEnd type="none" w="med" len="med"/>
                      <a:tailEnd type="none" w="med" len="med"/>
                    </a:lnT>
                    <a:lnB w="6350" cap="flat" cmpd="sng" algn="ctr">
                      <a:solidFill>
                        <a:srgbClr val="CFE6D9"/>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9" name="Shape 5"/>
          <p:cNvSpPr/>
          <p:nvPr/>
        </p:nvSpPr>
        <p:spPr>
          <a:xfrm>
            <a:off x="7543800" y="1371600"/>
            <a:ext cx="4160520" cy="4663440"/>
          </a:xfrm>
          <a:prstGeom prst="roundRect">
            <a:avLst>
              <a:gd name="adj" fmla="val 1758"/>
            </a:avLst>
          </a:prstGeom>
          <a:solidFill>
            <a:srgbClr val="F4FAF6"/>
          </a:solidFill>
          <a:ln/>
          <a:effectLst>
            <a:outerShdw blurRad="76200" dist="25400" dir="5400000" algn="bl" rotWithShape="0">
              <a:srgbClr val="000000">
                <a:alpha val="8000"/>
              </a:srgbClr>
            </a:outerShdw>
          </a:effectLst>
        </p:spPr>
      </p:sp>
      <p:sp>
        <p:nvSpPr>
          <p:cNvPr id="10" name="Text 6"/>
          <p:cNvSpPr/>
          <p:nvPr/>
        </p:nvSpPr>
        <p:spPr>
          <a:xfrm>
            <a:off x="7772400" y="1508760"/>
            <a:ext cx="3657600" cy="292608"/>
          </a:xfrm>
          <a:prstGeom prst="rect">
            <a:avLst/>
          </a:prstGeom>
          <a:noFill/>
          <a:ln/>
        </p:spPr>
        <p:txBody>
          <a:bodyPr wrap="square" lIns="0" tIns="0" rIns="0" bIns="0" rtlCol="0" anchor="ctr"/>
          <a:lstStyle/>
          <a:p>
            <a:pPr marL="0" indent="0">
              <a:buNone/>
            </a:pPr>
            <a:r>
              <a:rPr lang="en-US" sz="1500" b="1" dirty="0">
                <a:solidFill>
                  <a:srgbClr val="1F2A24"/>
                </a:solidFill>
                <a:latin typeface="Cambria" pitchFamily="34" charset="0"/>
                <a:ea typeface="Cambria" pitchFamily="34" charset="-122"/>
                <a:cs typeface="Cambria" pitchFamily="34" charset="-120"/>
              </a:rPr>
              <a:t>Best Practices</a:t>
            </a:r>
            <a:endParaRPr lang="en-US" sz="1500" dirty="0"/>
          </a:p>
        </p:txBody>
      </p:sp>
      <p:sp>
        <p:nvSpPr>
          <p:cNvPr id="11" name="Shape 7"/>
          <p:cNvSpPr/>
          <p:nvPr/>
        </p:nvSpPr>
        <p:spPr>
          <a:xfrm>
            <a:off x="7772400" y="1938528"/>
            <a:ext cx="310896" cy="310896"/>
          </a:xfrm>
          <a:prstGeom prst="ellipse">
            <a:avLst/>
          </a:prstGeom>
          <a:solidFill>
            <a:srgbClr val="1B7A43"/>
          </a:solidFill>
          <a:ln/>
        </p:spPr>
      </p:sp>
      <p:pic>
        <p:nvPicPr>
          <p:cNvPr id="12" name="Image 1" descr="preencoded.png"/>
          <p:cNvPicPr>
            <a:picLocks noChangeAspect="1"/>
          </p:cNvPicPr>
          <p:nvPr/>
        </p:nvPicPr>
        <p:blipFill>
          <a:blip r:embed="rId4"/>
          <a:stretch>
            <a:fillRect/>
          </a:stretch>
        </p:blipFill>
        <p:spPr>
          <a:xfrm>
            <a:off x="7812816" y="1978944"/>
            <a:ext cx="230063" cy="230063"/>
          </a:xfrm>
          <a:prstGeom prst="rect">
            <a:avLst/>
          </a:prstGeom>
        </p:spPr>
      </p:pic>
      <p:sp>
        <p:nvSpPr>
          <p:cNvPr id="13" name="Text 8"/>
          <p:cNvSpPr/>
          <p:nvPr/>
        </p:nvSpPr>
        <p:spPr>
          <a:xfrm>
            <a:off x="8229600" y="1874520"/>
            <a:ext cx="3291840" cy="777240"/>
          </a:xfrm>
          <a:prstGeom prst="rect">
            <a:avLst/>
          </a:prstGeom>
          <a:noFill/>
          <a:ln/>
        </p:spPr>
        <p:txBody>
          <a:bodyPr wrap="square" lIns="0" tIns="0" rIns="0" bIns="0" rtlCol="0" anchor="t"/>
          <a:lstStyle/>
          <a:p>
            <a:pPr marL="0" indent="0">
              <a:buNone/>
            </a:pPr>
            <a:r>
              <a:rPr lang="en-US" sz="1080" dirty="0">
                <a:solidFill>
                  <a:srgbClr val="1F2A24"/>
                </a:solidFill>
                <a:latin typeface="Calibri" pitchFamily="34" charset="0"/>
                <a:ea typeface="Calibri" pitchFamily="34" charset="-122"/>
                <a:cs typeface="Calibri" pitchFamily="34" charset="-120"/>
              </a:rPr>
              <a:t>Wrap ratio formulas in IFERROR() to keep dashboards clean when a denominator is zero.</a:t>
            </a:r>
            <a:endParaRPr lang="en-US" sz="1080" dirty="0"/>
          </a:p>
        </p:txBody>
      </p:sp>
      <p:sp>
        <p:nvSpPr>
          <p:cNvPr id="8" name="Shape 9"/>
          <p:cNvSpPr/>
          <p:nvPr/>
        </p:nvSpPr>
        <p:spPr>
          <a:xfrm>
            <a:off x="7772400" y="2807208"/>
            <a:ext cx="310896" cy="310896"/>
          </a:xfrm>
          <a:prstGeom prst="ellipse">
            <a:avLst/>
          </a:prstGeom>
          <a:solidFill>
            <a:srgbClr val="1B7A43"/>
          </a:solidFill>
          <a:ln/>
        </p:spPr>
      </p:sp>
      <p:pic>
        <p:nvPicPr>
          <p:cNvPr id="15" name="Image 2" descr="preencoded.png"/>
          <p:cNvPicPr>
            <a:picLocks noChangeAspect="1"/>
          </p:cNvPicPr>
          <p:nvPr/>
        </p:nvPicPr>
        <p:blipFill>
          <a:blip r:embed="rId4"/>
          <a:stretch>
            <a:fillRect/>
          </a:stretch>
        </p:blipFill>
        <p:spPr>
          <a:xfrm>
            <a:off x="7812816" y="2847624"/>
            <a:ext cx="230063" cy="230063"/>
          </a:xfrm>
          <a:prstGeom prst="rect">
            <a:avLst/>
          </a:prstGeom>
        </p:spPr>
      </p:pic>
      <p:sp>
        <p:nvSpPr>
          <p:cNvPr id="16" name="Text 10"/>
          <p:cNvSpPr/>
          <p:nvPr/>
        </p:nvSpPr>
        <p:spPr>
          <a:xfrm>
            <a:off x="8229600" y="2743200"/>
            <a:ext cx="3291840" cy="777240"/>
          </a:xfrm>
          <a:prstGeom prst="rect">
            <a:avLst/>
          </a:prstGeom>
          <a:noFill/>
          <a:ln/>
        </p:spPr>
        <p:txBody>
          <a:bodyPr wrap="square" lIns="0" tIns="0" rIns="0" bIns="0" rtlCol="0" anchor="t"/>
          <a:lstStyle/>
          <a:p>
            <a:pPr marL="0" indent="0">
              <a:buNone/>
            </a:pPr>
            <a:r>
              <a:rPr lang="en-US" sz="1080" dirty="0">
                <a:solidFill>
                  <a:srgbClr val="1F2A24"/>
                </a:solidFill>
                <a:latin typeface="Calibri" pitchFamily="34" charset="0"/>
                <a:ea typeface="Calibri" pitchFamily="34" charset="-122"/>
                <a:cs typeface="Calibri" pitchFamily="34" charset="-120"/>
              </a:rPr>
              <a:t>Use Named Ranges (Formulas → Define Name) so formulas read like 'Revenue/COGS', not 'B2/C2'.</a:t>
            </a:r>
            <a:endParaRPr lang="en-US" sz="1080" dirty="0"/>
          </a:p>
        </p:txBody>
      </p:sp>
      <p:sp>
        <p:nvSpPr>
          <p:cNvPr id="17" name="Shape 11"/>
          <p:cNvSpPr/>
          <p:nvPr/>
        </p:nvSpPr>
        <p:spPr>
          <a:xfrm>
            <a:off x="7772400" y="3675888"/>
            <a:ext cx="310896" cy="310896"/>
          </a:xfrm>
          <a:prstGeom prst="ellipse">
            <a:avLst/>
          </a:prstGeom>
          <a:solidFill>
            <a:srgbClr val="1B7A43"/>
          </a:solidFill>
          <a:ln/>
        </p:spPr>
      </p:sp>
      <p:pic>
        <p:nvPicPr>
          <p:cNvPr id="18" name="Image 3" descr="preencoded.png"/>
          <p:cNvPicPr>
            <a:picLocks noChangeAspect="1"/>
          </p:cNvPicPr>
          <p:nvPr/>
        </p:nvPicPr>
        <p:blipFill>
          <a:blip r:embed="rId4"/>
          <a:stretch>
            <a:fillRect/>
          </a:stretch>
        </p:blipFill>
        <p:spPr>
          <a:xfrm>
            <a:off x="7812816" y="3716304"/>
            <a:ext cx="230063" cy="230063"/>
          </a:xfrm>
          <a:prstGeom prst="rect">
            <a:avLst/>
          </a:prstGeom>
        </p:spPr>
      </p:pic>
      <p:sp>
        <p:nvSpPr>
          <p:cNvPr id="19" name="Text 12"/>
          <p:cNvSpPr/>
          <p:nvPr/>
        </p:nvSpPr>
        <p:spPr>
          <a:xfrm>
            <a:off x="8229600" y="3611880"/>
            <a:ext cx="3291840" cy="777240"/>
          </a:xfrm>
          <a:prstGeom prst="rect">
            <a:avLst/>
          </a:prstGeom>
          <a:noFill/>
          <a:ln/>
        </p:spPr>
        <p:txBody>
          <a:bodyPr wrap="square" lIns="0" tIns="0" rIns="0" bIns="0" rtlCol="0" anchor="t"/>
          <a:lstStyle/>
          <a:p>
            <a:pPr marL="0" indent="0">
              <a:buNone/>
            </a:pPr>
            <a:r>
              <a:rPr lang="en-US" sz="1080" dirty="0">
                <a:solidFill>
                  <a:srgbClr val="1F2A24"/>
                </a:solidFill>
                <a:latin typeface="Calibri" pitchFamily="34" charset="0"/>
                <a:ea typeface="Calibri" pitchFamily="34" charset="-122"/>
                <a:cs typeface="Calibri" pitchFamily="34" charset="-120"/>
              </a:rPr>
              <a:t>Format consistently: currency for amounts, percentage for ratios, two decimals for ratios like Current Ratio.</a:t>
            </a:r>
            <a:endParaRPr lang="en-US" sz="1080" dirty="0"/>
          </a:p>
        </p:txBody>
      </p:sp>
      <p:sp>
        <p:nvSpPr>
          <p:cNvPr id="20" name="Shape 13"/>
          <p:cNvSpPr/>
          <p:nvPr/>
        </p:nvSpPr>
        <p:spPr>
          <a:xfrm>
            <a:off x="7772400" y="4544568"/>
            <a:ext cx="310896" cy="310896"/>
          </a:xfrm>
          <a:prstGeom prst="ellipse">
            <a:avLst/>
          </a:prstGeom>
          <a:solidFill>
            <a:srgbClr val="1B7A43"/>
          </a:solidFill>
          <a:ln/>
        </p:spPr>
      </p:sp>
      <p:pic>
        <p:nvPicPr>
          <p:cNvPr id="21" name="Image 4" descr="preencoded.png"/>
          <p:cNvPicPr>
            <a:picLocks noChangeAspect="1"/>
          </p:cNvPicPr>
          <p:nvPr/>
        </p:nvPicPr>
        <p:blipFill>
          <a:blip r:embed="rId4"/>
          <a:stretch>
            <a:fillRect/>
          </a:stretch>
        </p:blipFill>
        <p:spPr>
          <a:xfrm>
            <a:off x="7812816" y="4584984"/>
            <a:ext cx="230063" cy="230063"/>
          </a:xfrm>
          <a:prstGeom prst="rect">
            <a:avLst/>
          </a:prstGeom>
        </p:spPr>
      </p:pic>
      <p:sp>
        <p:nvSpPr>
          <p:cNvPr id="22" name="Text 14"/>
          <p:cNvSpPr/>
          <p:nvPr/>
        </p:nvSpPr>
        <p:spPr>
          <a:xfrm>
            <a:off x="8229600" y="4480560"/>
            <a:ext cx="3291840" cy="777240"/>
          </a:xfrm>
          <a:prstGeom prst="rect">
            <a:avLst/>
          </a:prstGeom>
          <a:noFill/>
          <a:ln/>
        </p:spPr>
        <p:txBody>
          <a:bodyPr wrap="square" lIns="0" tIns="0" rIns="0" bIns="0" rtlCol="0" anchor="t"/>
          <a:lstStyle/>
          <a:p>
            <a:pPr marL="0" indent="0">
              <a:buNone/>
            </a:pPr>
            <a:r>
              <a:rPr lang="en-US" sz="1080" dirty="0">
                <a:solidFill>
                  <a:srgbClr val="1F2A24"/>
                </a:solidFill>
                <a:latin typeface="Calibri" pitchFamily="34" charset="0"/>
                <a:ea typeface="Calibri" pitchFamily="34" charset="-122"/>
                <a:cs typeface="Calibri" pitchFamily="34" charset="-120"/>
              </a:rPr>
              <a:t>Rebuild charts from Pivot Tables so the dashboard updates automatically as new months are added.</a:t>
            </a:r>
            <a:endParaRPr lang="en-US" sz="10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0E5C36"/>
          </a:solidFill>
          <a:ln/>
        </p:spPr>
      </p:sp>
      <p:pic>
        <p:nvPicPr>
          <p:cNvPr id="3" name="Image 0" descr="preencoded.png"/>
          <p:cNvPicPr>
            <a:picLocks noChangeAspect="1"/>
          </p:cNvPicPr>
          <p:nvPr/>
        </p:nvPicPr>
        <p:blipFill>
          <a:blip r:embed="rId3"/>
          <a:stretch>
            <a:fillRect/>
          </a:stretch>
        </p:blipFill>
        <p:spPr>
          <a:xfrm>
            <a:off x="568300" y="522580"/>
            <a:ext cx="372161" cy="372161"/>
          </a:xfrm>
          <a:prstGeom prst="rect">
            <a:avLst/>
          </a:prstGeom>
        </p:spPr>
      </p:pic>
      <p:sp>
        <p:nvSpPr>
          <p:cNvPr id="4" name="Text 1"/>
          <p:cNvSpPr/>
          <p:nvPr/>
        </p:nvSpPr>
        <p:spPr>
          <a:xfrm>
            <a:off x="1143000" y="420624"/>
            <a:ext cx="7315200" cy="274320"/>
          </a:xfrm>
          <a:prstGeom prst="rect">
            <a:avLst/>
          </a:prstGeom>
          <a:noFill/>
          <a:ln/>
        </p:spPr>
        <p:txBody>
          <a:bodyPr wrap="square" lIns="0" tIns="0" rIns="0" bIns="0" rtlCol="0" anchor="ctr"/>
          <a:lstStyle/>
          <a:p>
            <a:pPr marL="0" indent="0">
              <a:buNone/>
            </a:pPr>
            <a:r>
              <a:rPr lang="en-US" sz="1150" b="1" kern="0" spc="200" dirty="0">
                <a:solidFill>
                  <a:srgbClr val="1B7A43"/>
                </a:solidFill>
                <a:latin typeface="Calibri" pitchFamily="34" charset="0"/>
                <a:ea typeface="Calibri" pitchFamily="34" charset="-122"/>
                <a:cs typeface="Calibri" pitchFamily="34" charset="-120"/>
              </a:rPr>
              <a:t>STRATEGY</a:t>
            </a:r>
            <a:endParaRPr lang="en-US" sz="1150" dirty="0"/>
          </a:p>
        </p:txBody>
      </p:sp>
      <p:sp>
        <p:nvSpPr>
          <p:cNvPr id="5" name="Text 2"/>
          <p:cNvSpPr/>
          <p:nvPr/>
        </p:nvSpPr>
        <p:spPr>
          <a:xfrm>
            <a:off x="1143000" y="658368"/>
            <a:ext cx="9875520" cy="502920"/>
          </a:xfrm>
          <a:prstGeom prst="rect">
            <a:avLst/>
          </a:prstGeom>
          <a:noFill/>
          <a:ln/>
        </p:spPr>
        <p:txBody>
          <a:bodyPr wrap="square" lIns="0" tIns="0" rIns="0" bIns="0" rtlCol="0" anchor="ctr"/>
          <a:lstStyle/>
          <a:p>
            <a:pPr marL="0" indent="0">
              <a:buNone/>
            </a:pPr>
            <a:r>
              <a:rPr lang="en-US" sz="2600" b="1" dirty="0">
                <a:solidFill>
                  <a:srgbClr val="1F2A24"/>
                </a:solidFill>
                <a:latin typeface="Cambria" pitchFamily="34" charset="0"/>
                <a:ea typeface="Cambria" pitchFamily="34" charset="-122"/>
                <a:cs typeface="Cambria" pitchFamily="34" charset="-120"/>
              </a:rPr>
              <a:t>Strategic Recommendations</a:t>
            </a:r>
            <a:endParaRPr lang="en-US" sz="2600" dirty="0"/>
          </a:p>
        </p:txBody>
      </p:sp>
      <p:sp>
        <p:nvSpPr>
          <p:cNvPr id="6" name="Text 3"/>
          <p:cNvSpPr/>
          <p:nvPr/>
        </p:nvSpPr>
        <p:spPr>
          <a:xfrm>
            <a:off x="502920" y="6528816"/>
            <a:ext cx="7315200" cy="256032"/>
          </a:xfrm>
          <a:prstGeom prst="rect">
            <a:avLst/>
          </a:prstGeom>
          <a:noFill/>
          <a:ln/>
        </p:spPr>
        <p:txBody>
          <a:bodyPr wrap="square" lIns="0" tIns="0" rIns="0" bIns="0" rtlCol="0" anchor="ctr"/>
          <a:lstStyle/>
          <a:p>
            <a:pPr marL="0" indent="0">
              <a:buNone/>
            </a:pPr>
            <a:r>
              <a:rPr lang="en-US" sz="850" dirty="0">
                <a:solidFill>
                  <a:srgbClr val="5B6B62"/>
                </a:solidFill>
                <a:latin typeface="Calibri" pitchFamily="34" charset="0"/>
                <a:ea typeface="Calibri" pitchFamily="34" charset="-122"/>
                <a:cs typeface="Calibri" pitchFamily="34" charset="-120"/>
              </a:rPr>
              <a:t>BUSINESS ANALYTICS  •  REVENUE &amp; METRICS FRAMEWORK</a:t>
            </a:r>
            <a:endParaRPr lang="en-US" sz="850" dirty="0"/>
          </a:p>
        </p:txBody>
      </p:sp>
      <p:sp>
        <p:nvSpPr>
          <p:cNvPr id="7" name="Text 4"/>
          <p:cNvSpPr/>
          <p:nvPr/>
        </p:nvSpPr>
        <p:spPr>
          <a:xfrm>
            <a:off x="11228832" y="6528816"/>
            <a:ext cx="457200" cy="256032"/>
          </a:xfrm>
          <a:prstGeom prst="rect">
            <a:avLst/>
          </a:prstGeom>
          <a:noFill/>
          <a:ln/>
        </p:spPr>
        <p:txBody>
          <a:bodyPr wrap="square" lIns="0" tIns="0" rIns="0" bIns="0" rtlCol="0" anchor="ctr"/>
          <a:lstStyle/>
          <a:p>
            <a:pPr marL="0" indent="0" algn="r">
              <a:buNone/>
            </a:pPr>
            <a:r>
              <a:rPr lang="en-US" sz="850" dirty="0">
                <a:solidFill>
                  <a:srgbClr val="5B6B62"/>
                </a:solidFill>
                <a:latin typeface="Calibri" pitchFamily="34" charset="0"/>
                <a:ea typeface="Calibri" pitchFamily="34" charset="-122"/>
                <a:cs typeface="Calibri" pitchFamily="34" charset="-120"/>
              </a:rPr>
              <a:t>14</a:t>
            </a:r>
            <a:endParaRPr lang="en-US" sz="850" dirty="0"/>
          </a:p>
        </p:txBody>
      </p:sp>
      <p:sp>
        <p:nvSpPr>
          <p:cNvPr id="8" name="Shape 5"/>
          <p:cNvSpPr/>
          <p:nvPr/>
        </p:nvSpPr>
        <p:spPr>
          <a:xfrm>
            <a:off x="502920" y="1417320"/>
            <a:ext cx="11155680" cy="1078992"/>
          </a:xfrm>
          <a:prstGeom prst="roundRect">
            <a:avLst>
              <a:gd name="adj" fmla="val 5932"/>
            </a:avLst>
          </a:prstGeom>
          <a:solidFill>
            <a:srgbClr val="F4FAF6"/>
          </a:solidFill>
          <a:ln/>
          <a:effectLst>
            <a:outerShdw blurRad="76200" dist="25400" dir="5400000" algn="bl" rotWithShape="0">
              <a:srgbClr val="000000">
                <a:alpha val="7000"/>
              </a:srgbClr>
            </a:outerShdw>
          </a:effectLst>
        </p:spPr>
      </p:sp>
      <p:sp>
        <p:nvSpPr>
          <p:cNvPr id="9" name="Shape 6"/>
          <p:cNvSpPr/>
          <p:nvPr/>
        </p:nvSpPr>
        <p:spPr>
          <a:xfrm>
            <a:off x="713232" y="1636776"/>
            <a:ext cx="640080" cy="640080"/>
          </a:xfrm>
          <a:prstGeom prst="ellipse">
            <a:avLst/>
          </a:prstGeom>
          <a:solidFill>
            <a:srgbClr val="0E5C36"/>
          </a:solidFill>
          <a:ln/>
        </p:spPr>
      </p:sp>
      <p:pic>
        <p:nvPicPr>
          <p:cNvPr id="10" name="Image 1" descr="preencoded.png"/>
          <p:cNvPicPr>
            <a:picLocks noChangeAspect="1"/>
          </p:cNvPicPr>
          <p:nvPr/>
        </p:nvPicPr>
        <p:blipFill>
          <a:blip r:embed="rId4"/>
          <a:stretch>
            <a:fillRect/>
          </a:stretch>
        </p:blipFill>
        <p:spPr>
          <a:xfrm>
            <a:off x="796442" y="1719986"/>
            <a:ext cx="473659" cy="473659"/>
          </a:xfrm>
          <a:prstGeom prst="rect">
            <a:avLst/>
          </a:prstGeom>
        </p:spPr>
      </p:pic>
      <p:sp>
        <p:nvSpPr>
          <p:cNvPr id="11" name="Text 7"/>
          <p:cNvSpPr/>
          <p:nvPr/>
        </p:nvSpPr>
        <p:spPr>
          <a:xfrm>
            <a:off x="1554480" y="1527048"/>
            <a:ext cx="9692640" cy="320040"/>
          </a:xfrm>
          <a:prstGeom prst="rect">
            <a:avLst/>
          </a:prstGeom>
          <a:noFill/>
          <a:ln/>
        </p:spPr>
        <p:txBody>
          <a:bodyPr wrap="square" lIns="0" tIns="0" rIns="0" bIns="0" rtlCol="0" anchor="ctr"/>
          <a:lstStyle/>
          <a:p>
            <a:pPr marL="0" indent="0">
              <a:buNone/>
            </a:pPr>
            <a:r>
              <a:rPr lang="en-US" sz="1450" b="1" dirty="0">
                <a:solidFill>
                  <a:srgbClr val="1F2A24"/>
                </a:solidFill>
                <a:latin typeface="Cambria" pitchFamily="34" charset="0"/>
                <a:ea typeface="Cambria" pitchFamily="34" charset="-122"/>
                <a:cs typeface="Cambria" pitchFamily="34" charset="-120"/>
              </a:rPr>
              <a:t>Institutionalize Monthly Growth Tracking</a:t>
            </a:r>
            <a:endParaRPr lang="en-US" sz="1450" dirty="0"/>
          </a:p>
        </p:txBody>
      </p:sp>
      <p:sp>
        <p:nvSpPr>
          <p:cNvPr id="12" name="Text 8"/>
          <p:cNvSpPr/>
          <p:nvPr/>
        </p:nvSpPr>
        <p:spPr>
          <a:xfrm>
            <a:off x="1554480" y="1874520"/>
            <a:ext cx="9692640" cy="548640"/>
          </a:xfrm>
          <a:prstGeom prst="rect">
            <a:avLst/>
          </a:prstGeom>
          <a:noFill/>
          <a:ln/>
        </p:spPr>
        <p:txBody>
          <a:bodyPr wrap="square" lIns="0" tIns="0" rIns="0" bIns="0" rtlCol="0" anchor="t"/>
          <a:lstStyle/>
          <a:p>
            <a:pPr marL="0" indent="0">
              <a:buNone/>
            </a:pPr>
            <a:r>
              <a:rPr lang="en-US" sz="1100" dirty="0">
                <a:solidFill>
                  <a:srgbClr val="5B6B62"/>
                </a:solidFill>
                <a:latin typeface="Calibri" pitchFamily="34" charset="0"/>
                <a:ea typeface="Calibri" pitchFamily="34" charset="-122"/>
                <a:cs typeface="Calibri" pitchFamily="34" charset="-120"/>
              </a:rPr>
              <a:t>Automate the revenue-growth formula with conditional formatting so any dip — like March's −3.8% — triggers an immediate review, not a quarter-end surprise.</a:t>
            </a:r>
            <a:endParaRPr lang="en-US" sz="1100" dirty="0"/>
          </a:p>
        </p:txBody>
      </p:sp>
      <p:sp>
        <p:nvSpPr>
          <p:cNvPr id="13" name="Shape 9"/>
          <p:cNvSpPr/>
          <p:nvPr/>
        </p:nvSpPr>
        <p:spPr>
          <a:xfrm>
            <a:off x="502920" y="2642616"/>
            <a:ext cx="11155680" cy="1078992"/>
          </a:xfrm>
          <a:prstGeom prst="roundRect">
            <a:avLst>
              <a:gd name="adj" fmla="val 5932"/>
            </a:avLst>
          </a:prstGeom>
          <a:solidFill>
            <a:srgbClr val="F4FAF6"/>
          </a:solidFill>
          <a:ln/>
          <a:effectLst>
            <a:outerShdw blurRad="76200" dist="25400" dir="5400000" algn="bl" rotWithShape="0">
              <a:srgbClr val="000000">
                <a:alpha val="7000"/>
              </a:srgbClr>
            </a:outerShdw>
          </a:effectLst>
        </p:spPr>
      </p:sp>
      <p:sp>
        <p:nvSpPr>
          <p:cNvPr id="14" name="Shape 10"/>
          <p:cNvSpPr/>
          <p:nvPr/>
        </p:nvSpPr>
        <p:spPr>
          <a:xfrm>
            <a:off x="713232" y="2862072"/>
            <a:ext cx="640080" cy="640080"/>
          </a:xfrm>
          <a:prstGeom prst="ellipse">
            <a:avLst/>
          </a:prstGeom>
          <a:solidFill>
            <a:srgbClr val="0E5C36"/>
          </a:solidFill>
          <a:ln/>
        </p:spPr>
      </p:sp>
      <p:pic>
        <p:nvPicPr>
          <p:cNvPr id="15" name="Image 2" descr="preencoded.png"/>
          <p:cNvPicPr>
            <a:picLocks noChangeAspect="1"/>
          </p:cNvPicPr>
          <p:nvPr/>
        </p:nvPicPr>
        <p:blipFill>
          <a:blip r:embed="rId5"/>
          <a:stretch>
            <a:fillRect/>
          </a:stretch>
        </p:blipFill>
        <p:spPr>
          <a:xfrm>
            <a:off x="796442" y="2945282"/>
            <a:ext cx="473659" cy="473659"/>
          </a:xfrm>
          <a:prstGeom prst="rect">
            <a:avLst/>
          </a:prstGeom>
        </p:spPr>
      </p:pic>
      <p:sp>
        <p:nvSpPr>
          <p:cNvPr id="16" name="Text 11"/>
          <p:cNvSpPr/>
          <p:nvPr/>
        </p:nvSpPr>
        <p:spPr>
          <a:xfrm>
            <a:off x="1554480" y="2752344"/>
            <a:ext cx="9692640" cy="320040"/>
          </a:xfrm>
          <a:prstGeom prst="rect">
            <a:avLst/>
          </a:prstGeom>
          <a:noFill/>
          <a:ln/>
        </p:spPr>
        <p:txBody>
          <a:bodyPr wrap="square" lIns="0" tIns="0" rIns="0" bIns="0" rtlCol="0" anchor="ctr"/>
          <a:lstStyle/>
          <a:p>
            <a:pPr marL="0" indent="0">
              <a:buNone/>
            </a:pPr>
            <a:r>
              <a:rPr lang="en-US" sz="1450" b="1" dirty="0">
                <a:solidFill>
                  <a:srgbClr val="1F2A24"/>
                </a:solidFill>
                <a:latin typeface="Cambria" pitchFamily="34" charset="0"/>
                <a:ea typeface="Cambria" pitchFamily="34" charset="-122"/>
                <a:cs typeface="Cambria" pitchFamily="34" charset="-120"/>
              </a:rPr>
              <a:t>Benchmark Margins Against Sector Norms</a:t>
            </a:r>
            <a:endParaRPr lang="en-US" sz="1450" dirty="0"/>
          </a:p>
        </p:txBody>
      </p:sp>
      <p:sp>
        <p:nvSpPr>
          <p:cNvPr id="17" name="Text 12"/>
          <p:cNvSpPr/>
          <p:nvPr/>
        </p:nvSpPr>
        <p:spPr>
          <a:xfrm>
            <a:off x="1554480" y="3099816"/>
            <a:ext cx="9692640" cy="548640"/>
          </a:xfrm>
          <a:prstGeom prst="rect">
            <a:avLst/>
          </a:prstGeom>
          <a:noFill/>
          <a:ln/>
        </p:spPr>
        <p:txBody>
          <a:bodyPr wrap="square" lIns="0" tIns="0" rIns="0" bIns="0" rtlCol="0" anchor="t"/>
          <a:lstStyle/>
          <a:p>
            <a:pPr marL="0" indent="0">
              <a:buNone/>
            </a:pPr>
            <a:r>
              <a:rPr lang="en-US" sz="1100" dirty="0">
                <a:solidFill>
                  <a:srgbClr val="5B6B62"/>
                </a:solidFill>
                <a:latin typeface="Calibri" pitchFamily="34" charset="0"/>
                <a:ea typeface="Calibri" pitchFamily="34" charset="-122"/>
                <a:cs typeface="Calibri" pitchFamily="34" charset="-120"/>
              </a:rPr>
              <a:t>Compare gross and net margins to retail-sector ranges (20–30% / 10–20%) each period, and investigate when results sit far outside the band.</a:t>
            </a:r>
            <a:endParaRPr lang="en-US" sz="1100" dirty="0"/>
          </a:p>
        </p:txBody>
      </p:sp>
      <p:sp>
        <p:nvSpPr>
          <p:cNvPr id="18" name="Shape 13"/>
          <p:cNvSpPr/>
          <p:nvPr/>
        </p:nvSpPr>
        <p:spPr>
          <a:xfrm>
            <a:off x="502920" y="3867912"/>
            <a:ext cx="11155680" cy="1078992"/>
          </a:xfrm>
          <a:prstGeom prst="roundRect">
            <a:avLst>
              <a:gd name="adj" fmla="val 5932"/>
            </a:avLst>
          </a:prstGeom>
          <a:solidFill>
            <a:srgbClr val="F4FAF6"/>
          </a:solidFill>
          <a:ln/>
          <a:effectLst>
            <a:outerShdw blurRad="76200" dist="25400" dir="5400000" algn="bl" rotWithShape="0">
              <a:srgbClr val="000000">
                <a:alpha val="7000"/>
              </a:srgbClr>
            </a:outerShdw>
          </a:effectLst>
        </p:spPr>
      </p:sp>
      <p:sp>
        <p:nvSpPr>
          <p:cNvPr id="19" name="Shape 14"/>
          <p:cNvSpPr/>
          <p:nvPr/>
        </p:nvSpPr>
        <p:spPr>
          <a:xfrm>
            <a:off x="713232" y="4087368"/>
            <a:ext cx="640080" cy="640080"/>
          </a:xfrm>
          <a:prstGeom prst="ellipse">
            <a:avLst/>
          </a:prstGeom>
          <a:solidFill>
            <a:srgbClr val="0E5C36"/>
          </a:solidFill>
          <a:ln/>
        </p:spPr>
      </p:sp>
      <p:pic>
        <p:nvPicPr>
          <p:cNvPr id="20" name="Image 3" descr="preencoded.png"/>
          <p:cNvPicPr>
            <a:picLocks noChangeAspect="1"/>
          </p:cNvPicPr>
          <p:nvPr/>
        </p:nvPicPr>
        <p:blipFill>
          <a:blip r:embed="rId6"/>
          <a:stretch>
            <a:fillRect/>
          </a:stretch>
        </p:blipFill>
        <p:spPr>
          <a:xfrm>
            <a:off x="796442" y="4170578"/>
            <a:ext cx="473659" cy="473659"/>
          </a:xfrm>
          <a:prstGeom prst="rect">
            <a:avLst/>
          </a:prstGeom>
        </p:spPr>
      </p:pic>
      <p:sp>
        <p:nvSpPr>
          <p:cNvPr id="21" name="Text 15"/>
          <p:cNvSpPr/>
          <p:nvPr/>
        </p:nvSpPr>
        <p:spPr>
          <a:xfrm>
            <a:off x="1554480" y="3977640"/>
            <a:ext cx="9692640" cy="320040"/>
          </a:xfrm>
          <a:prstGeom prst="rect">
            <a:avLst/>
          </a:prstGeom>
          <a:noFill/>
          <a:ln/>
        </p:spPr>
        <p:txBody>
          <a:bodyPr wrap="square" lIns="0" tIns="0" rIns="0" bIns="0" rtlCol="0" anchor="ctr"/>
          <a:lstStyle/>
          <a:p>
            <a:pPr marL="0" indent="0">
              <a:buNone/>
            </a:pPr>
            <a:r>
              <a:rPr lang="en-US" sz="1450" b="1" dirty="0">
                <a:solidFill>
                  <a:srgbClr val="1F2A24"/>
                </a:solidFill>
                <a:latin typeface="Cambria" pitchFamily="34" charset="0"/>
                <a:ea typeface="Cambria" pitchFamily="34" charset="-122"/>
                <a:cs typeface="Cambria" pitchFamily="34" charset="-120"/>
              </a:rPr>
              <a:t>Track CAC-to-CLV Ratio for Marketing ROI</a:t>
            </a:r>
            <a:endParaRPr lang="en-US" sz="1450" dirty="0"/>
          </a:p>
        </p:txBody>
      </p:sp>
      <p:sp>
        <p:nvSpPr>
          <p:cNvPr id="22" name="Text 16"/>
          <p:cNvSpPr/>
          <p:nvPr/>
        </p:nvSpPr>
        <p:spPr>
          <a:xfrm>
            <a:off x="1554480" y="4325112"/>
            <a:ext cx="9692640" cy="548640"/>
          </a:xfrm>
          <a:prstGeom prst="rect">
            <a:avLst/>
          </a:prstGeom>
          <a:noFill/>
          <a:ln/>
        </p:spPr>
        <p:txBody>
          <a:bodyPr wrap="square" lIns="0" tIns="0" rIns="0" bIns="0" rtlCol="0" anchor="t"/>
          <a:lstStyle/>
          <a:p>
            <a:pPr marL="0" indent="0">
              <a:buNone/>
            </a:pPr>
            <a:r>
              <a:rPr lang="en-US" sz="1100" dirty="0">
                <a:solidFill>
                  <a:srgbClr val="5B6B62"/>
                </a:solidFill>
                <a:latin typeface="Calibri" pitchFamily="34" charset="0"/>
                <a:ea typeface="Calibri" pitchFamily="34" charset="-122"/>
                <a:cs typeface="Calibri" pitchFamily="34" charset="-120"/>
              </a:rPr>
              <a:t>Pair Customer Acquisition Cost with Lifetime Value monthly; a widening gap signals it's safe to invest further in growth.</a:t>
            </a:r>
            <a:endParaRPr lang="en-US" sz="1100" dirty="0"/>
          </a:p>
        </p:txBody>
      </p:sp>
      <p:sp>
        <p:nvSpPr>
          <p:cNvPr id="23" name="Shape 17"/>
          <p:cNvSpPr/>
          <p:nvPr/>
        </p:nvSpPr>
        <p:spPr>
          <a:xfrm>
            <a:off x="502920" y="5093208"/>
            <a:ext cx="11155680" cy="1078992"/>
          </a:xfrm>
          <a:prstGeom prst="roundRect">
            <a:avLst>
              <a:gd name="adj" fmla="val 5932"/>
            </a:avLst>
          </a:prstGeom>
          <a:solidFill>
            <a:srgbClr val="F4FAF6"/>
          </a:solidFill>
          <a:ln/>
          <a:effectLst>
            <a:outerShdw blurRad="76200" dist="25400" dir="5400000" algn="bl" rotWithShape="0">
              <a:srgbClr val="000000">
                <a:alpha val="7000"/>
              </a:srgbClr>
            </a:outerShdw>
          </a:effectLst>
        </p:spPr>
      </p:sp>
      <p:sp>
        <p:nvSpPr>
          <p:cNvPr id="24" name="Shape 18"/>
          <p:cNvSpPr/>
          <p:nvPr/>
        </p:nvSpPr>
        <p:spPr>
          <a:xfrm>
            <a:off x="713232" y="5312664"/>
            <a:ext cx="640080" cy="640080"/>
          </a:xfrm>
          <a:prstGeom prst="ellipse">
            <a:avLst/>
          </a:prstGeom>
          <a:solidFill>
            <a:srgbClr val="0E5C36"/>
          </a:solidFill>
          <a:ln/>
        </p:spPr>
      </p:sp>
      <p:pic>
        <p:nvPicPr>
          <p:cNvPr id="25" name="Image 4" descr="preencoded.png"/>
          <p:cNvPicPr>
            <a:picLocks noChangeAspect="1"/>
          </p:cNvPicPr>
          <p:nvPr/>
        </p:nvPicPr>
        <p:blipFill>
          <a:blip r:embed="rId7"/>
          <a:stretch>
            <a:fillRect/>
          </a:stretch>
        </p:blipFill>
        <p:spPr>
          <a:xfrm>
            <a:off x="796442" y="5395874"/>
            <a:ext cx="473659" cy="473659"/>
          </a:xfrm>
          <a:prstGeom prst="rect">
            <a:avLst/>
          </a:prstGeom>
        </p:spPr>
      </p:pic>
      <p:sp>
        <p:nvSpPr>
          <p:cNvPr id="26" name="Text 19"/>
          <p:cNvSpPr/>
          <p:nvPr/>
        </p:nvSpPr>
        <p:spPr>
          <a:xfrm>
            <a:off x="1554480" y="5202936"/>
            <a:ext cx="9692640" cy="320040"/>
          </a:xfrm>
          <a:prstGeom prst="rect">
            <a:avLst/>
          </a:prstGeom>
          <a:noFill/>
          <a:ln/>
        </p:spPr>
        <p:txBody>
          <a:bodyPr wrap="square" lIns="0" tIns="0" rIns="0" bIns="0" rtlCol="0" anchor="ctr"/>
          <a:lstStyle/>
          <a:p>
            <a:pPr marL="0" indent="0">
              <a:buNone/>
            </a:pPr>
            <a:r>
              <a:rPr lang="en-US" sz="1450" b="1" dirty="0">
                <a:solidFill>
                  <a:srgbClr val="1F2A24"/>
                </a:solidFill>
                <a:latin typeface="Cambria" pitchFamily="34" charset="0"/>
                <a:ea typeface="Cambria" pitchFamily="34" charset="-122"/>
                <a:cs typeface="Cambria" pitchFamily="34" charset="-120"/>
              </a:rPr>
              <a:t>Move from Static Reports to Live Pivot Dashboards</a:t>
            </a:r>
            <a:endParaRPr lang="en-US" sz="1450" dirty="0"/>
          </a:p>
        </p:txBody>
      </p:sp>
      <p:sp>
        <p:nvSpPr>
          <p:cNvPr id="27" name="Text 20"/>
          <p:cNvSpPr/>
          <p:nvPr/>
        </p:nvSpPr>
        <p:spPr>
          <a:xfrm>
            <a:off x="1554480" y="5550408"/>
            <a:ext cx="9692640" cy="548640"/>
          </a:xfrm>
          <a:prstGeom prst="rect">
            <a:avLst/>
          </a:prstGeom>
          <a:noFill/>
          <a:ln/>
        </p:spPr>
        <p:txBody>
          <a:bodyPr wrap="square" lIns="0" tIns="0" rIns="0" bIns="0" rtlCol="0" anchor="t"/>
          <a:lstStyle/>
          <a:p>
            <a:pPr marL="0" indent="0">
              <a:buNone/>
            </a:pPr>
            <a:r>
              <a:rPr lang="en-US" sz="1100" dirty="0">
                <a:solidFill>
                  <a:srgbClr val="5B6B62"/>
                </a:solidFill>
                <a:latin typeface="Calibri" pitchFamily="34" charset="0"/>
                <a:ea typeface="Calibri" pitchFamily="34" charset="-122"/>
                <a:cs typeface="Calibri" pitchFamily="34" charset="-120"/>
              </a:rPr>
              <a:t>Replace manual chart updates with Pivot-Table-driven visuals so leadership always sees the current month, not last quarter's snapshot.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5C36"/>
        </a:solidFill>
        <a:effectLst/>
      </p:bgPr>
    </p:bg>
    <p:spTree>
      <p:nvGrpSpPr>
        <p:cNvPr id="1" name=""/>
        <p:cNvGrpSpPr/>
        <p:nvPr/>
      </p:nvGrpSpPr>
      <p:grpSpPr>
        <a:xfrm>
          <a:off x="0" y="0"/>
          <a:ext cx="0" cy="0"/>
          <a:chOff x="0" y="0"/>
          <a:chExt cx="0" cy="0"/>
        </a:xfrm>
      </p:grpSpPr>
      <p:sp>
        <p:nvSpPr>
          <p:cNvPr id="2" name="Shape 0"/>
          <p:cNvSpPr/>
          <p:nvPr/>
        </p:nvSpPr>
        <p:spPr>
          <a:xfrm>
            <a:off x="-1280160" y="-1463040"/>
            <a:ext cx="4572000" cy="4572000"/>
          </a:xfrm>
          <a:prstGeom prst="ellipse">
            <a:avLst/>
          </a:prstGeom>
          <a:solidFill>
            <a:srgbClr val="1B7A43">
              <a:alpha val="45000"/>
            </a:srgbClr>
          </a:solidFill>
          <a:ln/>
        </p:spPr>
      </p:sp>
      <p:sp>
        <p:nvSpPr>
          <p:cNvPr id="3" name="Shape 1"/>
          <p:cNvSpPr/>
          <p:nvPr/>
        </p:nvSpPr>
        <p:spPr>
          <a:xfrm>
            <a:off x="9692640" y="4206240"/>
            <a:ext cx="4023360" cy="4023360"/>
          </a:xfrm>
          <a:prstGeom prst="ellipse">
            <a:avLst/>
          </a:prstGeom>
          <a:solidFill>
            <a:srgbClr val="5FA779">
              <a:alpha val="40000"/>
            </a:srgbClr>
          </a:solidFill>
          <a:ln/>
        </p:spPr>
        <p:txBody>
          <a:bodyPr/>
          <a:lstStyle/>
          <a:p>
            <a:endParaRPr lang="en-IN" dirty="0"/>
          </a:p>
        </p:txBody>
      </p:sp>
      <p:sp>
        <p:nvSpPr>
          <p:cNvPr id="4" name="Shape 2"/>
          <p:cNvSpPr/>
          <p:nvPr/>
        </p:nvSpPr>
        <p:spPr>
          <a:xfrm>
            <a:off x="822960" y="685800"/>
            <a:ext cx="685800" cy="685800"/>
          </a:xfrm>
          <a:prstGeom prst="ellipse">
            <a:avLst/>
          </a:prstGeom>
          <a:solidFill>
            <a:srgbClr val="B8860B"/>
          </a:solidFill>
          <a:ln/>
        </p:spPr>
      </p:sp>
      <p:pic>
        <p:nvPicPr>
          <p:cNvPr id="5" name="Image 0" descr="preencoded.png"/>
          <p:cNvPicPr>
            <a:picLocks noChangeAspect="1"/>
          </p:cNvPicPr>
          <p:nvPr/>
        </p:nvPicPr>
        <p:blipFill>
          <a:blip r:embed="rId3"/>
          <a:stretch>
            <a:fillRect/>
          </a:stretch>
        </p:blipFill>
        <p:spPr>
          <a:xfrm>
            <a:off x="912114" y="774954"/>
            <a:ext cx="507492" cy="507492"/>
          </a:xfrm>
          <a:prstGeom prst="rect">
            <a:avLst/>
          </a:prstGeom>
        </p:spPr>
      </p:pic>
      <p:sp>
        <p:nvSpPr>
          <p:cNvPr id="6" name="Text 3"/>
          <p:cNvSpPr/>
          <p:nvPr/>
        </p:nvSpPr>
        <p:spPr>
          <a:xfrm>
            <a:off x="1691640" y="777240"/>
            <a:ext cx="5486400" cy="457200"/>
          </a:xfrm>
          <a:prstGeom prst="rect">
            <a:avLst/>
          </a:prstGeom>
          <a:noFill/>
          <a:ln/>
        </p:spPr>
        <p:txBody>
          <a:bodyPr wrap="square" lIns="0" tIns="0" rIns="0" bIns="0" rtlCol="0" anchor="ctr"/>
          <a:lstStyle/>
          <a:p>
            <a:pPr marL="0" indent="0">
              <a:buNone/>
            </a:pPr>
            <a:r>
              <a:rPr lang="en-US" b="1" kern="0" spc="200" dirty="0">
                <a:solidFill>
                  <a:srgbClr val="BFE3CC"/>
                </a:solidFill>
                <a:latin typeface="Calibri" pitchFamily="34" charset="0"/>
                <a:ea typeface="Calibri" pitchFamily="34" charset="-122"/>
                <a:cs typeface="Calibri" pitchFamily="34" charset="-120"/>
              </a:rPr>
              <a:t>CONCLUSION</a:t>
            </a:r>
            <a:endParaRPr lang="en-US" sz="1300" dirty="0"/>
          </a:p>
        </p:txBody>
      </p:sp>
      <p:sp>
        <p:nvSpPr>
          <p:cNvPr id="7" name="Text 4"/>
          <p:cNvSpPr/>
          <p:nvPr/>
        </p:nvSpPr>
        <p:spPr>
          <a:xfrm>
            <a:off x="822960" y="1874520"/>
            <a:ext cx="10515600" cy="1554480"/>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Revenue + Profit + KPIs =</a:t>
            </a:r>
            <a:endParaRPr lang="en-US" sz="3600" dirty="0"/>
          </a:p>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Complete Business Health</a:t>
            </a:r>
            <a:endParaRPr lang="en-US" sz="3600" dirty="0"/>
          </a:p>
        </p:txBody>
      </p:sp>
      <p:sp>
        <p:nvSpPr>
          <p:cNvPr id="8" name="Text 5"/>
          <p:cNvSpPr/>
          <p:nvPr/>
        </p:nvSpPr>
        <p:spPr>
          <a:xfrm>
            <a:off x="868680" y="3520440"/>
            <a:ext cx="8778240" cy="685800"/>
          </a:xfrm>
          <a:prstGeom prst="rect">
            <a:avLst/>
          </a:prstGeom>
          <a:noFill/>
          <a:ln/>
        </p:spPr>
        <p:txBody>
          <a:bodyPr wrap="square" lIns="0" tIns="0" rIns="0" bIns="0" rtlCol="0" anchor="ctr"/>
          <a:lstStyle/>
          <a:p>
            <a:pPr marL="0" indent="0">
              <a:buNone/>
            </a:pPr>
            <a:r>
              <a:rPr lang="en-US" sz="1400" i="1" dirty="0">
                <a:solidFill>
                  <a:srgbClr val="DCF0E3"/>
                </a:solidFill>
                <a:latin typeface="Calibri" pitchFamily="34" charset="0"/>
                <a:ea typeface="Calibri" pitchFamily="34" charset="-122"/>
                <a:cs typeface="Calibri" pitchFamily="34" charset="-120"/>
              </a:rPr>
              <a:t>A single Excel workbook — built on SUM, ratio and growth formulas — is enough to give leadership a live, trustworthy view of the business every month.</a:t>
            </a:r>
            <a:endParaRPr lang="en-US" sz="1400" dirty="0"/>
          </a:p>
        </p:txBody>
      </p:sp>
      <p:sp>
        <p:nvSpPr>
          <p:cNvPr id="9" name="Shape 6"/>
          <p:cNvSpPr/>
          <p:nvPr/>
        </p:nvSpPr>
        <p:spPr>
          <a:xfrm>
            <a:off x="868680" y="4498848"/>
            <a:ext cx="128016" cy="128016"/>
          </a:xfrm>
          <a:prstGeom prst="ellipse">
            <a:avLst/>
          </a:prstGeom>
          <a:solidFill>
            <a:srgbClr val="B8860B"/>
          </a:solidFill>
          <a:ln/>
        </p:spPr>
      </p:sp>
      <p:sp>
        <p:nvSpPr>
          <p:cNvPr id="10" name="Text 7"/>
          <p:cNvSpPr/>
          <p:nvPr/>
        </p:nvSpPr>
        <p:spPr>
          <a:xfrm>
            <a:off x="1143000" y="4361688"/>
            <a:ext cx="49377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Revenue &amp; growth tracked monthly</a:t>
            </a:r>
            <a:endParaRPr lang="en-US" sz="1200" dirty="0"/>
          </a:p>
        </p:txBody>
      </p:sp>
      <p:sp>
        <p:nvSpPr>
          <p:cNvPr id="11" name="Shape 8"/>
          <p:cNvSpPr/>
          <p:nvPr/>
        </p:nvSpPr>
        <p:spPr>
          <a:xfrm>
            <a:off x="868680" y="4919472"/>
            <a:ext cx="128016" cy="128016"/>
          </a:xfrm>
          <a:prstGeom prst="ellipse">
            <a:avLst/>
          </a:prstGeom>
          <a:solidFill>
            <a:srgbClr val="B8860B"/>
          </a:solidFill>
          <a:ln/>
        </p:spPr>
      </p:sp>
      <p:sp>
        <p:nvSpPr>
          <p:cNvPr id="12" name="Text 9"/>
          <p:cNvSpPr/>
          <p:nvPr/>
        </p:nvSpPr>
        <p:spPr>
          <a:xfrm>
            <a:off x="1143000" y="4782312"/>
            <a:ext cx="49377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Profit margins benchmarked to sector</a:t>
            </a:r>
            <a:endParaRPr lang="en-US" sz="1200" dirty="0"/>
          </a:p>
        </p:txBody>
      </p:sp>
      <p:sp>
        <p:nvSpPr>
          <p:cNvPr id="13" name="Shape 10"/>
          <p:cNvSpPr/>
          <p:nvPr/>
        </p:nvSpPr>
        <p:spPr>
          <a:xfrm>
            <a:off x="868680" y="5340096"/>
            <a:ext cx="128016" cy="128016"/>
          </a:xfrm>
          <a:prstGeom prst="ellipse">
            <a:avLst/>
          </a:prstGeom>
          <a:solidFill>
            <a:srgbClr val="B8860B"/>
          </a:solidFill>
          <a:ln/>
        </p:spPr>
      </p:sp>
      <p:sp>
        <p:nvSpPr>
          <p:cNvPr id="14" name="Text 11"/>
          <p:cNvSpPr/>
          <p:nvPr/>
        </p:nvSpPr>
        <p:spPr>
          <a:xfrm>
            <a:off x="1143000" y="5202936"/>
            <a:ext cx="49377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KPIs flag risk before it compounds</a:t>
            </a:r>
            <a:endParaRPr lang="en-US" sz="1200" dirty="0"/>
          </a:p>
        </p:txBody>
      </p:sp>
      <p:sp>
        <p:nvSpPr>
          <p:cNvPr id="15" name="Shape 12"/>
          <p:cNvSpPr/>
          <p:nvPr/>
        </p:nvSpPr>
        <p:spPr>
          <a:xfrm>
            <a:off x="868680" y="5760720"/>
            <a:ext cx="128016" cy="128016"/>
          </a:xfrm>
          <a:prstGeom prst="ellipse">
            <a:avLst/>
          </a:prstGeom>
          <a:solidFill>
            <a:srgbClr val="B8860B"/>
          </a:solidFill>
          <a:ln/>
        </p:spPr>
      </p:sp>
      <p:sp>
        <p:nvSpPr>
          <p:cNvPr id="16" name="Text 13"/>
          <p:cNvSpPr/>
          <p:nvPr/>
        </p:nvSpPr>
        <p:spPr>
          <a:xfrm>
            <a:off x="1143000" y="5623560"/>
            <a:ext cx="49377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Dashboards refresh themselves via Pivots</a:t>
            </a:r>
            <a:endParaRPr lang="en-US" sz="1200" dirty="0"/>
          </a:p>
        </p:txBody>
      </p:sp>
      <p:sp>
        <p:nvSpPr>
          <p:cNvPr id="17" name="Text 14"/>
          <p:cNvSpPr/>
          <p:nvPr/>
        </p:nvSpPr>
        <p:spPr>
          <a:xfrm>
            <a:off x="868680" y="5989320"/>
            <a:ext cx="5486400" cy="411480"/>
          </a:xfrm>
          <a:prstGeom prst="rect">
            <a:avLst/>
          </a:prstGeom>
          <a:noFill/>
          <a:ln/>
        </p:spPr>
        <p:txBody>
          <a:bodyPr wrap="square" lIns="0" tIns="0" rIns="0" bIns="0" rtlCol="0" anchor="ctr"/>
          <a:lstStyle/>
          <a:p>
            <a:pPr marL="0" indent="0">
              <a:buNone/>
            </a:pPr>
            <a:endParaRPr lang="en-US" sz="1800" dirty="0"/>
          </a:p>
        </p:txBody>
      </p:sp>
      <p:sp>
        <p:nvSpPr>
          <p:cNvPr id="18" name="Text 15"/>
          <p:cNvSpPr/>
          <p:nvPr/>
        </p:nvSpPr>
        <p:spPr>
          <a:xfrm>
            <a:off x="8869680" y="6035040"/>
            <a:ext cx="2743200" cy="365760"/>
          </a:xfrm>
          <a:prstGeom prst="rect">
            <a:avLst/>
          </a:prstGeom>
          <a:noFill/>
          <a:ln/>
        </p:spPr>
        <p:txBody>
          <a:bodyPr wrap="square" lIns="0" tIns="0" rIns="0" bIns="0" rtlCol="0" anchor="ctr"/>
          <a:lstStyle/>
          <a:p>
            <a:pPr marL="0" indent="0" algn="r">
              <a:buNone/>
            </a:pP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2657</Words>
  <Application>Microsoft Office PowerPoint</Application>
  <PresentationFormat>Widescreen</PresentationFormat>
  <Paragraphs>334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Revenue &amp; Business Metrics Analytics</dc:title>
  <dc:subject>PptxGenJS Presentation</dc:subject>
  <dc:creator>Business Analytics</dc:creator>
  <cp:lastModifiedBy>visxnugosali123@gmail.com</cp:lastModifiedBy>
  <cp:revision>2</cp:revision>
  <dcterms:created xsi:type="dcterms:W3CDTF">2026-06-20T07:27:30Z</dcterms:created>
  <dcterms:modified xsi:type="dcterms:W3CDTF">2026-06-20T07:36:03Z</dcterms:modified>
</cp:coreProperties>
</file>