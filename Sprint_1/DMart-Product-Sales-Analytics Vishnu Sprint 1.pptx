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3"/>
    </p:embeddedFont>
    <p:embeddedFont>
      <p:font typeface="Trebuchet MS" panose="020B0603020202020204" pitchFamily="34" charset="0"/>
      <p:regular r:id="rId14"/>
      <p:bold r:id="rId15"/>
      <p:italic r:id="rId16"/>
      <p:boldItalic r:id="rId17"/>
    </p:embeddedFont>
    <p:embeddedFont>
      <p:font typeface="Unbounded Bold" panose="020B0604020202020204" charset="0"/>
      <p:regular r:id="rId18"/>
    </p:embeddedFont>
    <p:embeddedFont>
      <p:font typeface="Wingdings 3" panose="05040102010807070707" pitchFamily="18" charset="2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689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7580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568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9390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1893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5163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4893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8868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1355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0680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7978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31202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1175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149205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95649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2487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345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760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38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1069404"/>
            <a:ext cx="4394746" cy="101307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229507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DMart Product Sales Analytics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3925119" y="3393653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Retail Sector Management Perspective — A strategic framework for converting sales data into competitive advantage, operational excellence, and sustainable growth.</a:t>
            </a:r>
            <a:endParaRPr lang="en-US" sz="11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13879"/>
            <a:ext cx="7936260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Strategic Problem Facing Modern Retail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871165"/>
            <a:ext cx="4457998" cy="25076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2163" y="1818382"/>
            <a:ext cx="2449116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DMart and comparable retailers face compounding pressures that demand structured analytical responses — not intuition alone.</a:t>
            </a:r>
            <a:endParaRPr lang="en-US" sz="1000" b="1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048" y="3565699"/>
            <a:ext cx="1824261" cy="12638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92981" y="3688482"/>
            <a:ext cx="1521544" cy="508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Inconsistent Sales Performance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992981" y="4246885"/>
            <a:ext cx="1521544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 and regional volatility obscures true demand signals.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6067" y="3565699"/>
            <a:ext cx="1824335" cy="12638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886001" y="3688482"/>
            <a:ext cx="1521619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Profitability Pressure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2886001" y="4077370"/>
            <a:ext cx="1521619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growth is not translating to margin expansion.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9161" y="3565699"/>
            <a:ext cx="1824335" cy="12638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79094" y="3688482"/>
            <a:ext cx="1521619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Portfolio Complexity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4779094" y="4077370"/>
            <a:ext cx="1521619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SKU proliferation without strategic prioritization dilutes focus.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255" y="3565699"/>
            <a:ext cx="1824335" cy="12638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72188" y="3688482"/>
            <a:ext cx="1521619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Operational Inefficiency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6672188" y="4077370"/>
            <a:ext cx="152161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gaps erode the value captured at the shelf.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5162" y="395288"/>
            <a:ext cx="962248" cy="244376"/>
          </a:xfrm>
          <a:prstGeom prst="roundRect">
            <a:avLst>
              <a:gd name="adj" fmla="val 18274"/>
            </a:avLst>
          </a:prstGeom>
          <a:solidFill>
            <a:srgbClr val="D6F5EE"/>
          </a:solidFill>
          <a:ln/>
        </p:spPr>
      </p:sp>
      <p:sp>
        <p:nvSpPr>
          <p:cNvPr id="3" name="Text 1"/>
          <p:cNvSpPr/>
          <p:nvPr/>
        </p:nvSpPr>
        <p:spPr>
          <a:xfrm>
            <a:off x="544860" y="435099"/>
            <a:ext cx="1260053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FRAMEWORK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5162" y="689446"/>
            <a:ext cx="6388745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5W Analysis Framework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65162" y="1291605"/>
            <a:ext cx="867087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structured diagnostic lens for understanding business performance before committing to strategic action.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5162" y="1637705"/>
            <a:ext cx="2654796" cy="1492969"/>
          </a:xfrm>
          <a:prstGeom prst="roundRect">
            <a:avLst>
              <a:gd name="adj" fmla="val 373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2828" y="1775371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26A6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440" y="1884983"/>
            <a:ext cx="179412" cy="1794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2828" y="229865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2828" y="2581052"/>
            <a:ext cx="237946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products, categories, or services drive the most value?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4528" y="1637705"/>
            <a:ext cx="2654871" cy="1492969"/>
          </a:xfrm>
          <a:prstGeom prst="roundRect">
            <a:avLst>
              <a:gd name="adj" fmla="val 373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2194" y="1775371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26A68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1805" y="1884983"/>
            <a:ext cx="179412" cy="1794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2194" y="229865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82194" y="2581052"/>
            <a:ext cx="237953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 are the highest-value customer segments and key stakeholders?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23967" y="1637705"/>
            <a:ext cx="2654871" cy="1492969"/>
          </a:xfrm>
          <a:prstGeom prst="roundRect">
            <a:avLst>
              <a:gd name="adj" fmla="val 373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61633" y="1775371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26A68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1245" y="1884983"/>
            <a:ext cx="179412" cy="1794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61633" y="229865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Where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61633" y="2581052"/>
            <a:ext cx="237953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do the strongest growth opportunities and gaps exist?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5162" y="3255243"/>
            <a:ext cx="4044553" cy="1492969"/>
          </a:xfrm>
          <a:prstGeom prst="roundRect">
            <a:avLst>
              <a:gd name="adj" fmla="val 373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2828" y="3392909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26A688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2440" y="3502521"/>
            <a:ext cx="179412" cy="1794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02828" y="391618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When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02828" y="4198590"/>
            <a:ext cx="376922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do peak demand cycles and operational challenges occur?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634285" y="3255243"/>
            <a:ext cx="4044553" cy="1492969"/>
          </a:xfrm>
          <a:prstGeom prst="roundRect">
            <a:avLst>
              <a:gd name="adj" fmla="val 373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71951" y="3392909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26A688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1563" y="3502521"/>
            <a:ext cx="179412" cy="1794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771951" y="391618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771951" y="4198590"/>
            <a:ext cx="376922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do performance variations exist across categories and regions?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96912"/>
            <a:ext cx="6535862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Applying the 5W Framework at DMart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807467"/>
            <a:ext cx="3391049" cy="33910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0960" y="2180332"/>
            <a:ext cx="216500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Management Benefit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00960" y="2412802"/>
            <a:ext cx="3391049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The 5W framework transforms raw operational data into a multi-dimensional business intelligence view — enabling leadership to diagnose before prescribing.</a:t>
            </a:r>
            <a:endParaRPr lang="en-US" sz="105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80" y="4366394"/>
            <a:ext cx="152772" cy="1527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7673" y="4363269"/>
            <a:ext cx="1712044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Category Intelligence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387673" y="4566419"/>
            <a:ext cx="1951434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Rank SKUs by contribution margin, not just revenue.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8812" y="4366394"/>
            <a:ext cx="152772" cy="1527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61705" y="4363269"/>
            <a:ext cx="138172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Clarity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761705" y="4566419"/>
            <a:ext cx="1951509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 buying patterns to store format and geography.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918" y="4366394"/>
            <a:ext cx="152772" cy="1527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35812" y="4363269"/>
            <a:ext cx="133588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Strategic Timing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135812" y="4566419"/>
            <a:ext cx="1951509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 promotions and inventory to demand cycles.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564952"/>
            <a:ext cx="8544371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 Why Analysis: Root Cause Discovery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1244798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disciplined methodology for peeling back layers of symptoms to reveal the fundamental cause of business underperformance.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168" y="1600795"/>
            <a:ext cx="7935590" cy="29777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16012" y="3855671"/>
            <a:ext cx="1196906" cy="23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5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507583" y="3855671"/>
            <a:ext cx="1196906" cy="23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4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007351" y="3855671"/>
            <a:ext cx="1196906" cy="23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3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507119" y="3855671"/>
            <a:ext cx="1196906" cy="23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2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74096" y="3855671"/>
            <a:ext cx="1196906" cy="23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1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308967"/>
            <a:ext cx="441818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Root Cause Analysis (RCA)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1285875" y="734616"/>
            <a:ext cx="702945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RCA shifts organizations from reactive firefighting to proactive, systemic improvement — reducing recurring operational losses.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005929"/>
            <a:ext cx="3169965" cy="31699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92923" y="2360265"/>
            <a:ext cx="257688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Why RCA Matters for DMart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692923" y="2573089"/>
            <a:ext cx="3169965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Without structured root cause identification, the same issues resurface — costing margin, morale, and market position.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285875" y="4319811"/>
            <a:ext cx="2148036" cy="514648"/>
          </a:xfrm>
          <a:prstGeom prst="roundRect">
            <a:avLst>
              <a:gd name="adj" fmla="val 7773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85888" y="4419823"/>
            <a:ext cx="124070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Better Decisions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385888" y="4607049"/>
            <a:ext cx="1948011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Evidence-based, not assumption-driven.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497907" y="4319811"/>
            <a:ext cx="2148111" cy="514648"/>
          </a:xfrm>
          <a:prstGeom prst="roundRect">
            <a:avLst>
              <a:gd name="adj" fmla="val 7773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97920" y="4419823"/>
            <a:ext cx="131698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Sustainable Fixes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597920" y="4607049"/>
            <a:ext cx="1948086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Eliminate causes, not symptoms.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710014" y="4319811"/>
            <a:ext cx="2148036" cy="514648"/>
          </a:xfrm>
          <a:prstGeom prst="roundRect">
            <a:avLst>
              <a:gd name="adj" fmla="val 7773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10027" y="4419823"/>
            <a:ext cx="1492597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Resource Efficiency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10027" y="4607049"/>
            <a:ext cx="1948011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 where impact is highest.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286345"/>
            <a:ext cx="486623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Ishikawa (Fishbone) Diagram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724793"/>
            <a:ext cx="7182222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structured cause-and-effect framework for diagnosing operational challenges across six critical dimensions of retail performance.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452" y="1007120"/>
            <a:ext cx="3243635" cy="3243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95527" y="2325291"/>
            <a:ext cx="2105620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Strategic Application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695527" y="2544514"/>
            <a:ext cx="3243635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Fishbone Diagram enables cross-functional teams to systematically categorize and prioritize the drivers of underperformance — turning a complex problem into an actionable improvement roadmap.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5164" y="4387230"/>
            <a:ext cx="3334941" cy="4841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5435" y="4401517"/>
            <a:ext cx="187746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Cross-Functional Clarity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335435" y="4593952"/>
            <a:ext cx="3194670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Aligns operations, commercial, and technology teams on shared root causes.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9533" y="4387230"/>
            <a:ext cx="3334941" cy="4841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39804" y="4401517"/>
            <a:ext cx="1455241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Prioritization Logic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739804" y="4593952"/>
            <a:ext cx="319467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Distinguishes high-impact causes from peripheral factors.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38721" y="267593"/>
            <a:ext cx="6266557" cy="567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BCG Matrix: Strategic Portfolio Management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21" y="987698"/>
            <a:ext cx="3022550" cy="3022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87491" y="2223120"/>
            <a:ext cx="249830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Portfolio Strategy for DMart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687491" y="2423145"/>
            <a:ext cx="3022550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all categories deserve equal investment. The BCG Matrix provides a disciplined lens for capital allocation, category prioritization, and long-term portfolio balance.</a:t>
            </a:r>
            <a:endParaRPr lang="en-US" sz="1050" b="1" dirty="0"/>
          </a:p>
        </p:txBody>
      </p:sp>
      <p:sp>
        <p:nvSpPr>
          <p:cNvPr id="6" name="Shape 3"/>
          <p:cNvSpPr/>
          <p:nvPr/>
        </p:nvSpPr>
        <p:spPr>
          <a:xfrm>
            <a:off x="1438721" y="4141068"/>
            <a:ext cx="1523033" cy="734839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 w="9525">
            <a:solidFill>
              <a:srgbClr val="BCDB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39032" y="4241378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Stars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539032" y="4418186"/>
            <a:ext cx="1322412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High-growth, high-share categories — protect and invest.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3019871" y="4141068"/>
            <a:ext cx="1523033" cy="734839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 w="9525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20182" y="4241378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Cash Cows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120182" y="4418186"/>
            <a:ext cx="1322412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Mature, dominant categories — optimize margins and fund growth.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601021" y="4141068"/>
            <a:ext cx="1523033" cy="734839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 w="9525">
            <a:solidFill>
              <a:srgbClr val="BCDB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01332" y="4241378"/>
            <a:ext cx="1138014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Question Marks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701332" y="4418186"/>
            <a:ext cx="1322412" cy="3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Emerging opportunities — selectively invest with clear milestones.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182171" y="4141068"/>
            <a:ext cx="1523107" cy="734839"/>
          </a:xfrm>
          <a:prstGeom prst="roundRect">
            <a:avLst>
              <a:gd name="adj" fmla="val 5191"/>
            </a:avLst>
          </a:prstGeom>
          <a:solidFill>
            <a:srgbClr val="FFFFFF"/>
          </a:solidFill>
          <a:ln w="9525">
            <a:solidFill>
              <a:srgbClr val="BCDB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82482" y="4241378"/>
            <a:ext cx="11351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Dogs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82482" y="4418186"/>
            <a:ext cx="1322487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Low-growth, low-share — rationalize or reposition.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162" y="449907"/>
            <a:ext cx="507593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Strategic Insights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65162" y="1052066"/>
            <a:ext cx="4784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Individually powerful — but transformative when combined. These frameworks form an integrated management system for retail excellence.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162" y="1604144"/>
            <a:ext cx="265807" cy="2658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6718" y="164976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5W Analysis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86718" y="1932161"/>
            <a:ext cx="43631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Builds comprehensive business understanding before action is taken.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162" y="2387278"/>
            <a:ext cx="265807" cy="2658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6718" y="24328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 Why + RCA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86718" y="2715295"/>
            <a:ext cx="43631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Uncovers hidden root causes and enables durable, systemic solutions.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162" y="3170411"/>
            <a:ext cx="265807" cy="2658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86718" y="3216027"/>
            <a:ext cx="18992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Fishbone Diagram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86718" y="3498428"/>
            <a:ext cx="436312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Structures cross-functional diagnosis across all operational dimensions.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162" y="4159523"/>
            <a:ext cx="265807" cy="26580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86718" y="420513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BCG Matrix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886718" y="4487540"/>
            <a:ext cx="436312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Drives disciplined capital allocation and category portfolio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4938"/>
            <a:ext cx="767417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Strategic Recommendations &amp; Conclusion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317947"/>
            <a:ext cx="3961730" cy="29712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2163" y="892225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5872163" y="1062335"/>
            <a:ext cx="2449116" cy="14288"/>
          </a:xfrm>
          <a:prstGeom prst="rect">
            <a:avLst/>
          </a:prstGeom>
          <a:solidFill>
            <a:srgbClr val="26A6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872163" y="1145158"/>
            <a:ext cx="194332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KPI-Driven Governance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72163" y="1397719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 analytics into every management review cycle.</a:t>
            </a:r>
            <a:endParaRPr lang="en-US" sz="850" b="1" dirty="0"/>
          </a:p>
        </p:txBody>
      </p:sp>
      <p:sp>
        <p:nvSpPr>
          <p:cNvPr id="8" name="Text 5"/>
          <p:cNvSpPr/>
          <p:nvPr/>
        </p:nvSpPr>
        <p:spPr>
          <a:xfrm>
            <a:off x="5872163" y="1868686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872163" y="2038796"/>
            <a:ext cx="2449116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0" name="Text 7"/>
          <p:cNvSpPr/>
          <p:nvPr/>
        </p:nvSpPr>
        <p:spPr>
          <a:xfrm>
            <a:off x="5872163" y="2121619"/>
            <a:ext cx="156314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Value Over Volume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72163" y="2374181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Shift category strategy from revenue to margin optimization.</a:t>
            </a:r>
            <a:endParaRPr lang="en-US" sz="1000" b="1" dirty="0"/>
          </a:p>
        </p:txBody>
      </p:sp>
      <p:sp>
        <p:nvSpPr>
          <p:cNvPr id="12" name="Text 9"/>
          <p:cNvSpPr/>
          <p:nvPr/>
        </p:nvSpPr>
        <p:spPr>
          <a:xfrm>
            <a:off x="5872163" y="2845147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72163" y="3015258"/>
            <a:ext cx="2449116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4" name="Text 11"/>
          <p:cNvSpPr/>
          <p:nvPr/>
        </p:nvSpPr>
        <p:spPr>
          <a:xfrm>
            <a:off x="5872163" y="3098081"/>
            <a:ext cx="183460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Framework Discipline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72163" y="3350642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5W, RCA, and BCG in quarterly strategic planning.</a:t>
            </a:r>
            <a:endParaRPr lang="en-US" sz="1000" b="1" dirty="0"/>
          </a:p>
        </p:txBody>
      </p:sp>
      <p:sp>
        <p:nvSpPr>
          <p:cNvPr id="16" name="Text 13"/>
          <p:cNvSpPr/>
          <p:nvPr/>
        </p:nvSpPr>
        <p:spPr>
          <a:xfrm>
            <a:off x="5872163" y="3821609"/>
            <a:ext cx="217066" cy="1356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72163" y="3991719"/>
            <a:ext cx="2449116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8" name="Text 15"/>
          <p:cNvSpPr/>
          <p:nvPr/>
        </p:nvSpPr>
        <p:spPr>
          <a:xfrm>
            <a:off x="5872163" y="4074542"/>
            <a:ext cx="208828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Portfolio Rationalization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872163" y="4327103"/>
            <a:ext cx="244911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b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Reassess category roles using the BCG Matrix annually.</a:t>
            </a:r>
            <a:endParaRPr lang="en-US" sz="1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1362</TotalTime>
  <Words>626</Words>
  <Application>Microsoft Office PowerPoint</Application>
  <PresentationFormat>On-screen Show (16:9)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Trebuchet MS</vt:lpstr>
      <vt:lpstr>Wingdings 3</vt:lpstr>
      <vt:lpstr>Unbounded Bold</vt:lpstr>
      <vt:lpstr>Open Sans</vt:lpstr>
      <vt:lpstr>Unbounded Light</vt:lpstr>
      <vt:lpstr>Arial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</dc:creator>
  <cp:lastModifiedBy>visxnugosali123@gmail.com</cp:lastModifiedBy>
  <cp:revision>3</cp:revision>
  <dcterms:created xsi:type="dcterms:W3CDTF">2026-06-10T11:16:16Z</dcterms:created>
  <dcterms:modified xsi:type="dcterms:W3CDTF">2026-06-11T09:58:55Z</dcterms:modified>
</cp:coreProperties>
</file>