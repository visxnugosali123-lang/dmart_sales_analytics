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9144000" cy="5143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F5CA3-F649-4264-90F2-694159157B64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31FB38-261F-43E6-963C-E73ADE630C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533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1FB38-261F-43E6-963C-E73ADE630C1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902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319" y="841772"/>
            <a:ext cx="6593681" cy="17907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319" y="2701528"/>
            <a:ext cx="6593681" cy="124182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08133" y="4057651"/>
            <a:ext cx="2057400" cy="273844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7318" y="4057651"/>
            <a:ext cx="3843665" cy="273844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2684" y="4057650"/>
            <a:ext cx="578317" cy="273844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236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247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064420"/>
            <a:ext cx="7429500" cy="2139553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318272"/>
            <a:ext cx="7429500" cy="1031082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26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7114"/>
            <a:ext cx="3658792" cy="2656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7114"/>
            <a:ext cx="3656408" cy="2656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895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64345"/>
            <a:ext cx="7429500" cy="11084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515" y="1687115"/>
            <a:ext cx="3487337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2305048"/>
            <a:ext cx="3658793" cy="2038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6" y="1687114"/>
            <a:ext cx="3484952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05048"/>
            <a:ext cx="3656408" cy="2038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14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121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90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457201"/>
            <a:ext cx="2892028" cy="12299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444499"/>
            <a:ext cx="4418407" cy="389890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1687114"/>
            <a:ext cx="2892028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768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4450881" cy="122991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5541" y="457201"/>
            <a:ext cx="2750018" cy="38861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1687114"/>
            <a:ext cx="4450883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827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3228499"/>
            <a:ext cx="7434266" cy="61451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454819"/>
            <a:ext cx="7434266" cy="2474834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3843015"/>
            <a:ext cx="7433144" cy="51185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437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457200"/>
            <a:ext cx="7429466" cy="257175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314700"/>
            <a:ext cx="7428344" cy="10286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99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061322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232439"/>
            <a:ext cx="7429502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0240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0531"/>
            <a:ext cx="7429501" cy="1883876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3241"/>
            <a:ext cx="7428379" cy="855483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641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005847"/>
            <a:ext cx="2397674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45939" y="2520197"/>
            <a:ext cx="2406551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008226"/>
            <a:ext cx="2388289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78160" y="2522576"/>
            <a:ext cx="2396873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005847"/>
            <a:ext cx="2396226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2520197"/>
            <a:ext cx="2396226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185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3303447"/>
            <a:ext cx="239643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000249"/>
            <a:ext cx="2396430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3735644"/>
            <a:ext cx="2396430" cy="61338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3303447"/>
            <a:ext cx="240030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000249"/>
            <a:ext cx="2399205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3735643"/>
            <a:ext cx="2400300" cy="6077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3303446"/>
            <a:ext cx="2393056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000249"/>
            <a:ext cx="2396227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3735641"/>
            <a:ext cx="2396226" cy="60775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689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729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457200"/>
            <a:ext cx="1503758" cy="3886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457200"/>
            <a:ext cx="5811443" cy="3886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03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7860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195580" cy="5156200"/>
            <a:chOff x="-6350" y="-6350"/>
            <a:chExt cx="195580" cy="51562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8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182880" y="5143500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4091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0" y="5143500"/>
                  </a:moveTo>
                  <a:lnTo>
                    <a:pt x="182880" y="5143500"/>
                  </a:lnTo>
                  <a:lnTo>
                    <a:pt x="18288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4091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6851650" y="82550"/>
            <a:ext cx="2298700" cy="5156200"/>
            <a:chOff x="6851650" y="-6350"/>
            <a:chExt cx="2298700" cy="5156200"/>
          </a:xfrm>
        </p:grpSpPr>
        <p:sp>
          <p:nvSpPr>
            <p:cNvPr id="6" name="object 6"/>
            <p:cNvSpPr/>
            <p:nvPr/>
          </p:nvSpPr>
          <p:spPr>
            <a:xfrm>
              <a:off x="6858000" y="0"/>
              <a:ext cx="2286000" cy="5143500"/>
            </a:xfrm>
            <a:custGeom>
              <a:avLst/>
              <a:gdLst/>
              <a:ahLst/>
              <a:cxnLst/>
              <a:rect l="l" t="t" r="r" b="b"/>
              <a:pathLst>
                <a:path w="2286000" h="5143500">
                  <a:moveTo>
                    <a:pt x="22860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286000" y="51435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1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8000" y="0"/>
              <a:ext cx="2286000" cy="5143500"/>
            </a:xfrm>
            <a:custGeom>
              <a:avLst/>
              <a:gdLst/>
              <a:ahLst/>
              <a:cxnLst/>
              <a:rect l="l" t="t" r="r" b="b"/>
              <a:pathLst>
                <a:path w="2286000" h="5143500">
                  <a:moveTo>
                    <a:pt x="0" y="5143500"/>
                  </a:moveTo>
                  <a:lnTo>
                    <a:pt x="2286000" y="5143500"/>
                  </a:lnTo>
                  <a:lnTo>
                    <a:pt x="22860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F1F8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8000" y="0"/>
              <a:ext cx="36830" cy="5143500"/>
            </a:xfrm>
            <a:custGeom>
              <a:avLst/>
              <a:gdLst/>
              <a:ahLst/>
              <a:cxnLst/>
              <a:rect l="l" t="t" r="r" b="b"/>
              <a:pathLst>
                <a:path w="36829" h="5143500">
                  <a:moveTo>
                    <a:pt x="36575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36575" y="5143500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E6F2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58000" y="0"/>
              <a:ext cx="36830" cy="5143500"/>
            </a:xfrm>
            <a:custGeom>
              <a:avLst/>
              <a:gdLst/>
              <a:ahLst/>
              <a:cxnLst/>
              <a:rect l="l" t="t" r="r" b="b"/>
              <a:pathLst>
                <a:path w="36829" h="5143500">
                  <a:moveTo>
                    <a:pt x="0" y="5143500"/>
                  </a:moveTo>
                  <a:lnTo>
                    <a:pt x="36575" y="5143500"/>
                  </a:lnTo>
                  <a:lnTo>
                    <a:pt x="36575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699">
              <a:solidFill>
                <a:srgbClr val="E6F2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32320" y="457200"/>
              <a:ext cx="1737360" cy="685800"/>
            </a:xfrm>
            <a:custGeom>
              <a:avLst/>
              <a:gdLst/>
              <a:ahLst/>
              <a:cxnLst/>
              <a:rect l="l" t="t" r="r" b="b"/>
              <a:pathLst>
                <a:path w="1737359" h="685800">
                  <a:moveTo>
                    <a:pt x="173736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1737360" y="685800"/>
                  </a:lnTo>
                  <a:lnTo>
                    <a:pt x="17373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1" name="object 11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2988" y="467868"/>
              <a:ext cx="21335" cy="24384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" y="3682"/>
            <a:ext cx="210677" cy="14604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7133081" y="457962"/>
            <a:ext cx="1736089" cy="684530"/>
          </a:xfrm>
          <a:custGeom>
            <a:avLst/>
            <a:gdLst/>
            <a:ahLst/>
            <a:cxnLst/>
            <a:rect l="l" t="t" r="r" b="b"/>
            <a:pathLst>
              <a:path w="1736090" h="684530">
                <a:moveTo>
                  <a:pt x="0" y="0"/>
                </a:moveTo>
                <a:lnTo>
                  <a:pt x="1735836" y="0"/>
                </a:lnTo>
              </a:path>
              <a:path w="1736090" h="684530">
                <a:moveTo>
                  <a:pt x="0" y="0"/>
                </a:moveTo>
                <a:lnTo>
                  <a:pt x="0" y="684276"/>
                </a:lnTo>
              </a:path>
              <a:path w="1736090" h="684530">
                <a:moveTo>
                  <a:pt x="0" y="684276"/>
                </a:moveTo>
                <a:lnTo>
                  <a:pt x="1735836" y="684276"/>
                </a:lnTo>
              </a:path>
              <a:path w="1736090" h="684530">
                <a:moveTo>
                  <a:pt x="1735836" y="684276"/>
                </a:moveTo>
                <a:lnTo>
                  <a:pt x="17358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444500" y="843737"/>
            <a:ext cx="4565015" cy="1357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25"/>
              </a:lnSpc>
              <a:spcBef>
                <a:spcPts val="95"/>
              </a:spcBef>
            </a:pPr>
            <a:r>
              <a:rPr sz="3400" spc="215" dirty="0">
                <a:solidFill>
                  <a:srgbClr val="40916C"/>
                </a:solidFill>
              </a:rPr>
              <a:t>SALES</a:t>
            </a:r>
            <a:r>
              <a:rPr sz="3400" spc="605" dirty="0">
                <a:solidFill>
                  <a:srgbClr val="40916C"/>
                </a:solidFill>
              </a:rPr>
              <a:t> </a:t>
            </a:r>
            <a:r>
              <a:rPr sz="3400" spc="240" dirty="0">
                <a:solidFill>
                  <a:srgbClr val="40916C"/>
                </a:solidFill>
              </a:rPr>
              <a:t>PERFORMANCE</a:t>
            </a:r>
            <a:endParaRPr sz="3400" dirty="0"/>
          </a:p>
          <a:p>
            <a:pPr marL="12700">
              <a:lnSpc>
                <a:spcPts val="6565"/>
              </a:lnSpc>
            </a:pPr>
            <a:r>
              <a:rPr sz="5600" spc="145" dirty="0"/>
              <a:t>REPORT</a:t>
            </a:r>
            <a:endParaRPr sz="5600" dirty="0"/>
          </a:p>
        </p:txBody>
      </p:sp>
      <p:sp>
        <p:nvSpPr>
          <p:cNvPr id="15" name="object 15"/>
          <p:cNvSpPr txBox="1"/>
          <p:nvPr/>
        </p:nvSpPr>
        <p:spPr>
          <a:xfrm>
            <a:off x="444500" y="2366594"/>
            <a:ext cx="347154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alibri"/>
                <a:cs typeface="Calibri"/>
              </a:rPr>
              <a:t>Six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Cities</a:t>
            </a:r>
            <a:r>
              <a:rPr sz="1500" spc="2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·</a:t>
            </a:r>
            <a:r>
              <a:rPr sz="1500" spc="2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Five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Categories</a:t>
            </a:r>
            <a:r>
              <a:rPr sz="1500" spc="2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·</a:t>
            </a:r>
            <a:r>
              <a:rPr sz="1500" spc="2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FY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Sales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Period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7200" y="2788920"/>
            <a:ext cx="6217920" cy="0"/>
          </a:xfrm>
          <a:custGeom>
            <a:avLst/>
            <a:gdLst/>
            <a:ahLst/>
            <a:cxnLst/>
            <a:rect l="l" t="t" r="r" b="b"/>
            <a:pathLst>
              <a:path w="6217920">
                <a:moveTo>
                  <a:pt x="0" y="0"/>
                </a:moveTo>
                <a:lnTo>
                  <a:pt x="6217920" y="0"/>
                </a:lnTo>
              </a:path>
            </a:pathLst>
          </a:custGeom>
          <a:ln w="12700">
            <a:solidFill>
              <a:srgbClr val="E6F2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57200" y="2926079"/>
            <a:ext cx="1463040" cy="822960"/>
          </a:xfrm>
          <a:prstGeom prst="rect">
            <a:avLst/>
          </a:prstGeom>
          <a:ln w="12700">
            <a:solidFill>
              <a:srgbClr val="40916C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2000" b="1" spc="-10" dirty="0">
                <a:solidFill>
                  <a:srgbClr val="40916C"/>
                </a:solidFill>
                <a:latin typeface="Calibri"/>
                <a:cs typeface="Calibri"/>
              </a:rPr>
              <a:t>15,345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44"/>
              </a:spcBef>
            </a:pPr>
            <a:r>
              <a:rPr sz="900" dirty="0">
                <a:solidFill>
                  <a:srgbClr val="5A6E60"/>
                </a:solidFill>
                <a:latin typeface="Calibri"/>
                <a:cs typeface="Calibri"/>
              </a:rPr>
              <a:t>Total</a:t>
            </a:r>
            <a:r>
              <a:rPr sz="900" spc="-2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5A6E60"/>
                </a:solidFill>
                <a:latin typeface="Calibri"/>
                <a:cs typeface="Calibri"/>
              </a:rPr>
              <a:t>Units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57400" y="2926079"/>
            <a:ext cx="1463040" cy="822960"/>
          </a:xfrm>
          <a:prstGeom prst="rect">
            <a:avLst/>
          </a:prstGeom>
          <a:ln w="12700">
            <a:solidFill>
              <a:srgbClr val="40916C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2000" b="1" spc="-50" dirty="0">
                <a:solidFill>
                  <a:srgbClr val="40916C"/>
                </a:solidFill>
                <a:latin typeface="Calibri"/>
                <a:cs typeface="Calibri"/>
              </a:rPr>
              <a:t>6</a:t>
            </a:r>
            <a:endParaRPr sz="20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844"/>
              </a:spcBef>
            </a:pPr>
            <a:r>
              <a:rPr sz="900" spc="-10" dirty="0">
                <a:solidFill>
                  <a:srgbClr val="5A6E60"/>
                </a:solidFill>
                <a:latin typeface="Calibri"/>
                <a:cs typeface="Calibri"/>
              </a:rPr>
              <a:t>Cities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57600" y="2926079"/>
            <a:ext cx="1463040" cy="822960"/>
          </a:xfrm>
          <a:prstGeom prst="rect">
            <a:avLst/>
          </a:prstGeom>
          <a:ln w="12700">
            <a:solidFill>
              <a:srgbClr val="40916C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2000" b="1" spc="-50" dirty="0">
                <a:solidFill>
                  <a:srgbClr val="40916C"/>
                </a:solidFill>
                <a:latin typeface="Calibri"/>
                <a:cs typeface="Calibri"/>
              </a:rPr>
              <a:t>5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44"/>
              </a:spcBef>
            </a:pPr>
            <a:r>
              <a:rPr sz="900" spc="-10" dirty="0">
                <a:solidFill>
                  <a:srgbClr val="5A6E60"/>
                </a:solidFill>
                <a:latin typeface="Calibri"/>
                <a:cs typeface="Calibri"/>
              </a:rPr>
              <a:t>Categories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57800" y="2926079"/>
            <a:ext cx="1463040" cy="822960"/>
          </a:xfrm>
          <a:prstGeom prst="rect">
            <a:avLst/>
          </a:prstGeom>
          <a:ln w="12700">
            <a:solidFill>
              <a:srgbClr val="40916C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2000" b="1" spc="-20" dirty="0">
                <a:solidFill>
                  <a:srgbClr val="40916C"/>
                </a:solidFill>
                <a:latin typeface="Calibri"/>
                <a:cs typeface="Calibri"/>
              </a:rPr>
              <a:t>~20%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44"/>
              </a:spcBef>
            </a:pPr>
            <a:r>
              <a:rPr sz="900" dirty="0">
                <a:solidFill>
                  <a:srgbClr val="5A6E60"/>
                </a:solidFill>
                <a:latin typeface="Calibri"/>
                <a:cs typeface="Calibri"/>
              </a:rPr>
              <a:t>Avg</a:t>
            </a:r>
            <a:r>
              <a:rPr sz="900" spc="-2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5A6E60"/>
                </a:solidFill>
                <a:latin typeface="Calibri"/>
                <a:cs typeface="Calibri"/>
              </a:rPr>
              <a:t>Share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83348" y="1504315"/>
            <a:ext cx="7683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5A6E60"/>
                </a:solidFill>
                <a:latin typeface="Calibri"/>
                <a:cs typeface="Calibri"/>
              </a:rPr>
              <a:t>Report</a:t>
            </a:r>
            <a:r>
              <a:rPr sz="1000" b="1" spc="-4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5A6E60"/>
                </a:solidFill>
                <a:latin typeface="Calibri"/>
                <a:cs typeface="Calibri"/>
              </a:rPr>
              <a:t>Covers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16242" y="1822450"/>
            <a:ext cx="122427" cy="122427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194042" y="1815211"/>
            <a:ext cx="823594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6</a:t>
            </a:r>
            <a:r>
              <a:rPr sz="1100" spc="-2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Indian</a:t>
            </a:r>
            <a:r>
              <a:rPr sz="1100" spc="-3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4332"/>
                </a:solidFill>
                <a:latin typeface="Calibri"/>
                <a:cs typeface="Calibri"/>
              </a:rPr>
              <a:t>Cities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16242" y="2325370"/>
            <a:ext cx="122427" cy="122428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7194042" y="2318131"/>
            <a:ext cx="12090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5</a:t>
            </a:r>
            <a:r>
              <a:rPr sz="1100" spc="-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Product</a:t>
            </a:r>
            <a:r>
              <a:rPr sz="1100" spc="-4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4332"/>
                </a:solidFill>
                <a:latin typeface="Calibri"/>
                <a:cs typeface="Calibri"/>
              </a:rPr>
              <a:t>Categories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16242" y="2828289"/>
            <a:ext cx="122427" cy="122428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7194042" y="2821305"/>
            <a:ext cx="9531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30 Data</a:t>
            </a:r>
            <a:r>
              <a:rPr sz="1100" spc="-3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4332"/>
                </a:solidFill>
                <a:latin typeface="Calibri"/>
                <a:cs typeface="Calibri"/>
              </a:rPr>
              <a:t>Records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16242" y="3331209"/>
            <a:ext cx="122427" cy="122427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7194042" y="3324225"/>
            <a:ext cx="9207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$2.9M</a:t>
            </a:r>
            <a:r>
              <a:rPr sz="1100" spc="-3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4332"/>
                </a:solidFill>
                <a:latin typeface="Calibri"/>
                <a:cs typeface="Calibri"/>
              </a:rPr>
              <a:t>Revenue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0" name="object 3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16242" y="3834129"/>
            <a:ext cx="122427" cy="122428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7194042" y="3827475"/>
            <a:ext cx="10477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FY</a:t>
            </a:r>
            <a:r>
              <a:rPr sz="1100" spc="-2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Period</a:t>
            </a:r>
            <a:r>
              <a:rPr sz="1100" spc="-3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4332"/>
                </a:solidFill>
                <a:latin typeface="Calibri"/>
                <a:cs typeface="Calibri"/>
              </a:rPr>
              <a:t>Analysis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8A1D9BC4-3619-BEB9-79A2-856E92D3B6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4461" y="593279"/>
            <a:ext cx="1621255" cy="373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498"/>
            <a:chOff x="0" y="0"/>
            <a:chExt cx="9144000" cy="5143498"/>
          </a:xfrm>
        </p:grpSpPr>
        <p:sp>
          <p:nvSpPr>
            <p:cNvPr id="3" name="object 3"/>
            <p:cNvSpPr/>
            <p:nvPr/>
          </p:nvSpPr>
          <p:spPr>
            <a:xfrm>
              <a:off x="0" y="960119"/>
              <a:ext cx="9144000" cy="4183379"/>
            </a:xfrm>
            <a:custGeom>
              <a:avLst/>
              <a:gdLst/>
              <a:ahLst/>
              <a:cxnLst/>
              <a:rect l="l" t="t" r="r" b="b"/>
              <a:pathLst>
                <a:path w="9144000" h="4183379">
                  <a:moveTo>
                    <a:pt x="0" y="4183379"/>
                  </a:moveTo>
                  <a:lnTo>
                    <a:pt x="9144000" y="418337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183379"/>
                  </a:lnTo>
                  <a:close/>
                </a:path>
              </a:pathLst>
            </a:custGeom>
            <a:solidFill>
              <a:srgbClr val="F1F8F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0831"/>
              <a:ext cx="9144000" cy="960119"/>
            </a:xfrm>
            <a:custGeom>
              <a:avLst/>
              <a:gdLst/>
              <a:ahLst/>
              <a:cxnLst/>
              <a:rect l="l" t="t" r="r" b="b"/>
              <a:pathLst>
                <a:path w="9144000" h="960119">
                  <a:moveTo>
                    <a:pt x="9144000" y="0"/>
                  </a:moveTo>
                  <a:lnTo>
                    <a:pt x="0" y="0"/>
                  </a:lnTo>
                  <a:lnTo>
                    <a:pt x="0" y="960120"/>
                  </a:lnTo>
                  <a:lnTo>
                    <a:pt x="9144000" y="9601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4332"/>
            </a:solidFill>
          </p:spPr>
          <p:txBody>
            <a:bodyPr wrap="square" lIns="0" tIns="0" rIns="0" bIns="0" rtlCol="0"/>
            <a:lstStyle/>
            <a:p>
              <a:pPr>
                <a:lnSpc>
                  <a:spcPct val="250000"/>
                </a:lnSpc>
              </a:pPr>
              <a:r>
                <a:rPr lang="en-US" dirty="0"/>
                <a:t>               </a:t>
              </a:r>
              <a:r>
                <a:rPr lang="en-IN" sz="2000" b="1" dirty="0"/>
                <a:t>ABOUT</a:t>
              </a:r>
              <a:r>
                <a:rPr lang="en-IN" sz="2000" b="1" spc="15" dirty="0"/>
                <a:t> </a:t>
              </a:r>
              <a:r>
                <a:rPr lang="en-IN" sz="2000" b="1" spc="-20" dirty="0"/>
                <a:t>D-MART</a:t>
              </a:r>
              <a:endParaRPr sz="2000" b="1"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960119"/>
            </a:xfrm>
            <a:custGeom>
              <a:avLst/>
              <a:gdLst/>
              <a:ahLst/>
              <a:cxnLst/>
              <a:rect l="l" t="t" r="r" b="b"/>
              <a:pathLst>
                <a:path w="9144000" h="960119">
                  <a:moveTo>
                    <a:pt x="0" y="960120"/>
                  </a:moveTo>
                  <a:lnTo>
                    <a:pt x="9144000" y="96012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60120"/>
                  </a:lnTo>
                  <a:close/>
                </a:path>
              </a:pathLst>
            </a:custGeom>
            <a:ln w="12700">
              <a:solidFill>
                <a:srgbClr val="1B4332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6" name="object 6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031" y="182879"/>
              <a:ext cx="548640" cy="54863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856061" y="937654"/>
            <a:ext cx="2508675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20" dirty="0"/>
              <a:t>..</a:t>
            </a:r>
            <a:endParaRPr lang="en-IN" spc="-20" dirty="0"/>
          </a:p>
        </p:txBody>
      </p:sp>
      <p:grpSp>
        <p:nvGrpSpPr>
          <p:cNvPr id="8" name="object 8"/>
          <p:cNvGrpSpPr/>
          <p:nvPr/>
        </p:nvGrpSpPr>
        <p:grpSpPr>
          <a:xfrm>
            <a:off x="2530" y="3682"/>
            <a:ext cx="9323070" cy="2243455"/>
            <a:chOff x="2530" y="3682"/>
            <a:chExt cx="9323070" cy="224345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30" y="3682"/>
              <a:ext cx="210677" cy="1460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218682" y="1692465"/>
              <a:ext cx="2559050" cy="0"/>
            </a:xfrm>
            <a:custGeom>
              <a:avLst/>
              <a:gdLst/>
              <a:ahLst/>
              <a:cxnLst/>
              <a:rect l="l" t="t" r="r" b="b"/>
              <a:pathLst>
                <a:path w="2559050">
                  <a:moveTo>
                    <a:pt x="0" y="0"/>
                  </a:moveTo>
                  <a:lnTo>
                    <a:pt x="2558795" y="0"/>
                  </a:lnTo>
                </a:path>
              </a:pathLst>
            </a:custGeom>
            <a:ln w="1095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8911" y="1142999"/>
              <a:ext cx="3950335" cy="1097280"/>
            </a:xfrm>
            <a:custGeom>
              <a:avLst/>
              <a:gdLst/>
              <a:ahLst/>
              <a:cxnLst/>
              <a:rect l="l" t="t" r="r" b="b"/>
              <a:pathLst>
                <a:path w="3950335" h="1097280">
                  <a:moveTo>
                    <a:pt x="0" y="1097280"/>
                  </a:moveTo>
                  <a:lnTo>
                    <a:pt x="3950208" y="1097280"/>
                  </a:lnTo>
                  <a:lnTo>
                    <a:pt x="3950208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5760" y="1142999"/>
              <a:ext cx="4023360" cy="1097280"/>
            </a:xfrm>
            <a:custGeom>
              <a:avLst/>
              <a:gdLst/>
              <a:ahLst/>
              <a:cxnLst/>
              <a:rect l="l" t="t" r="r" b="b"/>
              <a:pathLst>
                <a:path w="4023360" h="1097280">
                  <a:moveTo>
                    <a:pt x="0" y="1097280"/>
                  </a:moveTo>
                  <a:lnTo>
                    <a:pt x="4023360" y="1097280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ln w="12699">
              <a:solidFill>
                <a:srgbClr val="E6F2E8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365760" y="1142999"/>
              <a:ext cx="73660" cy="1097280"/>
            </a:xfrm>
            <a:custGeom>
              <a:avLst/>
              <a:gdLst/>
              <a:ahLst/>
              <a:cxnLst/>
              <a:rect l="l" t="t" r="r" b="b"/>
              <a:pathLst>
                <a:path w="73659" h="1097280">
                  <a:moveTo>
                    <a:pt x="73152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73152" y="109728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2D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5760" y="1142999"/>
              <a:ext cx="73660" cy="1097280"/>
            </a:xfrm>
            <a:custGeom>
              <a:avLst/>
              <a:gdLst/>
              <a:ahLst/>
              <a:cxnLst/>
              <a:rect l="l" t="t" r="r" b="b"/>
              <a:pathLst>
                <a:path w="73659" h="1097280">
                  <a:moveTo>
                    <a:pt x="0" y="1097280"/>
                  </a:moveTo>
                  <a:lnTo>
                    <a:pt x="73152" y="1097280"/>
                  </a:lnTo>
                  <a:lnTo>
                    <a:pt x="73152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ln w="12700">
              <a:solidFill>
                <a:srgbClr val="2D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65759" y="1253998"/>
            <a:ext cx="4017010" cy="670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2D6A4F"/>
                </a:solidFill>
                <a:latin typeface="Calibri"/>
                <a:cs typeface="Calibri"/>
              </a:rPr>
              <a:t>Founded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3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sz="1200" dirty="0">
                <a:solidFill>
                  <a:srgbClr val="1B4332"/>
                </a:solidFill>
                <a:latin typeface="Calibri"/>
                <a:cs typeface="Calibri"/>
              </a:rPr>
              <a:t>2002,</a:t>
            </a:r>
            <a:r>
              <a:rPr sz="1200" spc="-2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4332"/>
                </a:solidFill>
                <a:latin typeface="Calibri"/>
                <a:cs typeface="Calibri"/>
              </a:rPr>
              <a:t>by</a:t>
            </a:r>
            <a:r>
              <a:rPr sz="1200" spc="-4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4332"/>
                </a:solidFill>
                <a:latin typeface="Calibri"/>
                <a:cs typeface="Calibri"/>
              </a:rPr>
              <a:t>Radhakishan</a:t>
            </a:r>
            <a:r>
              <a:rPr sz="1200" spc="-3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B4332"/>
                </a:solidFill>
                <a:latin typeface="Calibri"/>
                <a:cs typeface="Calibri"/>
              </a:rPr>
              <a:t>Damani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748529" y="1136650"/>
            <a:ext cx="4036060" cy="1109980"/>
            <a:chOff x="4748529" y="1136650"/>
            <a:chExt cx="4036060" cy="1109980"/>
          </a:xfrm>
        </p:grpSpPr>
        <p:sp>
          <p:nvSpPr>
            <p:cNvPr id="17" name="object 17"/>
            <p:cNvSpPr/>
            <p:nvPr/>
          </p:nvSpPr>
          <p:spPr>
            <a:xfrm>
              <a:off x="4828031" y="1143000"/>
              <a:ext cx="3950335" cy="1097280"/>
            </a:xfrm>
            <a:custGeom>
              <a:avLst/>
              <a:gdLst/>
              <a:ahLst/>
              <a:cxnLst/>
              <a:rect l="l" t="t" r="r" b="b"/>
              <a:pathLst>
                <a:path w="3950334" h="1097280">
                  <a:moveTo>
                    <a:pt x="0" y="1097280"/>
                  </a:moveTo>
                  <a:lnTo>
                    <a:pt x="3950208" y="1097280"/>
                  </a:lnTo>
                  <a:lnTo>
                    <a:pt x="3950208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54879" y="1143000"/>
              <a:ext cx="4023360" cy="1097280"/>
            </a:xfrm>
            <a:custGeom>
              <a:avLst/>
              <a:gdLst/>
              <a:ahLst/>
              <a:cxnLst/>
              <a:rect l="l" t="t" r="r" b="b"/>
              <a:pathLst>
                <a:path w="4023359" h="1097280">
                  <a:moveTo>
                    <a:pt x="0" y="1097280"/>
                  </a:moveTo>
                  <a:lnTo>
                    <a:pt x="4023360" y="1097280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ln w="12700">
              <a:solidFill>
                <a:srgbClr val="E6F2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54879" y="1143000"/>
              <a:ext cx="73660" cy="1097280"/>
            </a:xfrm>
            <a:custGeom>
              <a:avLst/>
              <a:gdLst/>
              <a:ahLst/>
              <a:cxnLst/>
              <a:rect l="l" t="t" r="r" b="b"/>
              <a:pathLst>
                <a:path w="73660" h="1097280">
                  <a:moveTo>
                    <a:pt x="73151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73151" y="1097280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4091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54879" y="1143000"/>
              <a:ext cx="73660" cy="1097280"/>
            </a:xfrm>
            <a:custGeom>
              <a:avLst/>
              <a:gdLst/>
              <a:ahLst/>
              <a:cxnLst/>
              <a:rect l="l" t="t" r="r" b="b"/>
              <a:pathLst>
                <a:path w="73660" h="1097280">
                  <a:moveTo>
                    <a:pt x="0" y="1097280"/>
                  </a:moveTo>
                  <a:lnTo>
                    <a:pt x="73151" y="1097280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ln w="12700">
              <a:solidFill>
                <a:srgbClr val="4091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925695" y="1253998"/>
            <a:ext cx="45085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40916C"/>
                </a:solidFill>
                <a:latin typeface="Calibri"/>
                <a:cs typeface="Calibri"/>
              </a:rPr>
              <a:t>Stores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25695" y="1716151"/>
            <a:ext cx="1304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B4332"/>
                </a:solidFill>
                <a:latin typeface="Calibri"/>
                <a:cs typeface="Calibri"/>
              </a:rPr>
              <a:t>370+</a:t>
            </a:r>
            <a:r>
              <a:rPr sz="1200" spc="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B4332"/>
                </a:solidFill>
                <a:latin typeface="Calibri"/>
                <a:cs typeface="Calibri"/>
              </a:rPr>
              <a:t>hypermarket</a:t>
            </a:r>
            <a:r>
              <a:rPr sz="1200" spc="-3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B4332"/>
                </a:solidFill>
                <a:latin typeface="Calibri"/>
                <a:cs typeface="Calibri"/>
              </a:rPr>
              <a:t>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18682" y="1149350"/>
            <a:ext cx="2553335" cy="10845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200" dirty="0">
                <a:solidFill>
                  <a:srgbClr val="1B4332"/>
                </a:solidFill>
                <a:latin typeface="Calibri"/>
                <a:cs typeface="Calibri"/>
              </a:rPr>
              <a:t>ores</a:t>
            </a:r>
            <a:r>
              <a:rPr sz="1200" spc="-4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4332"/>
                </a:solidFill>
                <a:latin typeface="Calibri"/>
                <a:cs typeface="Calibri"/>
              </a:rPr>
              <a:t>across</a:t>
            </a:r>
            <a:r>
              <a:rPr sz="1200" spc="-3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B4332"/>
                </a:solidFill>
                <a:latin typeface="Calibri"/>
                <a:cs typeface="Calibri"/>
              </a:rPr>
              <a:t>India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59409" y="2508250"/>
            <a:ext cx="4036060" cy="1109980"/>
            <a:chOff x="359409" y="2508250"/>
            <a:chExt cx="4036060" cy="1109980"/>
          </a:xfrm>
        </p:grpSpPr>
        <p:sp>
          <p:nvSpPr>
            <p:cNvPr id="25" name="object 25"/>
            <p:cNvSpPr/>
            <p:nvPr/>
          </p:nvSpPr>
          <p:spPr>
            <a:xfrm>
              <a:off x="438911" y="2514600"/>
              <a:ext cx="3950335" cy="1097280"/>
            </a:xfrm>
            <a:custGeom>
              <a:avLst/>
              <a:gdLst/>
              <a:ahLst/>
              <a:cxnLst/>
              <a:rect l="l" t="t" r="r" b="b"/>
              <a:pathLst>
                <a:path w="3950335" h="1097279">
                  <a:moveTo>
                    <a:pt x="0" y="1097280"/>
                  </a:moveTo>
                  <a:lnTo>
                    <a:pt x="3950208" y="1097280"/>
                  </a:lnTo>
                  <a:lnTo>
                    <a:pt x="3950208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5759" y="2514600"/>
              <a:ext cx="4023360" cy="1097280"/>
            </a:xfrm>
            <a:custGeom>
              <a:avLst/>
              <a:gdLst/>
              <a:ahLst/>
              <a:cxnLst/>
              <a:rect l="l" t="t" r="r" b="b"/>
              <a:pathLst>
                <a:path w="4023360" h="1097279">
                  <a:moveTo>
                    <a:pt x="0" y="1097280"/>
                  </a:moveTo>
                  <a:lnTo>
                    <a:pt x="4023360" y="1097280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ln w="12699">
              <a:solidFill>
                <a:srgbClr val="E6F2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5759" y="2514600"/>
              <a:ext cx="73660" cy="1097280"/>
            </a:xfrm>
            <a:custGeom>
              <a:avLst/>
              <a:gdLst/>
              <a:ahLst/>
              <a:cxnLst/>
              <a:rect l="l" t="t" r="r" b="b"/>
              <a:pathLst>
                <a:path w="73659" h="1097279">
                  <a:moveTo>
                    <a:pt x="73152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73152" y="109728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2D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65759" y="2514600"/>
              <a:ext cx="73660" cy="1097280"/>
            </a:xfrm>
            <a:custGeom>
              <a:avLst/>
              <a:gdLst/>
              <a:ahLst/>
              <a:cxnLst/>
              <a:rect l="l" t="t" r="r" b="b"/>
              <a:pathLst>
                <a:path w="73659" h="1097279">
                  <a:moveTo>
                    <a:pt x="0" y="1097280"/>
                  </a:moveTo>
                  <a:lnTo>
                    <a:pt x="73152" y="1097280"/>
                  </a:lnTo>
                  <a:lnTo>
                    <a:pt x="73152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ln w="12700">
              <a:solidFill>
                <a:srgbClr val="2D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65759" y="2626232"/>
            <a:ext cx="4017010" cy="670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2D6A4F"/>
                </a:solidFill>
                <a:latin typeface="Calibri"/>
                <a:cs typeface="Calibri"/>
              </a:rPr>
              <a:t>Sectors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3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solidFill>
                  <a:srgbClr val="1B4332"/>
                </a:solidFill>
                <a:latin typeface="Calibri"/>
                <a:cs typeface="Calibri"/>
              </a:rPr>
              <a:t>Grocery,</a:t>
            </a:r>
            <a:r>
              <a:rPr sz="1200" spc="-2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B4332"/>
                </a:solidFill>
                <a:latin typeface="Calibri"/>
                <a:cs typeface="Calibri"/>
              </a:rPr>
              <a:t>Personal</a:t>
            </a:r>
            <a:r>
              <a:rPr sz="1200" spc="-4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4332"/>
                </a:solidFill>
                <a:latin typeface="Calibri"/>
                <a:cs typeface="Calibri"/>
              </a:rPr>
              <a:t>Care,</a:t>
            </a:r>
            <a:r>
              <a:rPr sz="1200" spc="-3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4332"/>
                </a:solidFill>
                <a:latin typeface="Calibri"/>
                <a:cs typeface="Calibri"/>
              </a:rPr>
              <a:t>Home</a:t>
            </a:r>
            <a:r>
              <a:rPr sz="1200" spc="-2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4332"/>
                </a:solidFill>
                <a:latin typeface="Calibri"/>
                <a:cs typeface="Calibri"/>
              </a:rPr>
              <a:t>Care,</a:t>
            </a:r>
            <a:r>
              <a:rPr sz="1200" spc="-3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4332"/>
                </a:solidFill>
                <a:latin typeface="Calibri"/>
                <a:cs typeface="Calibri"/>
              </a:rPr>
              <a:t>Electronics,</a:t>
            </a:r>
            <a:r>
              <a:rPr sz="1200" spc="-3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B4332"/>
                </a:solidFill>
                <a:latin typeface="Calibri"/>
                <a:cs typeface="Calibri"/>
              </a:rPr>
              <a:t>Clothing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748529" y="2508250"/>
            <a:ext cx="4036060" cy="1109980"/>
            <a:chOff x="4748529" y="2508250"/>
            <a:chExt cx="4036060" cy="1109980"/>
          </a:xfrm>
        </p:grpSpPr>
        <p:sp>
          <p:nvSpPr>
            <p:cNvPr id="31" name="object 31"/>
            <p:cNvSpPr/>
            <p:nvPr/>
          </p:nvSpPr>
          <p:spPr>
            <a:xfrm>
              <a:off x="4828031" y="2514600"/>
              <a:ext cx="3950335" cy="1097280"/>
            </a:xfrm>
            <a:custGeom>
              <a:avLst/>
              <a:gdLst/>
              <a:ahLst/>
              <a:cxnLst/>
              <a:rect l="l" t="t" r="r" b="b"/>
              <a:pathLst>
                <a:path w="3950334" h="1097279">
                  <a:moveTo>
                    <a:pt x="0" y="1097280"/>
                  </a:moveTo>
                  <a:lnTo>
                    <a:pt x="3950208" y="1097280"/>
                  </a:lnTo>
                  <a:lnTo>
                    <a:pt x="3950208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754879" y="2514600"/>
              <a:ext cx="4023360" cy="1097280"/>
            </a:xfrm>
            <a:custGeom>
              <a:avLst/>
              <a:gdLst/>
              <a:ahLst/>
              <a:cxnLst/>
              <a:rect l="l" t="t" r="r" b="b"/>
              <a:pathLst>
                <a:path w="4023359" h="1097279">
                  <a:moveTo>
                    <a:pt x="0" y="1097280"/>
                  </a:moveTo>
                  <a:lnTo>
                    <a:pt x="4023360" y="1097280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ln w="12700">
              <a:solidFill>
                <a:srgbClr val="E6F2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54879" y="2514600"/>
              <a:ext cx="73660" cy="1097280"/>
            </a:xfrm>
            <a:custGeom>
              <a:avLst/>
              <a:gdLst/>
              <a:ahLst/>
              <a:cxnLst/>
              <a:rect l="l" t="t" r="r" b="b"/>
              <a:pathLst>
                <a:path w="73660" h="1097279">
                  <a:moveTo>
                    <a:pt x="73151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73151" y="1097280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74C6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54879" y="2514600"/>
              <a:ext cx="73660" cy="1097280"/>
            </a:xfrm>
            <a:custGeom>
              <a:avLst/>
              <a:gdLst/>
              <a:ahLst/>
              <a:cxnLst/>
              <a:rect l="l" t="t" r="r" b="b"/>
              <a:pathLst>
                <a:path w="73660" h="1097279">
                  <a:moveTo>
                    <a:pt x="0" y="1097280"/>
                  </a:moveTo>
                  <a:lnTo>
                    <a:pt x="73151" y="1097280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ln w="12700">
              <a:solidFill>
                <a:srgbClr val="74C6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754879" y="2626232"/>
            <a:ext cx="4017010" cy="670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74C69D"/>
                </a:solidFill>
                <a:latin typeface="Calibri"/>
                <a:cs typeface="Calibri"/>
              </a:rPr>
              <a:t>Focus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300">
              <a:latin typeface="Calibri"/>
              <a:cs typeface="Calibri"/>
            </a:endParaRPr>
          </a:p>
          <a:p>
            <a:pPr marL="183515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solidFill>
                  <a:srgbClr val="1B4332"/>
                </a:solidFill>
                <a:latin typeface="Calibri"/>
                <a:cs typeface="Calibri"/>
              </a:rPr>
              <a:t>Everyday</a:t>
            </a:r>
            <a:r>
              <a:rPr sz="1200" spc="-5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4332"/>
                </a:solidFill>
                <a:latin typeface="Calibri"/>
                <a:cs typeface="Calibri"/>
              </a:rPr>
              <a:t>Low</a:t>
            </a:r>
            <a:r>
              <a:rPr sz="1200" spc="-2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4332"/>
                </a:solidFill>
                <a:latin typeface="Calibri"/>
                <a:cs typeface="Calibri"/>
              </a:rPr>
              <a:t>Prices</a:t>
            </a:r>
            <a:r>
              <a:rPr sz="1200" spc="-2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4332"/>
                </a:solidFill>
                <a:latin typeface="Calibri"/>
                <a:cs typeface="Calibri"/>
              </a:rPr>
              <a:t>(EDLP)</a:t>
            </a:r>
            <a:r>
              <a:rPr sz="1200" spc="-3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4332"/>
                </a:solidFill>
                <a:latin typeface="Calibri"/>
                <a:cs typeface="Calibri"/>
              </a:rPr>
              <a:t>retail</a:t>
            </a:r>
            <a:r>
              <a:rPr sz="1200" spc="-4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B4332"/>
                </a:solidFill>
                <a:latin typeface="Calibri"/>
                <a:cs typeface="Calibri"/>
              </a:rPr>
              <a:t>model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07819" y="4540402"/>
            <a:ext cx="49288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solidFill>
                  <a:srgbClr val="5A6E60"/>
                </a:solidFill>
                <a:latin typeface="Calibri"/>
                <a:cs typeface="Calibri"/>
              </a:rPr>
              <a:t>This</a:t>
            </a:r>
            <a:r>
              <a:rPr sz="1100" i="1" spc="-2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A6E60"/>
                </a:solidFill>
                <a:latin typeface="Calibri"/>
                <a:cs typeface="Calibri"/>
              </a:rPr>
              <a:t>report</a:t>
            </a:r>
            <a:r>
              <a:rPr sz="1100" i="1" spc="-4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A6E60"/>
                </a:solidFill>
                <a:latin typeface="Calibri"/>
                <a:cs typeface="Calibri"/>
              </a:rPr>
              <a:t>covers</a:t>
            </a:r>
            <a:r>
              <a:rPr sz="1100" i="1" spc="-2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A6E60"/>
                </a:solidFill>
                <a:latin typeface="Calibri"/>
                <a:cs typeface="Calibri"/>
              </a:rPr>
              <a:t>FY</a:t>
            </a:r>
            <a:r>
              <a:rPr sz="1100" i="1" spc="-2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A6E60"/>
                </a:solidFill>
                <a:latin typeface="Calibri"/>
                <a:cs typeface="Calibri"/>
              </a:rPr>
              <a:t>sales</a:t>
            </a:r>
            <a:r>
              <a:rPr sz="1100" i="1" spc="-2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A6E60"/>
                </a:solidFill>
                <a:latin typeface="Calibri"/>
                <a:cs typeface="Calibri"/>
              </a:rPr>
              <a:t>performance</a:t>
            </a:r>
            <a:r>
              <a:rPr sz="1100" i="1" spc="-3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A6E60"/>
                </a:solidFill>
                <a:latin typeface="Calibri"/>
                <a:cs typeface="Calibri"/>
              </a:rPr>
              <a:t>across</a:t>
            </a:r>
            <a:r>
              <a:rPr sz="1100" i="1" spc="-1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A6E60"/>
                </a:solidFill>
                <a:latin typeface="Calibri"/>
                <a:cs typeface="Calibri"/>
              </a:rPr>
              <a:t>6</a:t>
            </a:r>
            <a:r>
              <a:rPr sz="1100" i="1" spc="-2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A6E60"/>
                </a:solidFill>
                <a:latin typeface="Calibri"/>
                <a:cs typeface="Calibri"/>
              </a:rPr>
              <a:t>Indian</a:t>
            </a:r>
            <a:r>
              <a:rPr sz="1100" i="1" spc="-2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A6E60"/>
                </a:solidFill>
                <a:latin typeface="Calibri"/>
                <a:cs typeface="Calibri"/>
              </a:rPr>
              <a:t>cities</a:t>
            </a:r>
            <a:r>
              <a:rPr sz="1100" i="1" spc="-1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A6E60"/>
                </a:solidFill>
                <a:latin typeface="Calibri"/>
                <a:cs typeface="Calibri"/>
              </a:rPr>
              <a:t>and</a:t>
            </a:r>
            <a:r>
              <a:rPr sz="1100" i="1" spc="-2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A6E60"/>
                </a:solidFill>
                <a:latin typeface="Calibri"/>
                <a:cs typeface="Calibri"/>
              </a:rPr>
              <a:t>5 product</a:t>
            </a:r>
            <a:r>
              <a:rPr sz="1100" i="1" spc="-2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5A6E60"/>
                </a:solidFill>
                <a:latin typeface="Calibri"/>
                <a:cs typeface="Calibri"/>
              </a:rPr>
              <a:t>categories.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031" y="182879"/>
            <a:ext cx="548640" cy="54863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14835" y="-82305"/>
            <a:ext cx="7429499" cy="11089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CATEGORY</a:t>
            </a:r>
            <a:r>
              <a:rPr spc="-65" dirty="0"/>
              <a:t> </a:t>
            </a:r>
            <a:r>
              <a:rPr dirty="0"/>
              <a:t>MARKET</a:t>
            </a:r>
            <a:r>
              <a:rPr spc="-80" dirty="0"/>
              <a:t> </a:t>
            </a:r>
            <a:r>
              <a:rPr spc="-10" dirty="0"/>
              <a:t>SHARE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2553" y="1193927"/>
            <a:ext cx="4663440" cy="2904490"/>
            <a:chOff x="872553" y="1193927"/>
            <a:chExt cx="4663440" cy="2904490"/>
          </a:xfrm>
        </p:grpSpPr>
        <p:sp>
          <p:nvSpPr>
            <p:cNvPr id="5" name="object 5"/>
            <p:cNvSpPr/>
            <p:nvPr/>
          </p:nvSpPr>
          <p:spPr>
            <a:xfrm>
              <a:off x="918552" y="1200277"/>
              <a:ext cx="4611370" cy="2376805"/>
            </a:xfrm>
            <a:custGeom>
              <a:avLst/>
              <a:gdLst/>
              <a:ahLst/>
              <a:cxnLst/>
              <a:rect l="l" t="t" r="r" b="b"/>
              <a:pathLst>
                <a:path w="4611370" h="2376804">
                  <a:moveTo>
                    <a:pt x="2489949" y="2376551"/>
                  </a:moveTo>
                  <a:lnTo>
                    <a:pt x="3043339" y="2376551"/>
                  </a:lnTo>
                </a:path>
                <a:path w="4611370" h="2376804">
                  <a:moveTo>
                    <a:pt x="3412223" y="2376551"/>
                  </a:moveTo>
                  <a:lnTo>
                    <a:pt x="3965486" y="2376551"/>
                  </a:lnTo>
                </a:path>
                <a:path w="4611370" h="2376804">
                  <a:moveTo>
                    <a:pt x="645541" y="2376551"/>
                  </a:moveTo>
                  <a:lnTo>
                    <a:pt x="1198918" y="2376551"/>
                  </a:lnTo>
                </a:path>
                <a:path w="4611370" h="2376804">
                  <a:moveTo>
                    <a:pt x="0" y="2376551"/>
                  </a:moveTo>
                  <a:lnTo>
                    <a:pt x="276656" y="2376551"/>
                  </a:lnTo>
                </a:path>
                <a:path w="4611370" h="2376804">
                  <a:moveTo>
                    <a:pt x="4334370" y="2376551"/>
                  </a:moveTo>
                  <a:lnTo>
                    <a:pt x="4611027" y="2376551"/>
                  </a:lnTo>
                </a:path>
                <a:path w="4611370" h="2376804">
                  <a:moveTo>
                    <a:pt x="1567802" y="2376551"/>
                  </a:moveTo>
                  <a:lnTo>
                    <a:pt x="2121065" y="2376551"/>
                  </a:lnTo>
                </a:path>
                <a:path w="4611370" h="2376804">
                  <a:moveTo>
                    <a:pt x="4334370" y="1901063"/>
                  </a:moveTo>
                  <a:lnTo>
                    <a:pt x="4611027" y="1901063"/>
                  </a:lnTo>
                </a:path>
                <a:path w="4611370" h="2376804">
                  <a:moveTo>
                    <a:pt x="3412223" y="1901063"/>
                  </a:moveTo>
                  <a:lnTo>
                    <a:pt x="3965486" y="1901063"/>
                  </a:lnTo>
                </a:path>
                <a:path w="4611370" h="2376804">
                  <a:moveTo>
                    <a:pt x="1567802" y="1901063"/>
                  </a:moveTo>
                  <a:lnTo>
                    <a:pt x="2121065" y="1901063"/>
                  </a:lnTo>
                </a:path>
                <a:path w="4611370" h="2376804">
                  <a:moveTo>
                    <a:pt x="645541" y="1901063"/>
                  </a:moveTo>
                  <a:lnTo>
                    <a:pt x="1198918" y="1901063"/>
                  </a:lnTo>
                </a:path>
                <a:path w="4611370" h="2376804">
                  <a:moveTo>
                    <a:pt x="0" y="1901063"/>
                  </a:moveTo>
                  <a:lnTo>
                    <a:pt x="276656" y="1901063"/>
                  </a:lnTo>
                </a:path>
                <a:path w="4611370" h="2376804">
                  <a:moveTo>
                    <a:pt x="2489949" y="1901063"/>
                  </a:moveTo>
                  <a:lnTo>
                    <a:pt x="3043339" y="1901063"/>
                  </a:lnTo>
                </a:path>
                <a:path w="4611370" h="2376804">
                  <a:moveTo>
                    <a:pt x="0" y="1425575"/>
                  </a:moveTo>
                  <a:lnTo>
                    <a:pt x="276656" y="1425575"/>
                  </a:lnTo>
                </a:path>
                <a:path w="4611370" h="2376804">
                  <a:moveTo>
                    <a:pt x="1567802" y="1425575"/>
                  </a:moveTo>
                  <a:lnTo>
                    <a:pt x="2121065" y="1425575"/>
                  </a:lnTo>
                </a:path>
                <a:path w="4611370" h="2376804">
                  <a:moveTo>
                    <a:pt x="645541" y="1425575"/>
                  </a:moveTo>
                  <a:lnTo>
                    <a:pt x="1198918" y="1425575"/>
                  </a:lnTo>
                </a:path>
                <a:path w="4611370" h="2376804">
                  <a:moveTo>
                    <a:pt x="2489949" y="1425575"/>
                  </a:moveTo>
                  <a:lnTo>
                    <a:pt x="4611027" y="1425575"/>
                  </a:lnTo>
                </a:path>
                <a:path w="4611370" h="2376804">
                  <a:moveTo>
                    <a:pt x="0" y="950087"/>
                  </a:moveTo>
                  <a:lnTo>
                    <a:pt x="276656" y="950087"/>
                  </a:lnTo>
                </a:path>
                <a:path w="4611370" h="2376804">
                  <a:moveTo>
                    <a:pt x="645541" y="950087"/>
                  </a:moveTo>
                  <a:lnTo>
                    <a:pt x="1198918" y="950087"/>
                  </a:lnTo>
                </a:path>
                <a:path w="4611370" h="2376804">
                  <a:moveTo>
                    <a:pt x="1567802" y="950087"/>
                  </a:moveTo>
                  <a:lnTo>
                    <a:pt x="4611027" y="950087"/>
                  </a:lnTo>
                </a:path>
                <a:path w="4611370" h="2376804">
                  <a:moveTo>
                    <a:pt x="0" y="474599"/>
                  </a:moveTo>
                  <a:lnTo>
                    <a:pt x="4611027" y="474599"/>
                  </a:lnTo>
                </a:path>
                <a:path w="4611370" h="2376804">
                  <a:moveTo>
                    <a:pt x="0" y="0"/>
                  </a:moveTo>
                  <a:lnTo>
                    <a:pt x="4611027" y="0"/>
                  </a:lnTo>
                </a:path>
              </a:pathLst>
            </a:custGeom>
            <a:ln w="6350">
              <a:solidFill>
                <a:srgbClr val="E6F2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95209" y="2008136"/>
              <a:ext cx="368935" cy="2044064"/>
            </a:xfrm>
            <a:custGeom>
              <a:avLst/>
              <a:gdLst/>
              <a:ahLst/>
              <a:cxnLst/>
              <a:rect l="l" t="t" r="r" b="b"/>
              <a:pathLst>
                <a:path w="368934" h="2044064">
                  <a:moveTo>
                    <a:pt x="368884" y="0"/>
                  </a:moveTo>
                  <a:lnTo>
                    <a:pt x="0" y="0"/>
                  </a:lnTo>
                  <a:lnTo>
                    <a:pt x="0" y="2043683"/>
                  </a:lnTo>
                  <a:lnTo>
                    <a:pt x="368884" y="2043683"/>
                  </a:lnTo>
                  <a:lnTo>
                    <a:pt x="368884" y="0"/>
                  </a:lnTo>
                  <a:close/>
                </a:path>
              </a:pathLst>
            </a:custGeom>
            <a:solidFill>
              <a:srgbClr val="2D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17471" y="2008136"/>
              <a:ext cx="368935" cy="2044064"/>
            </a:xfrm>
            <a:custGeom>
              <a:avLst/>
              <a:gdLst/>
              <a:ahLst/>
              <a:cxnLst/>
              <a:rect l="l" t="t" r="r" b="b"/>
              <a:pathLst>
                <a:path w="368935" h="2044064">
                  <a:moveTo>
                    <a:pt x="368884" y="0"/>
                  </a:moveTo>
                  <a:lnTo>
                    <a:pt x="0" y="0"/>
                  </a:lnTo>
                  <a:lnTo>
                    <a:pt x="0" y="2043683"/>
                  </a:lnTo>
                  <a:lnTo>
                    <a:pt x="368884" y="2043683"/>
                  </a:lnTo>
                  <a:lnTo>
                    <a:pt x="368884" y="0"/>
                  </a:lnTo>
                  <a:close/>
                </a:path>
              </a:pathLst>
            </a:custGeom>
            <a:solidFill>
              <a:srgbClr val="2D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39617" y="2264803"/>
              <a:ext cx="368935" cy="1787525"/>
            </a:xfrm>
            <a:custGeom>
              <a:avLst/>
              <a:gdLst/>
              <a:ahLst/>
              <a:cxnLst/>
              <a:rect l="l" t="t" r="r" b="b"/>
              <a:pathLst>
                <a:path w="368935" h="1787525">
                  <a:moveTo>
                    <a:pt x="368884" y="0"/>
                  </a:moveTo>
                  <a:lnTo>
                    <a:pt x="0" y="0"/>
                  </a:lnTo>
                  <a:lnTo>
                    <a:pt x="0" y="1787017"/>
                  </a:lnTo>
                  <a:lnTo>
                    <a:pt x="368884" y="1787017"/>
                  </a:lnTo>
                  <a:lnTo>
                    <a:pt x="368884" y="0"/>
                  </a:lnTo>
                  <a:close/>
                </a:path>
              </a:pathLst>
            </a:custGeom>
            <a:solidFill>
              <a:srgbClr val="74C6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61892" y="2863646"/>
              <a:ext cx="368935" cy="1188720"/>
            </a:xfrm>
            <a:custGeom>
              <a:avLst/>
              <a:gdLst/>
              <a:ahLst/>
              <a:cxnLst/>
              <a:rect l="l" t="t" r="r" b="b"/>
              <a:pathLst>
                <a:path w="368935" h="1188720">
                  <a:moveTo>
                    <a:pt x="368884" y="0"/>
                  </a:moveTo>
                  <a:lnTo>
                    <a:pt x="0" y="0"/>
                  </a:lnTo>
                  <a:lnTo>
                    <a:pt x="0" y="1188173"/>
                  </a:lnTo>
                  <a:lnTo>
                    <a:pt x="368884" y="1188173"/>
                  </a:lnTo>
                  <a:lnTo>
                    <a:pt x="368884" y="0"/>
                  </a:lnTo>
                  <a:close/>
                </a:path>
              </a:pathLst>
            </a:custGeom>
            <a:solidFill>
              <a:srgbClr val="52B7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84038" y="3082277"/>
              <a:ext cx="368935" cy="969644"/>
            </a:xfrm>
            <a:custGeom>
              <a:avLst/>
              <a:gdLst/>
              <a:ahLst/>
              <a:cxnLst/>
              <a:rect l="l" t="t" r="r" b="b"/>
              <a:pathLst>
                <a:path w="368935" h="969645">
                  <a:moveTo>
                    <a:pt x="368884" y="0"/>
                  </a:moveTo>
                  <a:lnTo>
                    <a:pt x="0" y="0"/>
                  </a:lnTo>
                  <a:lnTo>
                    <a:pt x="0" y="969543"/>
                  </a:lnTo>
                  <a:lnTo>
                    <a:pt x="368884" y="969543"/>
                  </a:lnTo>
                  <a:lnTo>
                    <a:pt x="368884" y="0"/>
                  </a:lnTo>
                  <a:close/>
                </a:path>
              </a:pathLst>
            </a:custGeom>
            <a:solidFill>
              <a:srgbClr val="4091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2553" y="1200150"/>
              <a:ext cx="4657090" cy="2898140"/>
            </a:xfrm>
            <a:custGeom>
              <a:avLst/>
              <a:gdLst/>
              <a:ahLst/>
              <a:cxnLst/>
              <a:rect l="l" t="t" r="r" b="b"/>
              <a:pathLst>
                <a:path w="4657090" h="2898140">
                  <a:moveTo>
                    <a:pt x="45999" y="2851670"/>
                  </a:moveTo>
                  <a:lnTo>
                    <a:pt x="45999" y="0"/>
                  </a:lnTo>
                </a:path>
                <a:path w="4657090" h="2898140">
                  <a:moveTo>
                    <a:pt x="0" y="2851670"/>
                  </a:moveTo>
                  <a:lnTo>
                    <a:pt x="45999" y="2851670"/>
                  </a:lnTo>
                </a:path>
                <a:path w="4657090" h="2898140">
                  <a:moveTo>
                    <a:pt x="0" y="2376678"/>
                  </a:moveTo>
                  <a:lnTo>
                    <a:pt x="45999" y="2376678"/>
                  </a:lnTo>
                </a:path>
                <a:path w="4657090" h="2898140">
                  <a:moveTo>
                    <a:pt x="0" y="1901189"/>
                  </a:moveTo>
                  <a:lnTo>
                    <a:pt x="45999" y="1901189"/>
                  </a:lnTo>
                </a:path>
                <a:path w="4657090" h="2898140">
                  <a:moveTo>
                    <a:pt x="0" y="1425702"/>
                  </a:moveTo>
                  <a:lnTo>
                    <a:pt x="45999" y="1425702"/>
                  </a:lnTo>
                </a:path>
                <a:path w="4657090" h="2898140">
                  <a:moveTo>
                    <a:pt x="0" y="950213"/>
                  </a:moveTo>
                  <a:lnTo>
                    <a:pt x="45999" y="950213"/>
                  </a:lnTo>
                </a:path>
                <a:path w="4657090" h="2898140">
                  <a:moveTo>
                    <a:pt x="0" y="474725"/>
                  </a:moveTo>
                  <a:lnTo>
                    <a:pt x="45999" y="474725"/>
                  </a:lnTo>
                </a:path>
                <a:path w="4657090" h="2898140">
                  <a:moveTo>
                    <a:pt x="0" y="126"/>
                  </a:moveTo>
                  <a:lnTo>
                    <a:pt x="45999" y="126"/>
                  </a:lnTo>
                </a:path>
                <a:path w="4657090" h="2898140">
                  <a:moveTo>
                    <a:pt x="45999" y="2851670"/>
                  </a:moveTo>
                  <a:lnTo>
                    <a:pt x="4657026" y="2851683"/>
                  </a:lnTo>
                </a:path>
                <a:path w="4657090" h="2898140">
                  <a:moveTo>
                    <a:pt x="45999" y="2851670"/>
                  </a:moveTo>
                  <a:lnTo>
                    <a:pt x="45999" y="2897670"/>
                  </a:lnTo>
                </a:path>
                <a:path w="4657090" h="2898140">
                  <a:moveTo>
                    <a:pt x="968438" y="2851670"/>
                  </a:moveTo>
                  <a:lnTo>
                    <a:pt x="968438" y="2897670"/>
                  </a:lnTo>
                </a:path>
                <a:path w="4657090" h="2898140">
                  <a:moveTo>
                    <a:pt x="1890458" y="2851670"/>
                  </a:moveTo>
                  <a:lnTo>
                    <a:pt x="1890458" y="2897670"/>
                  </a:lnTo>
                </a:path>
                <a:path w="4657090" h="2898140">
                  <a:moveTo>
                    <a:pt x="2812478" y="2851670"/>
                  </a:moveTo>
                  <a:lnTo>
                    <a:pt x="2812478" y="2897670"/>
                  </a:lnTo>
                </a:path>
                <a:path w="4657090" h="2898140">
                  <a:moveTo>
                    <a:pt x="3734498" y="2851670"/>
                  </a:moveTo>
                  <a:lnTo>
                    <a:pt x="3734498" y="2897670"/>
                  </a:lnTo>
                </a:path>
                <a:path w="4657090" h="2898140">
                  <a:moveTo>
                    <a:pt x="4657026" y="2851670"/>
                  </a:moveTo>
                  <a:lnTo>
                    <a:pt x="4657026" y="2897670"/>
                  </a:lnTo>
                </a:path>
              </a:pathLst>
            </a:custGeom>
            <a:ln w="12700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08633" y="1785365"/>
            <a:ext cx="34099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 MT"/>
                <a:cs typeface="Arial MT"/>
              </a:rPr>
              <a:t>3,115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30932" y="1785365"/>
            <a:ext cx="34099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 MT"/>
                <a:cs typeface="Arial MT"/>
              </a:rPr>
              <a:t>3,115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53333" y="2041905"/>
            <a:ext cx="34099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 MT"/>
                <a:cs typeface="Arial MT"/>
              </a:rPr>
              <a:t>3,088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75608" y="2640837"/>
            <a:ext cx="34099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 MT"/>
                <a:cs typeface="Arial MT"/>
              </a:rPr>
              <a:t>3,025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97882" y="2859785"/>
            <a:ext cx="34099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 MT"/>
                <a:cs typeface="Arial MT"/>
              </a:rPr>
              <a:t>3,002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660" y="2986277"/>
            <a:ext cx="364490" cy="1159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 MT"/>
                <a:cs typeface="Arial MT"/>
              </a:rPr>
              <a:t>3000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20" dirty="0">
                <a:latin typeface="Arial MT"/>
                <a:cs typeface="Arial MT"/>
              </a:rPr>
              <a:t>2950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latin typeface="Arial MT"/>
                <a:cs typeface="Arial MT"/>
              </a:rPr>
              <a:t>2900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5660" y="2510789"/>
            <a:ext cx="36449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 MT"/>
                <a:cs typeface="Arial MT"/>
              </a:rPr>
              <a:t>3050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5660" y="2035301"/>
            <a:ext cx="36449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 MT"/>
                <a:cs typeface="Arial MT"/>
              </a:rPr>
              <a:t>3100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5660" y="1084579"/>
            <a:ext cx="364490" cy="68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 MT"/>
                <a:cs typeface="Arial MT"/>
              </a:rPr>
              <a:t>3200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20" dirty="0">
                <a:latin typeface="Arial MT"/>
                <a:cs typeface="Arial MT"/>
              </a:rPr>
              <a:t>3150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94359" y="4118559"/>
            <a:ext cx="77089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Electronics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99920" y="4118559"/>
            <a:ext cx="8051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Home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Care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10967" y="4118559"/>
            <a:ext cx="627380" cy="38417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47955" marR="5080" indent="-135890">
              <a:lnSpc>
                <a:spcPts val="1380"/>
              </a:lnSpc>
              <a:spcBef>
                <a:spcPts val="195"/>
              </a:spcBef>
            </a:pPr>
            <a:r>
              <a:rPr sz="1200" spc="-10" dirty="0">
                <a:latin typeface="Arial MT"/>
                <a:cs typeface="Arial MT"/>
              </a:rPr>
              <a:t>Personal </a:t>
            </a:r>
            <a:r>
              <a:rPr sz="1200" spc="-20" dirty="0">
                <a:latin typeface="Arial MT"/>
                <a:cs typeface="Arial MT"/>
              </a:rPr>
              <a:t>Care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63085" y="4118559"/>
            <a:ext cx="56769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Grocery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76978" y="4118559"/>
            <a:ext cx="5842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Clothing</a:t>
            </a:r>
            <a:endParaRPr sz="1200" dirty="0">
              <a:latin typeface="Arial MT"/>
              <a:cs typeface="Arial MT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88986"/>
              </p:ext>
            </p:extLst>
          </p:nvPr>
        </p:nvGraphicFramePr>
        <p:xfrm>
          <a:off x="5940425" y="1368425"/>
          <a:ext cx="2834638" cy="2301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Product</a:t>
                      </a:r>
                      <a:r>
                        <a:rPr sz="10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Line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Units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Share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Electronics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3,115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20.29%</a:t>
                      </a:r>
                      <a:endParaRPr sz="11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Home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Care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3,115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20.29%</a:t>
                      </a:r>
                      <a:endParaRPr sz="11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Personal</a:t>
                      </a:r>
                      <a:r>
                        <a:rPr sz="11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Care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3,088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20.12%</a:t>
                      </a:r>
                      <a:endParaRPr sz="11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Grocery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3,025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19.71%</a:t>
                      </a:r>
                      <a:endParaRPr sz="11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Clothing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3,002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19.56%</a:t>
                      </a:r>
                      <a:endParaRPr sz="11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2161158" y="4700287"/>
            <a:ext cx="48209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60" dirty="0">
                <a:solidFill>
                  <a:srgbClr val="5A6E60"/>
                </a:solidFill>
                <a:latin typeface="Segoe UI Symbol"/>
                <a:cs typeface="Segoe UI Symbol"/>
              </a:rPr>
              <a:t>★</a:t>
            </a:r>
            <a:r>
              <a:rPr sz="1050" spc="-50" dirty="0">
                <a:solidFill>
                  <a:srgbClr val="5A6E60"/>
                </a:solidFill>
                <a:latin typeface="Segoe UI Symbol"/>
                <a:cs typeface="Segoe UI Symbol"/>
              </a:rPr>
              <a:t> </a:t>
            </a:r>
            <a:r>
              <a:rPr sz="1000" i="1" dirty="0">
                <a:solidFill>
                  <a:srgbClr val="5A6E60"/>
                </a:solidFill>
                <a:latin typeface="Calibri"/>
                <a:cs typeface="Calibri"/>
              </a:rPr>
              <a:t>Electronics</a:t>
            </a:r>
            <a:r>
              <a:rPr sz="1000" i="1" spc="-6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5A6E60"/>
                </a:solidFill>
                <a:latin typeface="Calibri"/>
                <a:cs typeface="Calibri"/>
              </a:rPr>
              <a:t>&amp;</a:t>
            </a:r>
            <a:r>
              <a:rPr sz="1000" i="1" spc="-1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5A6E60"/>
                </a:solidFill>
                <a:latin typeface="Calibri"/>
                <a:cs typeface="Calibri"/>
              </a:rPr>
              <a:t>Home</a:t>
            </a:r>
            <a:r>
              <a:rPr sz="1000" i="1" spc="-2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5A6E60"/>
                </a:solidFill>
                <a:latin typeface="Calibri"/>
                <a:cs typeface="Calibri"/>
              </a:rPr>
              <a:t>Care</a:t>
            </a:r>
            <a:r>
              <a:rPr sz="1000" i="1" spc="-1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5A6E60"/>
                </a:solidFill>
                <a:latin typeface="Calibri"/>
                <a:cs typeface="Calibri"/>
              </a:rPr>
              <a:t>lead</a:t>
            </a:r>
            <a:r>
              <a:rPr sz="1000" i="1" spc="-2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5A6E60"/>
                </a:solidFill>
                <a:latin typeface="Calibri"/>
                <a:cs typeface="Calibri"/>
              </a:rPr>
              <a:t>with</a:t>
            </a:r>
            <a:r>
              <a:rPr sz="1000" i="1" spc="-1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5A6E60"/>
                </a:solidFill>
                <a:latin typeface="Calibri"/>
                <a:cs typeface="Calibri"/>
              </a:rPr>
              <a:t>equal</a:t>
            </a:r>
            <a:r>
              <a:rPr sz="1000" i="1" spc="-3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5A6E60"/>
                </a:solidFill>
                <a:latin typeface="Calibri"/>
                <a:cs typeface="Calibri"/>
              </a:rPr>
              <a:t>top</a:t>
            </a:r>
            <a:r>
              <a:rPr sz="1000" i="1" spc="-2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5A6E60"/>
                </a:solidFill>
                <a:latin typeface="Calibri"/>
                <a:cs typeface="Calibri"/>
              </a:rPr>
              <a:t>share</a:t>
            </a:r>
            <a:r>
              <a:rPr sz="1000" i="1" spc="44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5A6E60"/>
                </a:solidFill>
                <a:latin typeface="Arial"/>
                <a:cs typeface="Arial"/>
              </a:rPr>
              <a:t>▼</a:t>
            </a:r>
            <a:r>
              <a:rPr sz="1000" i="1" spc="-60" dirty="0">
                <a:solidFill>
                  <a:srgbClr val="5A6E6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5A6E60"/>
                </a:solidFill>
                <a:latin typeface="Calibri"/>
                <a:cs typeface="Calibri"/>
              </a:rPr>
              <a:t>Clothing</a:t>
            </a:r>
            <a:r>
              <a:rPr sz="1000" i="1" spc="-1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i="1" spc="-10" dirty="0">
                <a:solidFill>
                  <a:srgbClr val="5A6E60"/>
                </a:solidFill>
                <a:latin typeface="Calibri"/>
                <a:cs typeface="Calibri"/>
              </a:rPr>
              <a:t>marginally</a:t>
            </a:r>
            <a:r>
              <a:rPr sz="1000" i="1" spc="-4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5A6E60"/>
                </a:solidFill>
                <a:latin typeface="Calibri"/>
                <a:cs typeface="Calibri"/>
              </a:rPr>
              <a:t>trails</a:t>
            </a:r>
            <a:r>
              <a:rPr sz="1000" i="1" spc="-2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5A6E60"/>
                </a:solidFill>
                <a:latin typeface="Calibri"/>
                <a:cs typeface="Calibri"/>
              </a:rPr>
              <a:t>at</a:t>
            </a:r>
            <a:r>
              <a:rPr sz="1000" i="1" spc="-10" dirty="0">
                <a:solidFill>
                  <a:srgbClr val="5A6E60"/>
                </a:solidFill>
                <a:latin typeface="Calibri"/>
                <a:cs typeface="Calibri"/>
              </a:rPr>
              <a:t> 19.56%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031" y="182879"/>
            <a:ext cx="548640" cy="54863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04671" y="-29937"/>
            <a:ext cx="7429499" cy="11089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GEOGRAPHIC</a:t>
            </a:r>
            <a:r>
              <a:rPr spc="-75" dirty="0"/>
              <a:t> </a:t>
            </a:r>
            <a:r>
              <a:rPr spc="-10" dirty="0"/>
              <a:t>HIGHLIGHTS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7970" y="1072641"/>
            <a:ext cx="3944620" cy="396875"/>
          </a:xfrm>
          <a:prstGeom prst="rect">
            <a:avLst/>
          </a:prstGeom>
          <a:solidFill>
            <a:srgbClr val="52B788"/>
          </a:solidFill>
          <a:ln w="3175">
            <a:solidFill>
              <a:srgbClr val="52B788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635"/>
              </a:spcBef>
            </a:pP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▲</a:t>
            </a:r>
            <a:r>
              <a:rPr sz="1300" b="1" spc="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TOP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 PERFORMERS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4320" y="1536191"/>
            <a:ext cx="3931920" cy="805180"/>
            <a:chOff x="274320" y="1536191"/>
            <a:chExt cx="3931920" cy="805180"/>
          </a:xfrm>
        </p:grpSpPr>
        <p:pic>
          <p:nvPicPr>
            <p:cNvPr id="6" name="object 6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660" y="1609676"/>
              <a:ext cx="223446" cy="22344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74320" y="1536191"/>
              <a:ext cx="3931920" cy="805180"/>
            </a:xfrm>
            <a:custGeom>
              <a:avLst/>
              <a:gdLst/>
              <a:ahLst/>
              <a:cxnLst/>
              <a:rect l="l" t="t" r="r" b="b"/>
              <a:pathLst>
                <a:path w="3931920" h="805180">
                  <a:moveTo>
                    <a:pt x="3931920" y="0"/>
                  </a:moveTo>
                  <a:lnTo>
                    <a:pt x="0" y="0"/>
                  </a:lnTo>
                  <a:lnTo>
                    <a:pt x="0" y="804672"/>
                  </a:lnTo>
                  <a:lnTo>
                    <a:pt x="3931920" y="804672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E6F2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4320" y="1536191"/>
            <a:ext cx="3931920" cy="805180"/>
          </a:xfrm>
          <a:prstGeom prst="rect">
            <a:avLst/>
          </a:prstGeom>
          <a:ln w="12700">
            <a:solidFill>
              <a:srgbClr val="D8F3DC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383540">
              <a:lnSpc>
                <a:spcPct val="100000"/>
              </a:lnSpc>
              <a:spcBef>
                <a:spcPts val="365"/>
              </a:spcBef>
            </a:pPr>
            <a:r>
              <a:rPr sz="1400" b="1" spc="-10" dirty="0">
                <a:solidFill>
                  <a:srgbClr val="52B788"/>
                </a:solidFill>
                <a:latin typeface="Calibri"/>
                <a:cs typeface="Calibri"/>
              </a:rPr>
              <a:t>Bangalore</a:t>
            </a:r>
            <a:endParaRPr sz="1400">
              <a:latin typeface="Calibri"/>
              <a:cs typeface="Calibri"/>
            </a:endParaRPr>
          </a:p>
          <a:p>
            <a:pPr marL="383540">
              <a:lnSpc>
                <a:spcPct val="100000"/>
              </a:lnSpc>
              <a:spcBef>
                <a:spcPts val="760"/>
              </a:spcBef>
            </a:pPr>
            <a:r>
              <a:rPr sz="1100" dirty="0">
                <a:solidFill>
                  <a:srgbClr val="5A6E60"/>
                </a:solidFill>
                <a:latin typeface="Calibri"/>
                <a:cs typeface="Calibri"/>
              </a:rPr>
              <a:t>Electronics</a:t>
            </a:r>
            <a:r>
              <a:rPr sz="1100" spc="-5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6E60"/>
                </a:solidFill>
                <a:latin typeface="Calibri"/>
                <a:cs typeface="Calibri"/>
              </a:rPr>
              <a:t>·</a:t>
            </a:r>
            <a:r>
              <a:rPr sz="1100" spc="-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6E60"/>
                </a:solidFill>
                <a:latin typeface="Calibri"/>
                <a:cs typeface="Calibri"/>
              </a:rPr>
              <a:t>559</a:t>
            </a:r>
            <a:r>
              <a:rPr sz="1100" spc="-2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5A6E60"/>
                </a:solidFill>
                <a:latin typeface="Calibri"/>
                <a:cs typeface="Calibri"/>
              </a:rPr>
              <a:t>units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74320" y="2496311"/>
            <a:ext cx="3931920" cy="805180"/>
            <a:chOff x="274320" y="2496311"/>
            <a:chExt cx="3931920" cy="805180"/>
          </a:xfrm>
        </p:grpSpPr>
        <p:pic>
          <p:nvPicPr>
            <p:cNvPr id="10" name="object 10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660" y="2569796"/>
              <a:ext cx="223446" cy="22344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74320" y="2496311"/>
              <a:ext cx="3931920" cy="805180"/>
            </a:xfrm>
            <a:custGeom>
              <a:avLst/>
              <a:gdLst/>
              <a:ahLst/>
              <a:cxnLst/>
              <a:rect l="l" t="t" r="r" b="b"/>
              <a:pathLst>
                <a:path w="3931920" h="805179">
                  <a:moveTo>
                    <a:pt x="3931920" y="0"/>
                  </a:moveTo>
                  <a:lnTo>
                    <a:pt x="0" y="0"/>
                  </a:lnTo>
                  <a:lnTo>
                    <a:pt x="0" y="804671"/>
                  </a:lnTo>
                  <a:lnTo>
                    <a:pt x="3931920" y="804671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E6F2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74320" y="2496311"/>
            <a:ext cx="3931920" cy="805180"/>
          </a:xfrm>
          <a:prstGeom prst="rect">
            <a:avLst/>
          </a:prstGeom>
          <a:ln w="12700">
            <a:solidFill>
              <a:srgbClr val="D8F3D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83540">
              <a:lnSpc>
                <a:spcPct val="100000"/>
              </a:lnSpc>
              <a:spcBef>
                <a:spcPts val="370"/>
              </a:spcBef>
            </a:pPr>
            <a:r>
              <a:rPr sz="1400" b="1" spc="-10" dirty="0">
                <a:solidFill>
                  <a:srgbClr val="52B788"/>
                </a:solidFill>
                <a:latin typeface="Calibri"/>
                <a:cs typeface="Calibri"/>
              </a:rPr>
              <a:t>Mumbai</a:t>
            </a:r>
            <a:endParaRPr sz="1400">
              <a:latin typeface="Calibri"/>
              <a:cs typeface="Calibri"/>
            </a:endParaRPr>
          </a:p>
          <a:p>
            <a:pPr marL="383540">
              <a:lnSpc>
                <a:spcPct val="100000"/>
              </a:lnSpc>
              <a:spcBef>
                <a:spcPts val="755"/>
              </a:spcBef>
            </a:pPr>
            <a:r>
              <a:rPr sz="1100" dirty="0">
                <a:solidFill>
                  <a:srgbClr val="5A6E60"/>
                </a:solidFill>
                <a:latin typeface="Calibri"/>
                <a:cs typeface="Calibri"/>
              </a:rPr>
              <a:t>Personal</a:t>
            </a:r>
            <a:r>
              <a:rPr sz="1100" spc="-4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6E60"/>
                </a:solidFill>
                <a:latin typeface="Calibri"/>
                <a:cs typeface="Calibri"/>
              </a:rPr>
              <a:t>Care</a:t>
            </a:r>
            <a:r>
              <a:rPr sz="1100" spc="-1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6E60"/>
                </a:solidFill>
                <a:latin typeface="Calibri"/>
                <a:cs typeface="Calibri"/>
              </a:rPr>
              <a:t>·</a:t>
            </a:r>
            <a:r>
              <a:rPr sz="1100" spc="-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6E60"/>
                </a:solidFill>
                <a:latin typeface="Calibri"/>
                <a:cs typeface="Calibri"/>
              </a:rPr>
              <a:t>549</a:t>
            </a:r>
            <a:r>
              <a:rPr sz="1100" spc="-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5A6E60"/>
                </a:solidFill>
                <a:latin typeface="Calibri"/>
                <a:cs typeface="Calibri"/>
              </a:rPr>
              <a:t>units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74320" y="3456432"/>
            <a:ext cx="3931920" cy="805180"/>
            <a:chOff x="274320" y="3456432"/>
            <a:chExt cx="3931920" cy="805180"/>
          </a:xfrm>
        </p:grpSpPr>
        <p:pic>
          <p:nvPicPr>
            <p:cNvPr id="14" name="object 14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660" y="3529916"/>
              <a:ext cx="223446" cy="22344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74320" y="3456432"/>
              <a:ext cx="3931920" cy="805180"/>
            </a:xfrm>
            <a:custGeom>
              <a:avLst/>
              <a:gdLst/>
              <a:ahLst/>
              <a:cxnLst/>
              <a:rect l="l" t="t" r="r" b="b"/>
              <a:pathLst>
                <a:path w="3931920" h="805179">
                  <a:moveTo>
                    <a:pt x="3931920" y="0"/>
                  </a:moveTo>
                  <a:lnTo>
                    <a:pt x="0" y="0"/>
                  </a:lnTo>
                  <a:lnTo>
                    <a:pt x="0" y="804672"/>
                  </a:lnTo>
                  <a:lnTo>
                    <a:pt x="3931920" y="804672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E6F2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74320" y="3456432"/>
            <a:ext cx="3931920" cy="805180"/>
          </a:xfrm>
          <a:prstGeom prst="rect">
            <a:avLst/>
          </a:prstGeom>
          <a:ln w="12700">
            <a:solidFill>
              <a:srgbClr val="D8F3D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83540">
              <a:lnSpc>
                <a:spcPct val="100000"/>
              </a:lnSpc>
              <a:spcBef>
                <a:spcPts val="370"/>
              </a:spcBef>
            </a:pPr>
            <a:r>
              <a:rPr sz="1400" b="1" spc="-20" dirty="0">
                <a:solidFill>
                  <a:srgbClr val="52B788"/>
                </a:solidFill>
                <a:latin typeface="Calibri"/>
                <a:cs typeface="Calibri"/>
              </a:rPr>
              <a:t>Pune</a:t>
            </a:r>
            <a:endParaRPr sz="1400">
              <a:latin typeface="Calibri"/>
              <a:cs typeface="Calibri"/>
            </a:endParaRPr>
          </a:p>
          <a:p>
            <a:pPr marL="383540">
              <a:lnSpc>
                <a:spcPct val="100000"/>
              </a:lnSpc>
              <a:spcBef>
                <a:spcPts val="760"/>
              </a:spcBef>
            </a:pPr>
            <a:r>
              <a:rPr sz="1100" dirty="0">
                <a:solidFill>
                  <a:srgbClr val="5A6E60"/>
                </a:solidFill>
                <a:latin typeface="Calibri"/>
                <a:cs typeface="Calibri"/>
              </a:rPr>
              <a:t>Home</a:t>
            </a:r>
            <a:r>
              <a:rPr sz="1100" spc="-2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6E60"/>
                </a:solidFill>
                <a:latin typeface="Calibri"/>
                <a:cs typeface="Calibri"/>
              </a:rPr>
              <a:t>Care</a:t>
            </a:r>
            <a:r>
              <a:rPr sz="1100" spc="-1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6E60"/>
                </a:solidFill>
                <a:latin typeface="Calibri"/>
                <a:cs typeface="Calibri"/>
              </a:rPr>
              <a:t>·</a:t>
            </a:r>
            <a:r>
              <a:rPr sz="1100" spc="-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6E60"/>
                </a:solidFill>
                <a:latin typeface="Calibri"/>
                <a:cs typeface="Calibri"/>
              </a:rPr>
              <a:t>549 </a:t>
            </a:r>
            <a:r>
              <a:rPr sz="1100" spc="-10" dirty="0">
                <a:solidFill>
                  <a:srgbClr val="5A6E60"/>
                </a:solidFill>
                <a:latin typeface="Calibri"/>
                <a:cs typeface="Calibri"/>
              </a:rPr>
              <a:t>units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72000" y="1078991"/>
            <a:ext cx="0" cy="3566160"/>
          </a:xfrm>
          <a:custGeom>
            <a:avLst/>
            <a:gdLst/>
            <a:ahLst/>
            <a:cxnLst/>
            <a:rect l="l" t="t" r="r" b="b"/>
            <a:pathLst>
              <a:path h="3566160">
                <a:moveTo>
                  <a:pt x="0" y="0"/>
                </a:moveTo>
                <a:lnTo>
                  <a:pt x="0" y="3566160"/>
                </a:lnTo>
              </a:path>
            </a:pathLst>
          </a:custGeom>
          <a:ln w="19050">
            <a:solidFill>
              <a:srgbClr val="E6F2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931409" y="1072641"/>
            <a:ext cx="3944620" cy="396875"/>
          </a:xfrm>
          <a:prstGeom prst="rect">
            <a:avLst/>
          </a:prstGeom>
          <a:solidFill>
            <a:srgbClr val="DC2525"/>
          </a:solidFill>
          <a:ln w="3175">
            <a:solidFill>
              <a:srgbClr val="DC2525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635"/>
              </a:spcBef>
            </a:pP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▼</a:t>
            </a:r>
            <a:r>
              <a:rPr sz="1300" b="1" spc="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UNDERPERFORMING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937759" y="1536191"/>
            <a:ext cx="3931920" cy="805180"/>
            <a:chOff x="4937759" y="1536191"/>
            <a:chExt cx="3931920" cy="805180"/>
          </a:xfrm>
        </p:grpSpPr>
        <p:pic>
          <p:nvPicPr>
            <p:cNvPr id="20" name="object 20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02100" y="1609676"/>
              <a:ext cx="223446" cy="22344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937759" y="1536191"/>
              <a:ext cx="3931920" cy="805180"/>
            </a:xfrm>
            <a:custGeom>
              <a:avLst/>
              <a:gdLst/>
              <a:ahLst/>
              <a:cxnLst/>
              <a:rect l="l" t="t" r="r" b="b"/>
              <a:pathLst>
                <a:path w="3931920" h="805180">
                  <a:moveTo>
                    <a:pt x="3931920" y="0"/>
                  </a:moveTo>
                  <a:lnTo>
                    <a:pt x="0" y="0"/>
                  </a:lnTo>
                  <a:lnTo>
                    <a:pt x="0" y="804672"/>
                  </a:lnTo>
                  <a:lnTo>
                    <a:pt x="3931920" y="804672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937759" y="1536191"/>
            <a:ext cx="3931920" cy="805180"/>
          </a:xfrm>
          <a:prstGeom prst="rect">
            <a:avLst/>
          </a:prstGeom>
          <a:ln w="12700">
            <a:solidFill>
              <a:srgbClr val="FDD6D6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384810">
              <a:lnSpc>
                <a:spcPct val="100000"/>
              </a:lnSpc>
              <a:spcBef>
                <a:spcPts val="365"/>
              </a:spcBef>
            </a:pPr>
            <a:r>
              <a:rPr sz="1400" b="1" spc="-20" dirty="0">
                <a:solidFill>
                  <a:srgbClr val="DC2525"/>
                </a:solidFill>
                <a:latin typeface="Calibri"/>
                <a:cs typeface="Calibri"/>
              </a:rPr>
              <a:t>Pune</a:t>
            </a:r>
            <a:endParaRPr sz="1400">
              <a:latin typeface="Calibri"/>
              <a:cs typeface="Calibri"/>
            </a:endParaRPr>
          </a:p>
          <a:p>
            <a:pPr marL="384810">
              <a:lnSpc>
                <a:spcPct val="100000"/>
              </a:lnSpc>
              <a:spcBef>
                <a:spcPts val="760"/>
              </a:spcBef>
            </a:pPr>
            <a:r>
              <a:rPr sz="1100" dirty="0">
                <a:solidFill>
                  <a:srgbClr val="5A6E60"/>
                </a:solidFill>
                <a:latin typeface="Calibri"/>
                <a:cs typeface="Calibri"/>
              </a:rPr>
              <a:t>Electronics</a:t>
            </a:r>
            <a:r>
              <a:rPr sz="1100" spc="-5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6E60"/>
                </a:solidFill>
                <a:latin typeface="Calibri"/>
                <a:cs typeface="Calibri"/>
              </a:rPr>
              <a:t>·</a:t>
            </a:r>
            <a:r>
              <a:rPr sz="1100" spc="-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6E60"/>
                </a:solidFill>
                <a:latin typeface="Calibri"/>
                <a:cs typeface="Calibri"/>
              </a:rPr>
              <a:t>481</a:t>
            </a:r>
            <a:r>
              <a:rPr sz="1100" spc="-2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5A6E60"/>
                </a:solidFill>
                <a:latin typeface="Calibri"/>
                <a:cs typeface="Calibri"/>
              </a:rPr>
              <a:t>units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937759" y="2496311"/>
            <a:ext cx="3931920" cy="805180"/>
            <a:chOff x="4937759" y="2496311"/>
            <a:chExt cx="3931920" cy="805180"/>
          </a:xfrm>
        </p:grpSpPr>
        <p:pic>
          <p:nvPicPr>
            <p:cNvPr id="24" name="object 24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02100" y="2569796"/>
              <a:ext cx="223446" cy="22344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937759" y="2496311"/>
              <a:ext cx="3931920" cy="805180"/>
            </a:xfrm>
            <a:custGeom>
              <a:avLst/>
              <a:gdLst/>
              <a:ahLst/>
              <a:cxnLst/>
              <a:rect l="l" t="t" r="r" b="b"/>
              <a:pathLst>
                <a:path w="3931920" h="805179">
                  <a:moveTo>
                    <a:pt x="3931920" y="0"/>
                  </a:moveTo>
                  <a:lnTo>
                    <a:pt x="0" y="0"/>
                  </a:lnTo>
                  <a:lnTo>
                    <a:pt x="0" y="804671"/>
                  </a:lnTo>
                  <a:lnTo>
                    <a:pt x="3931920" y="804671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937759" y="2496311"/>
            <a:ext cx="3931920" cy="805180"/>
          </a:xfrm>
          <a:prstGeom prst="rect">
            <a:avLst/>
          </a:prstGeom>
          <a:ln w="12700">
            <a:solidFill>
              <a:srgbClr val="FDD6D6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84810">
              <a:lnSpc>
                <a:spcPct val="100000"/>
              </a:lnSpc>
              <a:spcBef>
                <a:spcPts val="370"/>
              </a:spcBef>
            </a:pPr>
            <a:r>
              <a:rPr sz="1400" b="1" spc="-10" dirty="0">
                <a:solidFill>
                  <a:srgbClr val="DC2525"/>
                </a:solidFill>
                <a:latin typeface="Calibri"/>
                <a:cs typeface="Calibri"/>
              </a:rPr>
              <a:t>Delhi</a:t>
            </a:r>
            <a:endParaRPr sz="1400">
              <a:latin typeface="Calibri"/>
              <a:cs typeface="Calibri"/>
            </a:endParaRPr>
          </a:p>
          <a:p>
            <a:pPr marL="384810">
              <a:lnSpc>
                <a:spcPct val="100000"/>
              </a:lnSpc>
              <a:spcBef>
                <a:spcPts val="755"/>
              </a:spcBef>
            </a:pPr>
            <a:r>
              <a:rPr sz="1100" dirty="0">
                <a:solidFill>
                  <a:srgbClr val="5A6E60"/>
                </a:solidFill>
                <a:latin typeface="Calibri"/>
                <a:cs typeface="Calibri"/>
              </a:rPr>
              <a:t>Clothing</a:t>
            </a:r>
            <a:r>
              <a:rPr sz="1100" spc="-5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6E60"/>
                </a:solidFill>
                <a:latin typeface="Calibri"/>
                <a:cs typeface="Calibri"/>
              </a:rPr>
              <a:t>·</a:t>
            </a:r>
            <a:r>
              <a:rPr sz="1100" spc="-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6E60"/>
                </a:solidFill>
                <a:latin typeface="Calibri"/>
                <a:cs typeface="Calibri"/>
              </a:rPr>
              <a:t>469</a:t>
            </a:r>
            <a:r>
              <a:rPr sz="1100" spc="-1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5A6E60"/>
                </a:solidFill>
                <a:latin typeface="Calibri"/>
                <a:cs typeface="Calibri"/>
              </a:rPr>
              <a:t>units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937759" y="3456432"/>
            <a:ext cx="3931920" cy="805180"/>
            <a:chOff x="4937759" y="3456432"/>
            <a:chExt cx="3931920" cy="805180"/>
          </a:xfrm>
        </p:grpSpPr>
        <p:pic>
          <p:nvPicPr>
            <p:cNvPr id="28" name="object 28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02100" y="3529916"/>
              <a:ext cx="223446" cy="22344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937759" y="3456432"/>
              <a:ext cx="3931920" cy="805180"/>
            </a:xfrm>
            <a:custGeom>
              <a:avLst/>
              <a:gdLst/>
              <a:ahLst/>
              <a:cxnLst/>
              <a:rect l="l" t="t" r="r" b="b"/>
              <a:pathLst>
                <a:path w="3931920" h="805179">
                  <a:moveTo>
                    <a:pt x="3931920" y="0"/>
                  </a:moveTo>
                  <a:lnTo>
                    <a:pt x="0" y="0"/>
                  </a:lnTo>
                  <a:lnTo>
                    <a:pt x="0" y="804672"/>
                  </a:lnTo>
                  <a:lnTo>
                    <a:pt x="3931920" y="804672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937759" y="3456432"/>
            <a:ext cx="3931920" cy="805180"/>
          </a:xfrm>
          <a:prstGeom prst="rect">
            <a:avLst/>
          </a:prstGeom>
          <a:ln w="12700">
            <a:solidFill>
              <a:srgbClr val="FDD6D6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84810">
              <a:lnSpc>
                <a:spcPct val="100000"/>
              </a:lnSpc>
              <a:spcBef>
                <a:spcPts val="370"/>
              </a:spcBef>
            </a:pPr>
            <a:r>
              <a:rPr sz="1400" b="1" spc="-10" dirty="0">
                <a:solidFill>
                  <a:srgbClr val="DC2525"/>
                </a:solidFill>
                <a:latin typeface="Calibri"/>
                <a:cs typeface="Calibri"/>
              </a:rPr>
              <a:t>Chennai</a:t>
            </a:r>
            <a:endParaRPr sz="1400">
              <a:latin typeface="Calibri"/>
              <a:cs typeface="Calibri"/>
            </a:endParaRPr>
          </a:p>
          <a:p>
            <a:pPr marL="384810">
              <a:lnSpc>
                <a:spcPct val="100000"/>
              </a:lnSpc>
              <a:spcBef>
                <a:spcPts val="760"/>
              </a:spcBef>
            </a:pPr>
            <a:r>
              <a:rPr sz="1100" dirty="0">
                <a:solidFill>
                  <a:srgbClr val="5A6E60"/>
                </a:solidFill>
                <a:latin typeface="Calibri"/>
                <a:cs typeface="Calibri"/>
              </a:rPr>
              <a:t>Home</a:t>
            </a:r>
            <a:r>
              <a:rPr sz="1100" spc="-2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6E60"/>
                </a:solidFill>
                <a:latin typeface="Calibri"/>
                <a:cs typeface="Calibri"/>
              </a:rPr>
              <a:t>Care</a:t>
            </a:r>
            <a:r>
              <a:rPr sz="1100" spc="-1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6E60"/>
                </a:solidFill>
                <a:latin typeface="Calibri"/>
                <a:cs typeface="Calibri"/>
              </a:rPr>
              <a:t>·</a:t>
            </a:r>
            <a:r>
              <a:rPr sz="1100" spc="-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6E60"/>
                </a:solidFill>
                <a:latin typeface="Calibri"/>
                <a:cs typeface="Calibri"/>
              </a:rPr>
              <a:t>478 </a:t>
            </a:r>
            <a:r>
              <a:rPr sz="1100" spc="-10" dirty="0">
                <a:solidFill>
                  <a:srgbClr val="5A6E60"/>
                </a:solidFill>
                <a:latin typeface="Calibri"/>
                <a:cs typeface="Calibri"/>
              </a:rPr>
              <a:t>units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5149850"/>
            <a:chOff x="-6350" y="-6350"/>
            <a:chExt cx="9156700" cy="5149850"/>
          </a:xfrm>
        </p:grpSpPr>
        <p:sp>
          <p:nvSpPr>
            <p:cNvPr id="3" name="object 3"/>
            <p:cNvSpPr/>
            <p:nvPr/>
          </p:nvSpPr>
          <p:spPr>
            <a:xfrm>
              <a:off x="0" y="960119"/>
              <a:ext cx="9144000" cy="4183379"/>
            </a:xfrm>
            <a:custGeom>
              <a:avLst/>
              <a:gdLst/>
              <a:ahLst/>
              <a:cxnLst/>
              <a:rect l="l" t="t" r="r" b="b"/>
              <a:pathLst>
                <a:path w="9144000" h="4183379">
                  <a:moveTo>
                    <a:pt x="0" y="4183379"/>
                  </a:moveTo>
                  <a:lnTo>
                    <a:pt x="9144000" y="418337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183379"/>
                  </a:lnTo>
                  <a:close/>
                </a:path>
              </a:pathLst>
            </a:custGeom>
            <a:solidFill>
              <a:srgbClr val="F1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960119"/>
            </a:xfrm>
            <a:custGeom>
              <a:avLst/>
              <a:gdLst/>
              <a:ahLst/>
              <a:cxnLst/>
              <a:rect l="l" t="t" r="r" b="b"/>
              <a:pathLst>
                <a:path w="9144000" h="960119">
                  <a:moveTo>
                    <a:pt x="9144000" y="0"/>
                  </a:moveTo>
                  <a:lnTo>
                    <a:pt x="0" y="0"/>
                  </a:lnTo>
                  <a:lnTo>
                    <a:pt x="0" y="960120"/>
                  </a:lnTo>
                  <a:lnTo>
                    <a:pt x="9144000" y="9601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43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960119"/>
            </a:xfrm>
            <a:custGeom>
              <a:avLst/>
              <a:gdLst/>
              <a:ahLst/>
              <a:cxnLst/>
              <a:rect l="l" t="t" r="r" b="b"/>
              <a:pathLst>
                <a:path w="9144000" h="960119">
                  <a:moveTo>
                    <a:pt x="0" y="960120"/>
                  </a:moveTo>
                  <a:lnTo>
                    <a:pt x="9144000" y="96012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60120"/>
                  </a:lnTo>
                  <a:close/>
                </a:path>
              </a:pathLst>
            </a:custGeom>
            <a:ln w="12700">
              <a:solidFill>
                <a:srgbClr val="1B433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031" y="182879"/>
              <a:ext cx="548640" cy="54863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CITY</a:t>
            </a:r>
            <a:r>
              <a:rPr spc="-60" dirty="0"/>
              <a:t> </a:t>
            </a:r>
            <a:r>
              <a:rPr dirty="0"/>
              <a:t>×</a:t>
            </a:r>
            <a:r>
              <a:rPr spc="-45" dirty="0"/>
              <a:t> </a:t>
            </a:r>
            <a:r>
              <a:rPr spc="-30" dirty="0"/>
              <a:t>CATEGORY</a:t>
            </a:r>
            <a:r>
              <a:rPr spc="-45" dirty="0"/>
              <a:t> </a:t>
            </a:r>
            <a:r>
              <a:rPr spc="-10" dirty="0"/>
              <a:t>PERFORMANCE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365759" y="1051560"/>
            <a:ext cx="8412480" cy="3520440"/>
            <a:chOff x="365759" y="1051560"/>
            <a:chExt cx="8412480" cy="3520440"/>
          </a:xfrm>
        </p:grpSpPr>
        <p:sp>
          <p:nvSpPr>
            <p:cNvPr id="9" name="object 9"/>
            <p:cNvSpPr/>
            <p:nvPr/>
          </p:nvSpPr>
          <p:spPr>
            <a:xfrm>
              <a:off x="365759" y="1051560"/>
              <a:ext cx="8412480" cy="3520440"/>
            </a:xfrm>
            <a:custGeom>
              <a:avLst/>
              <a:gdLst/>
              <a:ahLst/>
              <a:cxnLst/>
              <a:rect l="l" t="t" r="r" b="b"/>
              <a:pathLst>
                <a:path w="8412480" h="3520440">
                  <a:moveTo>
                    <a:pt x="8285480" y="0"/>
                  </a:moveTo>
                  <a:lnTo>
                    <a:pt x="126974" y="0"/>
                  </a:lnTo>
                  <a:lnTo>
                    <a:pt x="77548" y="9985"/>
                  </a:lnTo>
                  <a:lnTo>
                    <a:pt x="37188" y="37211"/>
                  </a:lnTo>
                  <a:lnTo>
                    <a:pt x="9977" y="77581"/>
                  </a:lnTo>
                  <a:lnTo>
                    <a:pt x="0" y="127000"/>
                  </a:lnTo>
                  <a:lnTo>
                    <a:pt x="0" y="3393465"/>
                  </a:lnTo>
                  <a:lnTo>
                    <a:pt x="9977" y="3442885"/>
                  </a:lnTo>
                  <a:lnTo>
                    <a:pt x="37188" y="3483246"/>
                  </a:lnTo>
                  <a:lnTo>
                    <a:pt x="77548" y="3510460"/>
                  </a:lnTo>
                  <a:lnTo>
                    <a:pt x="126974" y="3520440"/>
                  </a:lnTo>
                  <a:lnTo>
                    <a:pt x="8285480" y="3520440"/>
                  </a:lnTo>
                  <a:lnTo>
                    <a:pt x="8334898" y="3510460"/>
                  </a:lnTo>
                  <a:lnTo>
                    <a:pt x="8375269" y="3483246"/>
                  </a:lnTo>
                  <a:lnTo>
                    <a:pt x="8402494" y="3442885"/>
                  </a:lnTo>
                  <a:lnTo>
                    <a:pt x="8412480" y="3393465"/>
                  </a:lnTo>
                  <a:lnTo>
                    <a:pt x="8412480" y="127000"/>
                  </a:lnTo>
                  <a:lnTo>
                    <a:pt x="8402494" y="77581"/>
                  </a:lnTo>
                  <a:lnTo>
                    <a:pt x="8375269" y="37211"/>
                  </a:lnTo>
                  <a:lnTo>
                    <a:pt x="8334898" y="9985"/>
                  </a:lnTo>
                  <a:lnTo>
                    <a:pt x="82854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33780" y="1409573"/>
              <a:ext cx="7804784" cy="2092960"/>
            </a:xfrm>
            <a:custGeom>
              <a:avLst/>
              <a:gdLst/>
              <a:ahLst/>
              <a:cxnLst/>
              <a:rect l="l" t="t" r="r" b="b"/>
              <a:pathLst>
                <a:path w="7804784" h="2092960">
                  <a:moveTo>
                    <a:pt x="0" y="2092578"/>
                  </a:moveTo>
                  <a:lnTo>
                    <a:pt x="216255" y="2092578"/>
                  </a:lnTo>
                </a:path>
                <a:path w="7804784" h="2092960">
                  <a:moveTo>
                    <a:pt x="1083411" y="2092578"/>
                  </a:moveTo>
                  <a:lnTo>
                    <a:pt x="1517751" y="2092578"/>
                  </a:lnTo>
                </a:path>
                <a:path w="7804784" h="2092960">
                  <a:moveTo>
                    <a:pt x="2384907" y="2092578"/>
                  </a:moveTo>
                  <a:lnTo>
                    <a:pt x="2817723" y="2092578"/>
                  </a:lnTo>
                </a:path>
                <a:path w="7804784" h="2092960">
                  <a:moveTo>
                    <a:pt x="3684879" y="2092578"/>
                  </a:moveTo>
                  <a:lnTo>
                    <a:pt x="4119219" y="2092578"/>
                  </a:lnTo>
                </a:path>
                <a:path w="7804784" h="2092960">
                  <a:moveTo>
                    <a:pt x="4986375" y="2092578"/>
                  </a:moveTo>
                  <a:lnTo>
                    <a:pt x="5420715" y="2092578"/>
                  </a:lnTo>
                </a:path>
                <a:path w="7804784" h="2092960">
                  <a:moveTo>
                    <a:pt x="6287871" y="2092578"/>
                  </a:moveTo>
                  <a:lnTo>
                    <a:pt x="6720687" y="2092578"/>
                  </a:lnTo>
                </a:path>
                <a:path w="7804784" h="2092960">
                  <a:moveTo>
                    <a:pt x="7587843" y="2092578"/>
                  </a:moveTo>
                  <a:lnTo>
                    <a:pt x="7804759" y="2092578"/>
                  </a:lnTo>
                </a:path>
                <a:path w="7804784" h="2092960">
                  <a:moveTo>
                    <a:pt x="0" y="1675002"/>
                  </a:moveTo>
                  <a:lnTo>
                    <a:pt x="216255" y="1675002"/>
                  </a:lnTo>
                </a:path>
                <a:path w="7804784" h="2092960">
                  <a:moveTo>
                    <a:pt x="1083411" y="1675002"/>
                  </a:moveTo>
                  <a:lnTo>
                    <a:pt x="1517751" y="1675002"/>
                  </a:lnTo>
                </a:path>
                <a:path w="7804784" h="2092960">
                  <a:moveTo>
                    <a:pt x="2384907" y="1675002"/>
                  </a:moveTo>
                  <a:lnTo>
                    <a:pt x="2817723" y="1675002"/>
                  </a:lnTo>
                </a:path>
                <a:path w="7804784" h="2092960">
                  <a:moveTo>
                    <a:pt x="3684879" y="1675002"/>
                  </a:moveTo>
                  <a:lnTo>
                    <a:pt x="4119219" y="1675002"/>
                  </a:lnTo>
                </a:path>
                <a:path w="7804784" h="2092960">
                  <a:moveTo>
                    <a:pt x="4696815" y="1675002"/>
                  </a:moveTo>
                  <a:lnTo>
                    <a:pt x="5708751" y="1675002"/>
                  </a:lnTo>
                </a:path>
                <a:path w="7804784" h="2092960">
                  <a:moveTo>
                    <a:pt x="6287871" y="1675002"/>
                  </a:moveTo>
                  <a:lnTo>
                    <a:pt x="6720687" y="1675002"/>
                  </a:lnTo>
                </a:path>
                <a:path w="7804784" h="2092960">
                  <a:moveTo>
                    <a:pt x="7587843" y="1675002"/>
                  </a:moveTo>
                  <a:lnTo>
                    <a:pt x="7804759" y="1675002"/>
                  </a:lnTo>
                </a:path>
                <a:path w="7804784" h="2092960">
                  <a:moveTo>
                    <a:pt x="0" y="1255902"/>
                  </a:moveTo>
                  <a:lnTo>
                    <a:pt x="216255" y="1255902"/>
                  </a:lnTo>
                </a:path>
                <a:path w="7804784" h="2092960">
                  <a:moveTo>
                    <a:pt x="505815" y="1255902"/>
                  </a:moveTo>
                  <a:lnTo>
                    <a:pt x="795375" y="1255902"/>
                  </a:lnTo>
                </a:path>
                <a:path w="7804784" h="2092960">
                  <a:moveTo>
                    <a:pt x="1083411" y="1255902"/>
                  </a:moveTo>
                  <a:lnTo>
                    <a:pt x="1517751" y="1255902"/>
                  </a:lnTo>
                </a:path>
                <a:path w="7804784" h="2092960">
                  <a:moveTo>
                    <a:pt x="2384907" y="1255902"/>
                  </a:moveTo>
                  <a:lnTo>
                    <a:pt x="2817723" y="1255902"/>
                  </a:lnTo>
                </a:path>
                <a:path w="7804784" h="2092960">
                  <a:moveTo>
                    <a:pt x="3107283" y="1255902"/>
                  </a:moveTo>
                  <a:lnTo>
                    <a:pt x="3396843" y="1255902"/>
                  </a:lnTo>
                </a:path>
                <a:path w="7804784" h="2092960">
                  <a:moveTo>
                    <a:pt x="3684879" y="1255902"/>
                  </a:moveTo>
                  <a:lnTo>
                    <a:pt x="4119219" y="1255902"/>
                  </a:lnTo>
                </a:path>
                <a:path w="7804784" h="2092960">
                  <a:moveTo>
                    <a:pt x="4408779" y="1255902"/>
                  </a:moveTo>
                  <a:lnTo>
                    <a:pt x="5708751" y="1255902"/>
                  </a:lnTo>
                </a:path>
                <a:path w="7804784" h="2092960">
                  <a:moveTo>
                    <a:pt x="6287871" y="1255902"/>
                  </a:moveTo>
                  <a:lnTo>
                    <a:pt x="7298283" y="1255902"/>
                  </a:lnTo>
                </a:path>
                <a:path w="7804784" h="2092960">
                  <a:moveTo>
                    <a:pt x="7587843" y="1255902"/>
                  </a:moveTo>
                  <a:lnTo>
                    <a:pt x="7804759" y="1255902"/>
                  </a:lnTo>
                </a:path>
                <a:path w="7804784" h="2092960">
                  <a:moveTo>
                    <a:pt x="0" y="836802"/>
                  </a:moveTo>
                  <a:lnTo>
                    <a:pt x="216255" y="836802"/>
                  </a:lnTo>
                </a:path>
                <a:path w="7804784" h="2092960">
                  <a:moveTo>
                    <a:pt x="505815" y="836802"/>
                  </a:moveTo>
                  <a:lnTo>
                    <a:pt x="1807311" y="836802"/>
                  </a:lnTo>
                </a:path>
                <a:path w="7804784" h="2092960">
                  <a:moveTo>
                    <a:pt x="2095347" y="836802"/>
                  </a:moveTo>
                  <a:lnTo>
                    <a:pt x="2817723" y="836802"/>
                  </a:lnTo>
                </a:path>
                <a:path w="7804784" h="2092960">
                  <a:moveTo>
                    <a:pt x="3107283" y="836802"/>
                  </a:moveTo>
                  <a:lnTo>
                    <a:pt x="5998311" y="836802"/>
                  </a:lnTo>
                </a:path>
                <a:path w="7804784" h="2092960">
                  <a:moveTo>
                    <a:pt x="6287871" y="836802"/>
                  </a:moveTo>
                  <a:lnTo>
                    <a:pt x="7804759" y="836802"/>
                  </a:lnTo>
                </a:path>
                <a:path w="7804784" h="2092960">
                  <a:moveTo>
                    <a:pt x="0" y="419226"/>
                  </a:moveTo>
                  <a:lnTo>
                    <a:pt x="216255" y="419226"/>
                  </a:lnTo>
                </a:path>
                <a:path w="7804784" h="2092960">
                  <a:moveTo>
                    <a:pt x="505815" y="419226"/>
                  </a:moveTo>
                  <a:lnTo>
                    <a:pt x="7804759" y="419226"/>
                  </a:lnTo>
                </a:path>
                <a:path w="7804784" h="2092960">
                  <a:moveTo>
                    <a:pt x="0" y="0"/>
                  </a:moveTo>
                  <a:lnTo>
                    <a:pt x="7804759" y="0"/>
                  </a:lnTo>
                </a:path>
              </a:pathLst>
            </a:custGeom>
            <a:ln w="6350">
              <a:solidFill>
                <a:srgbClr val="E6F2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50036" y="1639823"/>
              <a:ext cx="6794500" cy="2281555"/>
            </a:xfrm>
            <a:custGeom>
              <a:avLst/>
              <a:gdLst/>
              <a:ahLst/>
              <a:cxnLst/>
              <a:rect l="l" t="t" r="r" b="b"/>
              <a:pathLst>
                <a:path w="6794500" h="2281554">
                  <a:moveTo>
                    <a:pt x="289560" y="0"/>
                  </a:moveTo>
                  <a:lnTo>
                    <a:pt x="0" y="0"/>
                  </a:lnTo>
                  <a:lnTo>
                    <a:pt x="0" y="2281478"/>
                  </a:lnTo>
                  <a:lnTo>
                    <a:pt x="289560" y="2281491"/>
                  </a:lnTo>
                  <a:lnTo>
                    <a:pt x="289560" y="0"/>
                  </a:lnTo>
                  <a:close/>
                </a:path>
                <a:path w="6794500" h="2281554">
                  <a:moveTo>
                    <a:pt x="1591056" y="795528"/>
                  </a:moveTo>
                  <a:lnTo>
                    <a:pt x="1301496" y="795528"/>
                  </a:lnTo>
                  <a:lnTo>
                    <a:pt x="1301496" y="2281478"/>
                  </a:lnTo>
                  <a:lnTo>
                    <a:pt x="1591056" y="2281478"/>
                  </a:lnTo>
                  <a:lnTo>
                    <a:pt x="1591056" y="795528"/>
                  </a:lnTo>
                  <a:close/>
                </a:path>
                <a:path w="6794500" h="2281554">
                  <a:moveTo>
                    <a:pt x="2891028" y="565404"/>
                  </a:moveTo>
                  <a:lnTo>
                    <a:pt x="2601468" y="565404"/>
                  </a:lnTo>
                  <a:lnTo>
                    <a:pt x="2601468" y="2281478"/>
                  </a:lnTo>
                  <a:lnTo>
                    <a:pt x="2891028" y="2281491"/>
                  </a:lnTo>
                  <a:lnTo>
                    <a:pt x="2891028" y="565404"/>
                  </a:lnTo>
                  <a:close/>
                </a:path>
                <a:path w="6794500" h="2281554">
                  <a:moveTo>
                    <a:pt x="4192524" y="982980"/>
                  </a:moveTo>
                  <a:lnTo>
                    <a:pt x="3902964" y="982980"/>
                  </a:lnTo>
                  <a:lnTo>
                    <a:pt x="3902964" y="2281478"/>
                  </a:lnTo>
                  <a:lnTo>
                    <a:pt x="4192524" y="2281478"/>
                  </a:lnTo>
                  <a:lnTo>
                    <a:pt x="4192524" y="982980"/>
                  </a:lnTo>
                  <a:close/>
                </a:path>
                <a:path w="6794500" h="2281554">
                  <a:moveTo>
                    <a:pt x="5492483" y="1632204"/>
                  </a:moveTo>
                  <a:lnTo>
                    <a:pt x="5204460" y="1632204"/>
                  </a:lnTo>
                  <a:lnTo>
                    <a:pt x="5204460" y="2281478"/>
                  </a:lnTo>
                  <a:lnTo>
                    <a:pt x="5492483" y="2281478"/>
                  </a:lnTo>
                  <a:lnTo>
                    <a:pt x="5492483" y="1632204"/>
                  </a:lnTo>
                  <a:close/>
                </a:path>
                <a:path w="6794500" h="2281554">
                  <a:moveTo>
                    <a:pt x="6793992" y="1025652"/>
                  </a:moveTo>
                  <a:lnTo>
                    <a:pt x="6504432" y="1025652"/>
                  </a:lnTo>
                  <a:lnTo>
                    <a:pt x="6504432" y="2281478"/>
                  </a:lnTo>
                  <a:lnTo>
                    <a:pt x="6793992" y="2281478"/>
                  </a:lnTo>
                  <a:lnTo>
                    <a:pt x="6793992" y="1025652"/>
                  </a:lnTo>
                  <a:close/>
                </a:path>
              </a:pathLst>
            </a:custGeom>
            <a:solidFill>
              <a:srgbClr val="2D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39596" y="1848611"/>
              <a:ext cx="6792595" cy="2073275"/>
            </a:xfrm>
            <a:custGeom>
              <a:avLst/>
              <a:gdLst/>
              <a:ahLst/>
              <a:cxnLst/>
              <a:rect l="l" t="t" r="r" b="b"/>
              <a:pathLst>
                <a:path w="6792595" h="2073275">
                  <a:moveTo>
                    <a:pt x="289560" y="1068324"/>
                  </a:moveTo>
                  <a:lnTo>
                    <a:pt x="0" y="1068324"/>
                  </a:lnTo>
                  <a:lnTo>
                    <a:pt x="0" y="2072690"/>
                  </a:lnTo>
                  <a:lnTo>
                    <a:pt x="289560" y="2072690"/>
                  </a:lnTo>
                  <a:lnTo>
                    <a:pt x="289560" y="1068324"/>
                  </a:lnTo>
                  <a:close/>
                </a:path>
                <a:path w="6792595" h="2073275">
                  <a:moveTo>
                    <a:pt x="1589532" y="0"/>
                  </a:moveTo>
                  <a:lnTo>
                    <a:pt x="1301496" y="0"/>
                  </a:lnTo>
                  <a:lnTo>
                    <a:pt x="1301496" y="2072690"/>
                  </a:lnTo>
                  <a:lnTo>
                    <a:pt x="1589532" y="2072703"/>
                  </a:lnTo>
                  <a:lnTo>
                    <a:pt x="1589532" y="0"/>
                  </a:lnTo>
                  <a:close/>
                </a:path>
                <a:path w="6792595" h="2073275">
                  <a:moveTo>
                    <a:pt x="2891028" y="816864"/>
                  </a:moveTo>
                  <a:lnTo>
                    <a:pt x="2601468" y="816864"/>
                  </a:lnTo>
                  <a:lnTo>
                    <a:pt x="2601468" y="2072690"/>
                  </a:lnTo>
                  <a:lnTo>
                    <a:pt x="2891028" y="2072690"/>
                  </a:lnTo>
                  <a:lnTo>
                    <a:pt x="2891028" y="816864"/>
                  </a:lnTo>
                  <a:close/>
                </a:path>
                <a:path w="6792595" h="2073275">
                  <a:moveTo>
                    <a:pt x="4191000" y="816864"/>
                  </a:moveTo>
                  <a:lnTo>
                    <a:pt x="3902964" y="816864"/>
                  </a:lnTo>
                  <a:lnTo>
                    <a:pt x="3902964" y="2072690"/>
                  </a:lnTo>
                  <a:lnTo>
                    <a:pt x="4191000" y="2072690"/>
                  </a:lnTo>
                  <a:lnTo>
                    <a:pt x="4191000" y="816864"/>
                  </a:lnTo>
                  <a:close/>
                </a:path>
                <a:path w="6792595" h="2073275">
                  <a:moveTo>
                    <a:pt x="5492496" y="795528"/>
                  </a:moveTo>
                  <a:lnTo>
                    <a:pt x="5202923" y="795528"/>
                  </a:lnTo>
                  <a:lnTo>
                    <a:pt x="5202923" y="2072690"/>
                  </a:lnTo>
                  <a:lnTo>
                    <a:pt x="5492496" y="2072690"/>
                  </a:lnTo>
                  <a:lnTo>
                    <a:pt x="5492496" y="795528"/>
                  </a:lnTo>
                  <a:close/>
                </a:path>
                <a:path w="6792595" h="2073275">
                  <a:moveTo>
                    <a:pt x="6792468" y="816864"/>
                  </a:moveTo>
                  <a:lnTo>
                    <a:pt x="6504432" y="816864"/>
                  </a:lnTo>
                  <a:lnTo>
                    <a:pt x="6504432" y="2072690"/>
                  </a:lnTo>
                  <a:lnTo>
                    <a:pt x="6792468" y="2072690"/>
                  </a:lnTo>
                  <a:lnTo>
                    <a:pt x="6792468" y="816864"/>
                  </a:lnTo>
                  <a:close/>
                </a:path>
              </a:pathLst>
            </a:custGeom>
            <a:solidFill>
              <a:srgbClr val="2D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29156" y="1848611"/>
              <a:ext cx="6792595" cy="2073275"/>
            </a:xfrm>
            <a:custGeom>
              <a:avLst/>
              <a:gdLst/>
              <a:ahLst/>
              <a:cxnLst/>
              <a:rect l="l" t="t" r="r" b="b"/>
              <a:pathLst>
                <a:path w="6792595" h="2073275">
                  <a:moveTo>
                    <a:pt x="288036" y="774192"/>
                  </a:moveTo>
                  <a:lnTo>
                    <a:pt x="0" y="774192"/>
                  </a:lnTo>
                  <a:lnTo>
                    <a:pt x="0" y="2072690"/>
                  </a:lnTo>
                  <a:lnTo>
                    <a:pt x="288036" y="2072690"/>
                  </a:lnTo>
                  <a:lnTo>
                    <a:pt x="288036" y="774192"/>
                  </a:lnTo>
                  <a:close/>
                </a:path>
                <a:path w="6792595" h="2073275">
                  <a:moveTo>
                    <a:pt x="1589532" y="397764"/>
                  </a:moveTo>
                  <a:lnTo>
                    <a:pt x="1299972" y="397764"/>
                  </a:lnTo>
                  <a:lnTo>
                    <a:pt x="1299972" y="2072690"/>
                  </a:lnTo>
                  <a:lnTo>
                    <a:pt x="1589532" y="2072703"/>
                  </a:lnTo>
                  <a:lnTo>
                    <a:pt x="1589532" y="397764"/>
                  </a:lnTo>
                  <a:close/>
                </a:path>
                <a:path w="6792595" h="2073275">
                  <a:moveTo>
                    <a:pt x="2889504" y="524256"/>
                  </a:moveTo>
                  <a:lnTo>
                    <a:pt x="2601468" y="524256"/>
                  </a:lnTo>
                  <a:lnTo>
                    <a:pt x="2601468" y="2072690"/>
                  </a:lnTo>
                  <a:lnTo>
                    <a:pt x="2889504" y="2072690"/>
                  </a:lnTo>
                  <a:lnTo>
                    <a:pt x="2889504" y="524256"/>
                  </a:lnTo>
                  <a:close/>
                </a:path>
                <a:path w="6792595" h="2073275">
                  <a:moveTo>
                    <a:pt x="4191000" y="1485900"/>
                  </a:moveTo>
                  <a:lnTo>
                    <a:pt x="3901440" y="1485900"/>
                  </a:lnTo>
                  <a:lnTo>
                    <a:pt x="3901440" y="2072690"/>
                  </a:lnTo>
                  <a:lnTo>
                    <a:pt x="4191000" y="2072690"/>
                  </a:lnTo>
                  <a:lnTo>
                    <a:pt x="4191000" y="1485900"/>
                  </a:lnTo>
                  <a:close/>
                </a:path>
                <a:path w="6792595" h="2073275">
                  <a:moveTo>
                    <a:pt x="5492496" y="0"/>
                  </a:moveTo>
                  <a:lnTo>
                    <a:pt x="5202936" y="0"/>
                  </a:lnTo>
                  <a:lnTo>
                    <a:pt x="5202936" y="2072690"/>
                  </a:lnTo>
                  <a:lnTo>
                    <a:pt x="5492496" y="2072703"/>
                  </a:lnTo>
                  <a:lnTo>
                    <a:pt x="5492496" y="0"/>
                  </a:lnTo>
                  <a:close/>
                </a:path>
                <a:path w="6792595" h="2073275">
                  <a:moveTo>
                    <a:pt x="6792468" y="565404"/>
                  </a:moveTo>
                  <a:lnTo>
                    <a:pt x="6502908" y="565404"/>
                  </a:lnTo>
                  <a:lnTo>
                    <a:pt x="6502908" y="2072690"/>
                  </a:lnTo>
                  <a:lnTo>
                    <a:pt x="6792468" y="2072690"/>
                  </a:lnTo>
                  <a:lnTo>
                    <a:pt x="6792468" y="565404"/>
                  </a:lnTo>
                  <a:close/>
                </a:path>
              </a:pathLst>
            </a:custGeom>
            <a:solidFill>
              <a:srgbClr val="4091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87780" y="1200150"/>
              <a:ext cx="7851140" cy="2767330"/>
            </a:xfrm>
            <a:custGeom>
              <a:avLst/>
              <a:gdLst/>
              <a:ahLst/>
              <a:cxnLst/>
              <a:rect l="l" t="t" r="r" b="b"/>
              <a:pathLst>
                <a:path w="7851140" h="2767329">
                  <a:moveTo>
                    <a:pt x="45999" y="2721152"/>
                  </a:moveTo>
                  <a:lnTo>
                    <a:pt x="45999" y="0"/>
                  </a:lnTo>
                </a:path>
                <a:path w="7851140" h="2767329">
                  <a:moveTo>
                    <a:pt x="0" y="2721152"/>
                  </a:moveTo>
                  <a:lnTo>
                    <a:pt x="45999" y="2721152"/>
                  </a:lnTo>
                </a:path>
                <a:path w="7851140" h="2767329">
                  <a:moveTo>
                    <a:pt x="0" y="2302002"/>
                  </a:moveTo>
                  <a:lnTo>
                    <a:pt x="45999" y="2302002"/>
                  </a:lnTo>
                </a:path>
                <a:path w="7851140" h="2767329">
                  <a:moveTo>
                    <a:pt x="0" y="1884426"/>
                  </a:moveTo>
                  <a:lnTo>
                    <a:pt x="45999" y="1884426"/>
                  </a:lnTo>
                </a:path>
                <a:path w="7851140" h="2767329">
                  <a:moveTo>
                    <a:pt x="0" y="1465326"/>
                  </a:moveTo>
                  <a:lnTo>
                    <a:pt x="45999" y="1465326"/>
                  </a:lnTo>
                </a:path>
                <a:path w="7851140" h="2767329">
                  <a:moveTo>
                    <a:pt x="0" y="1046226"/>
                  </a:moveTo>
                  <a:lnTo>
                    <a:pt x="45999" y="1046226"/>
                  </a:lnTo>
                </a:path>
                <a:path w="7851140" h="2767329">
                  <a:moveTo>
                    <a:pt x="0" y="628650"/>
                  </a:moveTo>
                  <a:lnTo>
                    <a:pt x="45999" y="628650"/>
                  </a:lnTo>
                </a:path>
                <a:path w="7851140" h="2767329">
                  <a:moveTo>
                    <a:pt x="0" y="209423"/>
                  </a:moveTo>
                  <a:lnTo>
                    <a:pt x="45999" y="209423"/>
                  </a:lnTo>
                </a:path>
                <a:path w="7851140" h="2767329">
                  <a:moveTo>
                    <a:pt x="45999" y="2721152"/>
                  </a:moveTo>
                  <a:lnTo>
                    <a:pt x="7850759" y="2721152"/>
                  </a:lnTo>
                </a:path>
                <a:path w="7851140" h="2767329">
                  <a:moveTo>
                    <a:pt x="45999" y="2721152"/>
                  </a:moveTo>
                  <a:lnTo>
                    <a:pt x="45999" y="2767139"/>
                  </a:lnTo>
                </a:path>
                <a:path w="7851140" h="2767329">
                  <a:moveTo>
                    <a:pt x="1347343" y="2721152"/>
                  </a:moveTo>
                  <a:lnTo>
                    <a:pt x="1347343" y="2767139"/>
                  </a:lnTo>
                </a:path>
                <a:path w="7851140" h="2767329">
                  <a:moveTo>
                    <a:pt x="2647315" y="2721152"/>
                  </a:moveTo>
                  <a:lnTo>
                    <a:pt x="2647315" y="2767139"/>
                  </a:lnTo>
                </a:path>
                <a:path w="7851140" h="2767329">
                  <a:moveTo>
                    <a:pt x="3948810" y="2721152"/>
                  </a:moveTo>
                  <a:lnTo>
                    <a:pt x="3948810" y="2767139"/>
                  </a:lnTo>
                </a:path>
                <a:path w="7851140" h="2767329">
                  <a:moveTo>
                    <a:pt x="5248783" y="2721152"/>
                  </a:moveTo>
                  <a:lnTo>
                    <a:pt x="5248783" y="2767139"/>
                  </a:lnTo>
                </a:path>
                <a:path w="7851140" h="2767329">
                  <a:moveTo>
                    <a:pt x="6550279" y="2721152"/>
                  </a:moveTo>
                  <a:lnTo>
                    <a:pt x="6550279" y="2767139"/>
                  </a:lnTo>
                </a:path>
                <a:path w="7851140" h="2767329">
                  <a:moveTo>
                    <a:pt x="7850759" y="2721152"/>
                  </a:moveTo>
                  <a:lnTo>
                    <a:pt x="7850759" y="2767139"/>
                  </a:lnTo>
                </a:path>
              </a:pathLst>
            </a:custGeom>
            <a:ln w="12700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35660" y="1294003"/>
            <a:ext cx="280035" cy="2720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5A6E60"/>
                </a:solidFill>
                <a:latin typeface="Arial MT"/>
                <a:cs typeface="Arial MT"/>
              </a:rPr>
              <a:t>570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spc="-25" dirty="0">
                <a:solidFill>
                  <a:srgbClr val="5A6E60"/>
                </a:solidFill>
                <a:latin typeface="Arial MT"/>
                <a:cs typeface="Arial MT"/>
              </a:rPr>
              <a:t>550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spc="-25" dirty="0">
                <a:solidFill>
                  <a:srgbClr val="5A6E60"/>
                </a:solidFill>
                <a:latin typeface="Arial MT"/>
                <a:cs typeface="Arial MT"/>
              </a:rPr>
              <a:t>530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spc="-25" dirty="0">
                <a:solidFill>
                  <a:srgbClr val="5A6E60"/>
                </a:solidFill>
                <a:latin typeface="Arial MT"/>
                <a:cs typeface="Arial MT"/>
              </a:rPr>
              <a:t>510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spc="-25" dirty="0">
                <a:solidFill>
                  <a:srgbClr val="5A6E60"/>
                </a:solidFill>
                <a:latin typeface="Arial MT"/>
                <a:cs typeface="Arial MT"/>
              </a:rPr>
              <a:t>490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spc="-25" dirty="0">
                <a:solidFill>
                  <a:srgbClr val="5A6E60"/>
                </a:solidFill>
                <a:latin typeface="Arial MT"/>
                <a:cs typeface="Arial MT"/>
              </a:rPr>
              <a:t>470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spc="-25" dirty="0">
                <a:solidFill>
                  <a:srgbClr val="5A6E60"/>
                </a:solidFill>
                <a:latin typeface="Arial MT"/>
                <a:cs typeface="Arial MT"/>
              </a:rPr>
              <a:t>450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24203" y="3988104"/>
            <a:ext cx="7194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5A6E60"/>
                </a:solidFill>
                <a:latin typeface="Arial MT"/>
                <a:cs typeface="Arial MT"/>
              </a:rPr>
              <a:t>Bangalore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01645" y="3988104"/>
            <a:ext cx="567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5A6E60"/>
                </a:solidFill>
                <a:latin typeface="Arial MT"/>
                <a:cs typeface="Arial MT"/>
              </a:rPr>
              <a:t>Mumbai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97573" y="3988104"/>
            <a:ext cx="381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5A6E60"/>
                </a:solidFill>
                <a:latin typeface="Arial MT"/>
                <a:cs typeface="Arial MT"/>
              </a:rPr>
              <a:t>Pune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03617" y="3988104"/>
            <a:ext cx="7715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5A6E60"/>
                </a:solidFill>
                <a:latin typeface="Arial MT"/>
                <a:cs typeface="Arial MT"/>
              </a:rPr>
              <a:t>Hyderabad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369945" y="4346101"/>
            <a:ext cx="69850" cy="69850"/>
          </a:xfrm>
          <a:custGeom>
            <a:avLst/>
            <a:gdLst/>
            <a:ahLst/>
            <a:cxnLst/>
            <a:rect l="l" t="t" r="r" b="b"/>
            <a:pathLst>
              <a:path w="69850" h="69850">
                <a:moveTo>
                  <a:pt x="69752" y="0"/>
                </a:moveTo>
                <a:lnTo>
                  <a:pt x="0" y="0"/>
                </a:lnTo>
                <a:lnTo>
                  <a:pt x="0" y="69752"/>
                </a:lnTo>
                <a:lnTo>
                  <a:pt x="69752" y="69752"/>
                </a:lnTo>
                <a:lnTo>
                  <a:pt x="69752" y="0"/>
                </a:lnTo>
                <a:close/>
              </a:path>
            </a:pathLst>
          </a:custGeom>
          <a:solidFill>
            <a:srgbClr val="2D6A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457702" y="3988104"/>
            <a:ext cx="8159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4659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5A6E60"/>
                </a:solidFill>
                <a:latin typeface="Arial MT"/>
                <a:cs typeface="Arial MT"/>
              </a:rPr>
              <a:t>Delhi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000" spc="-10" dirty="0">
                <a:solidFill>
                  <a:srgbClr val="1B4332"/>
                </a:solidFill>
                <a:latin typeface="Calibri"/>
                <a:cs typeface="Calibri"/>
              </a:rPr>
              <a:t>Electronics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84015" y="4346101"/>
            <a:ext cx="69850" cy="69850"/>
          </a:xfrm>
          <a:custGeom>
            <a:avLst/>
            <a:gdLst/>
            <a:ahLst/>
            <a:cxnLst/>
            <a:rect l="l" t="t" r="r" b="b"/>
            <a:pathLst>
              <a:path w="69850" h="69850">
                <a:moveTo>
                  <a:pt x="69752" y="0"/>
                </a:moveTo>
                <a:lnTo>
                  <a:pt x="0" y="0"/>
                </a:lnTo>
                <a:lnTo>
                  <a:pt x="0" y="69752"/>
                </a:lnTo>
                <a:lnTo>
                  <a:pt x="69752" y="69752"/>
                </a:lnTo>
                <a:lnTo>
                  <a:pt x="69752" y="0"/>
                </a:lnTo>
                <a:close/>
              </a:path>
            </a:pathLst>
          </a:custGeom>
          <a:solidFill>
            <a:srgbClr val="2D6A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271898" y="4278884"/>
            <a:ext cx="7359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B4332"/>
                </a:solidFill>
                <a:latin typeface="Calibri"/>
                <a:cs typeface="Calibri"/>
              </a:rPr>
              <a:t>Personal</a:t>
            </a:r>
            <a:r>
              <a:rPr sz="1000" spc="-3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1B4332"/>
                </a:solidFill>
                <a:latin typeface="Calibri"/>
                <a:cs typeface="Calibri"/>
              </a:rPr>
              <a:t>Care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147817" y="4346101"/>
            <a:ext cx="69850" cy="69850"/>
          </a:xfrm>
          <a:custGeom>
            <a:avLst/>
            <a:gdLst/>
            <a:ahLst/>
            <a:cxnLst/>
            <a:rect l="l" t="t" r="r" b="b"/>
            <a:pathLst>
              <a:path w="69850" h="69850">
                <a:moveTo>
                  <a:pt x="69752" y="0"/>
                </a:moveTo>
                <a:lnTo>
                  <a:pt x="0" y="0"/>
                </a:lnTo>
                <a:lnTo>
                  <a:pt x="0" y="69752"/>
                </a:lnTo>
                <a:lnTo>
                  <a:pt x="69752" y="69752"/>
                </a:lnTo>
                <a:lnTo>
                  <a:pt x="69752" y="0"/>
                </a:lnTo>
                <a:close/>
              </a:path>
            </a:pathLst>
          </a:custGeom>
          <a:solidFill>
            <a:srgbClr val="4091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090921" y="3988104"/>
            <a:ext cx="74549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5A6E60"/>
                </a:solidFill>
                <a:latin typeface="Arial MT"/>
                <a:cs typeface="Arial MT"/>
              </a:rPr>
              <a:t>Chennai</a:t>
            </a:r>
            <a:endParaRPr sz="1200">
              <a:latin typeface="Arial MT"/>
              <a:cs typeface="Arial MT"/>
            </a:endParaRPr>
          </a:p>
          <a:p>
            <a:pPr marL="157480">
              <a:lnSpc>
                <a:spcPct val="100000"/>
              </a:lnSpc>
              <a:spcBef>
                <a:spcPts val="844"/>
              </a:spcBef>
            </a:pPr>
            <a:r>
              <a:rPr sz="1000" dirty="0">
                <a:solidFill>
                  <a:srgbClr val="1B4332"/>
                </a:solidFill>
                <a:latin typeface="Calibri"/>
                <a:cs typeface="Calibri"/>
              </a:rPr>
              <a:t>Home</a:t>
            </a:r>
            <a:r>
              <a:rPr sz="1000" spc="-20" dirty="0">
                <a:solidFill>
                  <a:srgbClr val="1B4332"/>
                </a:solidFill>
                <a:latin typeface="Calibri"/>
                <a:cs typeface="Calibri"/>
              </a:rPr>
              <a:t> Care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09670" y="4797044"/>
            <a:ext cx="27228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solidFill>
                  <a:srgbClr val="5A6E60"/>
                </a:solidFill>
                <a:latin typeface="Calibri"/>
                <a:cs typeface="Calibri"/>
              </a:rPr>
              <a:t>Units</a:t>
            </a:r>
            <a:r>
              <a:rPr sz="1000" i="1" spc="-2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5A6E60"/>
                </a:solidFill>
                <a:latin typeface="Calibri"/>
                <a:cs typeface="Calibri"/>
              </a:rPr>
              <a:t>sold</a:t>
            </a:r>
            <a:r>
              <a:rPr sz="1000" i="1" spc="-2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5A6E60"/>
                </a:solidFill>
                <a:latin typeface="Calibri"/>
                <a:cs typeface="Calibri"/>
              </a:rPr>
              <a:t>across</a:t>
            </a:r>
            <a:r>
              <a:rPr sz="1000" i="1" spc="-3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5A6E60"/>
                </a:solidFill>
                <a:latin typeface="Calibri"/>
                <a:cs typeface="Calibri"/>
              </a:rPr>
              <a:t>6</a:t>
            </a:r>
            <a:r>
              <a:rPr sz="1000" i="1" spc="-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5A6E60"/>
                </a:solidFill>
                <a:latin typeface="Calibri"/>
                <a:cs typeface="Calibri"/>
              </a:rPr>
              <a:t>cities</a:t>
            </a:r>
            <a:r>
              <a:rPr sz="1000" i="1" spc="-4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5A6E60"/>
                </a:solidFill>
                <a:latin typeface="Calibri"/>
                <a:cs typeface="Calibri"/>
              </a:rPr>
              <a:t>for</a:t>
            </a:r>
            <a:r>
              <a:rPr sz="1000" i="1" spc="-2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5A6E60"/>
                </a:solidFill>
                <a:latin typeface="Calibri"/>
                <a:cs typeface="Calibri"/>
              </a:rPr>
              <a:t>top</a:t>
            </a:r>
            <a:r>
              <a:rPr sz="1000" i="1" spc="-2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5A6E60"/>
                </a:solidFill>
                <a:latin typeface="Calibri"/>
                <a:cs typeface="Calibri"/>
              </a:rPr>
              <a:t>3</a:t>
            </a:r>
            <a:r>
              <a:rPr sz="1000" i="1" spc="-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5A6E60"/>
                </a:solidFill>
                <a:latin typeface="Calibri"/>
                <a:cs typeface="Calibri"/>
              </a:rPr>
              <a:t>product</a:t>
            </a:r>
            <a:r>
              <a:rPr sz="1000" i="1" spc="-3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i="1" spc="-10" dirty="0">
                <a:solidFill>
                  <a:srgbClr val="5A6E60"/>
                </a:solidFill>
                <a:latin typeface="Calibri"/>
                <a:cs typeface="Calibri"/>
              </a:rPr>
              <a:t>categories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031" y="182879"/>
            <a:ext cx="548640" cy="5486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47419" y="251205"/>
            <a:ext cx="3752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REVENUE</a:t>
            </a:r>
            <a:r>
              <a:rPr spc="-45" dirty="0"/>
              <a:t> </a:t>
            </a:r>
            <a:r>
              <a:rPr dirty="0"/>
              <a:t>&amp;</a:t>
            </a:r>
            <a:r>
              <a:rPr spc="-20" dirty="0"/>
              <a:t> </a:t>
            </a:r>
            <a:r>
              <a:rPr dirty="0"/>
              <a:t>PROFIT</a:t>
            </a:r>
            <a:r>
              <a:rPr spc="-30" dirty="0"/>
              <a:t> </a:t>
            </a:r>
            <a:r>
              <a:rPr spc="-10" dirty="0"/>
              <a:t>ANALYSIS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26871" y="1193927"/>
            <a:ext cx="4592320" cy="2369820"/>
            <a:chOff x="1126871" y="1193927"/>
            <a:chExt cx="4592320" cy="2369820"/>
          </a:xfrm>
        </p:grpSpPr>
        <p:sp>
          <p:nvSpPr>
            <p:cNvPr id="5" name="object 5"/>
            <p:cNvSpPr/>
            <p:nvPr/>
          </p:nvSpPr>
          <p:spPr>
            <a:xfrm>
              <a:off x="1172870" y="1200277"/>
              <a:ext cx="4539615" cy="2085975"/>
            </a:xfrm>
            <a:custGeom>
              <a:avLst/>
              <a:gdLst/>
              <a:ahLst/>
              <a:cxnLst/>
              <a:rect l="l" t="t" r="r" b="b"/>
              <a:pathLst>
                <a:path w="4539615" h="2085975">
                  <a:moveTo>
                    <a:pt x="3178149" y="2085467"/>
                  </a:moveTo>
                  <a:lnTo>
                    <a:pt x="3825849" y="2085467"/>
                  </a:lnTo>
                </a:path>
                <a:path w="4539615" h="2085975">
                  <a:moveTo>
                    <a:pt x="713841" y="2085467"/>
                  </a:moveTo>
                  <a:lnTo>
                    <a:pt x="1102461" y="2085467"/>
                  </a:lnTo>
                </a:path>
                <a:path w="4539615" h="2085975">
                  <a:moveTo>
                    <a:pt x="2528925" y="2085467"/>
                  </a:moveTo>
                  <a:lnTo>
                    <a:pt x="2919069" y="2085467"/>
                  </a:lnTo>
                </a:path>
                <a:path w="4539615" h="2085975">
                  <a:moveTo>
                    <a:pt x="0" y="2085467"/>
                  </a:moveTo>
                  <a:lnTo>
                    <a:pt x="194157" y="2085467"/>
                  </a:lnTo>
                </a:path>
                <a:path w="4539615" h="2085975">
                  <a:moveTo>
                    <a:pt x="1620621" y="2085467"/>
                  </a:moveTo>
                  <a:lnTo>
                    <a:pt x="2010765" y="2085467"/>
                  </a:lnTo>
                </a:path>
                <a:path w="4539615" h="2085975">
                  <a:moveTo>
                    <a:pt x="4345533" y="2085467"/>
                  </a:moveTo>
                  <a:lnTo>
                    <a:pt x="4539589" y="2085467"/>
                  </a:lnTo>
                </a:path>
                <a:path w="4539615" h="2085975">
                  <a:moveTo>
                    <a:pt x="4345533" y="1853819"/>
                  </a:moveTo>
                  <a:lnTo>
                    <a:pt x="4539589" y="1853819"/>
                  </a:lnTo>
                </a:path>
                <a:path w="4539615" h="2085975">
                  <a:moveTo>
                    <a:pt x="0" y="1853819"/>
                  </a:moveTo>
                  <a:lnTo>
                    <a:pt x="194157" y="1853819"/>
                  </a:lnTo>
                </a:path>
                <a:path w="4539615" h="2085975">
                  <a:moveTo>
                    <a:pt x="713841" y="1853819"/>
                  </a:moveTo>
                  <a:lnTo>
                    <a:pt x="1102461" y="1853819"/>
                  </a:lnTo>
                </a:path>
                <a:path w="4539615" h="2085975">
                  <a:moveTo>
                    <a:pt x="3178149" y="1853819"/>
                  </a:moveTo>
                  <a:lnTo>
                    <a:pt x="3825849" y="1853819"/>
                  </a:lnTo>
                </a:path>
                <a:path w="4539615" h="2085975">
                  <a:moveTo>
                    <a:pt x="2269845" y="1853819"/>
                  </a:moveTo>
                  <a:lnTo>
                    <a:pt x="2919069" y="1853819"/>
                  </a:lnTo>
                </a:path>
                <a:path w="4539615" h="2085975">
                  <a:moveTo>
                    <a:pt x="1361541" y="1853819"/>
                  </a:moveTo>
                  <a:lnTo>
                    <a:pt x="2010765" y="1853819"/>
                  </a:lnTo>
                </a:path>
                <a:path w="4539615" h="2085975">
                  <a:moveTo>
                    <a:pt x="1361541" y="1622171"/>
                  </a:moveTo>
                  <a:lnTo>
                    <a:pt x="2010765" y="1622171"/>
                  </a:lnTo>
                </a:path>
                <a:path w="4539615" h="2085975">
                  <a:moveTo>
                    <a:pt x="713841" y="1622171"/>
                  </a:moveTo>
                  <a:lnTo>
                    <a:pt x="1102461" y="1622171"/>
                  </a:lnTo>
                </a:path>
                <a:path w="4539615" h="2085975">
                  <a:moveTo>
                    <a:pt x="0" y="1622171"/>
                  </a:moveTo>
                  <a:lnTo>
                    <a:pt x="194157" y="1622171"/>
                  </a:lnTo>
                </a:path>
                <a:path w="4539615" h="2085975">
                  <a:moveTo>
                    <a:pt x="3178149" y="1622171"/>
                  </a:moveTo>
                  <a:lnTo>
                    <a:pt x="3825849" y="1622171"/>
                  </a:lnTo>
                </a:path>
                <a:path w="4539615" h="2085975">
                  <a:moveTo>
                    <a:pt x="4084929" y="1622171"/>
                  </a:moveTo>
                  <a:lnTo>
                    <a:pt x="4539589" y="1622171"/>
                  </a:lnTo>
                </a:path>
                <a:path w="4539615" h="2085975">
                  <a:moveTo>
                    <a:pt x="2269845" y="1622171"/>
                  </a:moveTo>
                  <a:lnTo>
                    <a:pt x="2919069" y="1622171"/>
                  </a:lnTo>
                </a:path>
                <a:path w="4539615" h="2085975">
                  <a:moveTo>
                    <a:pt x="2269845" y="1390523"/>
                  </a:moveTo>
                  <a:lnTo>
                    <a:pt x="3825849" y="1390523"/>
                  </a:lnTo>
                </a:path>
                <a:path w="4539615" h="2085975">
                  <a:moveTo>
                    <a:pt x="1361541" y="1390523"/>
                  </a:moveTo>
                  <a:lnTo>
                    <a:pt x="2010765" y="1390523"/>
                  </a:lnTo>
                </a:path>
                <a:path w="4539615" h="2085975">
                  <a:moveTo>
                    <a:pt x="4084929" y="1390523"/>
                  </a:moveTo>
                  <a:lnTo>
                    <a:pt x="4539589" y="1390523"/>
                  </a:lnTo>
                </a:path>
                <a:path w="4539615" h="2085975">
                  <a:moveTo>
                    <a:pt x="0" y="1390523"/>
                  </a:moveTo>
                  <a:lnTo>
                    <a:pt x="194157" y="1390523"/>
                  </a:lnTo>
                </a:path>
                <a:path w="4539615" h="2085975">
                  <a:moveTo>
                    <a:pt x="453237" y="1390523"/>
                  </a:moveTo>
                  <a:lnTo>
                    <a:pt x="1102461" y="1390523"/>
                  </a:lnTo>
                </a:path>
                <a:path w="4539615" h="2085975">
                  <a:moveTo>
                    <a:pt x="0" y="1158875"/>
                  </a:moveTo>
                  <a:lnTo>
                    <a:pt x="194157" y="1158875"/>
                  </a:lnTo>
                </a:path>
                <a:path w="4539615" h="2085975">
                  <a:moveTo>
                    <a:pt x="453237" y="1158875"/>
                  </a:moveTo>
                  <a:lnTo>
                    <a:pt x="3825849" y="1158875"/>
                  </a:lnTo>
                </a:path>
                <a:path w="4539615" h="2085975">
                  <a:moveTo>
                    <a:pt x="4084929" y="1158875"/>
                  </a:moveTo>
                  <a:lnTo>
                    <a:pt x="4539589" y="1158875"/>
                  </a:lnTo>
                </a:path>
                <a:path w="4539615" h="2085975">
                  <a:moveTo>
                    <a:pt x="4084929" y="927227"/>
                  </a:moveTo>
                  <a:lnTo>
                    <a:pt x="4539589" y="927227"/>
                  </a:lnTo>
                </a:path>
                <a:path w="4539615" h="2085975">
                  <a:moveTo>
                    <a:pt x="453237" y="927227"/>
                  </a:moveTo>
                  <a:lnTo>
                    <a:pt x="3825849" y="927227"/>
                  </a:lnTo>
                </a:path>
                <a:path w="4539615" h="2085975">
                  <a:moveTo>
                    <a:pt x="0" y="927227"/>
                  </a:moveTo>
                  <a:lnTo>
                    <a:pt x="194157" y="927227"/>
                  </a:lnTo>
                </a:path>
                <a:path w="4539615" h="2085975">
                  <a:moveTo>
                    <a:pt x="4084929" y="695579"/>
                  </a:moveTo>
                  <a:lnTo>
                    <a:pt x="4539589" y="695579"/>
                  </a:lnTo>
                </a:path>
                <a:path w="4539615" h="2085975">
                  <a:moveTo>
                    <a:pt x="453237" y="695579"/>
                  </a:moveTo>
                  <a:lnTo>
                    <a:pt x="3825849" y="695579"/>
                  </a:lnTo>
                </a:path>
                <a:path w="4539615" h="2085975">
                  <a:moveTo>
                    <a:pt x="0" y="695579"/>
                  </a:moveTo>
                  <a:lnTo>
                    <a:pt x="194157" y="695579"/>
                  </a:lnTo>
                </a:path>
                <a:path w="4539615" h="2085975">
                  <a:moveTo>
                    <a:pt x="0" y="463931"/>
                  </a:moveTo>
                  <a:lnTo>
                    <a:pt x="194157" y="463931"/>
                  </a:lnTo>
                </a:path>
                <a:path w="4539615" h="2085975">
                  <a:moveTo>
                    <a:pt x="453237" y="463931"/>
                  </a:moveTo>
                  <a:lnTo>
                    <a:pt x="4539589" y="463931"/>
                  </a:lnTo>
                </a:path>
                <a:path w="4539615" h="2085975">
                  <a:moveTo>
                    <a:pt x="453237" y="232283"/>
                  </a:moveTo>
                  <a:lnTo>
                    <a:pt x="4539589" y="232283"/>
                  </a:lnTo>
                </a:path>
                <a:path w="4539615" h="2085975">
                  <a:moveTo>
                    <a:pt x="0" y="232283"/>
                  </a:moveTo>
                  <a:lnTo>
                    <a:pt x="194157" y="232283"/>
                  </a:lnTo>
                </a:path>
                <a:path w="4539615" h="2085975">
                  <a:moveTo>
                    <a:pt x="0" y="0"/>
                  </a:moveTo>
                  <a:lnTo>
                    <a:pt x="4539589" y="0"/>
                  </a:lnTo>
                </a:path>
              </a:pathLst>
            </a:custGeom>
            <a:ln w="6350">
              <a:solidFill>
                <a:srgbClr val="E6F2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67028" y="1328927"/>
              <a:ext cx="3891279" cy="2188845"/>
            </a:xfrm>
            <a:custGeom>
              <a:avLst/>
              <a:gdLst/>
              <a:ahLst/>
              <a:cxnLst/>
              <a:rect l="l" t="t" r="r" b="b"/>
              <a:pathLst>
                <a:path w="3891279" h="2188845">
                  <a:moveTo>
                    <a:pt x="259067" y="0"/>
                  </a:moveTo>
                  <a:lnTo>
                    <a:pt x="0" y="0"/>
                  </a:lnTo>
                  <a:lnTo>
                    <a:pt x="0" y="2188476"/>
                  </a:lnTo>
                  <a:lnTo>
                    <a:pt x="259067" y="2188476"/>
                  </a:lnTo>
                  <a:lnTo>
                    <a:pt x="259067" y="0"/>
                  </a:lnTo>
                  <a:close/>
                </a:path>
                <a:path w="3891279" h="2188845">
                  <a:moveTo>
                    <a:pt x="1167384" y="1106424"/>
                  </a:moveTo>
                  <a:lnTo>
                    <a:pt x="908304" y="1106424"/>
                  </a:lnTo>
                  <a:lnTo>
                    <a:pt x="908304" y="2188476"/>
                  </a:lnTo>
                  <a:lnTo>
                    <a:pt x="1167384" y="2188476"/>
                  </a:lnTo>
                  <a:lnTo>
                    <a:pt x="1167384" y="1106424"/>
                  </a:lnTo>
                  <a:close/>
                </a:path>
                <a:path w="3891279" h="2188845">
                  <a:moveTo>
                    <a:pt x="2075688" y="1115568"/>
                  </a:moveTo>
                  <a:lnTo>
                    <a:pt x="1816608" y="1115568"/>
                  </a:lnTo>
                  <a:lnTo>
                    <a:pt x="1816608" y="2188476"/>
                  </a:lnTo>
                  <a:lnTo>
                    <a:pt x="2075688" y="2188476"/>
                  </a:lnTo>
                  <a:lnTo>
                    <a:pt x="2075688" y="1115568"/>
                  </a:lnTo>
                  <a:close/>
                </a:path>
                <a:path w="3891279" h="2188845">
                  <a:moveTo>
                    <a:pt x="2983992" y="1487424"/>
                  </a:moveTo>
                  <a:lnTo>
                    <a:pt x="2724912" y="1487424"/>
                  </a:lnTo>
                  <a:lnTo>
                    <a:pt x="2724912" y="2188476"/>
                  </a:lnTo>
                  <a:lnTo>
                    <a:pt x="2983992" y="2188476"/>
                  </a:lnTo>
                  <a:lnTo>
                    <a:pt x="2983992" y="1487424"/>
                  </a:lnTo>
                  <a:close/>
                </a:path>
                <a:path w="3891279" h="2188845">
                  <a:moveTo>
                    <a:pt x="3890772" y="472440"/>
                  </a:moveTo>
                  <a:lnTo>
                    <a:pt x="3631692" y="472440"/>
                  </a:lnTo>
                  <a:lnTo>
                    <a:pt x="3631692" y="2188476"/>
                  </a:lnTo>
                  <a:lnTo>
                    <a:pt x="3890772" y="2188476"/>
                  </a:lnTo>
                  <a:lnTo>
                    <a:pt x="3890772" y="472440"/>
                  </a:lnTo>
                  <a:close/>
                </a:path>
              </a:pathLst>
            </a:custGeom>
            <a:solidFill>
              <a:srgbClr val="2D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26095" y="2810255"/>
              <a:ext cx="3892550" cy="707390"/>
            </a:xfrm>
            <a:custGeom>
              <a:avLst/>
              <a:gdLst/>
              <a:ahLst/>
              <a:cxnLst/>
              <a:rect l="l" t="t" r="r" b="b"/>
              <a:pathLst>
                <a:path w="3892550" h="707389">
                  <a:moveTo>
                    <a:pt x="260616" y="0"/>
                  </a:moveTo>
                  <a:lnTo>
                    <a:pt x="0" y="0"/>
                  </a:lnTo>
                  <a:lnTo>
                    <a:pt x="0" y="707148"/>
                  </a:lnTo>
                  <a:lnTo>
                    <a:pt x="260616" y="707148"/>
                  </a:lnTo>
                  <a:lnTo>
                    <a:pt x="260616" y="0"/>
                  </a:lnTo>
                  <a:close/>
                </a:path>
                <a:path w="3892550" h="707389">
                  <a:moveTo>
                    <a:pt x="1167396" y="394716"/>
                  </a:moveTo>
                  <a:lnTo>
                    <a:pt x="908316" y="394716"/>
                  </a:lnTo>
                  <a:lnTo>
                    <a:pt x="908316" y="707148"/>
                  </a:lnTo>
                  <a:lnTo>
                    <a:pt x="1167396" y="707148"/>
                  </a:lnTo>
                  <a:lnTo>
                    <a:pt x="1167396" y="394716"/>
                  </a:lnTo>
                  <a:close/>
                </a:path>
                <a:path w="3892550" h="707389">
                  <a:moveTo>
                    <a:pt x="2075700" y="399288"/>
                  </a:moveTo>
                  <a:lnTo>
                    <a:pt x="1816620" y="399288"/>
                  </a:lnTo>
                  <a:lnTo>
                    <a:pt x="1816620" y="707148"/>
                  </a:lnTo>
                  <a:lnTo>
                    <a:pt x="2075700" y="707148"/>
                  </a:lnTo>
                  <a:lnTo>
                    <a:pt x="2075700" y="399288"/>
                  </a:lnTo>
                  <a:close/>
                </a:path>
                <a:path w="3892550" h="707389">
                  <a:moveTo>
                    <a:pt x="2984004" y="527304"/>
                  </a:moveTo>
                  <a:lnTo>
                    <a:pt x="2724924" y="527304"/>
                  </a:lnTo>
                  <a:lnTo>
                    <a:pt x="2724924" y="707148"/>
                  </a:lnTo>
                  <a:lnTo>
                    <a:pt x="2984004" y="707148"/>
                  </a:lnTo>
                  <a:lnTo>
                    <a:pt x="2984004" y="527304"/>
                  </a:lnTo>
                  <a:close/>
                </a:path>
                <a:path w="3892550" h="707389">
                  <a:moveTo>
                    <a:pt x="3892308" y="208788"/>
                  </a:moveTo>
                  <a:lnTo>
                    <a:pt x="3631704" y="208788"/>
                  </a:lnTo>
                  <a:lnTo>
                    <a:pt x="3631704" y="707148"/>
                  </a:lnTo>
                  <a:lnTo>
                    <a:pt x="3892308" y="707148"/>
                  </a:lnTo>
                  <a:lnTo>
                    <a:pt x="3892308" y="208788"/>
                  </a:lnTo>
                  <a:close/>
                </a:path>
              </a:pathLst>
            </a:custGeom>
            <a:solidFill>
              <a:srgbClr val="4091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26871" y="1200150"/>
              <a:ext cx="4585970" cy="2363470"/>
            </a:xfrm>
            <a:custGeom>
              <a:avLst/>
              <a:gdLst/>
              <a:ahLst/>
              <a:cxnLst/>
              <a:rect l="l" t="t" r="r" b="b"/>
              <a:pathLst>
                <a:path w="4585970" h="2363470">
                  <a:moveTo>
                    <a:pt x="45999" y="2317242"/>
                  </a:moveTo>
                  <a:lnTo>
                    <a:pt x="45999" y="0"/>
                  </a:lnTo>
                </a:path>
                <a:path w="4585970" h="2363470">
                  <a:moveTo>
                    <a:pt x="0" y="2317242"/>
                  </a:moveTo>
                  <a:lnTo>
                    <a:pt x="45999" y="2317242"/>
                  </a:lnTo>
                </a:path>
                <a:path w="4585970" h="2363470">
                  <a:moveTo>
                    <a:pt x="0" y="2085594"/>
                  </a:moveTo>
                  <a:lnTo>
                    <a:pt x="45999" y="2085594"/>
                  </a:lnTo>
                </a:path>
                <a:path w="4585970" h="2363470">
                  <a:moveTo>
                    <a:pt x="0" y="1853945"/>
                  </a:moveTo>
                  <a:lnTo>
                    <a:pt x="45999" y="1853945"/>
                  </a:lnTo>
                </a:path>
                <a:path w="4585970" h="2363470">
                  <a:moveTo>
                    <a:pt x="0" y="1622298"/>
                  </a:moveTo>
                  <a:lnTo>
                    <a:pt x="45999" y="1622298"/>
                  </a:lnTo>
                </a:path>
                <a:path w="4585970" h="2363470">
                  <a:moveTo>
                    <a:pt x="0" y="1390650"/>
                  </a:moveTo>
                  <a:lnTo>
                    <a:pt x="45999" y="1390650"/>
                  </a:lnTo>
                </a:path>
                <a:path w="4585970" h="2363470">
                  <a:moveTo>
                    <a:pt x="0" y="1159002"/>
                  </a:moveTo>
                  <a:lnTo>
                    <a:pt x="45999" y="1159002"/>
                  </a:lnTo>
                </a:path>
                <a:path w="4585970" h="2363470">
                  <a:moveTo>
                    <a:pt x="0" y="927354"/>
                  </a:moveTo>
                  <a:lnTo>
                    <a:pt x="45999" y="927354"/>
                  </a:lnTo>
                </a:path>
                <a:path w="4585970" h="2363470">
                  <a:moveTo>
                    <a:pt x="0" y="695706"/>
                  </a:moveTo>
                  <a:lnTo>
                    <a:pt x="45999" y="695706"/>
                  </a:lnTo>
                </a:path>
                <a:path w="4585970" h="2363470">
                  <a:moveTo>
                    <a:pt x="0" y="464058"/>
                  </a:moveTo>
                  <a:lnTo>
                    <a:pt x="45999" y="464058"/>
                  </a:lnTo>
                </a:path>
                <a:path w="4585970" h="2363470">
                  <a:moveTo>
                    <a:pt x="0" y="232410"/>
                  </a:moveTo>
                  <a:lnTo>
                    <a:pt x="45999" y="232410"/>
                  </a:lnTo>
                </a:path>
                <a:path w="4585970" h="2363470">
                  <a:moveTo>
                    <a:pt x="0" y="126"/>
                  </a:moveTo>
                  <a:lnTo>
                    <a:pt x="45999" y="126"/>
                  </a:lnTo>
                </a:path>
                <a:path w="4585970" h="2363470">
                  <a:moveTo>
                    <a:pt x="45999" y="2317242"/>
                  </a:moveTo>
                  <a:lnTo>
                    <a:pt x="4585589" y="2317242"/>
                  </a:lnTo>
                </a:path>
                <a:path w="4585970" h="2363470">
                  <a:moveTo>
                    <a:pt x="45999" y="2317242"/>
                  </a:moveTo>
                  <a:lnTo>
                    <a:pt x="45999" y="2363216"/>
                  </a:lnTo>
                </a:path>
                <a:path w="4585970" h="2363470">
                  <a:moveTo>
                    <a:pt x="953389" y="2317242"/>
                  </a:moveTo>
                  <a:lnTo>
                    <a:pt x="953389" y="2363216"/>
                  </a:lnTo>
                </a:path>
                <a:path w="4585970" h="2363470">
                  <a:moveTo>
                    <a:pt x="1861692" y="2317242"/>
                  </a:moveTo>
                  <a:lnTo>
                    <a:pt x="1861692" y="2363216"/>
                  </a:lnTo>
                </a:path>
                <a:path w="4585970" h="2363470">
                  <a:moveTo>
                    <a:pt x="2769996" y="2317242"/>
                  </a:moveTo>
                  <a:lnTo>
                    <a:pt x="2769996" y="2363216"/>
                  </a:lnTo>
                </a:path>
                <a:path w="4585970" h="2363470">
                  <a:moveTo>
                    <a:pt x="3678301" y="2317242"/>
                  </a:moveTo>
                  <a:lnTo>
                    <a:pt x="3678301" y="2363216"/>
                  </a:lnTo>
                </a:path>
                <a:path w="4585970" h="2363470">
                  <a:moveTo>
                    <a:pt x="4585589" y="2317242"/>
                  </a:moveTo>
                  <a:lnTo>
                    <a:pt x="4585589" y="2363216"/>
                  </a:lnTo>
                </a:path>
              </a:pathLst>
            </a:custGeom>
            <a:ln w="12700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35660" y="1035811"/>
            <a:ext cx="619125" cy="2606482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84"/>
              </a:spcBef>
            </a:pPr>
            <a:r>
              <a:rPr sz="1200" spc="-10" dirty="0">
                <a:latin typeface="Arial MT"/>
                <a:cs typeface="Arial MT"/>
              </a:rPr>
              <a:t>1000000</a:t>
            </a:r>
            <a:endParaRPr sz="1200" dirty="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  <a:spcBef>
                <a:spcPts val="380"/>
              </a:spcBef>
            </a:pPr>
            <a:r>
              <a:rPr sz="1200" spc="-10" dirty="0">
                <a:latin typeface="Arial MT"/>
                <a:cs typeface="Arial MT"/>
              </a:rPr>
              <a:t>900000</a:t>
            </a:r>
            <a:endParaRPr sz="1200" dirty="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  <a:spcBef>
                <a:spcPts val="390"/>
              </a:spcBef>
            </a:pPr>
            <a:r>
              <a:rPr sz="1200" spc="-10" dirty="0">
                <a:latin typeface="Arial MT"/>
                <a:cs typeface="Arial MT"/>
              </a:rPr>
              <a:t>800000</a:t>
            </a:r>
            <a:endParaRPr sz="1200" dirty="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  <a:spcBef>
                <a:spcPts val="380"/>
              </a:spcBef>
            </a:pPr>
            <a:r>
              <a:rPr sz="1200" spc="-10" dirty="0">
                <a:latin typeface="Arial MT"/>
                <a:cs typeface="Arial MT"/>
              </a:rPr>
              <a:t>700000</a:t>
            </a:r>
            <a:endParaRPr sz="1200" dirty="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  <a:spcBef>
                <a:spcPts val="390"/>
              </a:spcBef>
            </a:pPr>
            <a:r>
              <a:rPr sz="1200" spc="-10" dirty="0">
                <a:latin typeface="Arial MT"/>
                <a:cs typeface="Arial MT"/>
              </a:rPr>
              <a:t>600000</a:t>
            </a:r>
            <a:endParaRPr sz="1200" dirty="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  <a:spcBef>
                <a:spcPts val="384"/>
              </a:spcBef>
            </a:pPr>
            <a:r>
              <a:rPr sz="1200" spc="-10" dirty="0">
                <a:latin typeface="Arial MT"/>
                <a:cs typeface="Arial MT"/>
              </a:rPr>
              <a:t>500000</a:t>
            </a:r>
            <a:endParaRPr sz="1200" dirty="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  <a:spcBef>
                <a:spcPts val="385"/>
              </a:spcBef>
            </a:pPr>
            <a:r>
              <a:rPr sz="1200" spc="-10" dirty="0">
                <a:latin typeface="Arial MT"/>
                <a:cs typeface="Arial MT"/>
              </a:rPr>
              <a:t>400000</a:t>
            </a:r>
            <a:endParaRPr sz="1200" dirty="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  <a:spcBef>
                <a:spcPts val="384"/>
              </a:spcBef>
            </a:pPr>
            <a:r>
              <a:rPr sz="1200" spc="-10" dirty="0">
                <a:latin typeface="Arial MT"/>
                <a:cs typeface="Arial MT"/>
              </a:rPr>
              <a:t>300000</a:t>
            </a:r>
            <a:endParaRPr sz="1200" dirty="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380"/>
              </a:spcBef>
            </a:pPr>
            <a:r>
              <a:rPr sz="1200" spc="-10" dirty="0">
                <a:latin typeface="Arial MT"/>
                <a:cs typeface="Arial MT"/>
              </a:rPr>
              <a:t>200000</a:t>
            </a:r>
            <a:endParaRPr sz="1200" dirty="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  <a:spcBef>
                <a:spcPts val="390"/>
              </a:spcBef>
            </a:pPr>
            <a:r>
              <a:rPr sz="1200" spc="-10" dirty="0">
                <a:latin typeface="Arial MT"/>
                <a:cs typeface="Arial MT"/>
              </a:rPr>
              <a:t>100000</a:t>
            </a:r>
            <a:endParaRPr sz="1200" dirty="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384"/>
              </a:spcBef>
            </a:pPr>
            <a:r>
              <a:rPr sz="1200" spc="-50" dirty="0">
                <a:latin typeface="Arial MT"/>
                <a:cs typeface="Arial MT"/>
              </a:rPr>
              <a:t>0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41552" y="3583940"/>
            <a:ext cx="1696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3605" algn="l"/>
              </a:tabLst>
            </a:pPr>
            <a:r>
              <a:rPr sz="1200" spc="-10" dirty="0">
                <a:latin typeface="Arial MT"/>
                <a:cs typeface="Arial MT"/>
              </a:rPr>
              <a:t>Electronics</a:t>
            </a:r>
            <a:r>
              <a:rPr sz="1200" dirty="0">
                <a:latin typeface="Arial MT"/>
                <a:cs typeface="Arial MT"/>
              </a:rPr>
              <a:t>	Home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Care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29788" y="3583940"/>
            <a:ext cx="627380" cy="38417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47955" marR="5080" indent="-135890">
              <a:lnSpc>
                <a:spcPts val="1380"/>
              </a:lnSpc>
              <a:spcBef>
                <a:spcPts val="195"/>
              </a:spcBef>
            </a:pPr>
            <a:r>
              <a:rPr sz="1200" spc="-10" dirty="0">
                <a:latin typeface="Arial MT"/>
                <a:cs typeface="Arial MT"/>
              </a:rPr>
              <a:t>Personal </a:t>
            </a:r>
            <a:r>
              <a:rPr sz="1200" spc="-20" dirty="0">
                <a:latin typeface="Arial MT"/>
                <a:cs typeface="Arial MT"/>
              </a:rPr>
              <a:t>Care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67683" y="3583940"/>
            <a:ext cx="56769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Grocery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66842" y="3583940"/>
            <a:ext cx="5854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Clothing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30272" y="4117501"/>
            <a:ext cx="69850" cy="69850"/>
          </a:xfrm>
          <a:custGeom>
            <a:avLst/>
            <a:gdLst/>
            <a:ahLst/>
            <a:cxnLst/>
            <a:rect l="l" t="t" r="r" b="b"/>
            <a:pathLst>
              <a:path w="69850" h="69850">
                <a:moveTo>
                  <a:pt x="69752" y="0"/>
                </a:moveTo>
                <a:lnTo>
                  <a:pt x="0" y="0"/>
                </a:lnTo>
                <a:lnTo>
                  <a:pt x="0" y="69752"/>
                </a:lnTo>
                <a:lnTo>
                  <a:pt x="69752" y="69752"/>
                </a:lnTo>
                <a:lnTo>
                  <a:pt x="69752" y="0"/>
                </a:lnTo>
                <a:close/>
              </a:path>
            </a:pathLst>
          </a:custGeom>
          <a:solidFill>
            <a:srgbClr val="2D6A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517775" y="4050283"/>
            <a:ext cx="64389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libri"/>
                <a:cs typeface="Calibri"/>
              </a:rPr>
              <a:t>Revenue</a:t>
            </a:r>
            <a:r>
              <a:rPr sz="1000" spc="-4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($)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79521" y="4117501"/>
            <a:ext cx="69850" cy="69850"/>
          </a:xfrm>
          <a:custGeom>
            <a:avLst/>
            <a:gdLst/>
            <a:ahLst/>
            <a:cxnLst/>
            <a:rect l="l" t="t" r="r" b="b"/>
            <a:pathLst>
              <a:path w="69850" h="69850">
                <a:moveTo>
                  <a:pt x="69752" y="0"/>
                </a:moveTo>
                <a:lnTo>
                  <a:pt x="0" y="0"/>
                </a:lnTo>
                <a:lnTo>
                  <a:pt x="0" y="69752"/>
                </a:lnTo>
                <a:lnTo>
                  <a:pt x="69752" y="69752"/>
                </a:lnTo>
                <a:lnTo>
                  <a:pt x="69752" y="0"/>
                </a:lnTo>
                <a:close/>
              </a:path>
            </a:pathLst>
          </a:custGeom>
          <a:solidFill>
            <a:srgbClr val="4091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367278" y="4050283"/>
            <a:ext cx="48260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libri"/>
                <a:cs typeface="Calibri"/>
              </a:rPr>
              <a:t>Profit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($)</a:t>
            </a:r>
            <a:endParaRPr sz="1000" dirty="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11570" y="1090930"/>
            <a:ext cx="2618740" cy="835660"/>
            <a:chOff x="6211570" y="1090930"/>
            <a:chExt cx="2618740" cy="835660"/>
          </a:xfrm>
        </p:grpSpPr>
        <p:sp>
          <p:nvSpPr>
            <p:cNvPr id="19" name="object 19"/>
            <p:cNvSpPr/>
            <p:nvPr/>
          </p:nvSpPr>
          <p:spPr>
            <a:xfrm>
              <a:off x="6281928" y="1097280"/>
              <a:ext cx="2542540" cy="822960"/>
            </a:xfrm>
            <a:custGeom>
              <a:avLst/>
              <a:gdLst/>
              <a:ahLst/>
              <a:cxnLst/>
              <a:rect l="l" t="t" r="r" b="b"/>
              <a:pathLst>
                <a:path w="2542540" h="822960">
                  <a:moveTo>
                    <a:pt x="0" y="822960"/>
                  </a:moveTo>
                  <a:lnTo>
                    <a:pt x="2542031" y="822960"/>
                  </a:lnTo>
                  <a:lnTo>
                    <a:pt x="2542031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F1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17920" y="1097280"/>
              <a:ext cx="2606040" cy="822960"/>
            </a:xfrm>
            <a:custGeom>
              <a:avLst/>
              <a:gdLst/>
              <a:ahLst/>
              <a:cxnLst/>
              <a:rect l="l" t="t" r="r" b="b"/>
              <a:pathLst>
                <a:path w="2606040" h="822960">
                  <a:moveTo>
                    <a:pt x="0" y="822960"/>
                  </a:moveTo>
                  <a:lnTo>
                    <a:pt x="2606039" y="822960"/>
                  </a:lnTo>
                  <a:lnTo>
                    <a:pt x="2606039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700">
              <a:solidFill>
                <a:srgbClr val="E6F2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17920" y="1097280"/>
              <a:ext cx="64135" cy="822960"/>
            </a:xfrm>
            <a:custGeom>
              <a:avLst/>
              <a:gdLst/>
              <a:ahLst/>
              <a:cxnLst/>
              <a:rect l="l" t="t" r="r" b="b"/>
              <a:pathLst>
                <a:path w="64135" h="822960">
                  <a:moveTo>
                    <a:pt x="64008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64008" y="822960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2D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17920" y="1097280"/>
              <a:ext cx="64135" cy="822960"/>
            </a:xfrm>
            <a:custGeom>
              <a:avLst/>
              <a:gdLst/>
              <a:ahLst/>
              <a:cxnLst/>
              <a:rect l="l" t="t" r="r" b="b"/>
              <a:pathLst>
                <a:path w="64135" h="822960">
                  <a:moveTo>
                    <a:pt x="0" y="822960"/>
                  </a:moveTo>
                  <a:lnTo>
                    <a:pt x="64008" y="822960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700">
              <a:solidFill>
                <a:srgbClr val="2D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288278" y="1188161"/>
            <a:ext cx="2529840" cy="594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2D6A4F"/>
                </a:solidFill>
                <a:latin typeface="Calibri"/>
                <a:cs typeface="Calibri"/>
              </a:rPr>
              <a:t>$2,917,950</a:t>
            </a:r>
            <a:endParaRPr sz="1600">
              <a:latin typeface="Calibri"/>
              <a:cs typeface="Calibri"/>
            </a:endParaRPr>
          </a:p>
          <a:p>
            <a:pPr marL="113030">
              <a:lnSpc>
                <a:spcPct val="100000"/>
              </a:lnSpc>
              <a:spcBef>
                <a:spcPts val="1360"/>
              </a:spcBef>
            </a:pPr>
            <a:r>
              <a:rPr sz="1000" dirty="0">
                <a:solidFill>
                  <a:srgbClr val="5A6E60"/>
                </a:solidFill>
                <a:latin typeface="Calibri"/>
                <a:cs typeface="Calibri"/>
              </a:rPr>
              <a:t>Total</a:t>
            </a:r>
            <a:r>
              <a:rPr sz="1000" spc="-3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5A6E60"/>
                </a:solidFill>
                <a:latin typeface="Calibri"/>
                <a:cs typeface="Calibri"/>
              </a:rPr>
              <a:t>Revenue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211570" y="2096770"/>
            <a:ext cx="2618740" cy="835660"/>
            <a:chOff x="6211570" y="2096770"/>
            <a:chExt cx="2618740" cy="835660"/>
          </a:xfrm>
        </p:grpSpPr>
        <p:sp>
          <p:nvSpPr>
            <p:cNvPr id="25" name="object 25"/>
            <p:cNvSpPr/>
            <p:nvPr/>
          </p:nvSpPr>
          <p:spPr>
            <a:xfrm>
              <a:off x="6281928" y="2103120"/>
              <a:ext cx="2542540" cy="822960"/>
            </a:xfrm>
            <a:custGeom>
              <a:avLst/>
              <a:gdLst/>
              <a:ahLst/>
              <a:cxnLst/>
              <a:rect l="l" t="t" r="r" b="b"/>
              <a:pathLst>
                <a:path w="2542540" h="822960">
                  <a:moveTo>
                    <a:pt x="0" y="822959"/>
                  </a:moveTo>
                  <a:lnTo>
                    <a:pt x="2542031" y="822959"/>
                  </a:lnTo>
                  <a:lnTo>
                    <a:pt x="2542031" y="0"/>
                  </a:lnTo>
                  <a:lnTo>
                    <a:pt x="0" y="0"/>
                  </a:lnTo>
                  <a:lnTo>
                    <a:pt x="0" y="822959"/>
                  </a:lnTo>
                  <a:close/>
                </a:path>
              </a:pathLst>
            </a:custGeom>
            <a:solidFill>
              <a:srgbClr val="F1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17920" y="2103120"/>
              <a:ext cx="2606040" cy="822960"/>
            </a:xfrm>
            <a:custGeom>
              <a:avLst/>
              <a:gdLst/>
              <a:ahLst/>
              <a:cxnLst/>
              <a:rect l="l" t="t" r="r" b="b"/>
              <a:pathLst>
                <a:path w="2606040" h="822960">
                  <a:moveTo>
                    <a:pt x="0" y="822959"/>
                  </a:moveTo>
                  <a:lnTo>
                    <a:pt x="2606039" y="822959"/>
                  </a:lnTo>
                  <a:lnTo>
                    <a:pt x="2606039" y="0"/>
                  </a:lnTo>
                  <a:lnTo>
                    <a:pt x="0" y="0"/>
                  </a:lnTo>
                  <a:lnTo>
                    <a:pt x="0" y="822959"/>
                  </a:lnTo>
                  <a:close/>
                </a:path>
              </a:pathLst>
            </a:custGeom>
            <a:ln w="12700">
              <a:solidFill>
                <a:srgbClr val="E6F2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17920" y="2103120"/>
              <a:ext cx="64135" cy="822960"/>
            </a:xfrm>
            <a:custGeom>
              <a:avLst/>
              <a:gdLst/>
              <a:ahLst/>
              <a:cxnLst/>
              <a:rect l="l" t="t" r="r" b="b"/>
              <a:pathLst>
                <a:path w="64135" h="822960">
                  <a:moveTo>
                    <a:pt x="64008" y="0"/>
                  </a:moveTo>
                  <a:lnTo>
                    <a:pt x="0" y="0"/>
                  </a:lnTo>
                  <a:lnTo>
                    <a:pt x="0" y="822959"/>
                  </a:lnTo>
                  <a:lnTo>
                    <a:pt x="64008" y="822959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52B7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217920" y="2103120"/>
              <a:ext cx="64135" cy="822960"/>
            </a:xfrm>
            <a:custGeom>
              <a:avLst/>
              <a:gdLst/>
              <a:ahLst/>
              <a:cxnLst/>
              <a:rect l="l" t="t" r="r" b="b"/>
              <a:pathLst>
                <a:path w="64135" h="822960">
                  <a:moveTo>
                    <a:pt x="0" y="822959"/>
                  </a:moveTo>
                  <a:lnTo>
                    <a:pt x="64008" y="822959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822959"/>
                  </a:lnTo>
                  <a:close/>
                </a:path>
              </a:pathLst>
            </a:custGeom>
            <a:ln w="12700">
              <a:solidFill>
                <a:srgbClr val="52B7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288278" y="2194686"/>
            <a:ext cx="2529840" cy="593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52B788"/>
                </a:solidFill>
                <a:latin typeface="Calibri"/>
                <a:cs typeface="Calibri"/>
              </a:rPr>
              <a:t>$865,500</a:t>
            </a:r>
            <a:endParaRPr sz="1600">
              <a:latin typeface="Calibri"/>
              <a:cs typeface="Calibri"/>
            </a:endParaRPr>
          </a:p>
          <a:p>
            <a:pPr marL="113030">
              <a:lnSpc>
                <a:spcPct val="100000"/>
              </a:lnSpc>
              <a:spcBef>
                <a:spcPts val="1355"/>
              </a:spcBef>
            </a:pPr>
            <a:r>
              <a:rPr sz="1000" dirty="0">
                <a:solidFill>
                  <a:srgbClr val="5A6E60"/>
                </a:solidFill>
                <a:latin typeface="Calibri"/>
                <a:cs typeface="Calibri"/>
              </a:rPr>
              <a:t>Total</a:t>
            </a:r>
            <a:r>
              <a:rPr sz="1000" spc="-3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5A6E60"/>
                </a:solidFill>
                <a:latin typeface="Calibri"/>
                <a:cs typeface="Calibri"/>
              </a:rPr>
              <a:t>Profit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211570" y="3102610"/>
            <a:ext cx="2618740" cy="835660"/>
            <a:chOff x="6211570" y="3102610"/>
            <a:chExt cx="2618740" cy="835660"/>
          </a:xfrm>
        </p:grpSpPr>
        <p:sp>
          <p:nvSpPr>
            <p:cNvPr id="31" name="object 31"/>
            <p:cNvSpPr/>
            <p:nvPr/>
          </p:nvSpPr>
          <p:spPr>
            <a:xfrm>
              <a:off x="6281928" y="3108960"/>
              <a:ext cx="2542540" cy="822960"/>
            </a:xfrm>
            <a:custGeom>
              <a:avLst/>
              <a:gdLst/>
              <a:ahLst/>
              <a:cxnLst/>
              <a:rect l="l" t="t" r="r" b="b"/>
              <a:pathLst>
                <a:path w="2542540" h="822960">
                  <a:moveTo>
                    <a:pt x="0" y="822959"/>
                  </a:moveTo>
                  <a:lnTo>
                    <a:pt x="2542031" y="822959"/>
                  </a:lnTo>
                  <a:lnTo>
                    <a:pt x="2542031" y="0"/>
                  </a:lnTo>
                  <a:lnTo>
                    <a:pt x="0" y="0"/>
                  </a:lnTo>
                  <a:lnTo>
                    <a:pt x="0" y="822959"/>
                  </a:lnTo>
                  <a:close/>
                </a:path>
              </a:pathLst>
            </a:custGeom>
            <a:solidFill>
              <a:srgbClr val="F1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217920" y="3108960"/>
              <a:ext cx="2606040" cy="822960"/>
            </a:xfrm>
            <a:custGeom>
              <a:avLst/>
              <a:gdLst/>
              <a:ahLst/>
              <a:cxnLst/>
              <a:rect l="l" t="t" r="r" b="b"/>
              <a:pathLst>
                <a:path w="2606040" h="822960">
                  <a:moveTo>
                    <a:pt x="0" y="822959"/>
                  </a:moveTo>
                  <a:lnTo>
                    <a:pt x="2606039" y="822959"/>
                  </a:lnTo>
                  <a:lnTo>
                    <a:pt x="2606039" y="0"/>
                  </a:lnTo>
                  <a:lnTo>
                    <a:pt x="0" y="0"/>
                  </a:lnTo>
                  <a:lnTo>
                    <a:pt x="0" y="822959"/>
                  </a:lnTo>
                  <a:close/>
                </a:path>
              </a:pathLst>
            </a:custGeom>
            <a:ln w="12700">
              <a:solidFill>
                <a:srgbClr val="E6F2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217920" y="3108960"/>
              <a:ext cx="64135" cy="822960"/>
            </a:xfrm>
            <a:custGeom>
              <a:avLst/>
              <a:gdLst/>
              <a:ahLst/>
              <a:cxnLst/>
              <a:rect l="l" t="t" r="r" b="b"/>
              <a:pathLst>
                <a:path w="64135" h="822960">
                  <a:moveTo>
                    <a:pt x="64008" y="0"/>
                  </a:moveTo>
                  <a:lnTo>
                    <a:pt x="0" y="0"/>
                  </a:lnTo>
                  <a:lnTo>
                    <a:pt x="0" y="822959"/>
                  </a:lnTo>
                  <a:lnTo>
                    <a:pt x="64008" y="822959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4091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217920" y="3108960"/>
              <a:ext cx="64135" cy="822960"/>
            </a:xfrm>
            <a:custGeom>
              <a:avLst/>
              <a:gdLst/>
              <a:ahLst/>
              <a:cxnLst/>
              <a:rect l="l" t="t" r="r" b="b"/>
              <a:pathLst>
                <a:path w="64135" h="822960">
                  <a:moveTo>
                    <a:pt x="0" y="822959"/>
                  </a:moveTo>
                  <a:lnTo>
                    <a:pt x="64008" y="822959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822959"/>
                  </a:lnTo>
                  <a:close/>
                </a:path>
              </a:pathLst>
            </a:custGeom>
            <a:ln w="12700">
              <a:solidFill>
                <a:srgbClr val="4091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288278" y="3200780"/>
            <a:ext cx="2529840" cy="593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40916C"/>
                </a:solidFill>
                <a:latin typeface="Calibri"/>
                <a:cs typeface="Calibri"/>
              </a:rPr>
              <a:t>29.67%</a:t>
            </a:r>
            <a:endParaRPr sz="1600">
              <a:latin typeface="Calibri"/>
              <a:cs typeface="Calibri"/>
            </a:endParaRPr>
          </a:p>
          <a:p>
            <a:pPr marL="113030">
              <a:lnSpc>
                <a:spcPct val="100000"/>
              </a:lnSpc>
              <a:spcBef>
                <a:spcPts val="1360"/>
              </a:spcBef>
            </a:pPr>
            <a:r>
              <a:rPr sz="1000" dirty="0">
                <a:solidFill>
                  <a:srgbClr val="5A6E60"/>
                </a:solidFill>
                <a:latin typeface="Calibri"/>
                <a:cs typeface="Calibri"/>
              </a:rPr>
              <a:t>Profit</a:t>
            </a:r>
            <a:r>
              <a:rPr sz="1000" spc="-4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5A6E60"/>
                </a:solidFill>
                <a:latin typeface="Calibri"/>
                <a:cs typeface="Calibri"/>
              </a:rPr>
              <a:t>Margin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211570" y="4108450"/>
            <a:ext cx="2618740" cy="835660"/>
            <a:chOff x="6211570" y="4108450"/>
            <a:chExt cx="2618740" cy="835660"/>
          </a:xfrm>
        </p:grpSpPr>
        <p:sp>
          <p:nvSpPr>
            <p:cNvPr id="37" name="object 37"/>
            <p:cNvSpPr/>
            <p:nvPr/>
          </p:nvSpPr>
          <p:spPr>
            <a:xfrm>
              <a:off x="6281928" y="4114800"/>
              <a:ext cx="2542540" cy="822960"/>
            </a:xfrm>
            <a:custGeom>
              <a:avLst/>
              <a:gdLst/>
              <a:ahLst/>
              <a:cxnLst/>
              <a:rect l="l" t="t" r="r" b="b"/>
              <a:pathLst>
                <a:path w="2542540" h="822960">
                  <a:moveTo>
                    <a:pt x="0" y="822960"/>
                  </a:moveTo>
                  <a:lnTo>
                    <a:pt x="2542031" y="822960"/>
                  </a:lnTo>
                  <a:lnTo>
                    <a:pt x="2542031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F1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217920" y="4114800"/>
              <a:ext cx="2606040" cy="822960"/>
            </a:xfrm>
            <a:custGeom>
              <a:avLst/>
              <a:gdLst/>
              <a:ahLst/>
              <a:cxnLst/>
              <a:rect l="l" t="t" r="r" b="b"/>
              <a:pathLst>
                <a:path w="2606040" h="822960">
                  <a:moveTo>
                    <a:pt x="0" y="822960"/>
                  </a:moveTo>
                  <a:lnTo>
                    <a:pt x="2606039" y="822960"/>
                  </a:lnTo>
                  <a:lnTo>
                    <a:pt x="2606039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700">
              <a:solidFill>
                <a:srgbClr val="E6F2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217920" y="4114800"/>
              <a:ext cx="64135" cy="822960"/>
            </a:xfrm>
            <a:custGeom>
              <a:avLst/>
              <a:gdLst/>
              <a:ahLst/>
              <a:cxnLst/>
              <a:rect l="l" t="t" r="r" b="b"/>
              <a:pathLst>
                <a:path w="64135" h="822960">
                  <a:moveTo>
                    <a:pt x="64008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64008" y="822960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2D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217920" y="4114800"/>
              <a:ext cx="64135" cy="822960"/>
            </a:xfrm>
            <a:custGeom>
              <a:avLst/>
              <a:gdLst/>
              <a:ahLst/>
              <a:cxnLst/>
              <a:rect l="l" t="t" r="r" b="b"/>
              <a:pathLst>
                <a:path w="64135" h="822960">
                  <a:moveTo>
                    <a:pt x="0" y="822960"/>
                  </a:moveTo>
                  <a:lnTo>
                    <a:pt x="64008" y="822960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700">
              <a:solidFill>
                <a:srgbClr val="2D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288278" y="4206951"/>
            <a:ext cx="2529840" cy="593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2D6A4F"/>
                </a:solidFill>
                <a:latin typeface="Calibri"/>
                <a:cs typeface="Calibri"/>
              </a:rPr>
              <a:t>Electronics</a:t>
            </a:r>
            <a:endParaRPr sz="1600">
              <a:latin typeface="Calibri"/>
              <a:cs typeface="Calibri"/>
            </a:endParaRPr>
          </a:p>
          <a:p>
            <a:pPr marL="113030">
              <a:lnSpc>
                <a:spcPct val="100000"/>
              </a:lnSpc>
              <a:spcBef>
                <a:spcPts val="1355"/>
              </a:spcBef>
            </a:pPr>
            <a:r>
              <a:rPr sz="1000" dirty="0">
                <a:solidFill>
                  <a:srgbClr val="5A6E60"/>
                </a:solidFill>
                <a:latin typeface="Calibri"/>
                <a:cs typeface="Calibri"/>
              </a:rPr>
              <a:t>Top</a:t>
            </a:r>
            <a:r>
              <a:rPr sz="1000" spc="-2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5A6E60"/>
                </a:solidFill>
                <a:latin typeface="Calibri"/>
                <a:cs typeface="Calibri"/>
              </a:rPr>
              <a:t>Category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>
            <a:off x="256031" y="182879"/>
            <a:ext cx="548640" cy="54863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40434" y="328220"/>
            <a:ext cx="7429499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BCG</a:t>
            </a:r>
            <a:r>
              <a:rPr lang="en-US" spc="-65" dirty="0"/>
              <a:t> </a:t>
            </a:r>
            <a:r>
              <a:rPr lang="en-US" spc="-25" dirty="0"/>
              <a:t>MATRIX</a:t>
            </a:r>
            <a:r>
              <a:rPr lang="en-US" spc="-70" dirty="0"/>
              <a:t> </a:t>
            </a:r>
            <a:r>
              <a:rPr lang="en-US" dirty="0"/>
              <a:t>—</a:t>
            </a:r>
            <a:r>
              <a:rPr lang="en-US" spc="-50" dirty="0"/>
              <a:t> </a:t>
            </a:r>
            <a:r>
              <a:rPr lang="en-US" dirty="0"/>
              <a:t>PRODUCT</a:t>
            </a:r>
            <a:r>
              <a:rPr lang="en-US" spc="-55" dirty="0"/>
              <a:t> </a:t>
            </a:r>
            <a:r>
              <a:rPr lang="en-US" spc="-30" dirty="0"/>
              <a:t>CATEGORY</a:t>
            </a:r>
            <a:r>
              <a:rPr lang="en-US" spc="-45" dirty="0"/>
              <a:t> </a:t>
            </a:r>
            <a:r>
              <a:rPr lang="en-US" spc="-10" dirty="0"/>
              <a:t>ANALYSIS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3229482" y="1019301"/>
            <a:ext cx="2684145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Calibri"/>
                <a:cs typeface="Calibri"/>
              </a:rPr>
              <a:t>Relative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Market</a:t>
            </a:r>
            <a:r>
              <a:rPr sz="1100" i="1" spc="-5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Share</a:t>
            </a:r>
            <a:r>
              <a:rPr sz="1100" i="1" spc="229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vs</a:t>
            </a:r>
            <a:r>
              <a:rPr sz="1100" i="1" spc="2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Market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Growth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Rate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1325880"/>
            <a:ext cx="8046720" cy="3520440"/>
            <a:chOff x="457200" y="1325880"/>
            <a:chExt cx="8046720" cy="3520440"/>
          </a:xfrm>
        </p:grpSpPr>
        <p:sp>
          <p:nvSpPr>
            <p:cNvPr id="6" name="object 6"/>
            <p:cNvSpPr/>
            <p:nvPr/>
          </p:nvSpPr>
          <p:spPr>
            <a:xfrm>
              <a:off x="457200" y="1325880"/>
              <a:ext cx="4023360" cy="1760220"/>
            </a:xfrm>
            <a:custGeom>
              <a:avLst/>
              <a:gdLst/>
              <a:ahLst/>
              <a:cxnLst/>
              <a:rect l="l" t="t" r="r" b="b"/>
              <a:pathLst>
                <a:path w="4023360" h="1760220">
                  <a:moveTo>
                    <a:pt x="4023360" y="0"/>
                  </a:moveTo>
                  <a:lnTo>
                    <a:pt x="0" y="0"/>
                  </a:lnTo>
                  <a:lnTo>
                    <a:pt x="0" y="1760220"/>
                  </a:lnTo>
                  <a:lnTo>
                    <a:pt x="4023360" y="1760220"/>
                  </a:lnTo>
                  <a:lnTo>
                    <a:pt x="4023360" y="0"/>
                  </a:lnTo>
                  <a:close/>
                </a:path>
              </a:pathLst>
            </a:custGeom>
            <a:solidFill>
              <a:srgbClr val="D8F3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80559" y="1325880"/>
              <a:ext cx="4023360" cy="1760220"/>
            </a:xfrm>
            <a:custGeom>
              <a:avLst/>
              <a:gdLst/>
              <a:ahLst/>
              <a:cxnLst/>
              <a:rect l="l" t="t" r="r" b="b"/>
              <a:pathLst>
                <a:path w="4023359" h="1760220">
                  <a:moveTo>
                    <a:pt x="4023360" y="0"/>
                  </a:moveTo>
                  <a:lnTo>
                    <a:pt x="0" y="0"/>
                  </a:lnTo>
                  <a:lnTo>
                    <a:pt x="0" y="1760220"/>
                  </a:lnTo>
                  <a:lnTo>
                    <a:pt x="4023360" y="1760220"/>
                  </a:lnTo>
                  <a:lnTo>
                    <a:pt x="4023360" y="0"/>
                  </a:lnTo>
                  <a:close/>
                </a:path>
              </a:pathLst>
            </a:custGeom>
            <a:solidFill>
              <a:srgbClr val="C7E6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3086100"/>
              <a:ext cx="4023360" cy="1760220"/>
            </a:xfrm>
            <a:custGeom>
              <a:avLst/>
              <a:gdLst/>
              <a:ahLst/>
              <a:cxnLst/>
              <a:rect l="l" t="t" r="r" b="b"/>
              <a:pathLst>
                <a:path w="4023360" h="1760220">
                  <a:moveTo>
                    <a:pt x="4023360" y="0"/>
                  </a:moveTo>
                  <a:lnTo>
                    <a:pt x="0" y="0"/>
                  </a:lnTo>
                  <a:lnTo>
                    <a:pt x="0" y="1760220"/>
                  </a:lnTo>
                  <a:lnTo>
                    <a:pt x="4023360" y="1760220"/>
                  </a:lnTo>
                  <a:lnTo>
                    <a:pt x="4023360" y="0"/>
                  </a:lnTo>
                  <a:close/>
                </a:path>
              </a:pathLst>
            </a:custGeom>
            <a:solidFill>
              <a:srgbClr val="FFCD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80559" y="3086100"/>
              <a:ext cx="4023360" cy="1760220"/>
            </a:xfrm>
            <a:custGeom>
              <a:avLst/>
              <a:gdLst/>
              <a:ahLst/>
              <a:cxnLst/>
              <a:rect l="l" t="t" r="r" b="b"/>
              <a:pathLst>
                <a:path w="4023359" h="1760220">
                  <a:moveTo>
                    <a:pt x="4023360" y="0"/>
                  </a:moveTo>
                  <a:lnTo>
                    <a:pt x="0" y="0"/>
                  </a:lnTo>
                  <a:lnTo>
                    <a:pt x="0" y="1760220"/>
                  </a:lnTo>
                  <a:lnTo>
                    <a:pt x="4023360" y="1760220"/>
                  </a:lnTo>
                  <a:lnTo>
                    <a:pt x="4023360" y="0"/>
                  </a:lnTo>
                  <a:close/>
                </a:path>
              </a:pathLst>
            </a:custGeom>
            <a:solidFill>
              <a:srgbClr val="C7E6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1421892"/>
              <a:ext cx="390906" cy="31927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0559" y="1421892"/>
              <a:ext cx="390906" cy="31927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182112"/>
              <a:ext cx="390906" cy="31927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80559" y="3182112"/>
              <a:ext cx="390906" cy="319277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450850" y="1319530"/>
          <a:ext cx="8046720" cy="3520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220"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b="1" spc="-10" dirty="0">
                          <a:solidFill>
                            <a:srgbClr val="52B788"/>
                          </a:solid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sz="1200" b="1" spc="5" dirty="0">
                          <a:solidFill>
                            <a:srgbClr val="52B78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52B788"/>
                          </a:solidFill>
                          <a:latin typeface="Calibri"/>
                          <a:cs typeface="Calibri"/>
                        </a:rPr>
                        <a:t>MARKS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1440" marR="2585085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52B788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r>
                        <a:rPr sz="1050" spc="-20" dirty="0">
                          <a:solidFill>
                            <a:srgbClr val="52B78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52B788"/>
                          </a:solidFill>
                          <a:latin typeface="Calibri"/>
                          <a:cs typeface="Calibri"/>
                        </a:rPr>
                        <a:t>Growth</a:t>
                      </a:r>
                      <a:r>
                        <a:rPr sz="1050" spc="-30" dirty="0">
                          <a:solidFill>
                            <a:srgbClr val="52B78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52B788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sz="1050" spc="-15" dirty="0">
                          <a:solidFill>
                            <a:srgbClr val="52B78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52B788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r>
                        <a:rPr sz="1050" spc="-15" dirty="0">
                          <a:solidFill>
                            <a:srgbClr val="52B78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solidFill>
                            <a:srgbClr val="52B788"/>
                          </a:solidFill>
                          <a:latin typeface="Calibri"/>
                          <a:cs typeface="Calibri"/>
                        </a:rPr>
                        <a:t>Share </a:t>
                      </a:r>
                      <a:r>
                        <a:rPr sz="1050" dirty="0">
                          <a:solidFill>
                            <a:srgbClr val="52B788"/>
                          </a:solidFill>
                          <a:latin typeface="Calibri"/>
                          <a:cs typeface="Calibri"/>
                        </a:rPr>
                        <a:t>Grocery</a:t>
                      </a:r>
                      <a:r>
                        <a:rPr sz="1050" spc="-30" dirty="0">
                          <a:solidFill>
                            <a:srgbClr val="52B78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52B788"/>
                          </a:solidFill>
                          <a:latin typeface="Calibri"/>
                          <a:cs typeface="Calibri"/>
                        </a:rPr>
                        <a:t>(19.71%)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E6F2E8"/>
                      </a:solidFill>
                      <a:prstDash val="solid"/>
                    </a:lnL>
                    <a:lnR w="19050">
                      <a:solidFill>
                        <a:srgbClr val="5A6E60"/>
                      </a:solidFill>
                      <a:prstDash val="sysDash"/>
                    </a:lnR>
                    <a:lnT w="12700">
                      <a:solidFill>
                        <a:srgbClr val="E6F2E8"/>
                      </a:solidFill>
                      <a:prstDash val="solid"/>
                    </a:lnT>
                    <a:lnB w="19050">
                      <a:solidFill>
                        <a:srgbClr val="5A6E6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3083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b="1" spc="-1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STARS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r>
                        <a:rPr sz="1050" spc="-25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Growth</a:t>
                      </a:r>
                      <a:r>
                        <a:rPr sz="1050" spc="-3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sz="1050" spc="-2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r>
                        <a:rPr sz="1050" spc="-5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Share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Electronics</a:t>
                      </a:r>
                      <a:r>
                        <a:rPr sz="1050" spc="-25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(20.29%)</a:t>
                      </a:r>
                      <a:r>
                        <a:rPr sz="1050" spc="-3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sz="1050" spc="-2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Home</a:t>
                      </a:r>
                      <a:r>
                        <a:rPr sz="1050" spc="-1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Care</a:t>
                      </a:r>
                      <a:r>
                        <a:rPr sz="1050" spc="-25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(20.29%)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7795" marB="0">
                    <a:lnL w="19050">
                      <a:solidFill>
                        <a:srgbClr val="5A6E60"/>
                      </a:solidFill>
                      <a:prstDash val="sysDash"/>
                    </a:lnL>
                    <a:lnR w="12700">
                      <a:solidFill>
                        <a:srgbClr val="E6F2E8"/>
                      </a:solidFill>
                      <a:prstDash val="solid"/>
                    </a:lnR>
                    <a:lnT w="12700">
                      <a:solidFill>
                        <a:srgbClr val="E6F2E8"/>
                      </a:solidFill>
                      <a:prstDash val="solid"/>
                    </a:lnT>
                    <a:lnB w="19050">
                      <a:solidFill>
                        <a:srgbClr val="5A6E6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0220"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b="1" spc="-20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DOGS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1440" marR="2611120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r>
                        <a:rPr sz="1050" spc="-15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Growth</a:t>
                      </a:r>
                      <a:r>
                        <a:rPr sz="1050" spc="-40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sz="1050" spc="-5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r>
                        <a:rPr sz="1050" spc="-25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Share </a:t>
                      </a:r>
                      <a:r>
                        <a:rPr sz="1050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Clothing</a:t>
                      </a:r>
                      <a:r>
                        <a:rPr sz="1050" spc="-35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(19.56%)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E6F2E8"/>
                      </a:solidFill>
                      <a:prstDash val="solid"/>
                    </a:lnL>
                    <a:lnR w="19050">
                      <a:solidFill>
                        <a:srgbClr val="5A6E60"/>
                      </a:solidFill>
                      <a:prstDash val="sysDash"/>
                    </a:lnR>
                    <a:lnT w="19050">
                      <a:solidFill>
                        <a:srgbClr val="5A6E60"/>
                      </a:solidFill>
                      <a:prstDash val="sysDash"/>
                    </a:lnT>
                    <a:lnB w="1270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83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b="1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CASH</a:t>
                      </a:r>
                      <a:r>
                        <a:rPr sz="1200" b="1" spc="-35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COWS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 marR="2584450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r>
                        <a:rPr sz="1050" spc="-15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Growth</a:t>
                      </a:r>
                      <a:r>
                        <a:rPr sz="1050" spc="-45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· High</a:t>
                      </a:r>
                      <a:r>
                        <a:rPr sz="1050" spc="-2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 Share </a:t>
                      </a:r>
                      <a:r>
                        <a:rPr sz="105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Personal</a:t>
                      </a:r>
                      <a:r>
                        <a:rPr sz="1050" spc="-3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Care</a:t>
                      </a:r>
                      <a:r>
                        <a:rPr sz="1050" spc="-2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1B4332"/>
                          </a:solidFill>
                          <a:latin typeface="Calibri"/>
                          <a:cs typeface="Calibri"/>
                        </a:rPr>
                        <a:t>(20.12%)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7795" marB="0">
                    <a:lnL w="19050">
                      <a:solidFill>
                        <a:srgbClr val="5A6E60"/>
                      </a:solidFill>
                      <a:prstDash val="sysDash"/>
                    </a:lnL>
                    <a:lnR w="12700">
                      <a:solidFill>
                        <a:srgbClr val="E6F2E8"/>
                      </a:solidFill>
                      <a:prstDash val="solid"/>
                    </a:lnR>
                    <a:lnT w="19050">
                      <a:solidFill>
                        <a:srgbClr val="5A6E60"/>
                      </a:solidFill>
                      <a:prstDash val="sysDash"/>
                    </a:lnT>
                    <a:lnB w="12700">
                      <a:solidFill>
                        <a:srgbClr val="E6F2E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2808858" y="4813808"/>
            <a:ext cx="3524250" cy="29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60"/>
              </a:lnSpc>
              <a:spcBef>
                <a:spcPts val="100"/>
              </a:spcBef>
            </a:pPr>
            <a:r>
              <a:rPr sz="900" i="1" dirty="0">
                <a:latin typeface="Calibri"/>
                <a:cs typeface="Calibri"/>
              </a:rPr>
              <a:t>Based</a:t>
            </a:r>
            <a:r>
              <a:rPr sz="900" i="1" spc="-35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on</a:t>
            </a:r>
            <a:r>
              <a:rPr sz="900" i="1" spc="-10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unit</a:t>
            </a:r>
            <a:r>
              <a:rPr sz="900" i="1" spc="-25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share</a:t>
            </a:r>
            <a:r>
              <a:rPr sz="900" i="1" spc="-20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and</a:t>
            </a:r>
            <a:r>
              <a:rPr sz="900" i="1" spc="-30" dirty="0">
                <a:latin typeface="Calibri"/>
                <a:cs typeface="Calibri"/>
              </a:rPr>
              <a:t> </a:t>
            </a:r>
            <a:r>
              <a:rPr sz="900" i="1" spc="-10" dirty="0">
                <a:latin typeface="Calibri"/>
                <a:cs typeface="Calibri"/>
              </a:rPr>
              <a:t>growth</a:t>
            </a:r>
            <a:r>
              <a:rPr sz="900" i="1" spc="-35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potential</a:t>
            </a:r>
            <a:r>
              <a:rPr sz="900" i="1" spc="-15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across</a:t>
            </a:r>
            <a:r>
              <a:rPr sz="900" i="1" spc="-15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all</a:t>
            </a:r>
            <a:r>
              <a:rPr sz="900" i="1" spc="-10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6</a:t>
            </a:r>
            <a:r>
              <a:rPr sz="900" i="1" spc="-25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cities during</a:t>
            </a:r>
            <a:r>
              <a:rPr sz="900" i="1" spc="-20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FY</a:t>
            </a:r>
            <a:r>
              <a:rPr sz="900" i="1" spc="-20" dirty="0">
                <a:latin typeface="Calibri"/>
                <a:cs typeface="Calibri"/>
              </a:rPr>
              <a:t> </a:t>
            </a:r>
            <a:r>
              <a:rPr sz="900" i="1" spc="-10" dirty="0">
                <a:latin typeface="Calibri"/>
                <a:cs typeface="Calibri"/>
              </a:rPr>
              <a:t>period</a:t>
            </a:r>
            <a:endParaRPr sz="900" dirty="0">
              <a:latin typeface="Calibri"/>
              <a:cs typeface="Calibri"/>
            </a:endParaRPr>
          </a:p>
          <a:p>
            <a:pPr marL="102870">
              <a:lnSpc>
                <a:spcPts val="1060"/>
              </a:lnSpc>
              <a:tabLst>
                <a:tab pos="1066165" algn="l"/>
                <a:tab pos="2867660" algn="l"/>
              </a:tabLst>
            </a:pPr>
            <a:r>
              <a:rPr sz="900" dirty="0">
                <a:latin typeface="Calibri"/>
                <a:cs typeface="Calibri"/>
              </a:rPr>
              <a:t>←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25" dirty="0">
                <a:latin typeface="Calibri"/>
                <a:cs typeface="Calibri"/>
              </a:rPr>
              <a:t>LOW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900" spc="-10" dirty="0">
                <a:latin typeface="Calibri"/>
                <a:cs typeface="Calibri"/>
              </a:rPr>
              <a:t>RELATIVE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MARKET</a:t>
            </a:r>
            <a:r>
              <a:rPr sz="900" spc="15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SHARE</a:t>
            </a:r>
            <a:r>
              <a:rPr sz="900" dirty="0">
                <a:latin typeface="Calibri"/>
                <a:cs typeface="Calibri"/>
              </a:rPr>
              <a:t>	HIGH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50" dirty="0">
                <a:latin typeface="Calibri"/>
                <a:cs typeface="Calibri"/>
              </a:rPr>
              <a:t>→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656" y="2589656"/>
            <a:ext cx="365760" cy="9855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libri"/>
                <a:cs typeface="Calibri"/>
              </a:rPr>
              <a:t>HIGH</a:t>
            </a:r>
            <a:endParaRPr sz="7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700" spc="-50" dirty="0">
                <a:latin typeface="Tahoma"/>
                <a:cs typeface="Tahoma"/>
              </a:rPr>
              <a:t>▲</a:t>
            </a:r>
            <a:endParaRPr sz="700" dirty="0">
              <a:latin typeface="Tahoma"/>
              <a:cs typeface="Tahoma"/>
            </a:endParaRPr>
          </a:p>
          <a:p>
            <a:pPr marL="12700" marR="5080" indent="1270" algn="ctr">
              <a:lnSpc>
                <a:spcPct val="100000"/>
              </a:lnSpc>
              <a:spcBef>
                <a:spcPts val="840"/>
              </a:spcBef>
            </a:pPr>
            <a:r>
              <a:rPr sz="700" spc="-10" dirty="0">
                <a:latin typeface="Calibri"/>
                <a:cs typeface="Calibri"/>
              </a:rPr>
              <a:t>MARKET</a:t>
            </a:r>
            <a:r>
              <a:rPr sz="700" spc="50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GROWTH</a:t>
            </a:r>
            <a:r>
              <a:rPr sz="700" spc="500" dirty="0">
                <a:latin typeface="Calibri"/>
                <a:cs typeface="Calibri"/>
              </a:rPr>
              <a:t> </a:t>
            </a:r>
            <a:r>
              <a:rPr sz="700" spc="-20" dirty="0">
                <a:latin typeface="Calibri"/>
                <a:cs typeface="Calibri"/>
              </a:rPr>
              <a:t>RATE</a:t>
            </a:r>
            <a:endParaRPr sz="7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700" spc="-50" dirty="0">
                <a:latin typeface="Tahoma"/>
                <a:cs typeface="Tahoma"/>
              </a:rPr>
              <a:t>▼</a:t>
            </a:r>
            <a:endParaRPr sz="7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700" spc="-25" dirty="0">
                <a:latin typeface="Calibri"/>
                <a:cs typeface="Calibri"/>
              </a:rPr>
              <a:t>LOW</a:t>
            </a:r>
            <a:endParaRPr sz="7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031" y="182879"/>
            <a:ext cx="548640" cy="54863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ROI</a:t>
            </a:r>
            <a:r>
              <a:rPr spc="-30" dirty="0"/>
              <a:t> </a:t>
            </a:r>
            <a:r>
              <a:rPr dirty="0"/>
              <a:t>MODEL</a:t>
            </a:r>
            <a:r>
              <a:rPr spc="-55" dirty="0"/>
              <a:t> </a:t>
            </a:r>
            <a:r>
              <a:rPr dirty="0"/>
              <a:t>—</a:t>
            </a:r>
            <a:r>
              <a:rPr spc="-35" dirty="0"/>
              <a:t> </a:t>
            </a:r>
            <a:r>
              <a:rPr dirty="0"/>
              <a:t>RETURN</a:t>
            </a:r>
            <a:r>
              <a:rPr spc="-45" dirty="0"/>
              <a:t> </a:t>
            </a:r>
            <a:r>
              <a:rPr dirty="0"/>
              <a:t>ON</a:t>
            </a:r>
            <a:r>
              <a:rPr spc="-35" dirty="0"/>
              <a:t> </a:t>
            </a:r>
            <a:r>
              <a:rPr spc="-10" dirty="0"/>
              <a:t>INVESTMENT</a:t>
            </a:r>
            <a:r>
              <a:rPr spc="-4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20823" y="1010157"/>
            <a:ext cx="410210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spc="-10" dirty="0">
                <a:solidFill>
                  <a:srgbClr val="5A6E60"/>
                </a:solidFill>
                <a:latin typeface="Calibri"/>
                <a:cs typeface="Calibri"/>
              </a:rPr>
              <a:t>Category-</a:t>
            </a:r>
            <a:r>
              <a:rPr sz="1100" i="1" dirty="0">
                <a:solidFill>
                  <a:srgbClr val="5A6E60"/>
                </a:solidFill>
                <a:latin typeface="Calibri"/>
                <a:cs typeface="Calibri"/>
              </a:rPr>
              <a:t>level</a:t>
            </a:r>
            <a:r>
              <a:rPr sz="1100" i="1" spc="-4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A6E60"/>
                </a:solidFill>
                <a:latin typeface="Calibri"/>
                <a:cs typeface="Calibri"/>
              </a:rPr>
              <a:t>ROI</a:t>
            </a:r>
            <a:r>
              <a:rPr sz="1100" i="1" spc="-1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A6E60"/>
                </a:solidFill>
                <a:latin typeface="Calibri"/>
                <a:cs typeface="Calibri"/>
              </a:rPr>
              <a:t>derived</a:t>
            </a:r>
            <a:r>
              <a:rPr sz="1100" i="1" spc="-3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A6E60"/>
                </a:solidFill>
                <a:latin typeface="Calibri"/>
                <a:cs typeface="Calibri"/>
              </a:rPr>
              <a:t>from</a:t>
            </a:r>
            <a:r>
              <a:rPr sz="1100" i="1" spc="-1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A6E60"/>
                </a:solidFill>
                <a:latin typeface="Calibri"/>
                <a:cs typeface="Calibri"/>
              </a:rPr>
              <a:t>Revenue,</a:t>
            </a:r>
            <a:r>
              <a:rPr sz="1100" i="1" spc="-2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A6E60"/>
                </a:solidFill>
                <a:latin typeface="Calibri"/>
                <a:cs typeface="Calibri"/>
              </a:rPr>
              <a:t>Cost</a:t>
            </a:r>
            <a:r>
              <a:rPr sz="1100" i="1" spc="-1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A6E60"/>
                </a:solidFill>
                <a:latin typeface="Calibri"/>
                <a:cs typeface="Calibri"/>
              </a:rPr>
              <a:t>of</a:t>
            </a:r>
            <a:r>
              <a:rPr sz="1100" i="1" spc="-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A6E60"/>
                </a:solidFill>
                <a:latin typeface="Calibri"/>
                <a:cs typeface="Calibri"/>
              </a:rPr>
              <a:t>Goods,</a:t>
            </a:r>
            <a:r>
              <a:rPr sz="1100" i="1" spc="-1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A6E60"/>
                </a:solidFill>
                <a:latin typeface="Calibri"/>
                <a:cs typeface="Calibri"/>
              </a:rPr>
              <a:t>and</a:t>
            </a:r>
            <a:r>
              <a:rPr sz="1100" i="1" spc="-2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A6E60"/>
                </a:solidFill>
                <a:latin typeface="Calibri"/>
                <a:cs typeface="Calibri"/>
              </a:rPr>
              <a:t>Profit</a:t>
            </a:r>
            <a:r>
              <a:rPr sz="1100" i="1" spc="-3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1100" i="1" spc="-20" dirty="0">
                <a:solidFill>
                  <a:srgbClr val="5A6E60"/>
                </a:solidFill>
                <a:latin typeface="Calibri"/>
                <a:cs typeface="Calibri"/>
              </a:rPr>
              <a:t>data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9409" y="1319530"/>
          <a:ext cx="8412477" cy="2979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3875">
                <a:tc gridSpan="6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100" b="1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ROI</a:t>
                      </a:r>
                      <a:r>
                        <a:rPr sz="1100" b="1" spc="-20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Formula:</a:t>
                      </a:r>
                      <a:r>
                        <a:rPr sz="1100" b="1" spc="459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ROI</a:t>
                      </a:r>
                      <a:r>
                        <a:rPr sz="1100" b="1" spc="-5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(%)</a:t>
                      </a:r>
                      <a:r>
                        <a:rPr sz="1100" b="1" spc="-25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100" b="1" spc="-20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sz="1100" b="1" spc="-15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Net</a:t>
                      </a:r>
                      <a:r>
                        <a:rPr sz="1100" b="1" spc="-10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Profit</a:t>
                      </a:r>
                      <a:r>
                        <a:rPr sz="1100" b="1" spc="-5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÷</a:t>
                      </a:r>
                      <a:r>
                        <a:rPr sz="1100" b="1" spc="-5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r>
                        <a:rPr sz="1100" b="1" spc="-15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Revenue</a:t>
                      </a:r>
                      <a:r>
                        <a:rPr sz="1100" b="1" spc="-25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)</a:t>
                      </a:r>
                      <a:r>
                        <a:rPr sz="1100" b="1" spc="-10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×</a:t>
                      </a:r>
                      <a:r>
                        <a:rPr sz="1100" b="1" spc="-5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r>
                        <a:rPr sz="1100" b="1" spc="480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|</a:t>
                      </a:r>
                      <a:r>
                        <a:rPr sz="1100" b="1" spc="470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Profit</a:t>
                      </a:r>
                      <a:r>
                        <a:rPr sz="1100" b="1" spc="-5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Margin</a:t>
                      </a:r>
                      <a:r>
                        <a:rPr sz="1100" b="1" spc="-25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100" b="1" spc="-15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Net</a:t>
                      </a:r>
                      <a:r>
                        <a:rPr sz="1100" b="1" spc="-10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Profit</a:t>
                      </a:r>
                      <a:r>
                        <a:rPr sz="1100" b="1" spc="5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÷</a:t>
                      </a:r>
                      <a:r>
                        <a:rPr sz="1100" b="1" spc="-5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Revenue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2D6A4F"/>
                      </a:solidFill>
                      <a:prstDash val="solid"/>
                    </a:lnL>
                    <a:lnR w="12700">
                      <a:solidFill>
                        <a:srgbClr val="2D6A4F"/>
                      </a:solidFill>
                      <a:prstDash val="solid"/>
                    </a:lnR>
                    <a:lnT w="12700">
                      <a:solidFill>
                        <a:srgbClr val="2D6A4F"/>
                      </a:solidFill>
                      <a:prstDash val="solid"/>
                    </a:lnT>
                    <a:lnB w="12700">
                      <a:solidFill>
                        <a:srgbClr val="2D6A4F"/>
                      </a:solidFill>
                      <a:prstDash val="solid"/>
                    </a:lnB>
                    <a:solidFill>
                      <a:srgbClr val="E6F2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Category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12700">
                      <a:solidFill>
                        <a:srgbClr val="2D6A4F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46164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</a:t>
                      </a:r>
                      <a:r>
                        <a:rPr sz="10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($)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12700">
                      <a:solidFill>
                        <a:srgbClr val="2D6A4F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COGS</a:t>
                      </a:r>
                      <a:r>
                        <a:rPr sz="10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($)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12700">
                      <a:solidFill>
                        <a:srgbClr val="2D6A4F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473709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Net</a:t>
                      </a:r>
                      <a:r>
                        <a:rPr sz="10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Profit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12700">
                      <a:solidFill>
                        <a:srgbClr val="2D6A4F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ROI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12700">
                      <a:solidFill>
                        <a:srgbClr val="2D6A4F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Top</a:t>
                      </a:r>
                      <a:r>
                        <a:rPr sz="1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City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12700">
                      <a:solidFill>
                        <a:srgbClr val="2D6A4F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 spc="-10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Electronics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$944,700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solidFill>
                            <a:srgbClr val="DC2525"/>
                          </a:solidFill>
                          <a:latin typeface="Calibri"/>
                          <a:cs typeface="Calibri"/>
                        </a:rPr>
                        <a:t>$639,700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 spc="-10" dirty="0">
                          <a:solidFill>
                            <a:srgbClr val="52B788"/>
                          </a:solidFill>
                          <a:latin typeface="Calibri"/>
                          <a:cs typeface="Calibri"/>
                        </a:rPr>
                        <a:t>$305,000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051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b="1" spc="-10" dirty="0">
                          <a:solidFill>
                            <a:srgbClr val="52B788"/>
                          </a:solidFill>
                          <a:latin typeface="Calibri"/>
                          <a:cs typeface="Calibri"/>
                        </a:rPr>
                        <a:t>32.3%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50" dirty="0">
                          <a:solidFill>
                            <a:srgbClr val="5A6E60"/>
                          </a:solidFill>
                          <a:latin typeface="Calibri"/>
                          <a:cs typeface="Calibri"/>
                        </a:rPr>
                        <a:t>Bangalore</a:t>
                      </a:r>
                      <a:r>
                        <a:rPr sz="950" spc="-35" dirty="0">
                          <a:solidFill>
                            <a:srgbClr val="5A6E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5A6E60"/>
                          </a:solidFill>
                          <a:latin typeface="Calibri"/>
                          <a:cs typeface="Calibri"/>
                        </a:rPr>
                        <a:t>559u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Home</a:t>
                      </a:r>
                      <a:r>
                        <a:rPr sz="1000" b="1" spc="-30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Care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$467,250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solidFill>
                            <a:srgbClr val="DC2525"/>
                          </a:solidFill>
                          <a:latin typeface="Calibri"/>
                          <a:cs typeface="Calibri"/>
                        </a:rPr>
                        <a:t>$332,250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 spc="-10" dirty="0">
                          <a:solidFill>
                            <a:srgbClr val="52B788"/>
                          </a:solidFill>
                          <a:latin typeface="Calibri"/>
                          <a:cs typeface="Calibri"/>
                        </a:rPr>
                        <a:t>$135,000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051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b="1" spc="-10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28.9%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950" dirty="0">
                          <a:solidFill>
                            <a:srgbClr val="5A6E60"/>
                          </a:solidFill>
                          <a:latin typeface="Calibri"/>
                          <a:cs typeface="Calibri"/>
                        </a:rPr>
                        <a:t>Pune</a:t>
                      </a:r>
                      <a:r>
                        <a:rPr sz="950" spc="-20" dirty="0">
                          <a:solidFill>
                            <a:srgbClr val="5A6E60"/>
                          </a:solidFill>
                          <a:latin typeface="Calibri"/>
                          <a:cs typeface="Calibri"/>
                        </a:rPr>
                        <a:t> 549u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 dirty="0">
                          <a:solidFill>
                            <a:srgbClr val="74C69D"/>
                          </a:solidFill>
                          <a:latin typeface="Calibri"/>
                          <a:cs typeface="Calibri"/>
                        </a:rPr>
                        <a:t>Personal</a:t>
                      </a:r>
                      <a:r>
                        <a:rPr sz="1000" b="1" spc="-50" dirty="0">
                          <a:solidFill>
                            <a:srgbClr val="74C69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74C69D"/>
                          </a:solidFill>
                          <a:latin typeface="Calibri"/>
                          <a:cs typeface="Calibri"/>
                        </a:rPr>
                        <a:t>Care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$463,200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solidFill>
                            <a:srgbClr val="DC2525"/>
                          </a:solidFill>
                          <a:latin typeface="Calibri"/>
                          <a:cs typeface="Calibri"/>
                        </a:rPr>
                        <a:t>$330,200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 spc="-10" dirty="0">
                          <a:solidFill>
                            <a:srgbClr val="52B788"/>
                          </a:solidFill>
                          <a:latin typeface="Calibri"/>
                          <a:cs typeface="Calibri"/>
                        </a:rPr>
                        <a:t>$133,000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051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b="1" spc="-10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28.7%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950" dirty="0">
                          <a:solidFill>
                            <a:srgbClr val="5A6E60"/>
                          </a:solidFill>
                          <a:latin typeface="Calibri"/>
                          <a:cs typeface="Calibri"/>
                        </a:rPr>
                        <a:t>Mumbai</a:t>
                      </a:r>
                      <a:r>
                        <a:rPr sz="950" spc="-45" dirty="0">
                          <a:solidFill>
                            <a:srgbClr val="5A6E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5A6E60"/>
                          </a:solidFill>
                          <a:latin typeface="Calibri"/>
                          <a:cs typeface="Calibri"/>
                        </a:rPr>
                        <a:t>549u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 spc="-10" dirty="0">
                          <a:solidFill>
                            <a:srgbClr val="52B788"/>
                          </a:solidFill>
                          <a:latin typeface="Calibri"/>
                          <a:cs typeface="Calibri"/>
                        </a:rPr>
                        <a:t>Grocery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$302,500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solidFill>
                            <a:srgbClr val="DC2525"/>
                          </a:solidFill>
                          <a:latin typeface="Calibri"/>
                          <a:cs typeface="Calibri"/>
                        </a:rPr>
                        <a:t>$225,000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 spc="-10" dirty="0">
                          <a:solidFill>
                            <a:srgbClr val="52B788"/>
                          </a:solidFill>
                          <a:latin typeface="Calibri"/>
                          <a:cs typeface="Calibri"/>
                        </a:rPr>
                        <a:t>$77,500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051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b="1" spc="-10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25.6%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950" dirty="0">
                          <a:solidFill>
                            <a:srgbClr val="5A6E60"/>
                          </a:solidFill>
                          <a:latin typeface="Calibri"/>
                          <a:cs typeface="Calibri"/>
                        </a:rPr>
                        <a:t>Chennai</a:t>
                      </a:r>
                      <a:r>
                        <a:rPr sz="950" spc="-35" dirty="0">
                          <a:solidFill>
                            <a:srgbClr val="5A6E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5A6E60"/>
                          </a:solidFill>
                          <a:latin typeface="Calibri"/>
                          <a:cs typeface="Calibri"/>
                        </a:rPr>
                        <a:t>530u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b="1" spc="-10" dirty="0">
                          <a:solidFill>
                            <a:srgbClr val="40916C"/>
                          </a:solidFill>
                          <a:latin typeface="Calibri"/>
                          <a:cs typeface="Calibri"/>
                        </a:rPr>
                        <a:t>Clothing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$740,500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10" dirty="0">
                          <a:solidFill>
                            <a:srgbClr val="DC2525"/>
                          </a:solidFill>
                          <a:latin typeface="Calibri"/>
                          <a:cs typeface="Calibri"/>
                        </a:rPr>
                        <a:t>$525,500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b="1" spc="-10" dirty="0">
                          <a:solidFill>
                            <a:srgbClr val="52B788"/>
                          </a:solidFill>
                          <a:latin typeface="Calibri"/>
                          <a:cs typeface="Calibri"/>
                        </a:rPr>
                        <a:t>$215,000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b="1" spc="-25" dirty="0">
                          <a:solidFill>
                            <a:srgbClr val="2D6A4F"/>
                          </a:solidFill>
                          <a:latin typeface="Calibri"/>
                          <a:cs typeface="Calibri"/>
                        </a:rPr>
                        <a:t>29%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950" spc="-10" dirty="0">
                          <a:solidFill>
                            <a:srgbClr val="5A6E60"/>
                          </a:solidFill>
                          <a:latin typeface="Calibri"/>
                          <a:cs typeface="Calibri"/>
                        </a:rPr>
                        <a:t>Chennai/Pune</a:t>
                      </a:r>
                      <a:r>
                        <a:rPr sz="950" spc="60" dirty="0">
                          <a:solidFill>
                            <a:srgbClr val="5A6E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5A6E60"/>
                          </a:solidFill>
                          <a:latin typeface="Calibri"/>
                          <a:cs typeface="Calibri"/>
                        </a:rPr>
                        <a:t>521u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r>
                        <a:rPr sz="10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0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AVG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$2,917,950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b="1" spc="-10" dirty="0">
                          <a:solidFill>
                            <a:srgbClr val="DC2525"/>
                          </a:solidFill>
                          <a:latin typeface="Calibri"/>
                          <a:cs typeface="Calibri"/>
                        </a:rPr>
                        <a:t>$2,052,650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b="1" spc="-10" dirty="0">
                          <a:solidFill>
                            <a:srgbClr val="40916C"/>
                          </a:solidFill>
                          <a:latin typeface="Calibri"/>
                          <a:cs typeface="Calibri"/>
                        </a:rPr>
                        <a:t>$865,500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R="235585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b="1" spc="-10" dirty="0">
                          <a:solidFill>
                            <a:srgbClr val="40916C"/>
                          </a:solidFill>
                          <a:latin typeface="Calibri"/>
                          <a:cs typeface="Calibri"/>
                        </a:rPr>
                        <a:t>29.67%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Electronics</a:t>
                      </a:r>
                      <a:r>
                        <a:rPr sz="9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leads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6F2E8"/>
                      </a:solidFill>
                      <a:prstDash val="solid"/>
                    </a:lnL>
                    <a:lnR w="6350">
                      <a:solidFill>
                        <a:srgbClr val="E6F2E8"/>
                      </a:solidFill>
                      <a:prstDash val="solid"/>
                    </a:lnR>
                    <a:lnT w="6350">
                      <a:solidFill>
                        <a:srgbClr val="E6F2E8"/>
                      </a:solidFill>
                      <a:prstDash val="solid"/>
                    </a:lnT>
                    <a:lnB w="6350">
                      <a:solidFill>
                        <a:srgbClr val="E6F2E8"/>
                      </a:solidFill>
                      <a:prstDash val="soli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69476" y="4363135"/>
            <a:ext cx="2651760" cy="384175"/>
          </a:xfrm>
          <a:prstGeom prst="rect">
            <a:avLst/>
          </a:prstGeom>
          <a:solidFill>
            <a:srgbClr val="F1F8F2"/>
          </a:solidFill>
          <a:ln w="12700">
            <a:solidFill>
              <a:srgbClr val="2D6A4F"/>
            </a:solidFill>
          </a:ln>
        </p:spPr>
        <p:txBody>
          <a:bodyPr vert="horz" wrap="square" lIns="0" tIns="1009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795"/>
              </a:spcBef>
            </a:pPr>
            <a:r>
              <a:rPr sz="1100" b="1" dirty="0">
                <a:solidFill>
                  <a:srgbClr val="2D6A4F"/>
                </a:solidFill>
                <a:latin typeface="Calibri"/>
                <a:cs typeface="Calibri"/>
              </a:rPr>
              <a:t>Highest</a:t>
            </a:r>
            <a:r>
              <a:rPr sz="1100" b="1" spc="-25" dirty="0">
                <a:solidFill>
                  <a:srgbClr val="2D6A4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6A4F"/>
                </a:solidFill>
                <a:latin typeface="Calibri"/>
                <a:cs typeface="Calibri"/>
              </a:rPr>
              <a:t>ROI:</a:t>
            </a:r>
            <a:r>
              <a:rPr sz="1100" b="1" spc="225" dirty="0">
                <a:solidFill>
                  <a:srgbClr val="2D6A4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6A4F"/>
                </a:solidFill>
                <a:latin typeface="Calibri"/>
                <a:cs typeface="Calibri"/>
              </a:rPr>
              <a:t>Electronics</a:t>
            </a:r>
            <a:r>
              <a:rPr sz="1100" b="1" spc="-45" dirty="0">
                <a:solidFill>
                  <a:srgbClr val="2D6A4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2D6A4F"/>
                </a:solidFill>
                <a:latin typeface="Calibri"/>
                <a:cs typeface="Calibri"/>
              </a:rPr>
              <a:t>32.3%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02258" y="4379912"/>
            <a:ext cx="2651760" cy="384175"/>
          </a:xfrm>
          <a:prstGeom prst="rect">
            <a:avLst/>
          </a:prstGeom>
          <a:solidFill>
            <a:srgbClr val="F1F8F2"/>
          </a:solidFill>
          <a:ln w="12700">
            <a:solidFill>
              <a:srgbClr val="DC2525"/>
            </a:solidFill>
          </a:ln>
        </p:spPr>
        <p:txBody>
          <a:bodyPr vert="horz" wrap="square" lIns="0" tIns="1009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795"/>
              </a:spcBef>
            </a:pPr>
            <a:r>
              <a:rPr sz="1100" b="1" dirty="0">
                <a:solidFill>
                  <a:srgbClr val="DC2525"/>
                </a:solidFill>
                <a:latin typeface="Calibri"/>
                <a:cs typeface="Calibri"/>
              </a:rPr>
              <a:t>Lowest</a:t>
            </a:r>
            <a:r>
              <a:rPr sz="1100" b="1" spc="-15" dirty="0">
                <a:solidFill>
                  <a:srgbClr val="DC2525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DC2525"/>
                </a:solidFill>
                <a:latin typeface="Calibri"/>
                <a:cs typeface="Calibri"/>
              </a:rPr>
              <a:t>ROI:</a:t>
            </a:r>
            <a:r>
              <a:rPr sz="1100" b="1" spc="225" dirty="0">
                <a:solidFill>
                  <a:srgbClr val="DC2525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DC2525"/>
                </a:solidFill>
                <a:latin typeface="Calibri"/>
                <a:cs typeface="Calibri"/>
              </a:rPr>
              <a:t>Grocery</a:t>
            </a:r>
            <a:r>
              <a:rPr sz="1100" b="1" spc="-30" dirty="0">
                <a:solidFill>
                  <a:srgbClr val="DC2525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DC2525"/>
                </a:solidFill>
                <a:latin typeface="Calibri"/>
                <a:cs typeface="Calibri"/>
              </a:rPr>
              <a:t>25.6%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48050" y="4353378"/>
            <a:ext cx="2651760" cy="384175"/>
          </a:xfrm>
          <a:prstGeom prst="rect">
            <a:avLst/>
          </a:prstGeom>
          <a:solidFill>
            <a:srgbClr val="F1F8F2"/>
          </a:solidFill>
          <a:ln w="12700">
            <a:solidFill>
              <a:srgbClr val="52B788"/>
            </a:solidFill>
          </a:ln>
        </p:spPr>
        <p:txBody>
          <a:bodyPr vert="horz" wrap="square" lIns="0" tIns="1009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795"/>
              </a:spcBef>
            </a:pPr>
            <a:r>
              <a:rPr sz="1100" b="1" dirty="0">
                <a:solidFill>
                  <a:srgbClr val="52B788"/>
                </a:solidFill>
                <a:latin typeface="Calibri"/>
                <a:cs typeface="Calibri"/>
              </a:rPr>
              <a:t>Overall</a:t>
            </a:r>
            <a:r>
              <a:rPr sz="1100" b="1" spc="-20" dirty="0">
                <a:solidFill>
                  <a:srgbClr val="52B788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52B788"/>
                </a:solidFill>
                <a:latin typeface="Calibri"/>
                <a:cs typeface="Calibri"/>
              </a:rPr>
              <a:t>ROI:</a:t>
            </a:r>
            <a:r>
              <a:rPr sz="1100" b="1" spc="215" dirty="0">
                <a:solidFill>
                  <a:srgbClr val="52B788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52B788"/>
                </a:solidFill>
                <a:latin typeface="Calibri"/>
                <a:cs typeface="Calibri"/>
              </a:rPr>
              <a:t>29.67%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2114" y="4922621"/>
            <a:ext cx="32416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dirty="0">
                <a:solidFill>
                  <a:srgbClr val="5A6E60"/>
                </a:solidFill>
                <a:latin typeface="Calibri"/>
                <a:cs typeface="Calibri"/>
              </a:rPr>
              <a:t>COGS</a:t>
            </a:r>
            <a:r>
              <a:rPr sz="850" i="1" spc="-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850" i="1" spc="-10" dirty="0">
                <a:solidFill>
                  <a:srgbClr val="5A6E60"/>
                </a:solidFill>
                <a:latin typeface="Calibri"/>
                <a:cs typeface="Calibri"/>
              </a:rPr>
              <a:t>estimated</a:t>
            </a:r>
            <a:r>
              <a:rPr sz="850" i="1" spc="-3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5A6E60"/>
                </a:solidFill>
                <a:latin typeface="Calibri"/>
                <a:cs typeface="Calibri"/>
              </a:rPr>
              <a:t>as</a:t>
            </a:r>
            <a:r>
              <a:rPr sz="850" i="1" spc="-3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5A6E60"/>
                </a:solidFill>
                <a:latin typeface="Calibri"/>
                <a:cs typeface="Calibri"/>
              </a:rPr>
              <a:t>Revenue</a:t>
            </a:r>
            <a:r>
              <a:rPr sz="850" i="1" spc="-5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5A6E60"/>
                </a:solidFill>
                <a:latin typeface="Calibri"/>
                <a:cs typeface="Calibri"/>
              </a:rPr>
              <a:t>−</a:t>
            </a:r>
            <a:r>
              <a:rPr sz="850" i="1" spc="-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5A6E60"/>
                </a:solidFill>
                <a:latin typeface="Calibri"/>
                <a:cs typeface="Calibri"/>
              </a:rPr>
              <a:t>Net</a:t>
            </a:r>
            <a:r>
              <a:rPr sz="850" i="1" spc="-2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5A6E60"/>
                </a:solidFill>
                <a:latin typeface="Calibri"/>
                <a:cs typeface="Calibri"/>
              </a:rPr>
              <a:t>Profit.</a:t>
            </a:r>
            <a:r>
              <a:rPr sz="850" i="1" spc="-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5A6E60"/>
                </a:solidFill>
                <a:latin typeface="Calibri"/>
                <a:cs typeface="Calibri"/>
              </a:rPr>
              <a:t>ROI</a:t>
            </a:r>
            <a:r>
              <a:rPr sz="850" i="1" spc="-1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5A6E60"/>
                </a:solidFill>
                <a:latin typeface="Calibri"/>
                <a:cs typeface="Calibri"/>
              </a:rPr>
              <a:t>=</a:t>
            </a:r>
            <a:r>
              <a:rPr sz="850" i="1" spc="-1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5A6E60"/>
                </a:solidFill>
                <a:latin typeface="Calibri"/>
                <a:cs typeface="Calibri"/>
              </a:rPr>
              <a:t>Net</a:t>
            </a:r>
            <a:r>
              <a:rPr sz="850" i="1" spc="-1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5A6E60"/>
                </a:solidFill>
                <a:latin typeface="Calibri"/>
                <a:cs typeface="Calibri"/>
              </a:rPr>
              <a:t>Profit</a:t>
            </a:r>
            <a:r>
              <a:rPr sz="850" i="1" spc="2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5A6E60"/>
                </a:solidFill>
                <a:latin typeface="Calibri"/>
                <a:cs typeface="Calibri"/>
              </a:rPr>
              <a:t>÷</a:t>
            </a:r>
            <a:r>
              <a:rPr sz="850" i="1" spc="-10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5A6E60"/>
                </a:solidFill>
                <a:latin typeface="Calibri"/>
                <a:cs typeface="Calibri"/>
              </a:rPr>
              <a:t>Revenue</a:t>
            </a:r>
            <a:r>
              <a:rPr sz="850" i="1" spc="-4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5A6E60"/>
                </a:solidFill>
                <a:latin typeface="Calibri"/>
                <a:cs typeface="Calibri"/>
              </a:rPr>
              <a:t>×</a:t>
            </a:r>
            <a:r>
              <a:rPr sz="850" i="1" spc="-5" dirty="0">
                <a:solidFill>
                  <a:srgbClr val="5A6E60"/>
                </a:solidFill>
                <a:latin typeface="Calibri"/>
                <a:cs typeface="Calibri"/>
              </a:rPr>
              <a:t> </a:t>
            </a:r>
            <a:r>
              <a:rPr sz="850" i="1" spc="-25" dirty="0">
                <a:solidFill>
                  <a:srgbClr val="5A6E60"/>
                </a:solidFill>
                <a:latin typeface="Calibri"/>
                <a:cs typeface="Calibri"/>
              </a:rPr>
              <a:t>100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031" y="182879"/>
            <a:ext cx="548640" cy="54863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12105" y="-39301"/>
            <a:ext cx="7429499" cy="11089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STRATEGIC</a:t>
            </a:r>
            <a:r>
              <a:rPr spc="-55" dirty="0"/>
              <a:t> </a:t>
            </a:r>
            <a:r>
              <a:rPr spc="-20" dirty="0"/>
              <a:t>RECOMMENDATIONS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59409" y="1136650"/>
            <a:ext cx="8425180" cy="1036955"/>
            <a:chOff x="359409" y="1136650"/>
            <a:chExt cx="8425180" cy="1036955"/>
          </a:xfrm>
        </p:grpSpPr>
        <p:sp>
          <p:nvSpPr>
            <p:cNvPr id="5" name="object 5"/>
            <p:cNvSpPr/>
            <p:nvPr/>
          </p:nvSpPr>
          <p:spPr>
            <a:xfrm>
              <a:off x="429767" y="1143000"/>
              <a:ext cx="8348980" cy="1024255"/>
            </a:xfrm>
            <a:custGeom>
              <a:avLst/>
              <a:gdLst/>
              <a:ahLst/>
              <a:cxnLst/>
              <a:rect l="l" t="t" r="r" b="b"/>
              <a:pathLst>
                <a:path w="8348980" h="1024255">
                  <a:moveTo>
                    <a:pt x="0" y="1024127"/>
                  </a:moveTo>
                  <a:lnTo>
                    <a:pt x="8348471" y="1024127"/>
                  </a:lnTo>
                  <a:lnTo>
                    <a:pt x="8348471" y="0"/>
                  </a:lnTo>
                  <a:lnTo>
                    <a:pt x="0" y="0"/>
                  </a:lnTo>
                  <a:lnTo>
                    <a:pt x="0" y="1024127"/>
                  </a:lnTo>
                  <a:close/>
                </a:path>
              </a:pathLst>
            </a:custGeom>
            <a:solidFill>
              <a:srgbClr val="F1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5759" y="1143000"/>
              <a:ext cx="8412480" cy="1024255"/>
            </a:xfrm>
            <a:custGeom>
              <a:avLst/>
              <a:gdLst/>
              <a:ahLst/>
              <a:cxnLst/>
              <a:rect l="l" t="t" r="r" b="b"/>
              <a:pathLst>
                <a:path w="8412480" h="1024255">
                  <a:moveTo>
                    <a:pt x="0" y="1024127"/>
                  </a:moveTo>
                  <a:lnTo>
                    <a:pt x="8412480" y="1024127"/>
                  </a:lnTo>
                  <a:lnTo>
                    <a:pt x="8412480" y="0"/>
                  </a:lnTo>
                  <a:lnTo>
                    <a:pt x="0" y="0"/>
                  </a:lnTo>
                  <a:lnTo>
                    <a:pt x="0" y="1024127"/>
                  </a:lnTo>
                  <a:close/>
                </a:path>
              </a:pathLst>
            </a:custGeom>
            <a:ln w="12700">
              <a:solidFill>
                <a:srgbClr val="E6F2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5759" y="1143000"/>
              <a:ext cx="64135" cy="1024255"/>
            </a:xfrm>
            <a:custGeom>
              <a:avLst/>
              <a:gdLst/>
              <a:ahLst/>
              <a:cxnLst/>
              <a:rect l="l" t="t" r="r" b="b"/>
              <a:pathLst>
                <a:path w="64134" h="1024255">
                  <a:moveTo>
                    <a:pt x="64008" y="0"/>
                  </a:moveTo>
                  <a:lnTo>
                    <a:pt x="0" y="0"/>
                  </a:lnTo>
                  <a:lnTo>
                    <a:pt x="0" y="1024127"/>
                  </a:lnTo>
                  <a:lnTo>
                    <a:pt x="64008" y="1024127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2D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5759" y="1143000"/>
              <a:ext cx="64135" cy="1024255"/>
            </a:xfrm>
            <a:custGeom>
              <a:avLst/>
              <a:gdLst/>
              <a:ahLst/>
              <a:cxnLst/>
              <a:rect l="l" t="t" r="r" b="b"/>
              <a:pathLst>
                <a:path w="64134" h="1024255">
                  <a:moveTo>
                    <a:pt x="0" y="1024127"/>
                  </a:moveTo>
                  <a:lnTo>
                    <a:pt x="64008" y="1024127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1024127"/>
                  </a:lnTo>
                  <a:close/>
                </a:path>
              </a:pathLst>
            </a:custGeom>
            <a:ln w="12700">
              <a:solidFill>
                <a:srgbClr val="2D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2919" y="1362456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5">
                  <a:moveTo>
                    <a:pt x="283464" y="0"/>
                  </a:moveTo>
                  <a:lnTo>
                    <a:pt x="237484" y="3709"/>
                  </a:lnTo>
                  <a:lnTo>
                    <a:pt x="193867" y="14447"/>
                  </a:lnTo>
                  <a:lnTo>
                    <a:pt x="153195" y="31632"/>
                  </a:lnTo>
                  <a:lnTo>
                    <a:pt x="116053" y="54681"/>
                  </a:lnTo>
                  <a:lnTo>
                    <a:pt x="83024" y="83010"/>
                  </a:lnTo>
                  <a:lnTo>
                    <a:pt x="54692" y="116037"/>
                  </a:lnTo>
                  <a:lnTo>
                    <a:pt x="31639" y="153179"/>
                  </a:lnTo>
                  <a:lnTo>
                    <a:pt x="14451" y="193852"/>
                  </a:lnTo>
                  <a:lnTo>
                    <a:pt x="3710" y="237475"/>
                  </a:lnTo>
                  <a:lnTo>
                    <a:pt x="0" y="283464"/>
                  </a:lnTo>
                  <a:lnTo>
                    <a:pt x="3710" y="329452"/>
                  </a:lnTo>
                  <a:lnTo>
                    <a:pt x="14451" y="373075"/>
                  </a:lnTo>
                  <a:lnTo>
                    <a:pt x="31639" y="413748"/>
                  </a:lnTo>
                  <a:lnTo>
                    <a:pt x="54692" y="450890"/>
                  </a:lnTo>
                  <a:lnTo>
                    <a:pt x="83024" y="483917"/>
                  </a:lnTo>
                  <a:lnTo>
                    <a:pt x="116053" y="512246"/>
                  </a:lnTo>
                  <a:lnTo>
                    <a:pt x="153195" y="535295"/>
                  </a:lnTo>
                  <a:lnTo>
                    <a:pt x="193867" y="552480"/>
                  </a:lnTo>
                  <a:lnTo>
                    <a:pt x="237484" y="563218"/>
                  </a:lnTo>
                  <a:lnTo>
                    <a:pt x="283464" y="566928"/>
                  </a:lnTo>
                  <a:lnTo>
                    <a:pt x="329443" y="563218"/>
                  </a:lnTo>
                  <a:lnTo>
                    <a:pt x="373060" y="552480"/>
                  </a:lnTo>
                  <a:lnTo>
                    <a:pt x="413732" y="535295"/>
                  </a:lnTo>
                  <a:lnTo>
                    <a:pt x="450874" y="512246"/>
                  </a:lnTo>
                  <a:lnTo>
                    <a:pt x="483903" y="483917"/>
                  </a:lnTo>
                  <a:lnTo>
                    <a:pt x="512235" y="450890"/>
                  </a:lnTo>
                  <a:lnTo>
                    <a:pt x="535288" y="413748"/>
                  </a:lnTo>
                  <a:lnTo>
                    <a:pt x="552476" y="373075"/>
                  </a:lnTo>
                  <a:lnTo>
                    <a:pt x="563217" y="329452"/>
                  </a:lnTo>
                  <a:lnTo>
                    <a:pt x="566927" y="283464"/>
                  </a:lnTo>
                  <a:lnTo>
                    <a:pt x="563217" y="237475"/>
                  </a:lnTo>
                  <a:lnTo>
                    <a:pt x="552476" y="193852"/>
                  </a:lnTo>
                  <a:lnTo>
                    <a:pt x="535288" y="153179"/>
                  </a:lnTo>
                  <a:lnTo>
                    <a:pt x="512235" y="116037"/>
                  </a:lnTo>
                  <a:lnTo>
                    <a:pt x="483903" y="83010"/>
                  </a:lnTo>
                  <a:lnTo>
                    <a:pt x="450874" y="54681"/>
                  </a:lnTo>
                  <a:lnTo>
                    <a:pt x="413732" y="31632"/>
                  </a:lnTo>
                  <a:lnTo>
                    <a:pt x="373060" y="14447"/>
                  </a:lnTo>
                  <a:lnTo>
                    <a:pt x="329443" y="3709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2D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2919" y="1362456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5">
                  <a:moveTo>
                    <a:pt x="0" y="283464"/>
                  </a:moveTo>
                  <a:lnTo>
                    <a:pt x="3710" y="237475"/>
                  </a:lnTo>
                  <a:lnTo>
                    <a:pt x="14451" y="193852"/>
                  </a:lnTo>
                  <a:lnTo>
                    <a:pt x="31639" y="153179"/>
                  </a:lnTo>
                  <a:lnTo>
                    <a:pt x="54692" y="116037"/>
                  </a:lnTo>
                  <a:lnTo>
                    <a:pt x="83024" y="83010"/>
                  </a:lnTo>
                  <a:lnTo>
                    <a:pt x="116053" y="54681"/>
                  </a:lnTo>
                  <a:lnTo>
                    <a:pt x="153195" y="31632"/>
                  </a:lnTo>
                  <a:lnTo>
                    <a:pt x="193867" y="14447"/>
                  </a:lnTo>
                  <a:lnTo>
                    <a:pt x="237484" y="3709"/>
                  </a:lnTo>
                  <a:lnTo>
                    <a:pt x="283464" y="0"/>
                  </a:lnTo>
                  <a:lnTo>
                    <a:pt x="329443" y="3709"/>
                  </a:lnTo>
                  <a:lnTo>
                    <a:pt x="373060" y="14447"/>
                  </a:lnTo>
                  <a:lnTo>
                    <a:pt x="413732" y="31632"/>
                  </a:lnTo>
                  <a:lnTo>
                    <a:pt x="450874" y="54681"/>
                  </a:lnTo>
                  <a:lnTo>
                    <a:pt x="483903" y="83010"/>
                  </a:lnTo>
                  <a:lnTo>
                    <a:pt x="512235" y="116037"/>
                  </a:lnTo>
                  <a:lnTo>
                    <a:pt x="535288" y="153179"/>
                  </a:lnTo>
                  <a:lnTo>
                    <a:pt x="552476" y="193852"/>
                  </a:lnTo>
                  <a:lnTo>
                    <a:pt x="563217" y="237475"/>
                  </a:lnTo>
                  <a:lnTo>
                    <a:pt x="566927" y="283464"/>
                  </a:lnTo>
                  <a:lnTo>
                    <a:pt x="563217" y="329452"/>
                  </a:lnTo>
                  <a:lnTo>
                    <a:pt x="552476" y="373075"/>
                  </a:lnTo>
                  <a:lnTo>
                    <a:pt x="535288" y="413748"/>
                  </a:lnTo>
                  <a:lnTo>
                    <a:pt x="512235" y="450890"/>
                  </a:lnTo>
                  <a:lnTo>
                    <a:pt x="483903" y="483917"/>
                  </a:lnTo>
                  <a:lnTo>
                    <a:pt x="450874" y="512246"/>
                  </a:lnTo>
                  <a:lnTo>
                    <a:pt x="413732" y="535295"/>
                  </a:lnTo>
                  <a:lnTo>
                    <a:pt x="373060" y="552480"/>
                  </a:lnTo>
                  <a:lnTo>
                    <a:pt x="329443" y="563218"/>
                  </a:lnTo>
                  <a:lnTo>
                    <a:pt x="283464" y="566928"/>
                  </a:lnTo>
                  <a:lnTo>
                    <a:pt x="237484" y="563218"/>
                  </a:lnTo>
                  <a:lnTo>
                    <a:pt x="193867" y="552480"/>
                  </a:lnTo>
                  <a:lnTo>
                    <a:pt x="153195" y="535295"/>
                  </a:lnTo>
                  <a:lnTo>
                    <a:pt x="116053" y="512246"/>
                  </a:lnTo>
                  <a:lnTo>
                    <a:pt x="83024" y="483917"/>
                  </a:lnTo>
                  <a:lnTo>
                    <a:pt x="54692" y="450890"/>
                  </a:lnTo>
                  <a:lnTo>
                    <a:pt x="31639" y="413748"/>
                  </a:lnTo>
                  <a:lnTo>
                    <a:pt x="14451" y="373075"/>
                  </a:lnTo>
                  <a:lnTo>
                    <a:pt x="3710" y="329452"/>
                  </a:lnTo>
                  <a:lnTo>
                    <a:pt x="0" y="283464"/>
                  </a:lnTo>
                  <a:close/>
                </a:path>
              </a:pathLst>
            </a:custGeom>
            <a:ln w="12700">
              <a:solidFill>
                <a:srgbClr val="2D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96772" y="1259789"/>
            <a:ext cx="1870075" cy="4768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2125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2D6A4F"/>
                </a:solidFill>
                <a:latin typeface="Calibri"/>
                <a:cs typeface="Calibri"/>
              </a:rPr>
              <a:t>Replicate</a:t>
            </a:r>
            <a:r>
              <a:rPr sz="1500" b="1" spc="-20" dirty="0">
                <a:solidFill>
                  <a:srgbClr val="2D6A4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D6A4F"/>
                </a:solidFill>
                <a:latin typeface="Calibri"/>
                <a:cs typeface="Calibri"/>
              </a:rPr>
              <a:t>Success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89024" y="1649095"/>
            <a:ext cx="723709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Deploy</a:t>
            </a:r>
            <a:r>
              <a:rPr sz="1100" spc="-3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4332"/>
                </a:solidFill>
                <a:latin typeface="Calibri"/>
                <a:cs typeface="Calibri"/>
              </a:rPr>
              <a:t>Bangalore's</a:t>
            </a:r>
            <a:r>
              <a:rPr sz="1100" spc="-4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Electronics</a:t>
            </a:r>
            <a:r>
              <a:rPr sz="1100" spc="-4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strategy</a:t>
            </a:r>
            <a:r>
              <a:rPr sz="1100" spc="-3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(559</a:t>
            </a:r>
            <a:r>
              <a:rPr sz="1100" spc="-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units</a:t>
            </a:r>
            <a:r>
              <a:rPr sz="1100" spc="-2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/</a:t>
            </a:r>
            <a:r>
              <a:rPr sz="1100" spc="-1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32.3%</a:t>
            </a:r>
            <a:r>
              <a:rPr sz="1100" spc="-1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ROI)</a:t>
            </a:r>
            <a:r>
              <a:rPr sz="1100" spc="-1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in</a:t>
            </a:r>
            <a:r>
              <a:rPr sz="1100" spc="-1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Pune</a:t>
            </a:r>
            <a:r>
              <a:rPr sz="1100" spc="-2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recover</a:t>
            </a:r>
            <a:r>
              <a:rPr sz="1100" spc="-1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78-unit</a:t>
            </a:r>
            <a:r>
              <a:rPr sz="1100" spc="-1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deficit.</a:t>
            </a:r>
            <a:r>
              <a:rPr sz="1100" spc="-3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Replicate</a:t>
            </a:r>
            <a:r>
              <a:rPr sz="1100" spc="-2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shelf</a:t>
            </a:r>
            <a:r>
              <a:rPr sz="1100" spc="-2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4332"/>
                </a:solidFill>
                <a:latin typeface="Calibri"/>
                <a:cs typeface="Calibri"/>
              </a:rPr>
              <a:t>planogram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and</a:t>
            </a:r>
            <a:r>
              <a:rPr sz="1100" spc="-4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staffing</a:t>
            </a:r>
            <a:r>
              <a:rPr sz="1100" spc="-4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4332"/>
                </a:solidFill>
                <a:latin typeface="Calibri"/>
                <a:cs typeface="Calibri"/>
              </a:rPr>
              <a:t>model.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9409" y="2307082"/>
            <a:ext cx="8425180" cy="1036955"/>
            <a:chOff x="359409" y="2307082"/>
            <a:chExt cx="8425180" cy="1036955"/>
          </a:xfrm>
        </p:grpSpPr>
        <p:sp>
          <p:nvSpPr>
            <p:cNvPr id="14" name="object 14"/>
            <p:cNvSpPr/>
            <p:nvPr/>
          </p:nvSpPr>
          <p:spPr>
            <a:xfrm>
              <a:off x="429767" y="2313432"/>
              <a:ext cx="8348980" cy="1024255"/>
            </a:xfrm>
            <a:custGeom>
              <a:avLst/>
              <a:gdLst/>
              <a:ahLst/>
              <a:cxnLst/>
              <a:rect l="l" t="t" r="r" b="b"/>
              <a:pathLst>
                <a:path w="8348980" h="1024254">
                  <a:moveTo>
                    <a:pt x="0" y="1024127"/>
                  </a:moveTo>
                  <a:lnTo>
                    <a:pt x="8348471" y="1024127"/>
                  </a:lnTo>
                  <a:lnTo>
                    <a:pt x="8348471" y="0"/>
                  </a:lnTo>
                  <a:lnTo>
                    <a:pt x="0" y="0"/>
                  </a:lnTo>
                  <a:lnTo>
                    <a:pt x="0" y="1024127"/>
                  </a:lnTo>
                  <a:close/>
                </a:path>
              </a:pathLst>
            </a:custGeom>
            <a:solidFill>
              <a:srgbClr val="F1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5759" y="2313432"/>
              <a:ext cx="8412480" cy="1024255"/>
            </a:xfrm>
            <a:custGeom>
              <a:avLst/>
              <a:gdLst/>
              <a:ahLst/>
              <a:cxnLst/>
              <a:rect l="l" t="t" r="r" b="b"/>
              <a:pathLst>
                <a:path w="8412480" h="1024254">
                  <a:moveTo>
                    <a:pt x="0" y="1024127"/>
                  </a:moveTo>
                  <a:lnTo>
                    <a:pt x="8412480" y="1024127"/>
                  </a:lnTo>
                  <a:lnTo>
                    <a:pt x="8412480" y="0"/>
                  </a:lnTo>
                  <a:lnTo>
                    <a:pt x="0" y="0"/>
                  </a:lnTo>
                  <a:lnTo>
                    <a:pt x="0" y="1024127"/>
                  </a:lnTo>
                  <a:close/>
                </a:path>
              </a:pathLst>
            </a:custGeom>
            <a:ln w="12700">
              <a:solidFill>
                <a:srgbClr val="E6F2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5759" y="2313432"/>
              <a:ext cx="64135" cy="1024255"/>
            </a:xfrm>
            <a:custGeom>
              <a:avLst/>
              <a:gdLst/>
              <a:ahLst/>
              <a:cxnLst/>
              <a:rect l="l" t="t" r="r" b="b"/>
              <a:pathLst>
                <a:path w="64134" h="1024254">
                  <a:moveTo>
                    <a:pt x="64008" y="0"/>
                  </a:moveTo>
                  <a:lnTo>
                    <a:pt x="0" y="0"/>
                  </a:lnTo>
                  <a:lnTo>
                    <a:pt x="0" y="1024127"/>
                  </a:lnTo>
                  <a:lnTo>
                    <a:pt x="64008" y="1024127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4091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5759" y="2313432"/>
              <a:ext cx="64135" cy="1024255"/>
            </a:xfrm>
            <a:custGeom>
              <a:avLst/>
              <a:gdLst/>
              <a:ahLst/>
              <a:cxnLst/>
              <a:rect l="l" t="t" r="r" b="b"/>
              <a:pathLst>
                <a:path w="64134" h="1024254">
                  <a:moveTo>
                    <a:pt x="0" y="1024127"/>
                  </a:moveTo>
                  <a:lnTo>
                    <a:pt x="64008" y="1024127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1024127"/>
                  </a:lnTo>
                  <a:close/>
                </a:path>
              </a:pathLst>
            </a:custGeom>
            <a:ln w="12700">
              <a:solidFill>
                <a:srgbClr val="4091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2919" y="2532888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5">
                  <a:moveTo>
                    <a:pt x="283464" y="0"/>
                  </a:moveTo>
                  <a:lnTo>
                    <a:pt x="237484" y="3709"/>
                  </a:lnTo>
                  <a:lnTo>
                    <a:pt x="193867" y="14447"/>
                  </a:lnTo>
                  <a:lnTo>
                    <a:pt x="153195" y="31632"/>
                  </a:lnTo>
                  <a:lnTo>
                    <a:pt x="116053" y="54681"/>
                  </a:lnTo>
                  <a:lnTo>
                    <a:pt x="83024" y="83010"/>
                  </a:lnTo>
                  <a:lnTo>
                    <a:pt x="54692" y="116037"/>
                  </a:lnTo>
                  <a:lnTo>
                    <a:pt x="31639" y="153179"/>
                  </a:lnTo>
                  <a:lnTo>
                    <a:pt x="14451" y="193852"/>
                  </a:lnTo>
                  <a:lnTo>
                    <a:pt x="3710" y="237475"/>
                  </a:lnTo>
                  <a:lnTo>
                    <a:pt x="0" y="283463"/>
                  </a:lnTo>
                  <a:lnTo>
                    <a:pt x="3710" y="329452"/>
                  </a:lnTo>
                  <a:lnTo>
                    <a:pt x="14451" y="373075"/>
                  </a:lnTo>
                  <a:lnTo>
                    <a:pt x="31639" y="413748"/>
                  </a:lnTo>
                  <a:lnTo>
                    <a:pt x="54692" y="450890"/>
                  </a:lnTo>
                  <a:lnTo>
                    <a:pt x="83024" y="483917"/>
                  </a:lnTo>
                  <a:lnTo>
                    <a:pt x="116053" y="512246"/>
                  </a:lnTo>
                  <a:lnTo>
                    <a:pt x="153195" y="535295"/>
                  </a:lnTo>
                  <a:lnTo>
                    <a:pt x="193867" y="552480"/>
                  </a:lnTo>
                  <a:lnTo>
                    <a:pt x="237484" y="563218"/>
                  </a:lnTo>
                  <a:lnTo>
                    <a:pt x="283464" y="566928"/>
                  </a:lnTo>
                  <a:lnTo>
                    <a:pt x="329443" y="563218"/>
                  </a:lnTo>
                  <a:lnTo>
                    <a:pt x="373060" y="552480"/>
                  </a:lnTo>
                  <a:lnTo>
                    <a:pt x="413732" y="535295"/>
                  </a:lnTo>
                  <a:lnTo>
                    <a:pt x="450874" y="512246"/>
                  </a:lnTo>
                  <a:lnTo>
                    <a:pt x="483903" y="483917"/>
                  </a:lnTo>
                  <a:lnTo>
                    <a:pt x="512235" y="450890"/>
                  </a:lnTo>
                  <a:lnTo>
                    <a:pt x="535288" y="413748"/>
                  </a:lnTo>
                  <a:lnTo>
                    <a:pt x="552476" y="373075"/>
                  </a:lnTo>
                  <a:lnTo>
                    <a:pt x="563217" y="329452"/>
                  </a:lnTo>
                  <a:lnTo>
                    <a:pt x="566927" y="283463"/>
                  </a:lnTo>
                  <a:lnTo>
                    <a:pt x="563217" y="237475"/>
                  </a:lnTo>
                  <a:lnTo>
                    <a:pt x="552476" y="193852"/>
                  </a:lnTo>
                  <a:lnTo>
                    <a:pt x="535288" y="153179"/>
                  </a:lnTo>
                  <a:lnTo>
                    <a:pt x="512235" y="116037"/>
                  </a:lnTo>
                  <a:lnTo>
                    <a:pt x="483903" y="83010"/>
                  </a:lnTo>
                  <a:lnTo>
                    <a:pt x="450874" y="54681"/>
                  </a:lnTo>
                  <a:lnTo>
                    <a:pt x="413732" y="31632"/>
                  </a:lnTo>
                  <a:lnTo>
                    <a:pt x="373060" y="14447"/>
                  </a:lnTo>
                  <a:lnTo>
                    <a:pt x="329443" y="3709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4091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02919" y="2532888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5">
                  <a:moveTo>
                    <a:pt x="0" y="283463"/>
                  </a:moveTo>
                  <a:lnTo>
                    <a:pt x="3710" y="237475"/>
                  </a:lnTo>
                  <a:lnTo>
                    <a:pt x="14451" y="193852"/>
                  </a:lnTo>
                  <a:lnTo>
                    <a:pt x="31639" y="153179"/>
                  </a:lnTo>
                  <a:lnTo>
                    <a:pt x="54692" y="116037"/>
                  </a:lnTo>
                  <a:lnTo>
                    <a:pt x="83024" y="83010"/>
                  </a:lnTo>
                  <a:lnTo>
                    <a:pt x="116053" y="54681"/>
                  </a:lnTo>
                  <a:lnTo>
                    <a:pt x="153195" y="31632"/>
                  </a:lnTo>
                  <a:lnTo>
                    <a:pt x="193867" y="14447"/>
                  </a:lnTo>
                  <a:lnTo>
                    <a:pt x="237484" y="3709"/>
                  </a:lnTo>
                  <a:lnTo>
                    <a:pt x="283464" y="0"/>
                  </a:lnTo>
                  <a:lnTo>
                    <a:pt x="329443" y="3709"/>
                  </a:lnTo>
                  <a:lnTo>
                    <a:pt x="373060" y="14447"/>
                  </a:lnTo>
                  <a:lnTo>
                    <a:pt x="413732" y="31632"/>
                  </a:lnTo>
                  <a:lnTo>
                    <a:pt x="450874" y="54681"/>
                  </a:lnTo>
                  <a:lnTo>
                    <a:pt x="483903" y="83010"/>
                  </a:lnTo>
                  <a:lnTo>
                    <a:pt x="512235" y="116037"/>
                  </a:lnTo>
                  <a:lnTo>
                    <a:pt x="535288" y="153179"/>
                  </a:lnTo>
                  <a:lnTo>
                    <a:pt x="552476" y="193852"/>
                  </a:lnTo>
                  <a:lnTo>
                    <a:pt x="563217" y="237475"/>
                  </a:lnTo>
                  <a:lnTo>
                    <a:pt x="566927" y="283463"/>
                  </a:lnTo>
                  <a:lnTo>
                    <a:pt x="563217" y="329452"/>
                  </a:lnTo>
                  <a:lnTo>
                    <a:pt x="552476" y="373075"/>
                  </a:lnTo>
                  <a:lnTo>
                    <a:pt x="535288" y="413748"/>
                  </a:lnTo>
                  <a:lnTo>
                    <a:pt x="512235" y="450890"/>
                  </a:lnTo>
                  <a:lnTo>
                    <a:pt x="483903" y="483917"/>
                  </a:lnTo>
                  <a:lnTo>
                    <a:pt x="450874" y="512246"/>
                  </a:lnTo>
                  <a:lnTo>
                    <a:pt x="413732" y="535295"/>
                  </a:lnTo>
                  <a:lnTo>
                    <a:pt x="373060" y="552480"/>
                  </a:lnTo>
                  <a:lnTo>
                    <a:pt x="329443" y="563218"/>
                  </a:lnTo>
                  <a:lnTo>
                    <a:pt x="283464" y="566928"/>
                  </a:lnTo>
                  <a:lnTo>
                    <a:pt x="237484" y="563218"/>
                  </a:lnTo>
                  <a:lnTo>
                    <a:pt x="193867" y="552480"/>
                  </a:lnTo>
                  <a:lnTo>
                    <a:pt x="153195" y="535295"/>
                  </a:lnTo>
                  <a:lnTo>
                    <a:pt x="116053" y="512246"/>
                  </a:lnTo>
                  <a:lnTo>
                    <a:pt x="83024" y="483917"/>
                  </a:lnTo>
                  <a:lnTo>
                    <a:pt x="54692" y="450890"/>
                  </a:lnTo>
                  <a:lnTo>
                    <a:pt x="31639" y="413748"/>
                  </a:lnTo>
                  <a:lnTo>
                    <a:pt x="14451" y="373075"/>
                  </a:lnTo>
                  <a:lnTo>
                    <a:pt x="3710" y="329452"/>
                  </a:lnTo>
                  <a:lnTo>
                    <a:pt x="0" y="283463"/>
                  </a:lnTo>
                  <a:close/>
                </a:path>
              </a:pathLst>
            </a:custGeom>
            <a:ln w="12700">
              <a:solidFill>
                <a:srgbClr val="4091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96772" y="2430602"/>
            <a:ext cx="2138045" cy="476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2125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40916C"/>
                </a:solidFill>
                <a:latin typeface="Calibri"/>
                <a:cs typeface="Calibri"/>
              </a:rPr>
              <a:t>Inventory</a:t>
            </a:r>
            <a:r>
              <a:rPr sz="1500" b="1" spc="-2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40916C"/>
                </a:solidFill>
                <a:latin typeface="Calibri"/>
                <a:cs typeface="Calibri"/>
              </a:rPr>
              <a:t>Correction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89024" y="2819781"/>
            <a:ext cx="712089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Reduce</a:t>
            </a:r>
            <a:r>
              <a:rPr sz="1100" spc="-2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Clothing</a:t>
            </a:r>
            <a:r>
              <a:rPr sz="1100" spc="-4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shelf</a:t>
            </a:r>
            <a:r>
              <a:rPr sz="1100" spc="-2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space</a:t>
            </a:r>
            <a:r>
              <a:rPr sz="1100" spc="-2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in</a:t>
            </a:r>
            <a:r>
              <a:rPr sz="1100" spc="-1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Delhi</a:t>
            </a:r>
            <a:r>
              <a:rPr sz="1100" spc="-3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(469</a:t>
            </a:r>
            <a:r>
              <a:rPr sz="1100" spc="-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units,</a:t>
            </a:r>
            <a:r>
              <a:rPr sz="1100" spc="-3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29%</a:t>
            </a:r>
            <a:r>
              <a:rPr sz="1100" spc="-1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ROI)</a:t>
            </a:r>
            <a:r>
              <a:rPr sz="1100" spc="-2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and</a:t>
            </a:r>
            <a:r>
              <a:rPr sz="1100" spc="-1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pivot</a:t>
            </a:r>
            <a:r>
              <a:rPr sz="1100" spc="-3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toward</a:t>
            </a:r>
            <a:r>
              <a:rPr sz="1100" spc="-3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Personal</a:t>
            </a:r>
            <a:r>
              <a:rPr sz="1100" spc="-5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Care</a:t>
            </a:r>
            <a:r>
              <a:rPr sz="1100" spc="-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which</a:t>
            </a:r>
            <a:r>
              <a:rPr sz="1100" spc="-2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delivers</a:t>
            </a:r>
            <a:r>
              <a:rPr sz="1100" spc="-2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consistent</a:t>
            </a:r>
            <a:r>
              <a:rPr sz="1100" spc="-5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28.7%</a:t>
            </a:r>
            <a:r>
              <a:rPr sz="1100" spc="-2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B4332"/>
                </a:solidFill>
                <a:latin typeface="Calibri"/>
                <a:cs typeface="Calibri"/>
              </a:rPr>
              <a:t>ROI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across</a:t>
            </a:r>
            <a:r>
              <a:rPr sz="1100" spc="-4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all</a:t>
            </a:r>
            <a:r>
              <a:rPr sz="1100" spc="-1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6</a:t>
            </a:r>
            <a:r>
              <a:rPr sz="1100" spc="-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4332"/>
                </a:solidFill>
                <a:latin typeface="Calibri"/>
                <a:cs typeface="Calibri"/>
              </a:rPr>
              <a:t>cities.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59409" y="3477514"/>
            <a:ext cx="8425180" cy="1036955"/>
            <a:chOff x="359409" y="3477514"/>
            <a:chExt cx="8425180" cy="1036955"/>
          </a:xfrm>
        </p:grpSpPr>
        <p:sp>
          <p:nvSpPr>
            <p:cNvPr id="23" name="object 23"/>
            <p:cNvSpPr/>
            <p:nvPr/>
          </p:nvSpPr>
          <p:spPr>
            <a:xfrm>
              <a:off x="429767" y="3483864"/>
              <a:ext cx="8348980" cy="1024255"/>
            </a:xfrm>
            <a:custGeom>
              <a:avLst/>
              <a:gdLst/>
              <a:ahLst/>
              <a:cxnLst/>
              <a:rect l="l" t="t" r="r" b="b"/>
              <a:pathLst>
                <a:path w="8348980" h="1024254">
                  <a:moveTo>
                    <a:pt x="0" y="1024128"/>
                  </a:moveTo>
                  <a:lnTo>
                    <a:pt x="8348471" y="1024128"/>
                  </a:lnTo>
                  <a:lnTo>
                    <a:pt x="8348471" y="0"/>
                  </a:lnTo>
                  <a:lnTo>
                    <a:pt x="0" y="0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1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5759" y="3483864"/>
              <a:ext cx="8412480" cy="1024255"/>
            </a:xfrm>
            <a:custGeom>
              <a:avLst/>
              <a:gdLst/>
              <a:ahLst/>
              <a:cxnLst/>
              <a:rect l="l" t="t" r="r" b="b"/>
              <a:pathLst>
                <a:path w="8412480" h="1024254">
                  <a:moveTo>
                    <a:pt x="0" y="1024128"/>
                  </a:moveTo>
                  <a:lnTo>
                    <a:pt x="8412480" y="1024128"/>
                  </a:lnTo>
                  <a:lnTo>
                    <a:pt x="8412480" y="0"/>
                  </a:lnTo>
                  <a:lnTo>
                    <a:pt x="0" y="0"/>
                  </a:lnTo>
                  <a:lnTo>
                    <a:pt x="0" y="1024128"/>
                  </a:lnTo>
                  <a:close/>
                </a:path>
              </a:pathLst>
            </a:custGeom>
            <a:ln w="12700">
              <a:solidFill>
                <a:srgbClr val="E6F2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5759" y="3483864"/>
              <a:ext cx="64135" cy="1024255"/>
            </a:xfrm>
            <a:custGeom>
              <a:avLst/>
              <a:gdLst/>
              <a:ahLst/>
              <a:cxnLst/>
              <a:rect l="l" t="t" r="r" b="b"/>
              <a:pathLst>
                <a:path w="64134" h="1024254">
                  <a:moveTo>
                    <a:pt x="64008" y="0"/>
                  </a:moveTo>
                  <a:lnTo>
                    <a:pt x="0" y="0"/>
                  </a:lnTo>
                  <a:lnTo>
                    <a:pt x="0" y="1024128"/>
                  </a:lnTo>
                  <a:lnTo>
                    <a:pt x="64008" y="1024128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2D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5759" y="3483864"/>
              <a:ext cx="64135" cy="1024255"/>
            </a:xfrm>
            <a:custGeom>
              <a:avLst/>
              <a:gdLst/>
              <a:ahLst/>
              <a:cxnLst/>
              <a:rect l="l" t="t" r="r" b="b"/>
              <a:pathLst>
                <a:path w="64134" h="1024254">
                  <a:moveTo>
                    <a:pt x="0" y="1024128"/>
                  </a:moveTo>
                  <a:lnTo>
                    <a:pt x="64008" y="1024128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1024128"/>
                  </a:lnTo>
                  <a:close/>
                </a:path>
              </a:pathLst>
            </a:custGeom>
            <a:ln w="12700">
              <a:solidFill>
                <a:srgbClr val="2D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02919" y="3703320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4">
                  <a:moveTo>
                    <a:pt x="283464" y="0"/>
                  </a:moveTo>
                  <a:lnTo>
                    <a:pt x="237484" y="3709"/>
                  </a:lnTo>
                  <a:lnTo>
                    <a:pt x="193867" y="14447"/>
                  </a:lnTo>
                  <a:lnTo>
                    <a:pt x="153195" y="31632"/>
                  </a:lnTo>
                  <a:lnTo>
                    <a:pt x="116053" y="54681"/>
                  </a:lnTo>
                  <a:lnTo>
                    <a:pt x="83024" y="83010"/>
                  </a:lnTo>
                  <a:lnTo>
                    <a:pt x="54692" y="116037"/>
                  </a:lnTo>
                  <a:lnTo>
                    <a:pt x="31639" y="153179"/>
                  </a:lnTo>
                  <a:lnTo>
                    <a:pt x="14451" y="193852"/>
                  </a:lnTo>
                  <a:lnTo>
                    <a:pt x="3710" y="237475"/>
                  </a:lnTo>
                  <a:lnTo>
                    <a:pt x="0" y="283463"/>
                  </a:lnTo>
                  <a:lnTo>
                    <a:pt x="3710" y="329443"/>
                  </a:lnTo>
                  <a:lnTo>
                    <a:pt x="14451" y="373060"/>
                  </a:lnTo>
                  <a:lnTo>
                    <a:pt x="31639" y="413732"/>
                  </a:lnTo>
                  <a:lnTo>
                    <a:pt x="54692" y="450874"/>
                  </a:lnTo>
                  <a:lnTo>
                    <a:pt x="83024" y="483903"/>
                  </a:lnTo>
                  <a:lnTo>
                    <a:pt x="116053" y="512235"/>
                  </a:lnTo>
                  <a:lnTo>
                    <a:pt x="153195" y="535288"/>
                  </a:lnTo>
                  <a:lnTo>
                    <a:pt x="193867" y="552476"/>
                  </a:lnTo>
                  <a:lnTo>
                    <a:pt x="237484" y="563217"/>
                  </a:lnTo>
                  <a:lnTo>
                    <a:pt x="283464" y="566927"/>
                  </a:lnTo>
                  <a:lnTo>
                    <a:pt x="329443" y="563217"/>
                  </a:lnTo>
                  <a:lnTo>
                    <a:pt x="373060" y="552476"/>
                  </a:lnTo>
                  <a:lnTo>
                    <a:pt x="413732" y="535288"/>
                  </a:lnTo>
                  <a:lnTo>
                    <a:pt x="450874" y="512235"/>
                  </a:lnTo>
                  <a:lnTo>
                    <a:pt x="483903" y="483903"/>
                  </a:lnTo>
                  <a:lnTo>
                    <a:pt x="512235" y="450874"/>
                  </a:lnTo>
                  <a:lnTo>
                    <a:pt x="535288" y="413732"/>
                  </a:lnTo>
                  <a:lnTo>
                    <a:pt x="552476" y="373060"/>
                  </a:lnTo>
                  <a:lnTo>
                    <a:pt x="563217" y="329443"/>
                  </a:lnTo>
                  <a:lnTo>
                    <a:pt x="566927" y="283463"/>
                  </a:lnTo>
                  <a:lnTo>
                    <a:pt x="563217" y="237475"/>
                  </a:lnTo>
                  <a:lnTo>
                    <a:pt x="552476" y="193852"/>
                  </a:lnTo>
                  <a:lnTo>
                    <a:pt x="535288" y="153179"/>
                  </a:lnTo>
                  <a:lnTo>
                    <a:pt x="512235" y="116037"/>
                  </a:lnTo>
                  <a:lnTo>
                    <a:pt x="483903" y="83010"/>
                  </a:lnTo>
                  <a:lnTo>
                    <a:pt x="450874" y="54681"/>
                  </a:lnTo>
                  <a:lnTo>
                    <a:pt x="413732" y="31632"/>
                  </a:lnTo>
                  <a:lnTo>
                    <a:pt x="373060" y="14447"/>
                  </a:lnTo>
                  <a:lnTo>
                    <a:pt x="329443" y="3709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2D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02919" y="3703320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4">
                  <a:moveTo>
                    <a:pt x="0" y="283463"/>
                  </a:moveTo>
                  <a:lnTo>
                    <a:pt x="3710" y="237475"/>
                  </a:lnTo>
                  <a:lnTo>
                    <a:pt x="14451" y="193852"/>
                  </a:lnTo>
                  <a:lnTo>
                    <a:pt x="31639" y="153179"/>
                  </a:lnTo>
                  <a:lnTo>
                    <a:pt x="54692" y="116037"/>
                  </a:lnTo>
                  <a:lnTo>
                    <a:pt x="83024" y="83010"/>
                  </a:lnTo>
                  <a:lnTo>
                    <a:pt x="116053" y="54681"/>
                  </a:lnTo>
                  <a:lnTo>
                    <a:pt x="153195" y="31632"/>
                  </a:lnTo>
                  <a:lnTo>
                    <a:pt x="193867" y="14447"/>
                  </a:lnTo>
                  <a:lnTo>
                    <a:pt x="237484" y="3709"/>
                  </a:lnTo>
                  <a:lnTo>
                    <a:pt x="283464" y="0"/>
                  </a:lnTo>
                  <a:lnTo>
                    <a:pt x="329443" y="3709"/>
                  </a:lnTo>
                  <a:lnTo>
                    <a:pt x="373060" y="14447"/>
                  </a:lnTo>
                  <a:lnTo>
                    <a:pt x="413732" y="31632"/>
                  </a:lnTo>
                  <a:lnTo>
                    <a:pt x="450874" y="54681"/>
                  </a:lnTo>
                  <a:lnTo>
                    <a:pt x="483903" y="83010"/>
                  </a:lnTo>
                  <a:lnTo>
                    <a:pt x="512235" y="116037"/>
                  </a:lnTo>
                  <a:lnTo>
                    <a:pt x="535288" y="153179"/>
                  </a:lnTo>
                  <a:lnTo>
                    <a:pt x="552476" y="193852"/>
                  </a:lnTo>
                  <a:lnTo>
                    <a:pt x="563217" y="237475"/>
                  </a:lnTo>
                  <a:lnTo>
                    <a:pt x="566927" y="283463"/>
                  </a:lnTo>
                  <a:lnTo>
                    <a:pt x="563217" y="329443"/>
                  </a:lnTo>
                  <a:lnTo>
                    <a:pt x="552476" y="373060"/>
                  </a:lnTo>
                  <a:lnTo>
                    <a:pt x="535288" y="413732"/>
                  </a:lnTo>
                  <a:lnTo>
                    <a:pt x="512235" y="450874"/>
                  </a:lnTo>
                  <a:lnTo>
                    <a:pt x="483903" y="483903"/>
                  </a:lnTo>
                  <a:lnTo>
                    <a:pt x="450874" y="512235"/>
                  </a:lnTo>
                  <a:lnTo>
                    <a:pt x="413732" y="535288"/>
                  </a:lnTo>
                  <a:lnTo>
                    <a:pt x="373060" y="552476"/>
                  </a:lnTo>
                  <a:lnTo>
                    <a:pt x="329443" y="563217"/>
                  </a:lnTo>
                  <a:lnTo>
                    <a:pt x="283464" y="566927"/>
                  </a:lnTo>
                  <a:lnTo>
                    <a:pt x="237484" y="563217"/>
                  </a:lnTo>
                  <a:lnTo>
                    <a:pt x="193867" y="552476"/>
                  </a:lnTo>
                  <a:lnTo>
                    <a:pt x="153195" y="535288"/>
                  </a:lnTo>
                  <a:lnTo>
                    <a:pt x="116053" y="512235"/>
                  </a:lnTo>
                  <a:lnTo>
                    <a:pt x="83024" y="483903"/>
                  </a:lnTo>
                  <a:lnTo>
                    <a:pt x="54692" y="450874"/>
                  </a:lnTo>
                  <a:lnTo>
                    <a:pt x="31639" y="413732"/>
                  </a:lnTo>
                  <a:lnTo>
                    <a:pt x="14451" y="373060"/>
                  </a:lnTo>
                  <a:lnTo>
                    <a:pt x="3710" y="329443"/>
                  </a:lnTo>
                  <a:lnTo>
                    <a:pt x="0" y="283463"/>
                  </a:lnTo>
                  <a:close/>
                </a:path>
              </a:pathLst>
            </a:custGeom>
            <a:ln w="12700">
              <a:solidFill>
                <a:srgbClr val="2D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96772" y="3601973"/>
            <a:ext cx="193040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2125">
              <a:lnSpc>
                <a:spcPct val="100000"/>
              </a:lnSpc>
              <a:spcBef>
                <a:spcPts val="100"/>
              </a:spcBef>
            </a:pPr>
            <a:r>
              <a:rPr sz="1500" b="1" spc="-25" dirty="0">
                <a:solidFill>
                  <a:srgbClr val="2D6A4F"/>
                </a:solidFill>
                <a:latin typeface="Calibri"/>
                <a:cs typeface="Calibri"/>
              </a:rPr>
              <a:t>Targeted</a:t>
            </a:r>
            <a:r>
              <a:rPr sz="1500" b="1" spc="-30" dirty="0">
                <a:solidFill>
                  <a:srgbClr val="2D6A4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D6A4F"/>
                </a:solidFill>
                <a:latin typeface="Calibri"/>
                <a:cs typeface="Calibri"/>
              </a:rPr>
              <a:t>Bundling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89024" y="3990543"/>
            <a:ext cx="719709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B4332"/>
                </a:solidFill>
                <a:latin typeface="Calibri"/>
                <a:cs typeface="Calibri"/>
              </a:rPr>
              <a:t>Cross-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sell</a:t>
            </a:r>
            <a:r>
              <a:rPr sz="1100" spc="-4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Electronics</a:t>
            </a:r>
            <a:r>
              <a:rPr sz="1100" spc="-5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alongside</a:t>
            </a:r>
            <a:r>
              <a:rPr sz="1100" spc="-3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Pune's</a:t>
            </a:r>
            <a:r>
              <a:rPr sz="1100" spc="-4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Home</a:t>
            </a:r>
            <a:r>
              <a:rPr sz="1100" spc="-2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Care</a:t>
            </a:r>
            <a:r>
              <a:rPr sz="1100" spc="-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(549</a:t>
            </a:r>
            <a:r>
              <a:rPr sz="1100" spc="-1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units)</a:t>
            </a:r>
            <a:r>
              <a:rPr sz="1100" spc="-1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lift</a:t>
            </a:r>
            <a:r>
              <a:rPr sz="1100" spc="-2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Electronics</a:t>
            </a:r>
            <a:r>
              <a:rPr sz="1100" spc="-5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ROI</a:t>
            </a:r>
            <a:r>
              <a:rPr sz="1100" spc="-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from</a:t>
            </a:r>
            <a:r>
              <a:rPr sz="1100" spc="-2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current</a:t>
            </a:r>
            <a:r>
              <a:rPr sz="1100" spc="-1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47K</a:t>
            </a:r>
            <a:r>
              <a:rPr sz="1100" spc="-1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profit.</a:t>
            </a:r>
            <a:r>
              <a:rPr sz="1100" spc="-3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Bundle</a:t>
            </a:r>
            <a:r>
              <a:rPr sz="1100" spc="-15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4332"/>
                </a:solidFill>
                <a:latin typeface="Calibri"/>
                <a:cs typeface="Calibri"/>
              </a:rPr>
              <a:t>promotions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can</a:t>
            </a:r>
            <a:r>
              <a:rPr sz="1100" spc="-2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raise</a:t>
            </a:r>
            <a:r>
              <a:rPr sz="1100" spc="-1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combined</a:t>
            </a:r>
            <a:r>
              <a:rPr sz="1100" spc="-4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margin</a:t>
            </a:r>
            <a:r>
              <a:rPr sz="1100" spc="-30" dirty="0">
                <a:solidFill>
                  <a:srgbClr val="1B433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4332"/>
                </a:solidFill>
                <a:latin typeface="Calibri"/>
                <a:cs typeface="Calibri"/>
              </a:rPr>
              <a:t>by</a:t>
            </a:r>
            <a:r>
              <a:rPr sz="1100" spc="-10" dirty="0">
                <a:solidFill>
                  <a:srgbClr val="1B4332"/>
                </a:solidFill>
                <a:latin typeface="Calibri"/>
                <a:cs typeface="Calibri"/>
              </a:rPr>
              <a:t> ~3–</a:t>
            </a:r>
            <a:r>
              <a:rPr sz="1100" spc="-25" dirty="0">
                <a:solidFill>
                  <a:srgbClr val="1B4332"/>
                </a:solidFill>
                <a:latin typeface="Calibri"/>
                <a:cs typeface="Calibri"/>
              </a:rPr>
              <a:t>5%.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09670" y="4854955"/>
            <a:ext cx="272605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Data</a:t>
            </a:r>
            <a:r>
              <a:rPr sz="900" spc="-4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covers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6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cities</a:t>
            </a:r>
            <a:r>
              <a:rPr sz="900" spc="-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·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5</a:t>
            </a:r>
            <a:r>
              <a:rPr sz="900" spc="-1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product</a:t>
            </a:r>
            <a:r>
              <a:rPr sz="900" spc="-1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categories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·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FY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Sales</a:t>
            </a:r>
            <a:r>
              <a:rPr sz="900" spc="-10" dirty="0">
                <a:latin typeface="Calibri"/>
                <a:cs typeface="Calibri"/>
              </a:rPr>
              <a:t> Period</a:t>
            </a:r>
            <a:endParaRPr sz="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8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182880" y="5143500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4091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0" y="5143500"/>
                  </a:moveTo>
                  <a:lnTo>
                    <a:pt x="182880" y="5143500"/>
                  </a:lnTo>
                  <a:lnTo>
                    <a:pt x="18288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4091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2879" y="4206239"/>
              <a:ext cx="8961120" cy="937260"/>
            </a:xfrm>
            <a:custGeom>
              <a:avLst/>
              <a:gdLst/>
              <a:ahLst/>
              <a:cxnLst/>
              <a:rect l="l" t="t" r="r" b="b"/>
              <a:pathLst>
                <a:path w="8961120" h="937260">
                  <a:moveTo>
                    <a:pt x="0" y="937259"/>
                  </a:moveTo>
                  <a:lnTo>
                    <a:pt x="8961120" y="937259"/>
                  </a:lnTo>
                  <a:lnTo>
                    <a:pt x="8961120" y="0"/>
                  </a:lnTo>
                  <a:lnTo>
                    <a:pt x="0" y="0"/>
                  </a:lnTo>
                  <a:lnTo>
                    <a:pt x="0" y="937259"/>
                  </a:lnTo>
                  <a:close/>
                </a:path>
              </a:pathLst>
            </a:custGeom>
            <a:ln w="12700">
              <a:solidFill>
                <a:srgbClr val="F1F8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369566" y="1555826"/>
            <a:ext cx="4323715" cy="9093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800" spc="560" dirty="0">
                <a:solidFill>
                  <a:srgbClr val="FFC000"/>
                </a:solidFill>
              </a:rPr>
              <a:t>T</a:t>
            </a:r>
            <a:r>
              <a:rPr sz="5800" spc="565" dirty="0">
                <a:solidFill>
                  <a:srgbClr val="FFC000"/>
                </a:solidFill>
              </a:rPr>
              <a:t>HA</a:t>
            </a:r>
            <a:r>
              <a:rPr sz="5800" spc="560" dirty="0">
                <a:solidFill>
                  <a:srgbClr val="FFC000"/>
                </a:solidFill>
              </a:rPr>
              <a:t>N</a:t>
            </a:r>
            <a:r>
              <a:rPr sz="5800" spc="-30" dirty="0">
                <a:solidFill>
                  <a:srgbClr val="FFC000"/>
                </a:solidFill>
              </a:rPr>
              <a:t>K</a:t>
            </a:r>
            <a:r>
              <a:rPr sz="5800" spc="1210" dirty="0">
                <a:solidFill>
                  <a:srgbClr val="FFC000"/>
                </a:solidFill>
              </a:rPr>
              <a:t> </a:t>
            </a:r>
            <a:r>
              <a:rPr sz="5800" spc="540" dirty="0">
                <a:solidFill>
                  <a:srgbClr val="FFC000"/>
                </a:solidFill>
              </a:rPr>
              <a:t>Y</a:t>
            </a:r>
            <a:r>
              <a:rPr sz="5800" spc="550" dirty="0">
                <a:solidFill>
                  <a:srgbClr val="FFC000"/>
                </a:solidFill>
              </a:rPr>
              <a:t>O</a:t>
            </a:r>
            <a:r>
              <a:rPr sz="5800" spc="-50" dirty="0">
                <a:solidFill>
                  <a:srgbClr val="FFC000"/>
                </a:solidFill>
              </a:rPr>
              <a:t>U</a:t>
            </a:r>
            <a:endParaRPr sz="5800" dirty="0">
              <a:solidFill>
                <a:srgbClr val="FFC000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84222" y="2690240"/>
            <a:ext cx="4568190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latin typeface="Calibri"/>
                <a:cs typeface="Calibri"/>
              </a:rPr>
              <a:t>Sales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Performance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Report</a:t>
            </a:r>
            <a:r>
              <a:rPr sz="1300" spc="27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|</a:t>
            </a:r>
            <a:r>
              <a:rPr sz="1300" spc="27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Six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Cities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·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Five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Categories</a:t>
            </a:r>
            <a:r>
              <a:rPr sz="1300" spc="28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|</a:t>
            </a:r>
            <a:r>
              <a:rPr sz="1300" spc="27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FY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Period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8640" y="3154679"/>
            <a:ext cx="1902460" cy="658495"/>
          </a:xfrm>
          <a:prstGeom prst="rect">
            <a:avLst/>
          </a:prstGeom>
          <a:ln w="12700">
            <a:solidFill>
              <a:srgbClr val="40916C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80"/>
              </a:spcBef>
            </a:pPr>
            <a:endParaRPr sz="1200">
              <a:latin typeface="Times New Roman"/>
              <a:cs typeface="Times New Roman"/>
            </a:endParaRPr>
          </a:p>
          <a:p>
            <a:pPr marL="551815">
              <a:lnSpc>
                <a:spcPct val="100000"/>
              </a:lnSpc>
            </a:pP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15,345</a:t>
            </a:r>
            <a:r>
              <a:rPr sz="1200" b="1" spc="-20" dirty="0">
                <a:solidFill>
                  <a:srgbClr val="40916C"/>
                </a:solidFill>
                <a:latin typeface="Calibri"/>
                <a:cs typeface="Calibri"/>
              </a:rPr>
              <a:t> Units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33472" y="3154679"/>
            <a:ext cx="1902460" cy="658495"/>
          </a:xfrm>
          <a:prstGeom prst="rect">
            <a:avLst/>
          </a:prstGeom>
          <a:ln w="12700">
            <a:solidFill>
              <a:srgbClr val="40916C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80"/>
              </a:spcBef>
            </a:pPr>
            <a:endParaRPr sz="1200">
              <a:latin typeface="Times New Roman"/>
              <a:cs typeface="Times New Roman"/>
            </a:endParaRPr>
          </a:p>
          <a:p>
            <a:pPr marL="455930">
              <a:lnSpc>
                <a:spcPct val="100000"/>
              </a:lnSpc>
            </a:pP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$2.9M</a:t>
            </a:r>
            <a:r>
              <a:rPr sz="1200" b="1" spc="-2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0916C"/>
                </a:solidFill>
                <a:latin typeface="Calibri"/>
                <a:cs typeface="Calibri"/>
              </a:rPr>
              <a:t>Revenue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18303" y="3154679"/>
            <a:ext cx="1902460" cy="658495"/>
          </a:xfrm>
          <a:prstGeom prst="rect">
            <a:avLst/>
          </a:prstGeom>
          <a:ln w="12700">
            <a:solidFill>
              <a:srgbClr val="40916C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80"/>
              </a:spcBef>
            </a:pPr>
            <a:endParaRPr sz="1200">
              <a:latin typeface="Times New Roman"/>
              <a:cs typeface="Times New Roman"/>
            </a:endParaRPr>
          </a:p>
          <a:p>
            <a:pPr marL="558165">
              <a:lnSpc>
                <a:spcPct val="100000"/>
              </a:lnSpc>
            </a:pP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$865K</a:t>
            </a:r>
            <a:r>
              <a:rPr sz="1200" b="1" spc="-2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0916C"/>
                </a:solidFill>
                <a:latin typeface="Calibri"/>
                <a:cs typeface="Calibri"/>
              </a:rPr>
              <a:t>Profit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03135" y="3154679"/>
            <a:ext cx="1902460" cy="658495"/>
          </a:xfrm>
          <a:prstGeom prst="rect">
            <a:avLst/>
          </a:prstGeom>
          <a:ln w="12700">
            <a:solidFill>
              <a:srgbClr val="40916C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80"/>
              </a:spcBef>
            </a:pPr>
            <a:endParaRPr sz="1200">
              <a:latin typeface="Times New Roman"/>
              <a:cs typeface="Times New Roman"/>
            </a:endParaRPr>
          </a:p>
          <a:p>
            <a:pPr marL="627380">
              <a:lnSpc>
                <a:spcPct val="100000"/>
              </a:lnSpc>
            </a:pP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29.7%</a:t>
            </a:r>
            <a:r>
              <a:rPr sz="1200" b="1" spc="-25" dirty="0">
                <a:solidFill>
                  <a:srgbClr val="40916C"/>
                </a:solidFill>
                <a:latin typeface="Calibri"/>
                <a:cs typeface="Calibri"/>
              </a:rPr>
              <a:t> ROI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14</TotalTime>
  <Words>661</Words>
  <Application>Microsoft Office PowerPoint</Application>
  <PresentationFormat>On-screen Show (16:9)</PresentationFormat>
  <Paragraphs>233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Arial</vt:lpstr>
      <vt:lpstr>Arial MT</vt:lpstr>
      <vt:lpstr>Calibri</vt:lpstr>
      <vt:lpstr>Segoe UI Symbol</vt:lpstr>
      <vt:lpstr>Tahoma</vt:lpstr>
      <vt:lpstr>Times New Roman</vt:lpstr>
      <vt:lpstr>Tw Cen MT</vt:lpstr>
      <vt:lpstr>Circuit</vt:lpstr>
      <vt:lpstr>SALES PERFORMANCE REPORT</vt:lpstr>
      <vt:lpstr>..</vt:lpstr>
      <vt:lpstr>CATEGORY MARKET SHARE</vt:lpstr>
      <vt:lpstr>GEOGRAPHIC HIGHLIGHTS</vt:lpstr>
      <vt:lpstr>CITY × CATEGORY PERFORMANCE</vt:lpstr>
      <vt:lpstr>REVENUE &amp; PROFIT ANALYSIS</vt:lpstr>
      <vt:lpstr>BCG MATRIX — PRODUCT CATEGORY ANALYSIS</vt:lpstr>
      <vt:lpstr>ROI MODEL — RETURN ON INVESTMENT ANALYSIS</vt:lpstr>
      <vt:lpstr>STRATEGIC RECOMMENDATIONS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DMart Sales Performance Report</dc:title>
  <dc:subject>PptxGenJS Presentation</dc:subject>
  <dc:creator>Analytics Team</dc:creator>
  <cp:lastModifiedBy>visxnugosali123@gmail.com</cp:lastModifiedBy>
  <cp:revision>2</cp:revision>
  <dcterms:created xsi:type="dcterms:W3CDTF">2026-06-14T07:54:12Z</dcterms:created>
  <dcterms:modified xsi:type="dcterms:W3CDTF">2026-06-14T09:17:35Z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2026-05-24T00:00:00Z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2026-06-14T00:00:00Z</vt:filetime>
  </property>
  <property fmtid="{D5CDD505-2E9C-101B-9397-08002B2CF9AE}" pid="6" name="Producer">
    <vt:lpwstr>Microsoft® PowerPoint® 2019</vt:lpwstr>
  </property>
</Properties>
</file>