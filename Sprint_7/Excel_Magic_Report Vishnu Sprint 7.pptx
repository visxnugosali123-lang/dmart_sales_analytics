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75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92320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Introduce the topic: today's presentation covers four powerful Excel productivity features — AutoFill, Custom Lists, Merging Cells, and Table Magic. Mention this is a practical, example-driven walkthrough for the Computer Applications class project.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Excel is the backbone of business reporting and analysis. Highlight that mastering small features like AutoFill and Tables can save hours of manual work. Preview the four topics shown on the right before diving into details.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AutoFill: demonstrate dragging the fill handle live if possible. Mention Flash Fill as a bonus shortcut (Ctrl+E). Custom Lists: explain these are user-created sequences saved in Excel options, useful for recurring names like branch cities or department names in real business sheets.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difference between Merge &amp; Center, Merge Across, Merge Cells, and Unmerge. Emphasize the caution: merged cells can break sorting and formula references, so use them only on header/title rows. The visual on the right shows three separate cells becoming one merged title cell.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Ctrl+T to convert a range into a Table. Walk through the four key features: auto filters, banded rows, automatic expansion, and structured references. Use the comparison table to highlight concrete advantages over a plain cell range, and mention the one-click Total Row feature.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each feature to a real business scenario: reporting, HR data entry, and ongoing data analysis. Use the comparison table as a quick-reference summary. The productivity callout is an illustrative estimate — feel free to mention it's a general industry observation, not a precise figure.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four key takeaways quickly, reinforcing the daily-practice message. Open the floor for questions. Thank the audience and the evaluator for their time.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2C"/>
        </a:solidFill>
        <a:effectLst/>
      </p:bgPr>
    </p:bg>
    <p:spTree>
      <p:nvGrpSpPr>
        <p:cNvPr id="1" name=""/>
        <p:cNvGrpSpPr/>
        <p:nvPr/>
      </p:nvGrpSpPr>
      <p:grpSpPr>
        <a:xfrm>
          <a:off x="0" y="0"/>
          <a:ext cx="0" cy="0"/>
          <a:chOff x="0" y="0"/>
          <a:chExt cx="0" cy="0"/>
        </a:xfrm>
      </p:grpSpPr>
      <p:sp>
        <p:nvSpPr>
          <p:cNvPr id="2" name="Shape 0"/>
          <p:cNvSpPr/>
          <p:nvPr/>
        </p:nvSpPr>
        <p:spPr>
          <a:xfrm>
            <a:off x="9265615" y="-1463040"/>
            <a:ext cx="4206240" cy="4206240"/>
          </a:xfrm>
          <a:prstGeom prst="ellipse">
            <a:avLst/>
          </a:prstGeom>
          <a:solidFill>
            <a:srgbClr val="1E7145">
              <a:alpha val="45000"/>
            </a:srgbClr>
          </a:solidFill>
          <a:ln/>
        </p:spPr>
      </p:sp>
      <p:sp>
        <p:nvSpPr>
          <p:cNvPr id="3" name="Shape 1"/>
          <p:cNvSpPr/>
          <p:nvPr/>
        </p:nvSpPr>
        <p:spPr>
          <a:xfrm>
            <a:off x="-1645920" y="4663440"/>
            <a:ext cx="3657600" cy="3657600"/>
          </a:xfrm>
          <a:prstGeom prst="ellipse">
            <a:avLst/>
          </a:prstGeom>
          <a:solidFill>
            <a:srgbClr val="2E8B57">
              <a:alpha val="40000"/>
            </a:srgbClr>
          </a:solidFill>
          <a:ln/>
        </p:spPr>
      </p:sp>
      <p:sp>
        <p:nvSpPr>
          <p:cNvPr id="4" name="Shape 2"/>
          <p:cNvSpPr/>
          <p:nvPr/>
        </p:nvSpPr>
        <p:spPr>
          <a:xfrm>
            <a:off x="5592928" y="914400"/>
            <a:ext cx="1005840" cy="1005840"/>
          </a:xfrm>
          <a:prstGeom prst="ellipse">
            <a:avLst/>
          </a:prstGeom>
          <a:solidFill>
            <a:srgbClr val="FFFFFF"/>
          </a:solidFill>
          <a:ln/>
          <a:effectLst>
            <a:outerShdw blurRad="101600" dist="38100" dir="5400000" algn="bl" rotWithShape="0">
              <a:srgbClr val="000000">
                <a:alpha val="25000"/>
              </a:srgbClr>
            </a:outerShdw>
          </a:effectLst>
        </p:spPr>
      </p:sp>
      <p:pic>
        <p:nvPicPr>
          <p:cNvPr id="5" name="Image 0" descr="/home/claude/excel_pptx/icons/excel.png"/>
          <p:cNvPicPr>
            <a:picLocks noChangeAspect="1"/>
          </p:cNvPicPr>
          <p:nvPr/>
        </p:nvPicPr>
        <p:blipFill>
          <a:blip r:embed="rId3"/>
          <a:stretch>
            <a:fillRect/>
          </a:stretch>
        </p:blipFill>
        <p:spPr>
          <a:xfrm>
            <a:off x="5794096" y="1115568"/>
            <a:ext cx="603504" cy="603504"/>
          </a:xfrm>
          <a:prstGeom prst="rect">
            <a:avLst/>
          </a:prstGeom>
        </p:spPr>
      </p:pic>
      <p:sp>
        <p:nvSpPr>
          <p:cNvPr id="6" name="Text 3"/>
          <p:cNvSpPr/>
          <p:nvPr/>
        </p:nvSpPr>
        <p:spPr>
          <a:xfrm>
            <a:off x="457200" y="2148840"/>
            <a:ext cx="11277295" cy="822960"/>
          </a:xfrm>
          <a:prstGeom prst="rect">
            <a:avLst/>
          </a:prstGeom>
          <a:noFill/>
          <a:ln/>
        </p:spPr>
        <p:txBody>
          <a:bodyPr wrap="square" rtlCol="0" anchor="ctr"/>
          <a:lstStyle/>
          <a:p>
            <a:pPr marL="0" indent="0" algn="ctr">
              <a:buNone/>
            </a:pPr>
            <a:r>
              <a:rPr lang="en-US" sz="4400" b="1" kern="0" spc="200" dirty="0">
                <a:solidFill>
                  <a:srgbClr val="FFFFFF"/>
                </a:solidFill>
                <a:latin typeface="Cambria" pitchFamily="34" charset="0"/>
                <a:ea typeface="Cambria" pitchFamily="34" charset="-122"/>
                <a:cs typeface="Cambria" pitchFamily="34" charset="-120"/>
              </a:rPr>
              <a:t>EXCEL MAGIC REPORT</a:t>
            </a:r>
            <a:endParaRPr lang="en-US" sz="4400" dirty="0"/>
          </a:p>
        </p:txBody>
      </p:sp>
      <p:sp>
        <p:nvSpPr>
          <p:cNvPr id="7" name="Text 4"/>
          <p:cNvSpPr/>
          <p:nvPr/>
        </p:nvSpPr>
        <p:spPr>
          <a:xfrm>
            <a:off x="1371600" y="2880360"/>
            <a:ext cx="9448495" cy="548640"/>
          </a:xfrm>
          <a:prstGeom prst="rect">
            <a:avLst/>
          </a:prstGeom>
          <a:noFill/>
          <a:ln/>
        </p:spPr>
        <p:txBody>
          <a:bodyPr wrap="square" rtlCol="0" anchor="ctr"/>
          <a:lstStyle/>
          <a:p>
            <a:pPr marL="0" indent="0" algn="ctr">
              <a:buNone/>
            </a:pPr>
            <a:r>
              <a:rPr lang="en-US" sz="1800" i="1" dirty="0">
                <a:solidFill>
                  <a:srgbClr val="C9E6D4"/>
                </a:solidFill>
                <a:latin typeface="Calibri" pitchFamily="34" charset="0"/>
                <a:ea typeface="Calibri" pitchFamily="34" charset="-122"/>
                <a:cs typeface="Calibri" pitchFamily="34" charset="-120"/>
              </a:rPr>
              <a:t>Mastering AutoFill, Custom Lists, Merging Cells &amp; Table Magic</a:t>
            </a:r>
            <a:endParaRPr lang="en-US" sz="1800" dirty="0"/>
          </a:p>
        </p:txBody>
      </p:sp>
      <p:sp>
        <p:nvSpPr>
          <p:cNvPr id="8" name="Shape 5"/>
          <p:cNvSpPr/>
          <p:nvPr/>
        </p:nvSpPr>
        <p:spPr>
          <a:xfrm>
            <a:off x="5835244" y="3611880"/>
            <a:ext cx="64008" cy="64008"/>
          </a:xfrm>
          <a:prstGeom prst="ellipse">
            <a:avLst/>
          </a:prstGeom>
          <a:solidFill>
            <a:srgbClr val="2E8B57"/>
          </a:solidFill>
          <a:ln/>
        </p:spPr>
      </p:sp>
      <p:sp>
        <p:nvSpPr>
          <p:cNvPr id="9" name="Shape 6"/>
          <p:cNvSpPr/>
          <p:nvPr/>
        </p:nvSpPr>
        <p:spPr>
          <a:xfrm>
            <a:off x="6063844" y="3611880"/>
            <a:ext cx="64008" cy="64008"/>
          </a:xfrm>
          <a:prstGeom prst="ellipse">
            <a:avLst/>
          </a:prstGeom>
          <a:solidFill>
            <a:srgbClr val="2E8B57"/>
          </a:solidFill>
          <a:ln/>
        </p:spPr>
      </p:sp>
      <p:sp>
        <p:nvSpPr>
          <p:cNvPr id="10" name="Shape 7"/>
          <p:cNvSpPr/>
          <p:nvPr/>
        </p:nvSpPr>
        <p:spPr>
          <a:xfrm>
            <a:off x="6292444" y="3611880"/>
            <a:ext cx="64008" cy="64008"/>
          </a:xfrm>
          <a:prstGeom prst="ellipse">
            <a:avLst/>
          </a:prstGeom>
          <a:solidFill>
            <a:srgbClr val="2E8B57"/>
          </a:solidFill>
          <a:ln/>
        </p:spPr>
      </p:sp>
      <p:sp>
        <p:nvSpPr>
          <p:cNvPr id="11" name="Text 8"/>
          <p:cNvSpPr/>
          <p:nvPr/>
        </p:nvSpPr>
        <p:spPr>
          <a:xfrm>
            <a:off x="1371600" y="3886200"/>
            <a:ext cx="9448495" cy="457200"/>
          </a:xfrm>
          <a:prstGeom prst="rect">
            <a:avLst/>
          </a:prstGeom>
          <a:noFill/>
          <a:ln/>
        </p:spPr>
        <p:txBody>
          <a:bodyPr wrap="square" rtlCol="0" anchor="ctr"/>
          <a:lstStyle/>
          <a:p>
            <a:pPr marL="0" indent="0" algn="ctr">
              <a:buNone/>
            </a:pPr>
            <a:r>
              <a:rPr lang="en-US" sz="1400" dirty="0">
                <a:solidFill>
                  <a:srgbClr val="9FC9AE"/>
                </a:solidFill>
                <a:latin typeface="Calibri" pitchFamily="34" charset="0"/>
                <a:ea typeface="Calibri" pitchFamily="34" charset="-122"/>
                <a:cs typeface="Calibri" pitchFamily="34" charset="-120"/>
              </a:rPr>
              <a:t>A Practical Guide to Smarter Spreadsheets</a:t>
            </a:r>
            <a:endParaRPr lang="en-US" sz="1400" dirty="0"/>
          </a:p>
        </p:txBody>
      </p:sp>
      <p:sp>
        <p:nvSpPr>
          <p:cNvPr id="12" name="Text 9"/>
          <p:cNvSpPr/>
          <p:nvPr/>
        </p:nvSpPr>
        <p:spPr>
          <a:xfrm>
            <a:off x="457200" y="5897880"/>
            <a:ext cx="11277295" cy="411480"/>
          </a:xfrm>
          <a:prstGeom prst="rect">
            <a:avLst/>
          </a:prstGeom>
          <a:noFill/>
          <a:ln/>
        </p:spPr>
        <p:txBody>
          <a:bodyPr wrap="square" rtlCol="0" anchor="ctr"/>
          <a:lstStyle/>
          <a:p>
            <a:pPr marL="0" indent="0" algn="ctr">
              <a:buNone/>
            </a:pP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640080"/>
          </a:xfrm>
          <a:prstGeom prst="rect">
            <a:avLst/>
          </a:prstGeom>
          <a:noFill/>
          <a:ln/>
        </p:spPr>
        <p:txBody>
          <a:bodyPr wrap="square" rtlCol="0" anchor="ctr"/>
          <a:lstStyle/>
          <a:p>
            <a:pPr marL="0" indent="0">
              <a:buNone/>
            </a:pPr>
            <a:r>
              <a:rPr lang="en-US" sz="3200" b="1" dirty="0">
                <a:solidFill>
                  <a:srgbClr val="0F4C2C"/>
                </a:solidFill>
                <a:latin typeface="Cambria" pitchFamily="34" charset="0"/>
                <a:ea typeface="Cambria" pitchFamily="34" charset="-122"/>
                <a:cs typeface="Cambria" pitchFamily="34" charset="-120"/>
              </a:rPr>
              <a:t>Introduction</a:t>
            </a:r>
            <a:endParaRPr lang="en-US" sz="3200" dirty="0"/>
          </a:p>
        </p:txBody>
      </p:sp>
      <p:sp>
        <p:nvSpPr>
          <p:cNvPr id="3" name="Text 1"/>
          <p:cNvSpPr/>
          <p:nvPr/>
        </p:nvSpPr>
        <p:spPr>
          <a:xfrm>
            <a:off x="548640" y="960120"/>
            <a:ext cx="7315200" cy="365760"/>
          </a:xfrm>
          <a:prstGeom prst="rect">
            <a:avLst/>
          </a:prstGeom>
          <a:noFill/>
          <a:ln/>
        </p:spPr>
        <p:txBody>
          <a:bodyPr wrap="square" rtlCol="0" anchor="ctr"/>
          <a:lstStyle/>
          <a:p>
            <a:pPr marL="0" indent="0">
              <a:buNone/>
            </a:pPr>
            <a:r>
              <a:rPr lang="en-US" sz="1400" i="1" dirty="0">
                <a:solidFill>
                  <a:srgbClr val="5C6F64"/>
                </a:solidFill>
                <a:latin typeface="Calibri" pitchFamily="34" charset="0"/>
                <a:ea typeface="Calibri" pitchFamily="34" charset="-122"/>
                <a:cs typeface="Calibri" pitchFamily="34" charset="-120"/>
              </a:rPr>
              <a:t>Why Excel Skills Matter</a:t>
            </a:r>
            <a:endParaRPr lang="en-US" sz="1400" dirty="0"/>
          </a:p>
        </p:txBody>
      </p:sp>
      <p:sp>
        <p:nvSpPr>
          <p:cNvPr id="4" name="Shape 2"/>
          <p:cNvSpPr/>
          <p:nvPr/>
        </p:nvSpPr>
        <p:spPr>
          <a:xfrm>
            <a:off x="548640" y="1600200"/>
            <a:ext cx="457200" cy="457200"/>
          </a:xfrm>
          <a:prstGeom prst="ellipse">
            <a:avLst/>
          </a:prstGeom>
          <a:solidFill>
            <a:srgbClr val="E8F5EC"/>
          </a:solidFill>
          <a:ln/>
        </p:spPr>
      </p:sp>
      <p:sp>
        <p:nvSpPr>
          <p:cNvPr id="5" name="Text 3"/>
          <p:cNvSpPr/>
          <p:nvPr/>
        </p:nvSpPr>
        <p:spPr>
          <a:xfrm>
            <a:off x="548640" y="1600200"/>
            <a:ext cx="457200" cy="457200"/>
          </a:xfrm>
          <a:prstGeom prst="rect">
            <a:avLst/>
          </a:prstGeom>
          <a:noFill/>
          <a:ln/>
        </p:spPr>
        <p:txBody>
          <a:bodyPr wrap="square" rtlCol="0" anchor="ctr"/>
          <a:lstStyle/>
          <a:p>
            <a:pPr marL="0" indent="0" algn="ctr">
              <a:buNone/>
            </a:pPr>
            <a:r>
              <a:rPr lang="en-US" sz="1800" b="1" dirty="0">
                <a:solidFill>
                  <a:srgbClr val="1E7145"/>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188720" y="1572768"/>
            <a:ext cx="4937760" cy="320040"/>
          </a:xfrm>
          <a:prstGeom prst="rect">
            <a:avLst/>
          </a:prstGeom>
          <a:noFill/>
          <a:ln/>
        </p:spPr>
        <p:txBody>
          <a:bodyPr wrap="square" rtlCol="0" anchor="ctr"/>
          <a:lstStyle/>
          <a:p>
            <a:pPr marL="0" indent="0">
              <a:buNone/>
            </a:pPr>
            <a:r>
              <a:rPr lang="en-US" sz="1600" b="1" dirty="0">
                <a:solidFill>
                  <a:srgbClr val="1B2B22"/>
                </a:solidFill>
                <a:latin typeface="Calibri" pitchFamily="34" charset="0"/>
                <a:ea typeface="Calibri" pitchFamily="34" charset="-122"/>
                <a:cs typeface="Calibri" pitchFamily="34" charset="-120"/>
              </a:rPr>
              <a:t>Industry Standard</a:t>
            </a:r>
            <a:endParaRPr lang="en-US" sz="1600" dirty="0"/>
          </a:p>
        </p:txBody>
      </p:sp>
      <p:sp>
        <p:nvSpPr>
          <p:cNvPr id="7" name="Text 5"/>
          <p:cNvSpPr/>
          <p:nvPr/>
        </p:nvSpPr>
        <p:spPr>
          <a:xfrm>
            <a:off x="1188720" y="1892808"/>
            <a:ext cx="5029200" cy="640080"/>
          </a:xfrm>
          <a:prstGeom prst="rect">
            <a:avLst/>
          </a:prstGeom>
          <a:noFill/>
          <a:ln/>
        </p:spPr>
        <p:txBody>
          <a:bodyPr wrap="square" rtlCol="0" anchor="t"/>
          <a:lstStyle/>
          <a:p>
            <a:pPr marL="0" indent="0">
              <a:buNone/>
            </a:pPr>
            <a:r>
              <a:rPr lang="en-US" sz="1250" dirty="0">
                <a:solidFill>
                  <a:srgbClr val="5C6F64"/>
                </a:solidFill>
                <a:latin typeface="Calibri" pitchFamily="34" charset="0"/>
                <a:ea typeface="Calibri" pitchFamily="34" charset="-122"/>
                <a:cs typeface="Calibri" pitchFamily="34" charset="-120"/>
              </a:rPr>
              <a:t>Microsoft Excel is the most widely used spreadsheet tool in business, education, and research worldwide.</a:t>
            </a:r>
            <a:endParaRPr lang="en-US" sz="1250" dirty="0"/>
          </a:p>
        </p:txBody>
      </p:sp>
      <p:sp>
        <p:nvSpPr>
          <p:cNvPr id="8" name="Shape 6"/>
          <p:cNvSpPr/>
          <p:nvPr/>
        </p:nvSpPr>
        <p:spPr>
          <a:xfrm>
            <a:off x="548640" y="2743200"/>
            <a:ext cx="457200" cy="457200"/>
          </a:xfrm>
          <a:prstGeom prst="ellipse">
            <a:avLst/>
          </a:prstGeom>
          <a:solidFill>
            <a:srgbClr val="E8F5EC"/>
          </a:solidFill>
          <a:ln/>
        </p:spPr>
      </p:sp>
      <p:sp>
        <p:nvSpPr>
          <p:cNvPr id="9" name="Text 7"/>
          <p:cNvSpPr/>
          <p:nvPr/>
        </p:nvSpPr>
        <p:spPr>
          <a:xfrm>
            <a:off x="548640" y="2743200"/>
            <a:ext cx="457200" cy="457200"/>
          </a:xfrm>
          <a:prstGeom prst="rect">
            <a:avLst/>
          </a:prstGeom>
          <a:noFill/>
          <a:ln/>
        </p:spPr>
        <p:txBody>
          <a:bodyPr wrap="square" rtlCol="0" anchor="ctr"/>
          <a:lstStyle/>
          <a:p>
            <a:pPr marL="0" indent="0" algn="ctr">
              <a:buNone/>
            </a:pPr>
            <a:r>
              <a:rPr lang="en-US" sz="1800" b="1" dirty="0">
                <a:solidFill>
                  <a:srgbClr val="1E7145"/>
                </a:solidFill>
                <a:latin typeface="Cambria" pitchFamily="34" charset="0"/>
                <a:ea typeface="Cambria" pitchFamily="34" charset="-122"/>
                <a:cs typeface="Cambria" pitchFamily="34" charset="-120"/>
              </a:rPr>
              <a:t>2</a:t>
            </a:r>
            <a:endParaRPr lang="en-US" sz="1800" dirty="0"/>
          </a:p>
        </p:txBody>
      </p:sp>
      <p:sp>
        <p:nvSpPr>
          <p:cNvPr id="10" name="Text 8"/>
          <p:cNvSpPr/>
          <p:nvPr/>
        </p:nvSpPr>
        <p:spPr>
          <a:xfrm>
            <a:off x="1188720" y="2715768"/>
            <a:ext cx="4937760" cy="320040"/>
          </a:xfrm>
          <a:prstGeom prst="rect">
            <a:avLst/>
          </a:prstGeom>
          <a:noFill/>
          <a:ln/>
        </p:spPr>
        <p:txBody>
          <a:bodyPr wrap="square" rtlCol="0" anchor="ctr"/>
          <a:lstStyle/>
          <a:p>
            <a:pPr marL="0" indent="0">
              <a:buNone/>
            </a:pPr>
            <a:r>
              <a:rPr lang="en-US" sz="1600" b="1" dirty="0">
                <a:solidFill>
                  <a:srgbClr val="1B2B22"/>
                </a:solidFill>
                <a:latin typeface="Calibri" pitchFamily="34" charset="0"/>
                <a:ea typeface="Calibri" pitchFamily="34" charset="-122"/>
                <a:cs typeface="Calibri" pitchFamily="34" charset="-120"/>
              </a:rPr>
              <a:t>Boosts Productivity</a:t>
            </a:r>
            <a:endParaRPr lang="en-US" sz="1600" dirty="0"/>
          </a:p>
        </p:txBody>
      </p:sp>
      <p:sp>
        <p:nvSpPr>
          <p:cNvPr id="11" name="Text 9"/>
          <p:cNvSpPr/>
          <p:nvPr/>
        </p:nvSpPr>
        <p:spPr>
          <a:xfrm>
            <a:off x="1188720" y="3035808"/>
            <a:ext cx="5029200" cy="640080"/>
          </a:xfrm>
          <a:prstGeom prst="rect">
            <a:avLst/>
          </a:prstGeom>
          <a:noFill/>
          <a:ln/>
        </p:spPr>
        <p:txBody>
          <a:bodyPr wrap="square" rtlCol="0" anchor="t"/>
          <a:lstStyle/>
          <a:p>
            <a:pPr marL="0" indent="0">
              <a:buNone/>
            </a:pPr>
            <a:r>
              <a:rPr lang="en-US" sz="1250" dirty="0">
                <a:solidFill>
                  <a:srgbClr val="5C6F64"/>
                </a:solidFill>
                <a:latin typeface="Calibri" pitchFamily="34" charset="0"/>
                <a:ea typeface="Calibri" pitchFamily="34" charset="-122"/>
                <a:cs typeface="Calibri" pitchFamily="34" charset="-120"/>
              </a:rPr>
              <a:t>Smart features reduce manual, repetitive work and minimize human error in data entry.</a:t>
            </a:r>
            <a:endParaRPr lang="en-US" sz="1250" dirty="0"/>
          </a:p>
        </p:txBody>
      </p:sp>
      <p:sp>
        <p:nvSpPr>
          <p:cNvPr id="12" name="Shape 10"/>
          <p:cNvSpPr/>
          <p:nvPr/>
        </p:nvSpPr>
        <p:spPr>
          <a:xfrm>
            <a:off x="548640" y="3886200"/>
            <a:ext cx="457200" cy="457200"/>
          </a:xfrm>
          <a:prstGeom prst="ellipse">
            <a:avLst/>
          </a:prstGeom>
          <a:solidFill>
            <a:srgbClr val="E8F5EC"/>
          </a:solidFill>
          <a:ln/>
        </p:spPr>
      </p:sp>
      <p:sp>
        <p:nvSpPr>
          <p:cNvPr id="13" name="Text 11"/>
          <p:cNvSpPr/>
          <p:nvPr/>
        </p:nvSpPr>
        <p:spPr>
          <a:xfrm>
            <a:off x="548640" y="3886200"/>
            <a:ext cx="457200" cy="457200"/>
          </a:xfrm>
          <a:prstGeom prst="rect">
            <a:avLst/>
          </a:prstGeom>
          <a:noFill/>
          <a:ln/>
        </p:spPr>
        <p:txBody>
          <a:bodyPr wrap="square" rtlCol="0" anchor="ctr"/>
          <a:lstStyle/>
          <a:p>
            <a:pPr marL="0" indent="0" algn="ctr">
              <a:buNone/>
            </a:pPr>
            <a:r>
              <a:rPr lang="en-US" sz="1800" b="1" dirty="0">
                <a:solidFill>
                  <a:srgbClr val="1E7145"/>
                </a:solidFill>
                <a:latin typeface="Cambria" pitchFamily="34" charset="0"/>
                <a:ea typeface="Cambria" pitchFamily="34" charset="-122"/>
                <a:cs typeface="Cambria" pitchFamily="34" charset="-120"/>
              </a:rPr>
              <a:t>3</a:t>
            </a:r>
            <a:endParaRPr lang="en-US" sz="1800" dirty="0"/>
          </a:p>
        </p:txBody>
      </p:sp>
      <p:sp>
        <p:nvSpPr>
          <p:cNvPr id="14" name="Text 12"/>
          <p:cNvSpPr/>
          <p:nvPr/>
        </p:nvSpPr>
        <p:spPr>
          <a:xfrm>
            <a:off x="1188720" y="3858768"/>
            <a:ext cx="4937760" cy="320040"/>
          </a:xfrm>
          <a:prstGeom prst="rect">
            <a:avLst/>
          </a:prstGeom>
          <a:noFill/>
          <a:ln/>
        </p:spPr>
        <p:txBody>
          <a:bodyPr wrap="square" rtlCol="0" anchor="ctr"/>
          <a:lstStyle/>
          <a:p>
            <a:pPr marL="0" indent="0">
              <a:buNone/>
            </a:pPr>
            <a:r>
              <a:rPr lang="en-US" sz="1600" b="1" dirty="0">
                <a:solidFill>
                  <a:srgbClr val="1B2B22"/>
                </a:solidFill>
                <a:latin typeface="Calibri" pitchFamily="34" charset="0"/>
                <a:ea typeface="Calibri" pitchFamily="34" charset="-122"/>
                <a:cs typeface="Calibri" pitchFamily="34" charset="-120"/>
              </a:rPr>
              <a:t>Four Core Skills</a:t>
            </a:r>
            <a:endParaRPr lang="en-US" sz="1600" dirty="0"/>
          </a:p>
        </p:txBody>
      </p:sp>
      <p:sp>
        <p:nvSpPr>
          <p:cNvPr id="15" name="Text 13"/>
          <p:cNvSpPr/>
          <p:nvPr/>
        </p:nvSpPr>
        <p:spPr>
          <a:xfrm>
            <a:off x="1188720" y="4178808"/>
            <a:ext cx="5029200" cy="640080"/>
          </a:xfrm>
          <a:prstGeom prst="rect">
            <a:avLst/>
          </a:prstGeom>
          <a:noFill/>
          <a:ln/>
        </p:spPr>
        <p:txBody>
          <a:bodyPr wrap="square" rtlCol="0" anchor="t"/>
          <a:lstStyle/>
          <a:p>
            <a:pPr marL="0" indent="0">
              <a:buNone/>
            </a:pPr>
            <a:r>
              <a:rPr lang="en-US" sz="1250" dirty="0">
                <a:solidFill>
                  <a:srgbClr val="5C6F64"/>
                </a:solidFill>
                <a:latin typeface="Calibri" pitchFamily="34" charset="0"/>
                <a:ea typeface="Calibri" pitchFamily="34" charset="-122"/>
                <a:cs typeface="Calibri" pitchFamily="34" charset="-120"/>
              </a:rPr>
              <a:t>This report covers AutoFill, Custom Lists, Merging Cells, and Table Magic — the building blocks of efficient spreadsheets.</a:t>
            </a:r>
            <a:endParaRPr lang="en-US" sz="1250" dirty="0"/>
          </a:p>
        </p:txBody>
      </p:sp>
      <p:sp>
        <p:nvSpPr>
          <p:cNvPr id="16" name="Shape 14"/>
          <p:cNvSpPr/>
          <p:nvPr/>
        </p:nvSpPr>
        <p:spPr>
          <a:xfrm>
            <a:off x="7040880" y="1691640"/>
            <a:ext cx="2331720" cy="1417320"/>
          </a:xfrm>
          <a:prstGeom prst="roundRect">
            <a:avLst>
              <a:gd name="adj" fmla="val 5161"/>
            </a:avLst>
          </a:prstGeom>
          <a:solidFill>
            <a:srgbClr val="1E7145"/>
          </a:solidFill>
          <a:ln/>
          <a:effectLst>
            <a:outerShdw blurRad="76200" dist="25400" dir="2700000" algn="bl" rotWithShape="0">
              <a:srgbClr val="000000">
                <a:alpha val="15000"/>
              </a:srgbClr>
            </a:outerShdw>
          </a:effectLst>
        </p:spPr>
      </p:sp>
      <p:pic>
        <p:nvPicPr>
          <p:cNvPr id="17" name="Image 0" descr="/home/claude/excel_pptx/icons/fill_white.png"/>
          <p:cNvPicPr>
            <a:picLocks noChangeAspect="1"/>
          </p:cNvPicPr>
          <p:nvPr/>
        </p:nvPicPr>
        <p:blipFill>
          <a:blip r:embed="rId3"/>
          <a:stretch>
            <a:fillRect/>
          </a:stretch>
        </p:blipFill>
        <p:spPr>
          <a:xfrm>
            <a:off x="7950708" y="1947672"/>
            <a:ext cx="512064" cy="512064"/>
          </a:xfrm>
          <a:prstGeom prst="rect">
            <a:avLst/>
          </a:prstGeom>
        </p:spPr>
      </p:pic>
      <p:sp>
        <p:nvSpPr>
          <p:cNvPr id="18" name="Text 15"/>
          <p:cNvSpPr/>
          <p:nvPr/>
        </p:nvSpPr>
        <p:spPr>
          <a:xfrm>
            <a:off x="7040880" y="2560320"/>
            <a:ext cx="233172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AutoFill</a:t>
            </a:r>
            <a:endParaRPr lang="en-US" sz="1400" dirty="0"/>
          </a:p>
        </p:txBody>
      </p:sp>
      <p:sp>
        <p:nvSpPr>
          <p:cNvPr id="19" name="Shape 16"/>
          <p:cNvSpPr/>
          <p:nvPr/>
        </p:nvSpPr>
        <p:spPr>
          <a:xfrm>
            <a:off x="9601200" y="1691640"/>
            <a:ext cx="2331720" cy="1417320"/>
          </a:xfrm>
          <a:prstGeom prst="roundRect">
            <a:avLst>
              <a:gd name="adj" fmla="val 5161"/>
            </a:avLst>
          </a:prstGeom>
          <a:solidFill>
            <a:srgbClr val="2E8B57"/>
          </a:solidFill>
          <a:ln/>
          <a:effectLst>
            <a:outerShdw blurRad="76200" dist="25400" dir="2700000" algn="bl" rotWithShape="0">
              <a:srgbClr val="000000">
                <a:alpha val="15000"/>
              </a:srgbClr>
            </a:outerShdw>
          </a:effectLst>
        </p:spPr>
      </p:sp>
      <p:pic>
        <p:nvPicPr>
          <p:cNvPr id="20" name="Image 1" descr="/home/claude/excel_pptx/icons/list_white.png"/>
          <p:cNvPicPr>
            <a:picLocks noChangeAspect="1"/>
          </p:cNvPicPr>
          <p:nvPr/>
        </p:nvPicPr>
        <p:blipFill>
          <a:blip r:embed="rId4"/>
          <a:stretch>
            <a:fillRect/>
          </a:stretch>
        </p:blipFill>
        <p:spPr>
          <a:xfrm>
            <a:off x="10511028" y="1947672"/>
            <a:ext cx="512064" cy="512064"/>
          </a:xfrm>
          <a:prstGeom prst="rect">
            <a:avLst/>
          </a:prstGeom>
        </p:spPr>
      </p:pic>
      <p:sp>
        <p:nvSpPr>
          <p:cNvPr id="21" name="Text 17"/>
          <p:cNvSpPr/>
          <p:nvPr/>
        </p:nvSpPr>
        <p:spPr>
          <a:xfrm>
            <a:off x="9601200" y="2560320"/>
            <a:ext cx="233172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Custom Lists</a:t>
            </a:r>
            <a:endParaRPr lang="en-US" sz="1400" dirty="0"/>
          </a:p>
        </p:txBody>
      </p:sp>
      <p:sp>
        <p:nvSpPr>
          <p:cNvPr id="22" name="Shape 18"/>
          <p:cNvSpPr/>
          <p:nvPr/>
        </p:nvSpPr>
        <p:spPr>
          <a:xfrm>
            <a:off x="7040880" y="3337560"/>
            <a:ext cx="2331720" cy="1417320"/>
          </a:xfrm>
          <a:prstGeom prst="roundRect">
            <a:avLst>
              <a:gd name="adj" fmla="val 5161"/>
            </a:avLst>
          </a:prstGeom>
          <a:solidFill>
            <a:srgbClr val="1E7145"/>
          </a:solidFill>
          <a:ln/>
          <a:effectLst>
            <a:outerShdw blurRad="76200" dist="25400" dir="2700000" algn="bl" rotWithShape="0">
              <a:srgbClr val="000000">
                <a:alpha val="15000"/>
              </a:srgbClr>
            </a:outerShdw>
          </a:effectLst>
        </p:spPr>
      </p:sp>
      <p:pic>
        <p:nvPicPr>
          <p:cNvPr id="23" name="Image 2" descr="/home/claude/excel_pptx/icons/group_white.png"/>
          <p:cNvPicPr>
            <a:picLocks noChangeAspect="1"/>
          </p:cNvPicPr>
          <p:nvPr/>
        </p:nvPicPr>
        <p:blipFill>
          <a:blip r:embed="rId5"/>
          <a:stretch>
            <a:fillRect/>
          </a:stretch>
        </p:blipFill>
        <p:spPr>
          <a:xfrm>
            <a:off x="7950708" y="3593592"/>
            <a:ext cx="512064" cy="512064"/>
          </a:xfrm>
          <a:prstGeom prst="rect">
            <a:avLst/>
          </a:prstGeom>
        </p:spPr>
      </p:pic>
      <p:sp>
        <p:nvSpPr>
          <p:cNvPr id="24" name="Text 19"/>
          <p:cNvSpPr/>
          <p:nvPr/>
        </p:nvSpPr>
        <p:spPr>
          <a:xfrm>
            <a:off x="7040880" y="4206240"/>
            <a:ext cx="233172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Merging Cells</a:t>
            </a:r>
            <a:endParaRPr lang="en-US" sz="1400" dirty="0"/>
          </a:p>
        </p:txBody>
      </p:sp>
      <p:sp>
        <p:nvSpPr>
          <p:cNvPr id="25" name="Shape 20"/>
          <p:cNvSpPr/>
          <p:nvPr/>
        </p:nvSpPr>
        <p:spPr>
          <a:xfrm>
            <a:off x="9601200" y="3337560"/>
            <a:ext cx="2331720" cy="1417320"/>
          </a:xfrm>
          <a:prstGeom prst="roundRect">
            <a:avLst>
              <a:gd name="adj" fmla="val 5161"/>
            </a:avLst>
          </a:prstGeom>
          <a:solidFill>
            <a:srgbClr val="2E8B57"/>
          </a:solidFill>
          <a:ln/>
          <a:effectLst>
            <a:outerShdw blurRad="76200" dist="25400" dir="2700000" algn="bl" rotWithShape="0">
              <a:srgbClr val="000000">
                <a:alpha val="15000"/>
              </a:srgbClr>
            </a:outerShdw>
          </a:effectLst>
        </p:spPr>
      </p:sp>
      <p:pic>
        <p:nvPicPr>
          <p:cNvPr id="26" name="Image 3" descr="/home/claude/excel_pptx/icons/table_white.png"/>
          <p:cNvPicPr>
            <a:picLocks noChangeAspect="1"/>
          </p:cNvPicPr>
          <p:nvPr/>
        </p:nvPicPr>
        <p:blipFill>
          <a:blip r:embed="rId6"/>
          <a:stretch>
            <a:fillRect/>
          </a:stretch>
        </p:blipFill>
        <p:spPr>
          <a:xfrm>
            <a:off x="10511028" y="3593592"/>
            <a:ext cx="512064" cy="512064"/>
          </a:xfrm>
          <a:prstGeom prst="rect">
            <a:avLst/>
          </a:prstGeom>
        </p:spPr>
      </p:pic>
      <p:sp>
        <p:nvSpPr>
          <p:cNvPr id="27" name="Text 21"/>
          <p:cNvSpPr/>
          <p:nvPr/>
        </p:nvSpPr>
        <p:spPr>
          <a:xfrm>
            <a:off x="9601200" y="4206240"/>
            <a:ext cx="233172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Table Magic</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594360"/>
          </a:xfrm>
          <a:prstGeom prst="rect">
            <a:avLst/>
          </a:prstGeom>
          <a:noFill/>
          <a:ln/>
        </p:spPr>
        <p:txBody>
          <a:bodyPr wrap="square" rtlCol="0" anchor="ctr"/>
          <a:lstStyle/>
          <a:p>
            <a:pPr marL="0" indent="0">
              <a:buNone/>
            </a:pPr>
            <a:r>
              <a:rPr lang="en-US" sz="3000" b="1" dirty="0">
                <a:solidFill>
                  <a:srgbClr val="0F4C2C"/>
                </a:solidFill>
                <a:latin typeface="Cambria" pitchFamily="34" charset="0"/>
                <a:ea typeface="Cambria" pitchFamily="34" charset="-122"/>
                <a:cs typeface="Cambria" pitchFamily="34" charset="-120"/>
              </a:rPr>
              <a:t>AutoFill &amp; Custom Lists</a:t>
            </a:r>
            <a:endParaRPr lang="en-US" sz="3000" dirty="0"/>
          </a:p>
        </p:txBody>
      </p:sp>
      <p:sp>
        <p:nvSpPr>
          <p:cNvPr id="3" name="Text 1"/>
          <p:cNvSpPr/>
          <p:nvPr/>
        </p:nvSpPr>
        <p:spPr>
          <a:xfrm>
            <a:off x="548640" y="896112"/>
            <a:ext cx="8229600" cy="320040"/>
          </a:xfrm>
          <a:prstGeom prst="rect">
            <a:avLst/>
          </a:prstGeom>
          <a:noFill/>
          <a:ln/>
        </p:spPr>
        <p:txBody>
          <a:bodyPr wrap="square" rtlCol="0" anchor="ctr"/>
          <a:lstStyle/>
          <a:p>
            <a:pPr marL="0" indent="0">
              <a:buNone/>
            </a:pPr>
            <a:r>
              <a:rPr lang="en-US" sz="1400" i="1" dirty="0">
                <a:solidFill>
                  <a:srgbClr val="5C6F64"/>
                </a:solidFill>
                <a:latin typeface="Calibri" pitchFamily="34" charset="0"/>
                <a:ea typeface="Calibri" pitchFamily="34" charset="-122"/>
                <a:cs typeface="Calibri" pitchFamily="34" charset="-120"/>
              </a:rPr>
              <a:t>Smart, Fast Data Entry</a:t>
            </a:r>
            <a:endParaRPr lang="en-US" sz="1400" dirty="0"/>
          </a:p>
        </p:txBody>
      </p:sp>
      <p:sp>
        <p:nvSpPr>
          <p:cNvPr id="4" name="Shape 2"/>
          <p:cNvSpPr/>
          <p:nvPr/>
        </p:nvSpPr>
        <p:spPr>
          <a:xfrm>
            <a:off x="548640" y="1417320"/>
            <a:ext cx="5349240" cy="4800600"/>
          </a:xfrm>
          <a:prstGeom prst="roundRect">
            <a:avLst>
              <a:gd name="adj" fmla="val 1524"/>
            </a:avLst>
          </a:prstGeom>
          <a:solidFill>
            <a:srgbClr val="F3FAF5"/>
          </a:solidFill>
          <a:ln/>
        </p:spPr>
      </p:sp>
      <p:sp>
        <p:nvSpPr>
          <p:cNvPr id="5" name="Shape 3"/>
          <p:cNvSpPr/>
          <p:nvPr/>
        </p:nvSpPr>
        <p:spPr>
          <a:xfrm>
            <a:off x="822960" y="1691640"/>
            <a:ext cx="548640" cy="548640"/>
          </a:xfrm>
          <a:prstGeom prst="ellipse">
            <a:avLst/>
          </a:prstGeom>
          <a:solidFill>
            <a:srgbClr val="1E7145"/>
          </a:solidFill>
          <a:ln/>
        </p:spPr>
      </p:sp>
      <p:pic>
        <p:nvPicPr>
          <p:cNvPr id="6" name="Image 0" descr="/home/claude/excel_pptx/icons/fill_white.png"/>
          <p:cNvPicPr>
            <a:picLocks noChangeAspect="1"/>
          </p:cNvPicPr>
          <p:nvPr/>
        </p:nvPicPr>
        <p:blipFill>
          <a:blip r:embed="rId3"/>
          <a:stretch>
            <a:fillRect/>
          </a:stretch>
        </p:blipFill>
        <p:spPr>
          <a:xfrm>
            <a:off x="960120" y="1828800"/>
            <a:ext cx="274320" cy="274320"/>
          </a:xfrm>
          <a:prstGeom prst="rect">
            <a:avLst/>
          </a:prstGeom>
        </p:spPr>
      </p:pic>
      <p:sp>
        <p:nvSpPr>
          <p:cNvPr id="7" name="Text 4"/>
          <p:cNvSpPr/>
          <p:nvPr/>
        </p:nvSpPr>
        <p:spPr>
          <a:xfrm>
            <a:off x="1508760" y="1709928"/>
            <a:ext cx="2743200" cy="502920"/>
          </a:xfrm>
          <a:prstGeom prst="rect">
            <a:avLst/>
          </a:prstGeom>
          <a:noFill/>
          <a:ln/>
        </p:spPr>
        <p:txBody>
          <a:bodyPr wrap="square" rtlCol="0" anchor="ctr"/>
          <a:lstStyle/>
          <a:p>
            <a:pPr marL="0" indent="0">
              <a:buNone/>
            </a:pPr>
            <a:r>
              <a:rPr lang="en-US" sz="1800" b="1" dirty="0">
                <a:solidFill>
                  <a:srgbClr val="0F4C2C"/>
                </a:solidFill>
                <a:latin typeface="Calibri" pitchFamily="34" charset="0"/>
                <a:ea typeface="Calibri" pitchFamily="34" charset="-122"/>
                <a:cs typeface="Calibri" pitchFamily="34" charset="-120"/>
              </a:rPr>
              <a:t>AutoFill</a:t>
            </a:r>
            <a:endParaRPr lang="en-US" sz="1800" dirty="0"/>
          </a:p>
        </p:txBody>
      </p:sp>
      <p:sp>
        <p:nvSpPr>
          <p:cNvPr id="8" name="Text 5"/>
          <p:cNvSpPr/>
          <p:nvPr/>
        </p:nvSpPr>
        <p:spPr>
          <a:xfrm>
            <a:off x="868680" y="2377440"/>
            <a:ext cx="4709160" cy="1371600"/>
          </a:xfrm>
          <a:prstGeom prst="rect">
            <a:avLst/>
          </a:prstGeom>
          <a:noFill/>
          <a:ln/>
        </p:spPr>
        <p:txBody>
          <a:bodyPr wrap="square" rtlCol="0" anchor="t"/>
          <a:lstStyle/>
          <a:p>
            <a:pPr marL="342900" indent="-342900">
              <a:spcAft>
                <a:spcPts val="1000"/>
              </a:spcAft>
              <a:buSzPct val="100000"/>
              <a:buChar char="•"/>
            </a:pPr>
            <a:r>
              <a:rPr lang="en-US" sz="1250" dirty="0">
                <a:solidFill>
                  <a:srgbClr val="1B2B22"/>
                </a:solidFill>
                <a:latin typeface="Calibri" pitchFamily="34" charset="0"/>
                <a:ea typeface="Calibri" pitchFamily="34" charset="-122"/>
                <a:cs typeface="Calibri" pitchFamily="34" charset="-120"/>
              </a:rPr>
              <a:t>Drag the fill handle to auto-complete patterns, dates, and number series instantly.</a:t>
            </a:r>
            <a:endParaRPr lang="en-US" sz="1250" dirty="0"/>
          </a:p>
          <a:p>
            <a:pPr marL="342900" indent="-342900">
              <a:spcAft>
                <a:spcPts val="1000"/>
              </a:spcAft>
              <a:buSzPct val="100000"/>
              <a:buChar char="•"/>
            </a:pPr>
            <a:r>
              <a:rPr lang="en-US" sz="1250" dirty="0">
                <a:solidFill>
                  <a:srgbClr val="1B2B22"/>
                </a:solidFill>
                <a:latin typeface="Calibri" pitchFamily="34" charset="0"/>
                <a:ea typeface="Calibri" pitchFamily="34" charset="-122"/>
                <a:cs typeface="Calibri" pitchFamily="34" charset="-120"/>
              </a:rPr>
              <a:t>Supports numbers, dates, months, weekdays, and formulas.</a:t>
            </a:r>
            <a:endParaRPr lang="en-US" sz="1250" dirty="0"/>
          </a:p>
          <a:p>
            <a:pPr marL="342900" indent="-342900">
              <a:buSzPct val="100000"/>
              <a:buChar char="•"/>
            </a:pPr>
            <a:r>
              <a:rPr lang="en-US" sz="1250" dirty="0">
                <a:solidFill>
                  <a:srgbClr val="1B2B22"/>
                </a:solidFill>
                <a:latin typeface="Calibri" pitchFamily="34" charset="0"/>
                <a:ea typeface="Calibri" pitchFamily="34" charset="-122"/>
                <a:cs typeface="Calibri" pitchFamily="34" charset="-120"/>
              </a:rPr>
              <a:t>Flash Fill (Ctrl+E) auto-detects patterns — great for splitting names or formatting phone numbers.</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68680" y="3840480"/>
          <a:ext cx="4709160" cy="1353312"/>
        </p:xfrm>
        <a:graphic>
          <a:graphicData uri="http://schemas.openxmlformats.org/drawingml/2006/table">
            <a:tbl>
              <a:tblPr/>
              <a:tblGrid>
                <a:gridCol w="2354580">
                  <a:extLst>
                    <a:ext uri="{9D8B030D-6E8A-4147-A177-3AD203B41FA5}">
                      <a16:colId xmlns:a16="http://schemas.microsoft.com/office/drawing/2014/main" val="20000"/>
                    </a:ext>
                  </a:extLst>
                </a:gridCol>
                <a:gridCol w="2354580">
                  <a:extLst>
                    <a:ext uri="{9D8B030D-6E8A-4147-A177-3AD203B41FA5}">
                      <a16:colId xmlns:a16="http://schemas.microsoft.com/office/drawing/2014/main" val="20001"/>
                    </a:ext>
                  </a:extLst>
                </a:gridCol>
              </a:tblGrid>
              <a:tr h="33832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Seed</a:t>
                      </a:r>
                      <a:endParaRPr lang="en-US" sz="115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1E7145"/>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AutoFill Result</a:t>
                      </a:r>
                      <a:endParaRPr lang="en-US" sz="115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1E7145"/>
                    </a:solidFill>
                  </a:tcPr>
                </a:tc>
                <a:extLst>
                  <a:ext uri="{0D108BD9-81ED-4DB2-BD59-A6C34878D82A}">
                    <a16:rowId xmlns:a16="http://schemas.microsoft.com/office/drawing/2014/main" val="10000"/>
                  </a:ext>
                </a:extLst>
              </a:tr>
              <a:tr h="338328">
                <a:tc>
                  <a:txBody>
                    <a:bodyPr/>
                    <a:lstStyle/>
                    <a:p>
                      <a:pPr marL="0" indent="0">
                        <a:buNone/>
                      </a:pPr>
                      <a:r>
                        <a:rPr lang="en-US" sz="1150" dirty="0">
                          <a:solidFill>
                            <a:srgbClr val="1B2B22"/>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FFFFF"/>
                    </a:solidFill>
                  </a:tcPr>
                </a:tc>
                <a:tc>
                  <a:txBody>
                    <a:bodyPr/>
                    <a:lstStyle/>
                    <a:p>
                      <a:pPr marL="0" indent="0">
                        <a:buNone/>
                      </a:pPr>
                      <a:r>
                        <a:rPr lang="en-US" sz="1150" dirty="0">
                          <a:solidFill>
                            <a:srgbClr val="1B2B22"/>
                          </a:solidFill>
                          <a:latin typeface="Calibri" pitchFamily="34" charset="0"/>
                          <a:ea typeface="Calibri" pitchFamily="34" charset="-122"/>
                          <a:cs typeface="Calibri" pitchFamily="34" charset="-120"/>
                        </a:rPr>
                        <a:t>2, 3, 4, 5 ...</a:t>
                      </a:r>
                      <a:endParaRPr lang="en-US" sz="115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8328">
                <a:tc>
                  <a:txBody>
                    <a:bodyPr/>
                    <a:lstStyle/>
                    <a:p>
                      <a:pPr marL="0" indent="0">
                        <a:buNone/>
                      </a:pPr>
                      <a:r>
                        <a:rPr lang="en-US" sz="1150" dirty="0">
                          <a:solidFill>
                            <a:srgbClr val="1B2B22"/>
                          </a:solidFill>
                          <a:latin typeface="Calibri" pitchFamily="34" charset="0"/>
                          <a:ea typeface="Calibri" pitchFamily="34" charset="-122"/>
                          <a:cs typeface="Calibri" pitchFamily="34" charset="-120"/>
                        </a:rPr>
                        <a:t>Monday</a:t>
                      </a:r>
                      <a:endParaRPr lang="en-US" sz="115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FFFFF"/>
                    </a:solidFill>
                  </a:tcPr>
                </a:tc>
                <a:tc>
                  <a:txBody>
                    <a:bodyPr/>
                    <a:lstStyle/>
                    <a:p>
                      <a:pPr marL="0" indent="0">
                        <a:buNone/>
                      </a:pPr>
                      <a:r>
                        <a:rPr lang="en-US" sz="1150" dirty="0">
                          <a:solidFill>
                            <a:srgbClr val="1B2B22"/>
                          </a:solidFill>
                          <a:latin typeface="Calibri" pitchFamily="34" charset="0"/>
                          <a:ea typeface="Calibri" pitchFamily="34" charset="-122"/>
                          <a:cs typeface="Calibri" pitchFamily="34" charset="-120"/>
                        </a:rPr>
                        <a:t>Tuesday, Wednesday ...</a:t>
                      </a:r>
                      <a:endParaRPr lang="en-US" sz="115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8328">
                <a:tc>
                  <a:txBody>
                    <a:bodyPr/>
                    <a:lstStyle/>
                    <a:p>
                      <a:pPr marL="0" indent="0">
                        <a:buNone/>
                      </a:pPr>
                      <a:r>
                        <a:rPr lang="en-US" sz="1150" dirty="0">
                          <a:solidFill>
                            <a:srgbClr val="1B2B22"/>
                          </a:solidFill>
                          <a:latin typeface="Calibri" pitchFamily="34" charset="0"/>
                          <a:ea typeface="Calibri" pitchFamily="34" charset="-122"/>
                          <a:cs typeface="Calibri" pitchFamily="34" charset="-120"/>
                        </a:rPr>
                        <a:t>Jan</a:t>
                      </a:r>
                      <a:endParaRPr lang="en-US" sz="115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FFFFF"/>
                    </a:solidFill>
                  </a:tcPr>
                </a:tc>
                <a:tc>
                  <a:txBody>
                    <a:bodyPr/>
                    <a:lstStyle/>
                    <a:p>
                      <a:pPr marL="0" indent="0">
                        <a:buNone/>
                      </a:pPr>
                      <a:r>
                        <a:rPr lang="en-US" sz="1150" dirty="0">
                          <a:solidFill>
                            <a:srgbClr val="1B2B22"/>
                          </a:solidFill>
                          <a:latin typeface="Calibri" pitchFamily="34" charset="0"/>
                          <a:ea typeface="Calibri" pitchFamily="34" charset="-122"/>
                          <a:cs typeface="Calibri" pitchFamily="34" charset="-120"/>
                        </a:rPr>
                        <a:t>Feb, Mar, Apr ...</a:t>
                      </a:r>
                      <a:endParaRPr lang="en-US" sz="115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Shape 6"/>
          <p:cNvSpPr/>
          <p:nvPr/>
        </p:nvSpPr>
        <p:spPr>
          <a:xfrm>
            <a:off x="6172200" y="1417320"/>
            <a:ext cx="5349240" cy="4800600"/>
          </a:xfrm>
          <a:prstGeom prst="roundRect">
            <a:avLst>
              <a:gd name="adj" fmla="val 1524"/>
            </a:avLst>
          </a:prstGeom>
          <a:solidFill>
            <a:srgbClr val="F3FAF5"/>
          </a:solidFill>
          <a:ln/>
        </p:spPr>
      </p:sp>
      <p:sp>
        <p:nvSpPr>
          <p:cNvPr id="11" name="Shape 7"/>
          <p:cNvSpPr/>
          <p:nvPr/>
        </p:nvSpPr>
        <p:spPr>
          <a:xfrm>
            <a:off x="6446520" y="1691640"/>
            <a:ext cx="548640" cy="548640"/>
          </a:xfrm>
          <a:prstGeom prst="ellipse">
            <a:avLst/>
          </a:prstGeom>
          <a:solidFill>
            <a:srgbClr val="2E8B57"/>
          </a:solidFill>
          <a:ln/>
        </p:spPr>
      </p:sp>
      <p:pic>
        <p:nvPicPr>
          <p:cNvPr id="12" name="Image 1" descr="/home/claude/excel_pptx/icons/list_white.png"/>
          <p:cNvPicPr>
            <a:picLocks noChangeAspect="1"/>
          </p:cNvPicPr>
          <p:nvPr/>
        </p:nvPicPr>
        <p:blipFill>
          <a:blip r:embed="rId4"/>
          <a:stretch>
            <a:fillRect/>
          </a:stretch>
        </p:blipFill>
        <p:spPr>
          <a:xfrm>
            <a:off x="6583680" y="1828800"/>
            <a:ext cx="274320" cy="274320"/>
          </a:xfrm>
          <a:prstGeom prst="rect">
            <a:avLst/>
          </a:prstGeom>
        </p:spPr>
      </p:pic>
      <p:sp>
        <p:nvSpPr>
          <p:cNvPr id="13" name="Text 8"/>
          <p:cNvSpPr/>
          <p:nvPr/>
        </p:nvSpPr>
        <p:spPr>
          <a:xfrm>
            <a:off x="7132320" y="1709928"/>
            <a:ext cx="3200400" cy="502920"/>
          </a:xfrm>
          <a:prstGeom prst="rect">
            <a:avLst/>
          </a:prstGeom>
          <a:noFill/>
          <a:ln/>
        </p:spPr>
        <p:txBody>
          <a:bodyPr wrap="square" rtlCol="0" anchor="ctr"/>
          <a:lstStyle/>
          <a:p>
            <a:pPr marL="0" indent="0">
              <a:buNone/>
            </a:pPr>
            <a:r>
              <a:rPr lang="en-US" sz="1800" b="1" dirty="0">
                <a:solidFill>
                  <a:srgbClr val="0F4C2C"/>
                </a:solidFill>
                <a:latin typeface="Calibri" pitchFamily="34" charset="0"/>
                <a:ea typeface="Calibri" pitchFamily="34" charset="-122"/>
                <a:cs typeface="Calibri" pitchFamily="34" charset="-120"/>
              </a:rPr>
              <a:t>Custom Lists</a:t>
            </a:r>
            <a:endParaRPr lang="en-US" sz="1800" dirty="0"/>
          </a:p>
        </p:txBody>
      </p:sp>
      <p:sp>
        <p:nvSpPr>
          <p:cNvPr id="14" name="Text 9"/>
          <p:cNvSpPr/>
          <p:nvPr/>
        </p:nvSpPr>
        <p:spPr>
          <a:xfrm>
            <a:off x="6492240" y="2377440"/>
            <a:ext cx="4709160" cy="1371600"/>
          </a:xfrm>
          <a:prstGeom prst="rect">
            <a:avLst/>
          </a:prstGeom>
          <a:noFill/>
          <a:ln/>
        </p:spPr>
        <p:txBody>
          <a:bodyPr wrap="square" rtlCol="0" anchor="t"/>
          <a:lstStyle/>
          <a:p>
            <a:pPr marL="342900" indent="-342900">
              <a:spcAft>
                <a:spcPts val="1000"/>
              </a:spcAft>
              <a:buSzPct val="100000"/>
              <a:buChar char="•"/>
            </a:pPr>
            <a:r>
              <a:rPr lang="en-US" sz="1250" dirty="0">
                <a:solidFill>
                  <a:srgbClr val="1B2B22"/>
                </a:solidFill>
                <a:latin typeface="Calibri" pitchFamily="34" charset="0"/>
                <a:ea typeface="Calibri" pitchFamily="34" charset="-122"/>
                <a:cs typeface="Calibri" pitchFamily="34" charset="-120"/>
              </a:rPr>
              <a:t>User-defined sequences that Excel remembers and reuses with AutoFill.</a:t>
            </a:r>
            <a:endParaRPr lang="en-US" sz="1250" dirty="0"/>
          </a:p>
          <a:p>
            <a:pPr marL="342900" indent="-342900">
              <a:spcAft>
                <a:spcPts val="1000"/>
              </a:spcAft>
              <a:buSzPct val="100000"/>
              <a:buChar char="•"/>
            </a:pPr>
            <a:r>
              <a:rPr lang="en-US" sz="1250" dirty="0">
                <a:solidFill>
                  <a:srgbClr val="1B2B22"/>
                </a:solidFill>
                <a:latin typeface="Calibri" pitchFamily="34" charset="0"/>
                <a:ea typeface="Calibri" pitchFamily="34" charset="-122"/>
                <a:cs typeface="Calibri" pitchFamily="34" charset="-120"/>
              </a:rPr>
              <a:t>Create via File → Options → Advanced → Edit Custom Lists.</a:t>
            </a:r>
            <a:endParaRPr lang="en-US" sz="1250" dirty="0"/>
          </a:p>
          <a:p>
            <a:pPr marL="342900" indent="-342900">
              <a:buSzPct val="100000"/>
              <a:buChar char="•"/>
            </a:pPr>
            <a:r>
              <a:rPr lang="en-US" sz="1250" dirty="0">
                <a:solidFill>
                  <a:srgbClr val="1B2B22"/>
                </a:solidFill>
                <a:latin typeface="Calibri" pitchFamily="34" charset="0"/>
                <a:ea typeface="Calibri" pitchFamily="34" charset="-122"/>
                <a:cs typeface="Calibri" pitchFamily="34" charset="-120"/>
              </a:rPr>
              <a:t>Ideal for department names, branch cities, student names, or product codes.</a:t>
            </a:r>
            <a:endParaRPr lang="en-US" sz="125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492240" y="3840480"/>
          <a:ext cx="4709160" cy="1353312"/>
        </p:xfrm>
        <a:graphic>
          <a:graphicData uri="http://schemas.openxmlformats.org/drawingml/2006/table">
            <a:tbl>
              <a:tblPr/>
              <a:tblGrid>
                <a:gridCol w="2354580">
                  <a:extLst>
                    <a:ext uri="{9D8B030D-6E8A-4147-A177-3AD203B41FA5}">
                      <a16:colId xmlns:a16="http://schemas.microsoft.com/office/drawing/2014/main" val="20000"/>
                    </a:ext>
                  </a:extLst>
                </a:gridCol>
                <a:gridCol w="2354580">
                  <a:extLst>
                    <a:ext uri="{9D8B030D-6E8A-4147-A177-3AD203B41FA5}">
                      <a16:colId xmlns:a16="http://schemas.microsoft.com/office/drawing/2014/main" val="20001"/>
                    </a:ext>
                  </a:extLst>
                </a:gridCol>
              </a:tblGrid>
              <a:tr h="33832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Custom List</a:t>
                      </a:r>
                      <a:endParaRPr lang="en-US" sz="115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2E8B57"/>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Fills As ...</a:t>
                      </a:r>
                      <a:endParaRPr lang="en-US" sz="115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2E8B57"/>
                    </a:solidFill>
                  </a:tcPr>
                </a:tc>
                <a:extLst>
                  <a:ext uri="{0D108BD9-81ED-4DB2-BD59-A6C34878D82A}">
                    <a16:rowId xmlns:a16="http://schemas.microsoft.com/office/drawing/2014/main" val="10000"/>
                  </a:ext>
                </a:extLst>
              </a:tr>
              <a:tr h="338328">
                <a:tc>
                  <a:txBody>
                    <a:bodyPr/>
                    <a:lstStyle/>
                    <a:p>
                      <a:pPr marL="0" indent="0">
                        <a:buNone/>
                      </a:pPr>
                      <a:r>
                        <a:rPr lang="en-US" sz="1150" dirty="0">
                          <a:solidFill>
                            <a:srgbClr val="1B2B22"/>
                          </a:solidFill>
                          <a:latin typeface="Calibri" pitchFamily="34" charset="0"/>
                          <a:ea typeface="Calibri" pitchFamily="34" charset="-122"/>
                          <a:cs typeface="Calibri" pitchFamily="34" charset="-120"/>
                        </a:rPr>
                        <a:t>Mumbai</a:t>
                      </a:r>
                      <a:endParaRPr lang="en-US" sz="115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FFFFF"/>
                    </a:solidFill>
                  </a:tcPr>
                </a:tc>
                <a:tc>
                  <a:txBody>
                    <a:bodyPr/>
                    <a:lstStyle/>
                    <a:p>
                      <a:pPr marL="0" indent="0">
                        <a:buNone/>
                      </a:pPr>
                      <a:r>
                        <a:rPr lang="en-US" sz="1150" dirty="0">
                          <a:solidFill>
                            <a:srgbClr val="1B2B22"/>
                          </a:solidFill>
                          <a:latin typeface="Calibri" pitchFamily="34" charset="0"/>
                          <a:ea typeface="Calibri" pitchFamily="34" charset="-122"/>
                          <a:cs typeface="Calibri" pitchFamily="34" charset="-120"/>
                        </a:rPr>
                        <a:t>Pune, Nashik, Nagpur ...</a:t>
                      </a:r>
                      <a:endParaRPr lang="en-US" sz="115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8328">
                <a:tc>
                  <a:txBody>
                    <a:bodyPr/>
                    <a:lstStyle/>
                    <a:p>
                      <a:pPr marL="0" indent="0">
                        <a:buNone/>
                      </a:pPr>
                      <a:r>
                        <a:rPr lang="en-US" sz="1150" dirty="0">
                          <a:solidFill>
                            <a:srgbClr val="1B2B22"/>
                          </a:solidFill>
                          <a:latin typeface="Calibri" pitchFamily="34" charset="0"/>
                          <a:ea typeface="Calibri" pitchFamily="34" charset="-122"/>
                          <a:cs typeface="Calibri" pitchFamily="34" charset="-120"/>
                        </a:rPr>
                        <a:t>Sales</a:t>
                      </a:r>
                      <a:endParaRPr lang="en-US" sz="115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FFFFF"/>
                    </a:solidFill>
                  </a:tcPr>
                </a:tc>
                <a:tc>
                  <a:txBody>
                    <a:bodyPr/>
                    <a:lstStyle/>
                    <a:p>
                      <a:pPr marL="0" indent="0">
                        <a:buNone/>
                      </a:pPr>
                      <a:r>
                        <a:rPr lang="en-US" sz="1150" dirty="0">
                          <a:solidFill>
                            <a:srgbClr val="1B2B22"/>
                          </a:solidFill>
                          <a:latin typeface="Calibri" pitchFamily="34" charset="0"/>
                          <a:ea typeface="Calibri" pitchFamily="34" charset="-122"/>
                          <a:cs typeface="Calibri" pitchFamily="34" charset="-120"/>
                        </a:rPr>
                        <a:t>Marketing, HR, Finance ...</a:t>
                      </a:r>
                      <a:endParaRPr lang="en-US" sz="115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8328">
                <a:tc>
                  <a:txBody>
                    <a:bodyPr/>
                    <a:lstStyle/>
                    <a:p>
                      <a:pPr marL="0" indent="0">
                        <a:buNone/>
                      </a:pPr>
                      <a:r>
                        <a:rPr lang="en-US" sz="1150" dirty="0">
                          <a:solidFill>
                            <a:srgbClr val="1B2B22"/>
                          </a:solidFill>
                          <a:latin typeface="Calibri" pitchFamily="34" charset="0"/>
                          <a:ea typeface="Calibri" pitchFamily="34" charset="-122"/>
                          <a:cs typeface="Calibri" pitchFamily="34" charset="-120"/>
                        </a:rPr>
                        <a:t>Term 1</a:t>
                      </a:r>
                      <a:endParaRPr lang="en-US" sz="115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FFFFF"/>
                    </a:solidFill>
                  </a:tcPr>
                </a:tc>
                <a:tc>
                  <a:txBody>
                    <a:bodyPr/>
                    <a:lstStyle/>
                    <a:p>
                      <a:pPr marL="0" indent="0">
                        <a:buNone/>
                      </a:pPr>
                      <a:r>
                        <a:rPr lang="en-US" sz="1150" dirty="0">
                          <a:solidFill>
                            <a:srgbClr val="1B2B22"/>
                          </a:solidFill>
                          <a:latin typeface="Calibri" pitchFamily="34" charset="0"/>
                          <a:ea typeface="Calibri" pitchFamily="34" charset="-122"/>
                          <a:cs typeface="Calibri" pitchFamily="34" charset="-120"/>
                        </a:rPr>
                        <a:t>Term 2, Term 3, Term 4</a:t>
                      </a:r>
                      <a:endParaRPr lang="en-US" sz="115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594360"/>
          </a:xfrm>
          <a:prstGeom prst="rect">
            <a:avLst/>
          </a:prstGeom>
          <a:noFill/>
          <a:ln/>
        </p:spPr>
        <p:txBody>
          <a:bodyPr wrap="square" rtlCol="0" anchor="ctr"/>
          <a:lstStyle/>
          <a:p>
            <a:pPr marL="0" indent="0">
              <a:buNone/>
            </a:pPr>
            <a:r>
              <a:rPr lang="en-US" sz="3200" b="1" dirty="0">
                <a:solidFill>
                  <a:srgbClr val="0F4C2C"/>
                </a:solidFill>
                <a:latin typeface="Cambria" pitchFamily="34" charset="0"/>
                <a:ea typeface="Cambria" pitchFamily="34" charset="-122"/>
                <a:cs typeface="Cambria" pitchFamily="34" charset="-120"/>
              </a:rPr>
              <a:t>Merging Cells</a:t>
            </a:r>
            <a:endParaRPr lang="en-US" sz="3200" dirty="0"/>
          </a:p>
        </p:txBody>
      </p:sp>
      <p:sp>
        <p:nvSpPr>
          <p:cNvPr id="3" name="Text 1"/>
          <p:cNvSpPr/>
          <p:nvPr/>
        </p:nvSpPr>
        <p:spPr>
          <a:xfrm>
            <a:off x="548640" y="960120"/>
            <a:ext cx="7315200" cy="320040"/>
          </a:xfrm>
          <a:prstGeom prst="rect">
            <a:avLst/>
          </a:prstGeom>
          <a:noFill/>
          <a:ln/>
        </p:spPr>
        <p:txBody>
          <a:bodyPr wrap="square" rtlCol="0" anchor="ctr"/>
          <a:lstStyle/>
          <a:p>
            <a:pPr marL="0" indent="0">
              <a:buNone/>
            </a:pPr>
            <a:r>
              <a:rPr lang="en-US" sz="1400" i="1" dirty="0">
                <a:solidFill>
                  <a:srgbClr val="5C6F64"/>
                </a:solidFill>
                <a:latin typeface="Calibri" pitchFamily="34" charset="0"/>
                <a:ea typeface="Calibri" pitchFamily="34" charset="-122"/>
                <a:cs typeface="Calibri" pitchFamily="34" charset="-120"/>
              </a:rPr>
              <a:t>Combine Cells for Better Layout</a:t>
            </a:r>
            <a:endParaRPr lang="en-US" sz="1400" dirty="0"/>
          </a:p>
        </p:txBody>
      </p:sp>
      <p:sp>
        <p:nvSpPr>
          <p:cNvPr id="4" name="Text 2"/>
          <p:cNvSpPr/>
          <p:nvPr/>
        </p:nvSpPr>
        <p:spPr>
          <a:xfrm>
            <a:off x="548640" y="1508760"/>
            <a:ext cx="5120640" cy="320040"/>
          </a:xfrm>
          <a:prstGeom prst="rect">
            <a:avLst/>
          </a:prstGeom>
          <a:noFill/>
          <a:ln/>
        </p:spPr>
        <p:txBody>
          <a:bodyPr wrap="square" rtlCol="0" anchor="ctr"/>
          <a:lstStyle/>
          <a:p>
            <a:pPr marL="0" indent="0">
              <a:buNone/>
            </a:pPr>
            <a:r>
              <a:rPr lang="en-US" sz="1500" b="1" dirty="0">
                <a:solidFill>
                  <a:srgbClr val="1E7145"/>
                </a:solidFill>
                <a:latin typeface="Calibri" pitchFamily="34" charset="0"/>
                <a:ea typeface="Calibri" pitchFamily="34" charset="-122"/>
                <a:cs typeface="Calibri" pitchFamily="34" charset="-120"/>
              </a:rPr>
              <a:t>What is Merging?</a:t>
            </a:r>
            <a:endParaRPr lang="en-US" sz="1500" dirty="0"/>
          </a:p>
        </p:txBody>
      </p:sp>
      <p:sp>
        <p:nvSpPr>
          <p:cNvPr id="5" name="Text 3"/>
          <p:cNvSpPr/>
          <p:nvPr/>
        </p:nvSpPr>
        <p:spPr>
          <a:xfrm>
            <a:off x="548640" y="1828800"/>
            <a:ext cx="5120640" cy="548640"/>
          </a:xfrm>
          <a:prstGeom prst="rect">
            <a:avLst/>
          </a:prstGeom>
          <a:noFill/>
          <a:ln/>
        </p:spPr>
        <p:txBody>
          <a:bodyPr wrap="square" rtlCol="0" anchor="ctr"/>
          <a:lstStyle/>
          <a:p>
            <a:pPr marL="0" indent="0">
              <a:buNone/>
            </a:pPr>
            <a:r>
              <a:rPr lang="en-US" sz="1250" dirty="0">
                <a:solidFill>
                  <a:srgbClr val="1B2B22"/>
                </a:solidFill>
                <a:latin typeface="Calibri" pitchFamily="34" charset="0"/>
                <a:ea typeface="Calibri" pitchFamily="34" charset="-122"/>
                <a:cs typeface="Calibri" pitchFamily="34" charset="-120"/>
              </a:rPr>
              <a:t>Merging combines two or more adjacent cells into one larger cell — ideal for titles, headers, and labels.</a:t>
            </a:r>
            <a:endParaRPr lang="en-US" sz="1250" dirty="0"/>
          </a:p>
        </p:txBody>
      </p:sp>
      <p:sp>
        <p:nvSpPr>
          <p:cNvPr id="6" name="Text 4"/>
          <p:cNvSpPr/>
          <p:nvPr/>
        </p:nvSpPr>
        <p:spPr>
          <a:xfrm>
            <a:off x="548640" y="2423160"/>
            <a:ext cx="5120640" cy="320040"/>
          </a:xfrm>
          <a:prstGeom prst="rect">
            <a:avLst/>
          </a:prstGeom>
          <a:noFill/>
          <a:ln/>
        </p:spPr>
        <p:txBody>
          <a:bodyPr wrap="square" rtlCol="0" anchor="ctr"/>
          <a:lstStyle/>
          <a:p>
            <a:pPr marL="0" indent="0">
              <a:buNone/>
            </a:pPr>
            <a:r>
              <a:rPr lang="en-US" sz="1500" b="1" dirty="0">
                <a:solidFill>
                  <a:srgbClr val="1E7145"/>
                </a:solidFill>
                <a:latin typeface="Calibri" pitchFamily="34" charset="0"/>
                <a:ea typeface="Calibri" pitchFamily="34" charset="-122"/>
                <a:cs typeface="Calibri" pitchFamily="34" charset="-120"/>
              </a:rPr>
              <a:t>Merge Options (Home → Alignment)</a:t>
            </a:r>
            <a:endParaRPr lang="en-US" sz="1500" dirty="0"/>
          </a:p>
        </p:txBody>
      </p:sp>
      <p:sp>
        <p:nvSpPr>
          <p:cNvPr id="7" name="Shape 5"/>
          <p:cNvSpPr/>
          <p:nvPr/>
        </p:nvSpPr>
        <p:spPr>
          <a:xfrm>
            <a:off x="548640" y="2852928"/>
            <a:ext cx="118872" cy="118872"/>
          </a:xfrm>
          <a:prstGeom prst="ellipse">
            <a:avLst/>
          </a:prstGeom>
          <a:solidFill>
            <a:srgbClr val="2E8B57"/>
          </a:solidFill>
          <a:ln/>
        </p:spPr>
      </p:sp>
      <p:sp>
        <p:nvSpPr>
          <p:cNvPr id="8" name="Text 6"/>
          <p:cNvSpPr/>
          <p:nvPr/>
        </p:nvSpPr>
        <p:spPr>
          <a:xfrm>
            <a:off x="822960" y="2715768"/>
            <a:ext cx="4846320" cy="365760"/>
          </a:xfrm>
          <a:prstGeom prst="rect">
            <a:avLst/>
          </a:prstGeom>
          <a:noFill/>
          <a:ln/>
        </p:spPr>
        <p:txBody>
          <a:bodyPr wrap="square" rtlCol="0" anchor="t"/>
          <a:lstStyle/>
          <a:p>
            <a:pPr marL="0" indent="0">
              <a:buNone/>
            </a:pPr>
            <a:r>
              <a:rPr lang="en-US" sz="1250" b="1" dirty="0">
                <a:solidFill>
                  <a:srgbClr val="1B2B22"/>
                </a:solidFill>
                <a:latin typeface="Calibri" pitchFamily="34" charset="0"/>
                <a:ea typeface="Calibri" pitchFamily="34" charset="-122"/>
                <a:cs typeface="Calibri" pitchFamily="34" charset="-120"/>
              </a:rPr>
              <a:t>Merge &amp; Center:  </a:t>
            </a:r>
            <a:r>
              <a:rPr lang="en-US" sz="1250" dirty="0">
                <a:solidFill>
                  <a:srgbClr val="5C6F64"/>
                </a:solidFill>
                <a:latin typeface="Calibri" pitchFamily="34" charset="0"/>
                <a:ea typeface="Calibri" pitchFamily="34" charset="-122"/>
                <a:cs typeface="Calibri" pitchFamily="34" charset="-120"/>
              </a:rPr>
              <a:t>Merges and centers content</a:t>
            </a:r>
            <a:endParaRPr lang="en-US" sz="1250" dirty="0"/>
          </a:p>
        </p:txBody>
      </p:sp>
      <p:sp>
        <p:nvSpPr>
          <p:cNvPr id="9" name="Shape 7"/>
          <p:cNvSpPr/>
          <p:nvPr/>
        </p:nvSpPr>
        <p:spPr>
          <a:xfrm>
            <a:off x="548640" y="3328416"/>
            <a:ext cx="118872" cy="118872"/>
          </a:xfrm>
          <a:prstGeom prst="ellipse">
            <a:avLst/>
          </a:prstGeom>
          <a:solidFill>
            <a:srgbClr val="2E8B57"/>
          </a:solidFill>
          <a:ln/>
        </p:spPr>
      </p:sp>
      <p:sp>
        <p:nvSpPr>
          <p:cNvPr id="10" name="Text 8"/>
          <p:cNvSpPr/>
          <p:nvPr/>
        </p:nvSpPr>
        <p:spPr>
          <a:xfrm>
            <a:off x="822960" y="3191256"/>
            <a:ext cx="4846320" cy="365760"/>
          </a:xfrm>
          <a:prstGeom prst="rect">
            <a:avLst/>
          </a:prstGeom>
          <a:noFill/>
          <a:ln/>
        </p:spPr>
        <p:txBody>
          <a:bodyPr wrap="square" rtlCol="0" anchor="t"/>
          <a:lstStyle/>
          <a:p>
            <a:pPr marL="0" indent="0">
              <a:buNone/>
            </a:pPr>
            <a:r>
              <a:rPr lang="en-US" sz="1250" b="1" dirty="0">
                <a:solidFill>
                  <a:srgbClr val="1B2B22"/>
                </a:solidFill>
                <a:latin typeface="Calibri" pitchFamily="34" charset="0"/>
                <a:ea typeface="Calibri" pitchFamily="34" charset="-122"/>
                <a:cs typeface="Calibri" pitchFamily="34" charset="-120"/>
              </a:rPr>
              <a:t>Merge Across:  </a:t>
            </a:r>
            <a:r>
              <a:rPr lang="en-US" sz="1250" dirty="0">
                <a:solidFill>
                  <a:srgbClr val="5C6F64"/>
                </a:solidFill>
                <a:latin typeface="Calibri" pitchFamily="34" charset="0"/>
                <a:ea typeface="Calibri" pitchFamily="34" charset="-122"/>
                <a:cs typeface="Calibri" pitchFamily="34" charset="-120"/>
              </a:rPr>
              <a:t>Merges each row separately</a:t>
            </a:r>
            <a:endParaRPr lang="en-US" sz="1250" dirty="0"/>
          </a:p>
        </p:txBody>
      </p:sp>
      <p:sp>
        <p:nvSpPr>
          <p:cNvPr id="11" name="Shape 9"/>
          <p:cNvSpPr/>
          <p:nvPr/>
        </p:nvSpPr>
        <p:spPr>
          <a:xfrm>
            <a:off x="548640" y="3803904"/>
            <a:ext cx="118872" cy="118872"/>
          </a:xfrm>
          <a:prstGeom prst="ellipse">
            <a:avLst/>
          </a:prstGeom>
          <a:solidFill>
            <a:srgbClr val="2E8B57"/>
          </a:solidFill>
          <a:ln/>
        </p:spPr>
      </p:sp>
      <p:sp>
        <p:nvSpPr>
          <p:cNvPr id="12" name="Text 10"/>
          <p:cNvSpPr/>
          <p:nvPr/>
        </p:nvSpPr>
        <p:spPr>
          <a:xfrm>
            <a:off x="822960" y="3666744"/>
            <a:ext cx="4846320" cy="365760"/>
          </a:xfrm>
          <a:prstGeom prst="rect">
            <a:avLst/>
          </a:prstGeom>
          <a:noFill/>
          <a:ln/>
        </p:spPr>
        <p:txBody>
          <a:bodyPr wrap="square" rtlCol="0" anchor="t"/>
          <a:lstStyle/>
          <a:p>
            <a:pPr marL="0" indent="0">
              <a:buNone/>
            </a:pPr>
            <a:r>
              <a:rPr lang="en-US" sz="1250" b="1" dirty="0">
                <a:solidFill>
                  <a:srgbClr val="1B2B22"/>
                </a:solidFill>
                <a:latin typeface="Calibri" pitchFamily="34" charset="0"/>
                <a:ea typeface="Calibri" pitchFamily="34" charset="-122"/>
                <a:cs typeface="Calibri" pitchFamily="34" charset="-120"/>
              </a:rPr>
              <a:t>Merge Cells:  </a:t>
            </a:r>
            <a:r>
              <a:rPr lang="en-US" sz="1250" dirty="0">
                <a:solidFill>
                  <a:srgbClr val="5C6F64"/>
                </a:solidFill>
                <a:latin typeface="Calibri" pitchFamily="34" charset="0"/>
                <a:ea typeface="Calibri" pitchFamily="34" charset="-122"/>
                <a:cs typeface="Calibri" pitchFamily="34" charset="-120"/>
              </a:rPr>
              <a:t>Merges without centering</a:t>
            </a:r>
            <a:endParaRPr lang="en-US" sz="1250" dirty="0"/>
          </a:p>
        </p:txBody>
      </p:sp>
      <p:sp>
        <p:nvSpPr>
          <p:cNvPr id="13" name="Shape 11"/>
          <p:cNvSpPr/>
          <p:nvPr/>
        </p:nvSpPr>
        <p:spPr>
          <a:xfrm>
            <a:off x="548640" y="4279392"/>
            <a:ext cx="118872" cy="118872"/>
          </a:xfrm>
          <a:prstGeom prst="ellipse">
            <a:avLst/>
          </a:prstGeom>
          <a:solidFill>
            <a:srgbClr val="2E8B57"/>
          </a:solidFill>
          <a:ln/>
        </p:spPr>
      </p:sp>
      <p:sp>
        <p:nvSpPr>
          <p:cNvPr id="14" name="Text 12"/>
          <p:cNvSpPr/>
          <p:nvPr/>
        </p:nvSpPr>
        <p:spPr>
          <a:xfrm>
            <a:off x="822960" y="4142232"/>
            <a:ext cx="4846320" cy="365760"/>
          </a:xfrm>
          <a:prstGeom prst="rect">
            <a:avLst/>
          </a:prstGeom>
          <a:noFill/>
          <a:ln/>
        </p:spPr>
        <p:txBody>
          <a:bodyPr wrap="square" rtlCol="0" anchor="t"/>
          <a:lstStyle/>
          <a:p>
            <a:pPr marL="0" indent="0">
              <a:buNone/>
            </a:pPr>
            <a:r>
              <a:rPr lang="en-US" sz="1250" b="1" dirty="0">
                <a:solidFill>
                  <a:srgbClr val="1B2B22"/>
                </a:solidFill>
                <a:latin typeface="Calibri" pitchFamily="34" charset="0"/>
                <a:ea typeface="Calibri" pitchFamily="34" charset="-122"/>
                <a:cs typeface="Calibri" pitchFamily="34" charset="-120"/>
              </a:rPr>
              <a:t>Unmerge Cells:  </a:t>
            </a:r>
            <a:r>
              <a:rPr lang="en-US" sz="1250" dirty="0">
                <a:solidFill>
                  <a:srgbClr val="5C6F64"/>
                </a:solidFill>
                <a:latin typeface="Calibri" pitchFamily="34" charset="0"/>
                <a:ea typeface="Calibri" pitchFamily="34" charset="-122"/>
                <a:cs typeface="Calibri" pitchFamily="34" charset="-120"/>
              </a:rPr>
              <a:t>Splits cells back apart</a:t>
            </a:r>
            <a:endParaRPr lang="en-US" sz="1250" dirty="0"/>
          </a:p>
        </p:txBody>
      </p:sp>
      <p:sp>
        <p:nvSpPr>
          <p:cNvPr id="15" name="Shape 13"/>
          <p:cNvSpPr/>
          <p:nvPr/>
        </p:nvSpPr>
        <p:spPr>
          <a:xfrm>
            <a:off x="548640" y="4828032"/>
            <a:ext cx="5120640" cy="1005840"/>
          </a:xfrm>
          <a:prstGeom prst="roundRect">
            <a:avLst>
              <a:gd name="adj" fmla="val 7273"/>
            </a:avLst>
          </a:prstGeom>
          <a:solidFill>
            <a:srgbClr val="FBF3E4"/>
          </a:solidFill>
          <a:ln/>
        </p:spPr>
      </p:sp>
      <p:pic>
        <p:nvPicPr>
          <p:cNvPr id="16" name="Image 0" descr="/home/claude/excel_pptx/icons/warning.png"/>
          <p:cNvPicPr>
            <a:picLocks noChangeAspect="1"/>
          </p:cNvPicPr>
          <p:nvPr/>
        </p:nvPicPr>
        <p:blipFill>
          <a:blip r:embed="rId3"/>
          <a:stretch>
            <a:fillRect/>
          </a:stretch>
        </p:blipFill>
        <p:spPr>
          <a:xfrm>
            <a:off x="777240" y="5056632"/>
            <a:ext cx="384048" cy="384048"/>
          </a:xfrm>
          <a:prstGeom prst="rect">
            <a:avLst/>
          </a:prstGeom>
        </p:spPr>
      </p:pic>
      <p:sp>
        <p:nvSpPr>
          <p:cNvPr id="17" name="Text 14"/>
          <p:cNvSpPr/>
          <p:nvPr/>
        </p:nvSpPr>
        <p:spPr>
          <a:xfrm>
            <a:off x="1280160" y="4892040"/>
            <a:ext cx="4206240" cy="777240"/>
          </a:xfrm>
          <a:prstGeom prst="rect">
            <a:avLst/>
          </a:prstGeom>
          <a:noFill/>
          <a:ln/>
        </p:spPr>
        <p:txBody>
          <a:bodyPr wrap="square" rtlCol="0" anchor="t"/>
          <a:lstStyle/>
          <a:p>
            <a:pPr marL="0" indent="0">
              <a:buNone/>
            </a:pPr>
            <a:r>
              <a:rPr lang="en-US" sz="1150" b="1" dirty="0">
                <a:solidFill>
                  <a:srgbClr val="8A5A00"/>
                </a:solidFill>
                <a:latin typeface="Calibri" pitchFamily="34" charset="0"/>
                <a:ea typeface="Calibri" pitchFamily="34" charset="-122"/>
                <a:cs typeface="Calibri" pitchFamily="34" charset="-120"/>
              </a:rPr>
              <a:t>Caution:  </a:t>
            </a:r>
            <a:r>
              <a:rPr lang="en-US" sz="1150" dirty="0">
                <a:solidFill>
                  <a:srgbClr val="6B4A1E"/>
                </a:solidFill>
                <a:latin typeface="Calibri" pitchFamily="34" charset="0"/>
                <a:ea typeface="Calibri" pitchFamily="34" charset="-122"/>
                <a:cs typeface="Calibri" pitchFamily="34" charset="-120"/>
              </a:rPr>
              <a:t>Merged cells can cause issues with sorting and formulas. Use merging only for presentation/header rows, not data rows.</a:t>
            </a:r>
            <a:endParaRPr lang="en-US" sz="1150" dirty="0"/>
          </a:p>
        </p:txBody>
      </p:sp>
      <p:sp>
        <p:nvSpPr>
          <p:cNvPr id="18" name="Shape 15"/>
          <p:cNvSpPr/>
          <p:nvPr/>
        </p:nvSpPr>
        <p:spPr>
          <a:xfrm>
            <a:off x="6400800" y="1554480"/>
            <a:ext cx="5120640" cy="4617720"/>
          </a:xfrm>
          <a:prstGeom prst="roundRect">
            <a:avLst>
              <a:gd name="adj" fmla="val 1584"/>
            </a:avLst>
          </a:prstGeom>
          <a:solidFill>
            <a:srgbClr val="F3FAF5"/>
          </a:solidFill>
          <a:ln/>
        </p:spPr>
      </p:sp>
      <p:sp>
        <p:nvSpPr>
          <p:cNvPr id="19" name="Text 16"/>
          <p:cNvSpPr/>
          <p:nvPr/>
        </p:nvSpPr>
        <p:spPr>
          <a:xfrm>
            <a:off x="6675120" y="1783080"/>
            <a:ext cx="4572000" cy="365760"/>
          </a:xfrm>
          <a:prstGeom prst="rect">
            <a:avLst/>
          </a:prstGeom>
          <a:noFill/>
          <a:ln/>
        </p:spPr>
        <p:txBody>
          <a:bodyPr wrap="square" rtlCol="0" anchor="ctr"/>
          <a:lstStyle/>
          <a:p>
            <a:pPr marL="0" indent="0">
              <a:buNone/>
            </a:pPr>
            <a:r>
              <a:rPr lang="en-US" sz="1400" b="1" dirty="0">
                <a:solidFill>
                  <a:srgbClr val="0F4C2C"/>
                </a:solidFill>
                <a:latin typeface="Calibri" pitchFamily="34" charset="0"/>
                <a:ea typeface="Calibri" pitchFamily="34" charset="-122"/>
                <a:cs typeface="Calibri" pitchFamily="34" charset="-120"/>
              </a:rPr>
              <a:t>Visual Example</a:t>
            </a:r>
            <a:endParaRPr lang="en-US" sz="1400" dirty="0"/>
          </a:p>
        </p:txBody>
      </p:sp>
      <p:sp>
        <p:nvSpPr>
          <p:cNvPr id="20" name="Text 17"/>
          <p:cNvSpPr/>
          <p:nvPr/>
        </p:nvSpPr>
        <p:spPr>
          <a:xfrm>
            <a:off x="6675120" y="2286000"/>
            <a:ext cx="1828800" cy="274320"/>
          </a:xfrm>
          <a:prstGeom prst="rect">
            <a:avLst/>
          </a:prstGeom>
          <a:noFill/>
          <a:ln/>
        </p:spPr>
        <p:txBody>
          <a:bodyPr wrap="square" rtlCol="0" anchor="ctr"/>
          <a:lstStyle/>
          <a:p>
            <a:pPr marL="0" indent="0">
              <a:buNone/>
            </a:pPr>
            <a:r>
              <a:rPr lang="en-US" sz="1100" dirty="0">
                <a:solidFill>
                  <a:srgbClr val="5C6F64"/>
                </a:solidFill>
                <a:latin typeface="Calibri" pitchFamily="34" charset="0"/>
                <a:ea typeface="Calibri" pitchFamily="34" charset="-122"/>
                <a:cs typeface="Calibri" pitchFamily="34" charset="-120"/>
              </a:rPr>
              <a:t>Before</a:t>
            </a:r>
            <a:endParaRPr lang="en-US" sz="1100" dirty="0"/>
          </a:p>
        </p:txBody>
      </p:sp>
      <p:sp>
        <p:nvSpPr>
          <p:cNvPr id="21" name="Shape 18"/>
          <p:cNvSpPr/>
          <p:nvPr/>
        </p:nvSpPr>
        <p:spPr>
          <a:xfrm>
            <a:off x="6675120" y="2606040"/>
            <a:ext cx="1417320" cy="640080"/>
          </a:xfrm>
          <a:prstGeom prst="rect">
            <a:avLst/>
          </a:prstGeom>
          <a:solidFill>
            <a:srgbClr val="FFFFFF"/>
          </a:solidFill>
          <a:ln w="12700">
            <a:solidFill>
              <a:srgbClr val="2E8B57"/>
            </a:solidFill>
            <a:prstDash val="solid"/>
          </a:ln>
        </p:spPr>
      </p:sp>
      <p:sp>
        <p:nvSpPr>
          <p:cNvPr id="22" name="Text 19"/>
          <p:cNvSpPr/>
          <p:nvPr/>
        </p:nvSpPr>
        <p:spPr>
          <a:xfrm>
            <a:off x="6675120" y="2606040"/>
            <a:ext cx="1417320" cy="640080"/>
          </a:xfrm>
          <a:prstGeom prst="rect">
            <a:avLst/>
          </a:prstGeom>
          <a:noFill/>
          <a:ln/>
        </p:spPr>
        <p:txBody>
          <a:bodyPr wrap="square" rtlCol="0" anchor="ctr"/>
          <a:lstStyle/>
          <a:p>
            <a:pPr marL="0" indent="0" algn="ctr">
              <a:buNone/>
            </a:pPr>
            <a:r>
              <a:rPr lang="en-US" sz="1300" dirty="0">
                <a:solidFill>
                  <a:srgbClr val="1B2B22"/>
                </a:solidFill>
                <a:latin typeface="Calibri" pitchFamily="34" charset="0"/>
                <a:ea typeface="Calibri" pitchFamily="34" charset="-122"/>
                <a:cs typeface="Calibri" pitchFamily="34" charset="-120"/>
              </a:rPr>
              <a:t>A2</a:t>
            </a:r>
            <a:endParaRPr lang="en-US" sz="1300" dirty="0"/>
          </a:p>
        </p:txBody>
      </p:sp>
      <p:sp>
        <p:nvSpPr>
          <p:cNvPr id="23" name="Shape 20"/>
          <p:cNvSpPr/>
          <p:nvPr/>
        </p:nvSpPr>
        <p:spPr>
          <a:xfrm>
            <a:off x="8138160" y="2606040"/>
            <a:ext cx="1417320" cy="640080"/>
          </a:xfrm>
          <a:prstGeom prst="rect">
            <a:avLst/>
          </a:prstGeom>
          <a:solidFill>
            <a:srgbClr val="FFFFFF"/>
          </a:solidFill>
          <a:ln w="12700">
            <a:solidFill>
              <a:srgbClr val="2E8B57"/>
            </a:solidFill>
            <a:prstDash val="solid"/>
          </a:ln>
        </p:spPr>
      </p:sp>
      <p:sp>
        <p:nvSpPr>
          <p:cNvPr id="24" name="Text 21"/>
          <p:cNvSpPr/>
          <p:nvPr/>
        </p:nvSpPr>
        <p:spPr>
          <a:xfrm>
            <a:off x="8138160" y="2606040"/>
            <a:ext cx="1417320" cy="640080"/>
          </a:xfrm>
          <a:prstGeom prst="rect">
            <a:avLst/>
          </a:prstGeom>
          <a:noFill/>
          <a:ln/>
        </p:spPr>
        <p:txBody>
          <a:bodyPr wrap="square" rtlCol="0" anchor="ctr"/>
          <a:lstStyle/>
          <a:p>
            <a:pPr marL="0" indent="0" algn="ctr">
              <a:buNone/>
            </a:pPr>
            <a:r>
              <a:rPr lang="en-US" sz="1300" dirty="0">
                <a:solidFill>
                  <a:srgbClr val="1B2B22"/>
                </a:solidFill>
                <a:latin typeface="Calibri" pitchFamily="34" charset="0"/>
                <a:ea typeface="Calibri" pitchFamily="34" charset="-122"/>
                <a:cs typeface="Calibri" pitchFamily="34" charset="-120"/>
              </a:rPr>
              <a:t>B2</a:t>
            </a:r>
            <a:endParaRPr lang="en-US" sz="1300" dirty="0"/>
          </a:p>
        </p:txBody>
      </p:sp>
      <p:sp>
        <p:nvSpPr>
          <p:cNvPr id="25" name="Shape 22"/>
          <p:cNvSpPr/>
          <p:nvPr/>
        </p:nvSpPr>
        <p:spPr>
          <a:xfrm>
            <a:off x="9601200" y="2606040"/>
            <a:ext cx="1417320" cy="640080"/>
          </a:xfrm>
          <a:prstGeom prst="rect">
            <a:avLst/>
          </a:prstGeom>
          <a:solidFill>
            <a:srgbClr val="FFFFFF"/>
          </a:solidFill>
          <a:ln w="12700">
            <a:solidFill>
              <a:srgbClr val="2E8B57"/>
            </a:solidFill>
            <a:prstDash val="solid"/>
          </a:ln>
        </p:spPr>
      </p:sp>
      <p:sp>
        <p:nvSpPr>
          <p:cNvPr id="26" name="Text 23"/>
          <p:cNvSpPr/>
          <p:nvPr/>
        </p:nvSpPr>
        <p:spPr>
          <a:xfrm>
            <a:off x="9601200" y="2606040"/>
            <a:ext cx="1417320" cy="640080"/>
          </a:xfrm>
          <a:prstGeom prst="rect">
            <a:avLst/>
          </a:prstGeom>
          <a:noFill/>
          <a:ln/>
        </p:spPr>
        <p:txBody>
          <a:bodyPr wrap="square" rtlCol="0" anchor="ctr"/>
          <a:lstStyle/>
          <a:p>
            <a:pPr marL="0" indent="0" algn="ctr">
              <a:buNone/>
            </a:pPr>
            <a:r>
              <a:rPr lang="en-US" sz="1300" dirty="0">
                <a:solidFill>
                  <a:srgbClr val="1B2B22"/>
                </a:solidFill>
                <a:latin typeface="Calibri" pitchFamily="34" charset="0"/>
                <a:ea typeface="Calibri" pitchFamily="34" charset="-122"/>
                <a:cs typeface="Calibri" pitchFamily="34" charset="-120"/>
              </a:rPr>
              <a:t>C2</a:t>
            </a:r>
            <a:endParaRPr lang="en-US" sz="1300" dirty="0"/>
          </a:p>
        </p:txBody>
      </p:sp>
      <p:pic>
        <p:nvPicPr>
          <p:cNvPr id="27" name="Image 1" descr="/home/claude/excel_pptx/icons/arrow.png"/>
          <p:cNvPicPr>
            <a:picLocks noChangeAspect="1"/>
          </p:cNvPicPr>
          <p:nvPr/>
        </p:nvPicPr>
        <p:blipFill>
          <a:blip r:embed="rId4"/>
          <a:stretch>
            <a:fillRect/>
          </a:stretch>
        </p:blipFill>
        <p:spPr>
          <a:xfrm rot="5400000">
            <a:off x="8732520" y="3383280"/>
            <a:ext cx="365760" cy="365760"/>
          </a:xfrm>
          <a:prstGeom prst="rect">
            <a:avLst/>
          </a:prstGeom>
        </p:spPr>
      </p:pic>
      <p:sp>
        <p:nvSpPr>
          <p:cNvPr id="28" name="Text 24"/>
          <p:cNvSpPr/>
          <p:nvPr/>
        </p:nvSpPr>
        <p:spPr>
          <a:xfrm>
            <a:off x="6675120" y="3840480"/>
            <a:ext cx="1828800" cy="274320"/>
          </a:xfrm>
          <a:prstGeom prst="rect">
            <a:avLst/>
          </a:prstGeom>
          <a:noFill/>
          <a:ln/>
        </p:spPr>
        <p:txBody>
          <a:bodyPr wrap="square" rtlCol="0" anchor="ctr"/>
          <a:lstStyle/>
          <a:p>
            <a:pPr marL="0" indent="0">
              <a:buNone/>
            </a:pPr>
            <a:r>
              <a:rPr lang="en-US" sz="1100" dirty="0">
                <a:solidFill>
                  <a:srgbClr val="5C6F64"/>
                </a:solidFill>
                <a:latin typeface="Calibri" pitchFamily="34" charset="0"/>
                <a:ea typeface="Calibri" pitchFamily="34" charset="-122"/>
                <a:cs typeface="Calibri" pitchFamily="34" charset="-120"/>
              </a:rPr>
              <a:t>After</a:t>
            </a:r>
            <a:endParaRPr lang="en-US" sz="1100" dirty="0"/>
          </a:p>
        </p:txBody>
      </p:sp>
      <p:sp>
        <p:nvSpPr>
          <p:cNvPr id="29" name="Shape 25"/>
          <p:cNvSpPr/>
          <p:nvPr/>
        </p:nvSpPr>
        <p:spPr>
          <a:xfrm>
            <a:off x="6675120" y="4160520"/>
            <a:ext cx="4343400" cy="640080"/>
          </a:xfrm>
          <a:prstGeom prst="rect">
            <a:avLst/>
          </a:prstGeom>
          <a:solidFill>
            <a:srgbClr val="1E7145"/>
          </a:solidFill>
          <a:ln w="12700">
            <a:solidFill>
              <a:srgbClr val="0F4C2C"/>
            </a:solidFill>
            <a:prstDash val="solid"/>
          </a:ln>
        </p:spPr>
      </p:sp>
      <p:sp>
        <p:nvSpPr>
          <p:cNvPr id="30" name="Text 26"/>
          <p:cNvSpPr/>
          <p:nvPr/>
        </p:nvSpPr>
        <p:spPr>
          <a:xfrm>
            <a:off x="6675120" y="4160520"/>
            <a:ext cx="4343400" cy="6400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Report Title (A2:C2 merged)</a:t>
            </a:r>
            <a:endParaRPr lang="en-US" sz="1300" dirty="0"/>
          </a:p>
        </p:txBody>
      </p:sp>
      <p:sp>
        <p:nvSpPr>
          <p:cNvPr id="31" name="Text 27"/>
          <p:cNvSpPr/>
          <p:nvPr/>
        </p:nvSpPr>
        <p:spPr>
          <a:xfrm>
            <a:off x="6675120" y="5074920"/>
            <a:ext cx="4572000" cy="457200"/>
          </a:xfrm>
          <a:prstGeom prst="rect">
            <a:avLst/>
          </a:prstGeom>
          <a:noFill/>
          <a:ln/>
        </p:spPr>
        <p:txBody>
          <a:bodyPr wrap="square" rtlCol="0" anchor="ctr"/>
          <a:lstStyle/>
          <a:p>
            <a:pPr marL="0" indent="0">
              <a:buNone/>
            </a:pPr>
            <a:r>
              <a:rPr lang="en-US" sz="1150" i="1" dirty="0">
                <a:solidFill>
                  <a:srgbClr val="5C6F64"/>
                </a:solidFill>
                <a:latin typeface="Calibri" pitchFamily="34" charset="0"/>
                <a:ea typeface="Calibri" pitchFamily="34" charset="-122"/>
                <a:cs typeface="Calibri" pitchFamily="34" charset="-120"/>
              </a:rPr>
              <a:t>Use Case: Report title spanning the full row width</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594360"/>
          </a:xfrm>
          <a:prstGeom prst="rect">
            <a:avLst/>
          </a:prstGeom>
          <a:noFill/>
          <a:ln/>
        </p:spPr>
        <p:txBody>
          <a:bodyPr wrap="square" rtlCol="0" anchor="ctr"/>
          <a:lstStyle/>
          <a:p>
            <a:pPr marL="0" indent="0">
              <a:buNone/>
            </a:pPr>
            <a:r>
              <a:rPr lang="en-US" sz="3200" b="1" dirty="0">
                <a:solidFill>
                  <a:srgbClr val="0F4C2C"/>
                </a:solidFill>
                <a:latin typeface="Cambria" pitchFamily="34" charset="0"/>
                <a:ea typeface="Cambria" pitchFamily="34" charset="-122"/>
                <a:cs typeface="Cambria" pitchFamily="34" charset="-120"/>
              </a:rPr>
              <a:t>Table Magic</a:t>
            </a:r>
            <a:endParaRPr lang="en-US" sz="3200" dirty="0"/>
          </a:p>
        </p:txBody>
      </p:sp>
      <p:sp>
        <p:nvSpPr>
          <p:cNvPr id="3" name="Text 1"/>
          <p:cNvSpPr/>
          <p:nvPr/>
        </p:nvSpPr>
        <p:spPr>
          <a:xfrm>
            <a:off x="548640" y="960120"/>
            <a:ext cx="8229600" cy="320040"/>
          </a:xfrm>
          <a:prstGeom prst="rect">
            <a:avLst/>
          </a:prstGeom>
          <a:noFill/>
          <a:ln/>
        </p:spPr>
        <p:txBody>
          <a:bodyPr wrap="square" rtlCol="0" anchor="ctr"/>
          <a:lstStyle/>
          <a:p>
            <a:pPr marL="0" indent="0">
              <a:buNone/>
            </a:pPr>
            <a:r>
              <a:rPr lang="en-US" sz="1400" i="1" dirty="0">
                <a:solidFill>
                  <a:srgbClr val="5C6F64"/>
                </a:solidFill>
                <a:latin typeface="Calibri" pitchFamily="34" charset="0"/>
                <a:ea typeface="Calibri" pitchFamily="34" charset="-122"/>
                <a:cs typeface="Calibri" pitchFamily="34" charset="-120"/>
              </a:rPr>
              <a:t>Supercharge Your Data with Excel Tables (Ctrl+T)</a:t>
            </a:r>
            <a:endParaRPr lang="en-US" sz="1400" dirty="0"/>
          </a:p>
        </p:txBody>
      </p:sp>
      <p:sp>
        <p:nvSpPr>
          <p:cNvPr id="4" name="Text 2"/>
          <p:cNvSpPr/>
          <p:nvPr/>
        </p:nvSpPr>
        <p:spPr>
          <a:xfrm>
            <a:off x="548640" y="1417320"/>
            <a:ext cx="10515600" cy="457200"/>
          </a:xfrm>
          <a:prstGeom prst="rect">
            <a:avLst/>
          </a:prstGeom>
          <a:noFill/>
          <a:ln/>
        </p:spPr>
        <p:txBody>
          <a:bodyPr wrap="square" rtlCol="0" anchor="ctr"/>
          <a:lstStyle/>
          <a:p>
            <a:pPr marL="0" indent="0">
              <a:buNone/>
            </a:pPr>
            <a:r>
              <a:rPr lang="en-US" sz="1300" dirty="0">
                <a:solidFill>
                  <a:srgbClr val="1B2B22"/>
                </a:solidFill>
                <a:latin typeface="Calibri" pitchFamily="34" charset="0"/>
                <a:ea typeface="Calibri" pitchFamily="34" charset="-122"/>
                <a:cs typeface="Calibri" pitchFamily="34" charset="-120"/>
              </a:rPr>
              <a:t>An Excel Table converts a plain data range into a structured, intelligent object with built-in tools and formatting.</a:t>
            </a:r>
            <a:endParaRPr lang="en-US" sz="1300" dirty="0"/>
          </a:p>
        </p:txBody>
      </p:sp>
      <p:sp>
        <p:nvSpPr>
          <p:cNvPr id="5" name="Shape 3"/>
          <p:cNvSpPr/>
          <p:nvPr/>
        </p:nvSpPr>
        <p:spPr>
          <a:xfrm>
            <a:off x="548640" y="2057400"/>
            <a:ext cx="2542032" cy="1828800"/>
          </a:xfrm>
          <a:prstGeom prst="roundRect">
            <a:avLst>
              <a:gd name="adj" fmla="val 4000"/>
            </a:avLst>
          </a:prstGeom>
          <a:solidFill>
            <a:srgbClr val="F3FAF5"/>
          </a:solidFill>
          <a:ln/>
        </p:spPr>
      </p:sp>
      <p:sp>
        <p:nvSpPr>
          <p:cNvPr id="6" name="Shape 4"/>
          <p:cNvSpPr/>
          <p:nvPr/>
        </p:nvSpPr>
        <p:spPr>
          <a:xfrm>
            <a:off x="1527048" y="2286000"/>
            <a:ext cx="585216" cy="585216"/>
          </a:xfrm>
          <a:prstGeom prst="ellipse">
            <a:avLst/>
          </a:prstGeom>
          <a:solidFill>
            <a:srgbClr val="1E7145"/>
          </a:solidFill>
          <a:ln/>
        </p:spPr>
      </p:sp>
      <p:pic>
        <p:nvPicPr>
          <p:cNvPr id="7" name="Image 0" descr="/home/claude/excel_pptx/icons/filter_white.png"/>
          <p:cNvPicPr>
            <a:picLocks noChangeAspect="1"/>
          </p:cNvPicPr>
          <p:nvPr/>
        </p:nvPicPr>
        <p:blipFill>
          <a:blip r:embed="rId3"/>
          <a:stretch>
            <a:fillRect/>
          </a:stretch>
        </p:blipFill>
        <p:spPr>
          <a:xfrm>
            <a:off x="1664208" y="2423160"/>
            <a:ext cx="310896" cy="310896"/>
          </a:xfrm>
          <a:prstGeom prst="rect">
            <a:avLst/>
          </a:prstGeom>
        </p:spPr>
      </p:pic>
      <p:sp>
        <p:nvSpPr>
          <p:cNvPr id="8" name="Text 5"/>
          <p:cNvSpPr/>
          <p:nvPr/>
        </p:nvSpPr>
        <p:spPr>
          <a:xfrm>
            <a:off x="685800" y="2971800"/>
            <a:ext cx="2267712" cy="320040"/>
          </a:xfrm>
          <a:prstGeom prst="rect">
            <a:avLst/>
          </a:prstGeom>
          <a:noFill/>
          <a:ln/>
        </p:spPr>
        <p:txBody>
          <a:bodyPr wrap="square" rtlCol="0" anchor="ctr"/>
          <a:lstStyle/>
          <a:p>
            <a:pPr marL="0" indent="0" algn="ctr">
              <a:buNone/>
            </a:pPr>
            <a:r>
              <a:rPr lang="en-US" sz="1350" b="1" dirty="0">
                <a:solidFill>
                  <a:srgbClr val="0F4C2C"/>
                </a:solidFill>
                <a:latin typeface="Calibri" pitchFamily="34" charset="0"/>
                <a:ea typeface="Calibri" pitchFamily="34" charset="-122"/>
                <a:cs typeface="Calibri" pitchFamily="34" charset="-120"/>
              </a:rPr>
              <a:t>Auto Filters</a:t>
            </a:r>
            <a:endParaRPr lang="en-US" sz="1350" dirty="0"/>
          </a:p>
        </p:txBody>
      </p:sp>
      <p:sp>
        <p:nvSpPr>
          <p:cNvPr id="9" name="Text 6"/>
          <p:cNvSpPr/>
          <p:nvPr/>
        </p:nvSpPr>
        <p:spPr>
          <a:xfrm>
            <a:off x="731520" y="3291840"/>
            <a:ext cx="2176272" cy="548640"/>
          </a:xfrm>
          <a:prstGeom prst="rect">
            <a:avLst/>
          </a:prstGeom>
          <a:noFill/>
          <a:ln/>
        </p:spPr>
        <p:txBody>
          <a:bodyPr wrap="square" rtlCol="0" anchor="t"/>
          <a:lstStyle/>
          <a:p>
            <a:pPr marL="0" indent="0" algn="ctr">
              <a:buNone/>
            </a:pPr>
            <a:r>
              <a:rPr lang="en-US" sz="1050" dirty="0">
                <a:solidFill>
                  <a:srgbClr val="5C6F64"/>
                </a:solidFill>
                <a:latin typeface="Calibri" pitchFamily="34" charset="0"/>
                <a:ea typeface="Calibri" pitchFamily="34" charset="-122"/>
                <a:cs typeface="Calibri" pitchFamily="34" charset="-120"/>
              </a:rPr>
              <a:t>Dropdown filters added automatically to every column header.</a:t>
            </a:r>
            <a:endParaRPr lang="en-US" sz="1050" dirty="0"/>
          </a:p>
        </p:txBody>
      </p:sp>
      <p:sp>
        <p:nvSpPr>
          <p:cNvPr id="10" name="Shape 7"/>
          <p:cNvSpPr/>
          <p:nvPr/>
        </p:nvSpPr>
        <p:spPr>
          <a:xfrm>
            <a:off x="3273552" y="2057400"/>
            <a:ext cx="2542032" cy="1828800"/>
          </a:xfrm>
          <a:prstGeom prst="roundRect">
            <a:avLst>
              <a:gd name="adj" fmla="val 4000"/>
            </a:avLst>
          </a:prstGeom>
          <a:solidFill>
            <a:srgbClr val="F3FAF5"/>
          </a:solidFill>
          <a:ln/>
        </p:spPr>
      </p:sp>
      <p:sp>
        <p:nvSpPr>
          <p:cNvPr id="11" name="Shape 8"/>
          <p:cNvSpPr/>
          <p:nvPr/>
        </p:nvSpPr>
        <p:spPr>
          <a:xfrm>
            <a:off x="4251960" y="2286000"/>
            <a:ext cx="585216" cy="585216"/>
          </a:xfrm>
          <a:prstGeom prst="ellipse">
            <a:avLst/>
          </a:prstGeom>
          <a:solidFill>
            <a:srgbClr val="2E8B57"/>
          </a:solidFill>
          <a:ln/>
        </p:spPr>
      </p:sp>
      <p:pic>
        <p:nvPicPr>
          <p:cNvPr id="12" name="Image 1" descr="/home/claude/excel_pptx/icons/layers_white.png"/>
          <p:cNvPicPr>
            <a:picLocks noChangeAspect="1"/>
          </p:cNvPicPr>
          <p:nvPr/>
        </p:nvPicPr>
        <p:blipFill>
          <a:blip r:embed="rId4"/>
          <a:stretch>
            <a:fillRect/>
          </a:stretch>
        </p:blipFill>
        <p:spPr>
          <a:xfrm>
            <a:off x="4389120" y="2423160"/>
            <a:ext cx="310896" cy="310896"/>
          </a:xfrm>
          <a:prstGeom prst="rect">
            <a:avLst/>
          </a:prstGeom>
        </p:spPr>
      </p:pic>
      <p:sp>
        <p:nvSpPr>
          <p:cNvPr id="13" name="Text 9"/>
          <p:cNvSpPr/>
          <p:nvPr/>
        </p:nvSpPr>
        <p:spPr>
          <a:xfrm>
            <a:off x="3410712" y="2971800"/>
            <a:ext cx="2267712" cy="320040"/>
          </a:xfrm>
          <a:prstGeom prst="rect">
            <a:avLst/>
          </a:prstGeom>
          <a:noFill/>
          <a:ln/>
        </p:spPr>
        <p:txBody>
          <a:bodyPr wrap="square" rtlCol="0" anchor="ctr"/>
          <a:lstStyle/>
          <a:p>
            <a:pPr marL="0" indent="0" algn="ctr">
              <a:buNone/>
            </a:pPr>
            <a:r>
              <a:rPr lang="en-US" sz="1350" b="1" dirty="0">
                <a:solidFill>
                  <a:srgbClr val="0F4C2C"/>
                </a:solidFill>
                <a:latin typeface="Calibri" pitchFamily="34" charset="0"/>
                <a:ea typeface="Calibri" pitchFamily="34" charset="-122"/>
                <a:cs typeface="Calibri" pitchFamily="34" charset="-120"/>
              </a:rPr>
              <a:t>Banded Rows</a:t>
            </a:r>
            <a:endParaRPr lang="en-US" sz="1350" dirty="0"/>
          </a:p>
        </p:txBody>
      </p:sp>
      <p:sp>
        <p:nvSpPr>
          <p:cNvPr id="14" name="Text 10"/>
          <p:cNvSpPr/>
          <p:nvPr/>
        </p:nvSpPr>
        <p:spPr>
          <a:xfrm>
            <a:off x="3456432" y="3291840"/>
            <a:ext cx="2176272" cy="548640"/>
          </a:xfrm>
          <a:prstGeom prst="rect">
            <a:avLst/>
          </a:prstGeom>
          <a:noFill/>
          <a:ln/>
        </p:spPr>
        <p:txBody>
          <a:bodyPr wrap="square" rtlCol="0" anchor="t"/>
          <a:lstStyle/>
          <a:p>
            <a:pPr marL="0" indent="0" algn="ctr">
              <a:buNone/>
            </a:pPr>
            <a:r>
              <a:rPr lang="en-US" sz="1050" dirty="0">
                <a:solidFill>
                  <a:srgbClr val="5C6F64"/>
                </a:solidFill>
                <a:latin typeface="Calibri" pitchFamily="34" charset="0"/>
                <a:ea typeface="Calibri" pitchFamily="34" charset="-122"/>
                <a:cs typeface="Calibri" pitchFamily="34" charset="-120"/>
              </a:rPr>
              <a:t>Alternating row colors improve readability at a glance.</a:t>
            </a:r>
            <a:endParaRPr lang="en-US" sz="1050" dirty="0"/>
          </a:p>
        </p:txBody>
      </p:sp>
      <p:sp>
        <p:nvSpPr>
          <p:cNvPr id="15" name="Shape 11"/>
          <p:cNvSpPr/>
          <p:nvPr/>
        </p:nvSpPr>
        <p:spPr>
          <a:xfrm>
            <a:off x="5998464" y="2057400"/>
            <a:ext cx="2542032" cy="1828800"/>
          </a:xfrm>
          <a:prstGeom prst="roundRect">
            <a:avLst>
              <a:gd name="adj" fmla="val 4000"/>
            </a:avLst>
          </a:prstGeom>
          <a:solidFill>
            <a:srgbClr val="F3FAF5"/>
          </a:solidFill>
          <a:ln/>
        </p:spPr>
      </p:sp>
      <p:sp>
        <p:nvSpPr>
          <p:cNvPr id="16" name="Shape 12"/>
          <p:cNvSpPr/>
          <p:nvPr/>
        </p:nvSpPr>
        <p:spPr>
          <a:xfrm>
            <a:off x="6976872" y="2286000"/>
            <a:ext cx="585216" cy="585216"/>
          </a:xfrm>
          <a:prstGeom prst="ellipse">
            <a:avLst/>
          </a:prstGeom>
          <a:solidFill>
            <a:srgbClr val="1E7145"/>
          </a:solidFill>
          <a:ln/>
        </p:spPr>
      </p:sp>
      <p:pic>
        <p:nvPicPr>
          <p:cNvPr id="17" name="Image 2" descr="/home/claude/excel_pptx/icons/sync_white.png"/>
          <p:cNvPicPr>
            <a:picLocks noChangeAspect="1"/>
          </p:cNvPicPr>
          <p:nvPr/>
        </p:nvPicPr>
        <p:blipFill>
          <a:blip r:embed="rId5"/>
          <a:stretch>
            <a:fillRect/>
          </a:stretch>
        </p:blipFill>
        <p:spPr>
          <a:xfrm>
            <a:off x="7114032" y="2423160"/>
            <a:ext cx="310896" cy="310896"/>
          </a:xfrm>
          <a:prstGeom prst="rect">
            <a:avLst/>
          </a:prstGeom>
        </p:spPr>
      </p:pic>
      <p:sp>
        <p:nvSpPr>
          <p:cNvPr id="18" name="Text 13"/>
          <p:cNvSpPr/>
          <p:nvPr/>
        </p:nvSpPr>
        <p:spPr>
          <a:xfrm>
            <a:off x="6135624" y="2971800"/>
            <a:ext cx="2267712" cy="320040"/>
          </a:xfrm>
          <a:prstGeom prst="rect">
            <a:avLst/>
          </a:prstGeom>
          <a:noFill/>
          <a:ln/>
        </p:spPr>
        <p:txBody>
          <a:bodyPr wrap="square" rtlCol="0" anchor="ctr"/>
          <a:lstStyle/>
          <a:p>
            <a:pPr marL="0" indent="0" algn="ctr">
              <a:buNone/>
            </a:pPr>
            <a:r>
              <a:rPr lang="en-US" sz="1350" b="1" dirty="0">
                <a:solidFill>
                  <a:srgbClr val="0F4C2C"/>
                </a:solidFill>
                <a:latin typeface="Calibri" pitchFamily="34" charset="0"/>
                <a:ea typeface="Calibri" pitchFamily="34" charset="-122"/>
                <a:cs typeface="Calibri" pitchFamily="34" charset="-120"/>
              </a:rPr>
              <a:t>Auto Expansion</a:t>
            </a:r>
            <a:endParaRPr lang="en-US" sz="1350" dirty="0"/>
          </a:p>
        </p:txBody>
      </p:sp>
      <p:sp>
        <p:nvSpPr>
          <p:cNvPr id="19" name="Text 14"/>
          <p:cNvSpPr/>
          <p:nvPr/>
        </p:nvSpPr>
        <p:spPr>
          <a:xfrm>
            <a:off x="6181344" y="3291840"/>
            <a:ext cx="2176272" cy="548640"/>
          </a:xfrm>
          <a:prstGeom prst="rect">
            <a:avLst/>
          </a:prstGeom>
          <a:noFill/>
          <a:ln/>
        </p:spPr>
        <p:txBody>
          <a:bodyPr wrap="square" rtlCol="0" anchor="t"/>
          <a:lstStyle/>
          <a:p>
            <a:pPr marL="0" indent="0" algn="ctr">
              <a:buNone/>
            </a:pPr>
            <a:r>
              <a:rPr lang="en-US" sz="1050" dirty="0">
                <a:solidFill>
                  <a:srgbClr val="5C6F64"/>
                </a:solidFill>
                <a:latin typeface="Calibri" pitchFamily="34" charset="0"/>
                <a:ea typeface="Calibri" pitchFamily="34" charset="-122"/>
                <a:cs typeface="Calibri" pitchFamily="34" charset="-120"/>
              </a:rPr>
              <a:t>Table grows automatically when new rows or columns are added.</a:t>
            </a:r>
            <a:endParaRPr lang="en-US" sz="1050" dirty="0"/>
          </a:p>
        </p:txBody>
      </p:sp>
      <p:sp>
        <p:nvSpPr>
          <p:cNvPr id="20" name="Shape 15"/>
          <p:cNvSpPr/>
          <p:nvPr/>
        </p:nvSpPr>
        <p:spPr>
          <a:xfrm>
            <a:off x="8723376" y="2057400"/>
            <a:ext cx="2542032" cy="1828800"/>
          </a:xfrm>
          <a:prstGeom prst="roundRect">
            <a:avLst>
              <a:gd name="adj" fmla="val 4000"/>
            </a:avLst>
          </a:prstGeom>
          <a:solidFill>
            <a:srgbClr val="F3FAF5"/>
          </a:solidFill>
          <a:ln/>
        </p:spPr>
      </p:sp>
      <p:sp>
        <p:nvSpPr>
          <p:cNvPr id="21" name="Shape 16"/>
          <p:cNvSpPr/>
          <p:nvPr/>
        </p:nvSpPr>
        <p:spPr>
          <a:xfrm>
            <a:off x="9701784" y="2286000"/>
            <a:ext cx="585216" cy="585216"/>
          </a:xfrm>
          <a:prstGeom prst="ellipse">
            <a:avLst/>
          </a:prstGeom>
          <a:solidFill>
            <a:srgbClr val="2E8B57"/>
          </a:solidFill>
          <a:ln/>
        </p:spPr>
      </p:sp>
      <p:pic>
        <p:nvPicPr>
          <p:cNvPr id="22" name="Image 3" descr="/home/claude/excel_pptx/icons/calculator_white.png"/>
          <p:cNvPicPr>
            <a:picLocks noChangeAspect="1"/>
          </p:cNvPicPr>
          <p:nvPr/>
        </p:nvPicPr>
        <p:blipFill>
          <a:blip r:embed="rId6"/>
          <a:stretch>
            <a:fillRect/>
          </a:stretch>
        </p:blipFill>
        <p:spPr>
          <a:xfrm>
            <a:off x="9838944" y="2423160"/>
            <a:ext cx="310896" cy="310896"/>
          </a:xfrm>
          <a:prstGeom prst="rect">
            <a:avLst/>
          </a:prstGeom>
        </p:spPr>
      </p:pic>
      <p:sp>
        <p:nvSpPr>
          <p:cNvPr id="23" name="Text 17"/>
          <p:cNvSpPr/>
          <p:nvPr/>
        </p:nvSpPr>
        <p:spPr>
          <a:xfrm>
            <a:off x="8860536" y="2971800"/>
            <a:ext cx="2267712" cy="320040"/>
          </a:xfrm>
          <a:prstGeom prst="rect">
            <a:avLst/>
          </a:prstGeom>
          <a:noFill/>
          <a:ln/>
        </p:spPr>
        <p:txBody>
          <a:bodyPr wrap="square" rtlCol="0" anchor="ctr"/>
          <a:lstStyle/>
          <a:p>
            <a:pPr marL="0" indent="0" algn="ctr">
              <a:buNone/>
            </a:pPr>
            <a:r>
              <a:rPr lang="en-US" sz="1350" b="1" dirty="0">
                <a:solidFill>
                  <a:srgbClr val="0F4C2C"/>
                </a:solidFill>
                <a:latin typeface="Calibri" pitchFamily="34" charset="0"/>
                <a:ea typeface="Calibri" pitchFamily="34" charset="-122"/>
                <a:cs typeface="Calibri" pitchFamily="34" charset="-120"/>
              </a:rPr>
              <a:t>Structured Refs</a:t>
            </a:r>
            <a:endParaRPr lang="en-US" sz="1350" dirty="0"/>
          </a:p>
        </p:txBody>
      </p:sp>
      <p:sp>
        <p:nvSpPr>
          <p:cNvPr id="24" name="Text 18"/>
          <p:cNvSpPr/>
          <p:nvPr/>
        </p:nvSpPr>
        <p:spPr>
          <a:xfrm>
            <a:off x="8906256" y="3291840"/>
            <a:ext cx="2176272" cy="548640"/>
          </a:xfrm>
          <a:prstGeom prst="rect">
            <a:avLst/>
          </a:prstGeom>
          <a:noFill/>
          <a:ln/>
        </p:spPr>
        <p:txBody>
          <a:bodyPr wrap="square" rtlCol="0" anchor="t"/>
          <a:lstStyle/>
          <a:p>
            <a:pPr marL="0" indent="0" algn="ctr">
              <a:buNone/>
            </a:pPr>
            <a:r>
              <a:rPr lang="en-US" sz="1050" dirty="0">
                <a:solidFill>
                  <a:srgbClr val="5C6F64"/>
                </a:solidFill>
                <a:latin typeface="Calibri" pitchFamily="34" charset="0"/>
                <a:ea typeface="Calibri" pitchFamily="34" charset="-122"/>
                <a:cs typeface="Calibri" pitchFamily="34" charset="-120"/>
              </a:rPr>
              <a:t>Formulas use clear names like Table1[Sales] instead of cell ranges.</a:t>
            </a:r>
            <a:endParaRPr lang="en-US" sz="1050" dirty="0"/>
          </a:p>
        </p:txBody>
      </p:sp>
      <p:sp>
        <p:nvSpPr>
          <p:cNvPr id="25" name="Text 19"/>
          <p:cNvSpPr/>
          <p:nvPr/>
        </p:nvSpPr>
        <p:spPr>
          <a:xfrm>
            <a:off x="548640" y="4251960"/>
            <a:ext cx="5486400" cy="320040"/>
          </a:xfrm>
          <a:prstGeom prst="rect">
            <a:avLst/>
          </a:prstGeom>
          <a:noFill/>
          <a:ln/>
        </p:spPr>
        <p:txBody>
          <a:bodyPr wrap="square" rtlCol="0" anchor="ctr"/>
          <a:lstStyle/>
          <a:p>
            <a:pPr marL="0" indent="0">
              <a:buNone/>
            </a:pPr>
            <a:r>
              <a:rPr lang="en-US" sz="1400" b="1" dirty="0">
                <a:solidFill>
                  <a:srgbClr val="1E7145"/>
                </a:solidFill>
                <a:latin typeface="Calibri" pitchFamily="34" charset="0"/>
                <a:ea typeface="Calibri" pitchFamily="34" charset="-122"/>
                <a:cs typeface="Calibri" pitchFamily="34" charset="-120"/>
              </a:rPr>
              <a:t>Plain Range vs. Excel Table</a:t>
            </a:r>
            <a:endParaRPr lang="en-US" sz="1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4617720"/>
          <a:ext cx="10515600" cy="1828800"/>
        </p:xfrm>
        <a:graphic>
          <a:graphicData uri="http://schemas.openxmlformats.org/drawingml/2006/table">
            <a:tbl>
              <a:tblPr/>
              <a:tblGrid>
                <a:gridCol w="32004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1E714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Plain Range</a:t>
                      </a:r>
                      <a:endParaRPr lang="en-US" sz="120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1E714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Excel Table</a:t>
                      </a:r>
                      <a:endParaRPr lang="en-US" sz="120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1E7145"/>
                    </a:solidFill>
                  </a:tcPr>
                </a:tc>
                <a:extLst>
                  <a:ext uri="{0D108BD9-81ED-4DB2-BD59-A6C34878D82A}">
                    <a16:rowId xmlns:a16="http://schemas.microsoft.com/office/drawing/2014/main" val="10000"/>
                  </a:ext>
                </a:extLst>
              </a:tr>
              <a:tr h="365760">
                <a:tc>
                  <a:txBody>
                    <a:bodyPr/>
                    <a:lstStyle/>
                    <a:p>
                      <a:pPr marL="0" indent="0">
                        <a:buNone/>
                      </a:pPr>
                      <a:r>
                        <a:rPr lang="en-US" sz="1200" dirty="0">
                          <a:solidFill>
                            <a:srgbClr val="1B2B22"/>
                          </a:solidFill>
                          <a:latin typeface="Calibri" pitchFamily="34" charset="0"/>
                          <a:ea typeface="Calibri" pitchFamily="34" charset="-122"/>
                          <a:cs typeface="Calibri" pitchFamily="34" charset="-120"/>
                        </a:rPr>
                        <a:t>Auto Filter</a:t>
                      </a:r>
                      <a:endParaRPr lang="en-US" sz="120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3FAF5"/>
                    </a:solidFill>
                  </a:tcPr>
                </a:tc>
                <a:tc>
                  <a:txBody>
                    <a:bodyPr/>
                    <a:lstStyle/>
                    <a:p>
                      <a:pPr marL="0" indent="0">
                        <a:buNone/>
                      </a:pPr>
                      <a:r>
                        <a:rPr lang="en-US" sz="1200" dirty="0">
                          <a:solidFill>
                            <a:srgbClr val="1B2B22"/>
                          </a:solidFill>
                          <a:latin typeface="Calibri" pitchFamily="34" charset="0"/>
                          <a:ea typeface="Calibri" pitchFamily="34" charset="-122"/>
                          <a:cs typeface="Calibri" pitchFamily="34" charset="-120"/>
                        </a:rPr>
                        <a:t>Manual setup</a:t>
                      </a:r>
                      <a:endParaRPr lang="en-US" sz="120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3FAF5"/>
                    </a:solidFill>
                  </a:tcPr>
                </a:tc>
                <a:tc>
                  <a:txBody>
                    <a:bodyPr/>
                    <a:lstStyle/>
                    <a:p>
                      <a:pPr marL="0" indent="0">
                        <a:buNone/>
                      </a:pPr>
                      <a:r>
                        <a:rPr lang="en-US" sz="1200" b="1" dirty="0">
                          <a:solidFill>
                            <a:srgbClr val="1E7145"/>
                          </a:solidFill>
                          <a:latin typeface="Calibri" pitchFamily="34" charset="0"/>
                          <a:ea typeface="Calibri" pitchFamily="34" charset="-122"/>
                          <a:cs typeface="Calibri" pitchFamily="34" charset="-120"/>
                        </a:rPr>
                        <a:t>Auto included ✓</a:t>
                      </a:r>
                      <a:endParaRPr lang="en-US" sz="120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3FAF5"/>
                    </a:solidFill>
                  </a:tcPr>
                </a:tc>
                <a:extLst>
                  <a:ext uri="{0D108BD9-81ED-4DB2-BD59-A6C34878D82A}">
                    <a16:rowId xmlns:a16="http://schemas.microsoft.com/office/drawing/2014/main" val="10001"/>
                  </a:ext>
                </a:extLst>
              </a:tr>
              <a:tr h="365760">
                <a:tc>
                  <a:txBody>
                    <a:bodyPr/>
                    <a:lstStyle/>
                    <a:p>
                      <a:pPr marL="0" indent="0">
                        <a:buNone/>
                      </a:pPr>
                      <a:r>
                        <a:rPr lang="en-US" sz="1200" dirty="0">
                          <a:solidFill>
                            <a:srgbClr val="1B2B22"/>
                          </a:solidFill>
                          <a:latin typeface="Calibri" pitchFamily="34" charset="0"/>
                          <a:ea typeface="Calibri" pitchFamily="34" charset="-122"/>
                          <a:cs typeface="Calibri" pitchFamily="34" charset="-120"/>
                        </a:rPr>
                        <a:t>New Row</a:t>
                      </a:r>
                      <a:endParaRPr lang="en-US" sz="120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3FAF5"/>
                    </a:solidFill>
                  </a:tcPr>
                </a:tc>
                <a:tc>
                  <a:txBody>
                    <a:bodyPr/>
                    <a:lstStyle/>
                    <a:p>
                      <a:pPr marL="0" indent="0">
                        <a:buNone/>
                      </a:pPr>
                      <a:r>
                        <a:rPr lang="en-US" sz="1200" dirty="0">
                          <a:solidFill>
                            <a:srgbClr val="1B2B22"/>
                          </a:solidFill>
                          <a:latin typeface="Calibri" pitchFamily="34" charset="0"/>
                          <a:ea typeface="Calibri" pitchFamily="34" charset="-122"/>
                          <a:cs typeface="Calibri" pitchFamily="34" charset="-120"/>
                        </a:rPr>
                        <a:t>Expand manually</a:t>
                      </a:r>
                      <a:endParaRPr lang="en-US" sz="120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3FAF5"/>
                    </a:solidFill>
                  </a:tcPr>
                </a:tc>
                <a:tc>
                  <a:txBody>
                    <a:bodyPr/>
                    <a:lstStyle/>
                    <a:p>
                      <a:pPr marL="0" indent="0">
                        <a:buNone/>
                      </a:pPr>
                      <a:r>
                        <a:rPr lang="en-US" sz="1200" b="1" dirty="0">
                          <a:solidFill>
                            <a:srgbClr val="1E7145"/>
                          </a:solidFill>
                          <a:latin typeface="Calibri" pitchFamily="34" charset="0"/>
                          <a:ea typeface="Calibri" pitchFamily="34" charset="-122"/>
                          <a:cs typeface="Calibri" pitchFamily="34" charset="-120"/>
                        </a:rPr>
                        <a:t>Automatic ✓</a:t>
                      </a:r>
                      <a:endParaRPr lang="en-US" sz="120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3FAF5"/>
                    </a:solidFill>
                  </a:tcPr>
                </a:tc>
                <a:extLst>
                  <a:ext uri="{0D108BD9-81ED-4DB2-BD59-A6C34878D82A}">
                    <a16:rowId xmlns:a16="http://schemas.microsoft.com/office/drawing/2014/main" val="10002"/>
                  </a:ext>
                </a:extLst>
              </a:tr>
              <a:tr h="365760">
                <a:tc>
                  <a:txBody>
                    <a:bodyPr/>
                    <a:lstStyle/>
                    <a:p>
                      <a:pPr marL="0" indent="0">
                        <a:buNone/>
                      </a:pPr>
                      <a:r>
                        <a:rPr lang="en-US" sz="1200" dirty="0">
                          <a:solidFill>
                            <a:srgbClr val="1B2B22"/>
                          </a:solidFill>
                          <a:latin typeface="Calibri" pitchFamily="34" charset="0"/>
                          <a:ea typeface="Calibri" pitchFamily="34" charset="-122"/>
                          <a:cs typeface="Calibri" pitchFamily="34" charset="-120"/>
                        </a:rPr>
                        <a:t>Formula Ref</a:t>
                      </a:r>
                      <a:endParaRPr lang="en-US" sz="120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3FAF5"/>
                    </a:solidFill>
                  </a:tcPr>
                </a:tc>
                <a:tc>
                  <a:txBody>
                    <a:bodyPr/>
                    <a:lstStyle/>
                    <a:p>
                      <a:pPr marL="0" indent="0">
                        <a:buNone/>
                      </a:pPr>
                      <a:r>
                        <a:rPr lang="en-US" sz="1200" dirty="0">
                          <a:solidFill>
                            <a:srgbClr val="1B2B22"/>
                          </a:solidFill>
                          <a:latin typeface="Calibri" pitchFamily="34" charset="0"/>
                          <a:ea typeface="Calibri" pitchFamily="34" charset="-122"/>
                          <a:cs typeface="Calibri" pitchFamily="34" charset="-120"/>
                        </a:rPr>
                        <a:t>=B2:B10</a:t>
                      </a:r>
                      <a:endParaRPr lang="en-US" sz="120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3FAF5"/>
                    </a:solidFill>
                  </a:tcPr>
                </a:tc>
                <a:tc>
                  <a:txBody>
                    <a:bodyPr/>
                    <a:lstStyle/>
                    <a:p>
                      <a:pPr marL="0" indent="0">
                        <a:buNone/>
                      </a:pPr>
                      <a:r>
                        <a:rPr lang="en-US" sz="1200" b="1" dirty="0">
                          <a:solidFill>
                            <a:srgbClr val="1E7145"/>
                          </a:solidFill>
                          <a:latin typeface="Calibri" pitchFamily="34" charset="0"/>
                          <a:ea typeface="Calibri" pitchFamily="34" charset="-122"/>
                          <a:cs typeface="Calibri" pitchFamily="34" charset="-120"/>
                        </a:rPr>
                        <a:t>=Table1[Sales] ✓</a:t>
                      </a:r>
                      <a:endParaRPr lang="en-US" sz="120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3FAF5"/>
                    </a:solidFill>
                  </a:tcPr>
                </a:tc>
                <a:extLst>
                  <a:ext uri="{0D108BD9-81ED-4DB2-BD59-A6C34878D82A}">
                    <a16:rowId xmlns:a16="http://schemas.microsoft.com/office/drawing/2014/main" val="10003"/>
                  </a:ext>
                </a:extLst>
              </a:tr>
              <a:tr h="365760">
                <a:tc>
                  <a:txBody>
                    <a:bodyPr/>
                    <a:lstStyle/>
                    <a:p>
                      <a:pPr marL="0" indent="0">
                        <a:buNone/>
                      </a:pPr>
                      <a:r>
                        <a:rPr lang="en-US" sz="1200" dirty="0">
                          <a:solidFill>
                            <a:srgbClr val="1B2B22"/>
                          </a:solidFill>
                          <a:latin typeface="Calibri" pitchFamily="34" charset="0"/>
                          <a:ea typeface="Calibri" pitchFamily="34" charset="-122"/>
                          <a:cs typeface="Calibri" pitchFamily="34" charset="-120"/>
                        </a:rPr>
                        <a:t>Total Row</a:t>
                      </a:r>
                      <a:endParaRPr lang="en-US" sz="120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3FAF5"/>
                    </a:solidFill>
                  </a:tcPr>
                </a:tc>
                <a:tc>
                  <a:txBody>
                    <a:bodyPr/>
                    <a:lstStyle/>
                    <a:p>
                      <a:pPr marL="0" indent="0">
                        <a:buNone/>
                      </a:pPr>
                      <a:r>
                        <a:rPr lang="en-US" sz="1200" dirty="0">
                          <a:solidFill>
                            <a:srgbClr val="1B2B22"/>
                          </a:solidFill>
                          <a:latin typeface="Calibri" pitchFamily="34" charset="0"/>
                          <a:ea typeface="Calibri" pitchFamily="34" charset="-122"/>
                          <a:cs typeface="Calibri" pitchFamily="34" charset="-120"/>
                        </a:rPr>
                        <a:t>Not available</a:t>
                      </a:r>
                      <a:endParaRPr lang="en-US" sz="120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3FAF5"/>
                    </a:solidFill>
                  </a:tcPr>
                </a:tc>
                <a:tc>
                  <a:txBody>
                    <a:bodyPr/>
                    <a:lstStyle/>
                    <a:p>
                      <a:pPr marL="0" indent="0">
                        <a:buNone/>
                      </a:pPr>
                      <a:r>
                        <a:rPr lang="en-US" sz="1200" b="1" dirty="0">
                          <a:solidFill>
                            <a:srgbClr val="1E7145"/>
                          </a:solidFill>
                          <a:latin typeface="Calibri" pitchFamily="34" charset="0"/>
                          <a:ea typeface="Calibri" pitchFamily="34" charset="-122"/>
                          <a:cs typeface="Calibri" pitchFamily="34" charset="-120"/>
                        </a:rPr>
                        <a:t>One click ✓</a:t>
                      </a:r>
                      <a:endParaRPr lang="en-US" sz="120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3FA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594360"/>
          </a:xfrm>
          <a:prstGeom prst="rect">
            <a:avLst/>
          </a:prstGeom>
          <a:noFill/>
          <a:ln/>
        </p:spPr>
        <p:txBody>
          <a:bodyPr wrap="square" rtlCol="0" anchor="ctr"/>
          <a:lstStyle/>
          <a:p>
            <a:pPr marL="0" indent="0">
              <a:buNone/>
            </a:pPr>
            <a:r>
              <a:rPr lang="en-US" sz="2800" b="1" dirty="0">
                <a:solidFill>
                  <a:srgbClr val="0F4C2C"/>
                </a:solidFill>
                <a:latin typeface="Cambria" pitchFamily="34" charset="0"/>
                <a:ea typeface="Cambria" pitchFamily="34" charset="-122"/>
                <a:cs typeface="Cambria" pitchFamily="34" charset="-120"/>
              </a:rPr>
              <a:t>Business Applications &amp; Comparison</a:t>
            </a:r>
            <a:endParaRPr lang="en-US" sz="2800" dirty="0"/>
          </a:p>
        </p:txBody>
      </p:sp>
      <p:sp>
        <p:nvSpPr>
          <p:cNvPr id="3" name="Text 1"/>
          <p:cNvSpPr/>
          <p:nvPr/>
        </p:nvSpPr>
        <p:spPr>
          <a:xfrm>
            <a:off x="548640" y="896112"/>
            <a:ext cx="8229600" cy="320040"/>
          </a:xfrm>
          <a:prstGeom prst="rect">
            <a:avLst/>
          </a:prstGeom>
          <a:noFill/>
          <a:ln/>
        </p:spPr>
        <p:txBody>
          <a:bodyPr wrap="square" rtlCol="0" anchor="ctr"/>
          <a:lstStyle/>
          <a:p>
            <a:pPr marL="0" indent="0">
              <a:buNone/>
            </a:pPr>
            <a:r>
              <a:rPr lang="en-US" sz="1400" i="1" dirty="0">
                <a:solidFill>
                  <a:srgbClr val="5C6F64"/>
                </a:solidFill>
                <a:latin typeface="Calibri" pitchFamily="34" charset="0"/>
                <a:ea typeface="Calibri" pitchFamily="34" charset="-122"/>
                <a:cs typeface="Calibri" pitchFamily="34" charset="-120"/>
              </a:rPr>
              <a:t>Where These Features Drive Real Productivity</a:t>
            </a:r>
            <a:endParaRPr lang="en-US" sz="1400" dirty="0"/>
          </a:p>
        </p:txBody>
      </p:sp>
      <p:sp>
        <p:nvSpPr>
          <p:cNvPr id="4" name="Shape 2"/>
          <p:cNvSpPr/>
          <p:nvPr/>
        </p:nvSpPr>
        <p:spPr>
          <a:xfrm>
            <a:off x="548640" y="1508760"/>
            <a:ext cx="4937760" cy="4572000"/>
          </a:xfrm>
          <a:prstGeom prst="roundRect">
            <a:avLst>
              <a:gd name="adj" fmla="val 1600"/>
            </a:avLst>
          </a:prstGeom>
          <a:solidFill>
            <a:srgbClr val="F3FAF5"/>
          </a:solidFill>
          <a:ln/>
        </p:spPr>
      </p:sp>
      <p:sp>
        <p:nvSpPr>
          <p:cNvPr id="5" name="Text 3"/>
          <p:cNvSpPr/>
          <p:nvPr/>
        </p:nvSpPr>
        <p:spPr>
          <a:xfrm>
            <a:off x="822960" y="1737360"/>
            <a:ext cx="4389120" cy="365760"/>
          </a:xfrm>
          <a:prstGeom prst="rect">
            <a:avLst/>
          </a:prstGeom>
          <a:noFill/>
          <a:ln/>
        </p:spPr>
        <p:txBody>
          <a:bodyPr wrap="square" rtlCol="0" anchor="ctr"/>
          <a:lstStyle/>
          <a:p>
            <a:pPr marL="0" indent="0">
              <a:buNone/>
            </a:pPr>
            <a:r>
              <a:rPr lang="en-US" sz="1500" b="1" dirty="0">
                <a:solidFill>
                  <a:srgbClr val="0F4C2C"/>
                </a:solidFill>
                <a:latin typeface="Calibri" pitchFamily="34" charset="0"/>
                <a:ea typeface="Calibri" pitchFamily="34" charset="-122"/>
                <a:cs typeface="Calibri" pitchFamily="34" charset="-120"/>
              </a:rPr>
              <a:t>Practical Use Cases</a:t>
            </a:r>
            <a:endParaRPr lang="en-US" sz="1500" dirty="0"/>
          </a:p>
        </p:txBody>
      </p:sp>
      <p:sp>
        <p:nvSpPr>
          <p:cNvPr id="6" name="Shape 4"/>
          <p:cNvSpPr/>
          <p:nvPr/>
        </p:nvSpPr>
        <p:spPr>
          <a:xfrm>
            <a:off x="822960" y="2286000"/>
            <a:ext cx="502920" cy="502920"/>
          </a:xfrm>
          <a:prstGeom prst="ellipse">
            <a:avLst/>
          </a:prstGeom>
          <a:solidFill>
            <a:srgbClr val="1E7145"/>
          </a:solidFill>
          <a:ln/>
        </p:spPr>
      </p:sp>
      <p:pic>
        <p:nvPicPr>
          <p:cNvPr id="7" name="Image 0" descr="/home/claude/excel_pptx/icons/building_white.png"/>
          <p:cNvPicPr>
            <a:picLocks noChangeAspect="1"/>
          </p:cNvPicPr>
          <p:nvPr/>
        </p:nvPicPr>
        <p:blipFill>
          <a:blip r:embed="rId3"/>
          <a:stretch>
            <a:fillRect/>
          </a:stretch>
        </p:blipFill>
        <p:spPr>
          <a:xfrm>
            <a:off x="941832" y="2404872"/>
            <a:ext cx="265176" cy="265176"/>
          </a:xfrm>
          <a:prstGeom prst="rect">
            <a:avLst/>
          </a:prstGeom>
        </p:spPr>
      </p:pic>
      <p:sp>
        <p:nvSpPr>
          <p:cNvPr id="8" name="Text 5"/>
          <p:cNvSpPr/>
          <p:nvPr/>
        </p:nvSpPr>
        <p:spPr>
          <a:xfrm>
            <a:off x="1463040" y="2240280"/>
            <a:ext cx="3840480" cy="320040"/>
          </a:xfrm>
          <a:prstGeom prst="rect">
            <a:avLst/>
          </a:prstGeom>
          <a:noFill/>
          <a:ln/>
        </p:spPr>
        <p:txBody>
          <a:bodyPr wrap="square" rtlCol="0" anchor="ctr"/>
          <a:lstStyle/>
          <a:p>
            <a:pPr marL="0" indent="0">
              <a:buNone/>
            </a:pPr>
            <a:r>
              <a:rPr lang="en-US" sz="1350" b="1" dirty="0">
                <a:solidFill>
                  <a:srgbClr val="1B2B22"/>
                </a:solidFill>
                <a:latin typeface="Calibri" pitchFamily="34" charset="0"/>
                <a:ea typeface="Calibri" pitchFamily="34" charset="-122"/>
                <a:cs typeface="Calibri" pitchFamily="34" charset="-120"/>
              </a:rPr>
              <a:t>Reporting</a:t>
            </a:r>
            <a:endParaRPr lang="en-US" sz="1350" dirty="0"/>
          </a:p>
        </p:txBody>
      </p:sp>
      <p:sp>
        <p:nvSpPr>
          <p:cNvPr id="9" name="Text 6"/>
          <p:cNvSpPr/>
          <p:nvPr/>
        </p:nvSpPr>
        <p:spPr>
          <a:xfrm>
            <a:off x="1463040" y="2542032"/>
            <a:ext cx="3840480" cy="640080"/>
          </a:xfrm>
          <a:prstGeom prst="rect">
            <a:avLst/>
          </a:prstGeom>
          <a:noFill/>
          <a:ln/>
        </p:spPr>
        <p:txBody>
          <a:bodyPr wrap="square" rtlCol="0" anchor="t"/>
          <a:lstStyle/>
          <a:p>
            <a:pPr marL="0" indent="0">
              <a:buNone/>
            </a:pPr>
            <a:r>
              <a:rPr lang="en-US" sz="1100" dirty="0">
                <a:solidFill>
                  <a:srgbClr val="5C6F64"/>
                </a:solidFill>
                <a:latin typeface="Calibri" pitchFamily="34" charset="0"/>
                <a:ea typeface="Calibri" pitchFamily="34" charset="-122"/>
                <a:cs typeface="Calibri" pitchFamily="34" charset="-120"/>
              </a:rPr>
              <a:t>Merged title rows and tables create clean, presentation-ready reports.</a:t>
            </a:r>
            <a:endParaRPr lang="en-US" sz="1100" dirty="0"/>
          </a:p>
        </p:txBody>
      </p:sp>
      <p:sp>
        <p:nvSpPr>
          <p:cNvPr id="10" name="Shape 7"/>
          <p:cNvSpPr/>
          <p:nvPr/>
        </p:nvSpPr>
        <p:spPr>
          <a:xfrm>
            <a:off x="822960" y="3520440"/>
            <a:ext cx="502920" cy="502920"/>
          </a:xfrm>
          <a:prstGeom prst="ellipse">
            <a:avLst/>
          </a:prstGeom>
          <a:solidFill>
            <a:srgbClr val="1E7145"/>
          </a:solidFill>
          <a:ln/>
        </p:spPr>
      </p:sp>
      <p:pic>
        <p:nvPicPr>
          <p:cNvPr id="11" name="Image 1" descr="/home/claude/excel_pptx/icons/users_white.png"/>
          <p:cNvPicPr>
            <a:picLocks noChangeAspect="1"/>
          </p:cNvPicPr>
          <p:nvPr/>
        </p:nvPicPr>
        <p:blipFill>
          <a:blip r:embed="rId4"/>
          <a:stretch>
            <a:fillRect/>
          </a:stretch>
        </p:blipFill>
        <p:spPr>
          <a:xfrm>
            <a:off x="941832" y="3639312"/>
            <a:ext cx="265176" cy="265176"/>
          </a:xfrm>
          <a:prstGeom prst="rect">
            <a:avLst/>
          </a:prstGeom>
        </p:spPr>
      </p:pic>
      <p:sp>
        <p:nvSpPr>
          <p:cNvPr id="12" name="Text 8"/>
          <p:cNvSpPr/>
          <p:nvPr/>
        </p:nvSpPr>
        <p:spPr>
          <a:xfrm>
            <a:off x="1463040" y="3474720"/>
            <a:ext cx="3840480" cy="320040"/>
          </a:xfrm>
          <a:prstGeom prst="rect">
            <a:avLst/>
          </a:prstGeom>
          <a:noFill/>
          <a:ln/>
        </p:spPr>
        <p:txBody>
          <a:bodyPr wrap="square" rtlCol="0" anchor="ctr"/>
          <a:lstStyle/>
          <a:p>
            <a:pPr marL="0" indent="0">
              <a:buNone/>
            </a:pPr>
            <a:r>
              <a:rPr lang="en-US" sz="1350" b="1" dirty="0">
                <a:solidFill>
                  <a:srgbClr val="1B2B22"/>
                </a:solidFill>
                <a:latin typeface="Calibri" pitchFamily="34" charset="0"/>
                <a:ea typeface="Calibri" pitchFamily="34" charset="-122"/>
                <a:cs typeface="Calibri" pitchFamily="34" charset="-120"/>
              </a:rPr>
              <a:t>HR &amp; Payroll</a:t>
            </a:r>
            <a:endParaRPr lang="en-US" sz="1350" dirty="0"/>
          </a:p>
        </p:txBody>
      </p:sp>
      <p:sp>
        <p:nvSpPr>
          <p:cNvPr id="13" name="Text 9"/>
          <p:cNvSpPr/>
          <p:nvPr/>
        </p:nvSpPr>
        <p:spPr>
          <a:xfrm>
            <a:off x="1463040" y="3776472"/>
            <a:ext cx="3840480" cy="640080"/>
          </a:xfrm>
          <a:prstGeom prst="rect">
            <a:avLst/>
          </a:prstGeom>
          <a:noFill/>
          <a:ln/>
        </p:spPr>
        <p:txBody>
          <a:bodyPr wrap="square" rtlCol="0" anchor="t"/>
          <a:lstStyle/>
          <a:p>
            <a:pPr marL="0" indent="0">
              <a:buNone/>
            </a:pPr>
            <a:r>
              <a:rPr lang="en-US" sz="1100" dirty="0">
                <a:solidFill>
                  <a:srgbClr val="5C6F64"/>
                </a:solidFill>
                <a:latin typeface="Calibri" pitchFamily="34" charset="0"/>
                <a:ea typeface="Calibri" pitchFamily="34" charset="-122"/>
                <a:cs typeface="Calibri" pitchFamily="34" charset="-120"/>
              </a:rPr>
              <a:t>Custom Lists speed up entry of employee names, departments, and branches.</a:t>
            </a:r>
            <a:endParaRPr lang="en-US" sz="1100" dirty="0"/>
          </a:p>
        </p:txBody>
      </p:sp>
      <p:sp>
        <p:nvSpPr>
          <p:cNvPr id="14" name="Shape 10"/>
          <p:cNvSpPr/>
          <p:nvPr/>
        </p:nvSpPr>
        <p:spPr>
          <a:xfrm>
            <a:off x="822960" y="4754880"/>
            <a:ext cx="502920" cy="502920"/>
          </a:xfrm>
          <a:prstGeom prst="ellipse">
            <a:avLst/>
          </a:prstGeom>
          <a:solidFill>
            <a:srgbClr val="1E7145"/>
          </a:solidFill>
          <a:ln/>
        </p:spPr>
      </p:sp>
      <p:pic>
        <p:nvPicPr>
          <p:cNvPr id="15" name="Image 2" descr="/home/claude/excel_pptx/icons/chart_white.png"/>
          <p:cNvPicPr>
            <a:picLocks noChangeAspect="1"/>
          </p:cNvPicPr>
          <p:nvPr/>
        </p:nvPicPr>
        <p:blipFill>
          <a:blip r:embed="rId5"/>
          <a:stretch>
            <a:fillRect/>
          </a:stretch>
        </p:blipFill>
        <p:spPr>
          <a:xfrm>
            <a:off x="941832" y="4873752"/>
            <a:ext cx="265176" cy="265176"/>
          </a:xfrm>
          <a:prstGeom prst="rect">
            <a:avLst/>
          </a:prstGeom>
        </p:spPr>
      </p:pic>
      <p:sp>
        <p:nvSpPr>
          <p:cNvPr id="16" name="Text 11"/>
          <p:cNvSpPr/>
          <p:nvPr/>
        </p:nvSpPr>
        <p:spPr>
          <a:xfrm>
            <a:off x="1463040" y="4709160"/>
            <a:ext cx="3840480" cy="320040"/>
          </a:xfrm>
          <a:prstGeom prst="rect">
            <a:avLst/>
          </a:prstGeom>
          <a:noFill/>
          <a:ln/>
        </p:spPr>
        <p:txBody>
          <a:bodyPr wrap="square" rtlCol="0" anchor="ctr"/>
          <a:lstStyle/>
          <a:p>
            <a:pPr marL="0" indent="0">
              <a:buNone/>
            </a:pPr>
            <a:r>
              <a:rPr lang="en-US" sz="1350" b="1" dirty="0">
                <a:solidFill>
                  <a:srgbClr val="1B2B22"/>
                </a:solidFill>
                <a:latin typeface="Calibri" pitchFamily="34" charset="0"/>
                <a:ea typeface="Calibri" pitchFamily="34" charset="-122"/>
                <a:cs typeface="Calibri" pitchFamily="34" charset="-120"/>
              </a:rPr>
              <a:t>Data Analysis</a:t>
            </a:r>
            <a:endParaRPr lang="en-US" sz="1350" dirty="0"/>
          </a:p>
        </p:txBody>
      </p:sp>
      <p:sp>
        <p:nvSpPr>
          <p:cNvPr id="17" name="Text 12"/>
          <p:cNvSpPr/>
          <p:nvPr/>
        </p:nvSpPr>
        <p:spPr>
          <a:xfrm>
            <a:off x="1463040" y="5010912"/>
            <a:ext cx="3840480" cy="640080"/>
          </a:xfrm>
          <a:prstGeom prst="rect">
            <a:avLst/>
          </a:prstGeom>
          <a:noFill/>
          <a:ln/>
        </p:spPr>
        <p:txBody>
          <a:bodyPr wrap="square" rtlCol="0" anchor="t"/>
          <a:lstStyle/>
          <a:p>
            <a:pPr marL="0" indent="0">
              <a:buNone/>
            </a:pPr>
            <a:r>
              <a:rPr lang="en-US" sz="1100" dirty="0">
                <a:solidFill>
                  <a:srgbClr val="5C6F64"/>
                </a:solidFill>
                <a:latin typeface="Calibri" pitchFamily="34" charset="0"/>
                <a:ea typeface="Calibri" pitchFamily="34" charset="-122"/>
                <a:cs typeface="Calibri" pitchFamily="34" charset="-120"/>
              </a:rPr>
              <a:t>Excel Tables auto-expand as new monthly data is added, keeping totals current.</a:t>
            </a:r>
            <a:endParaRPr lang="en-US" sz="1100" dirty="0"/>
          </a:p>
        </p:txBody>
      </p:sp>
      <p:sp>
        <p:nvSpPr>
          <p:cNvPr id="18" name="Text 13"/>
          <p:cNvSpPr/>
          <p:nvPr/>
        </p:nvSpPr>
        <p:spPr>
          <a:xfrm>
            <a:off x="5760720" y="1508760"/>
            <a:ext cx="5852160" cy="365760"/>
          </a:xfrm>
          <a:prstGeom prst="rect">
            <a:avLst/>
          </a:prstGeom>
          <a:noFill/>
          <a:ln/>
        </p:spPr>
        <p:txBody>
          <a:bodyPr wrap="square" rtlCol="0" anchor="ctr"/>
          <a:lstStyle/>
          <a:p>
            <a:pPr marL="0" indent="0">
              <a:buNone/>
            </a:pPr>
            <a:r>
              <a:rPr lang="en-US" sz="1500" b="1" dirty="0">
                <a:solidFill>
                  <a:srgbClr val="0F4C2C"/>
                </a:solidFill>
                <a:latin typeface="Calibri" pitchFamily="34" charset="0"/>
                <a:ea typeface="Calibri" pitchFamily="34" charset="-122"/>
                <a:cs typeface="Calibri" pitchFamily="34" charset="-120"/>
              </a:rPr>
              <a:t>Comparison of All Four Features</a:t>
            </a:r>
            <a:endParaRPr lang="en-US" sz="15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760720" y="1965960"/>
          <a:ext cx="5852160" cy="2286000"/>
        </p:xfrm>
        <a:graphic>
          <a:graphicData uri="http://schemas.openxmlformats.org/drawingml/2006/table">
            <a:tbl>
              <a:tblPr/>
              <a:tblGrid>
                <a:gridCol w="17373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45720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1E714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Best For</a:t>
                      </a:r>
                      <a:endParaRPr lang="en-US" sz="120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1E714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Key Shortcut</a:t>
                      </a:r>
                      <a:endParaRPr lang="en-US" sz="120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1E7145"/>
                    </a:solidFill>
                  </a:tcPr>
                </a:tc>
                <a:extLst>
                  <a:ext uri="{0D108BD9-81ED-4DB2-BD59-A6C34878D82A}">
                    <a16:rowId xmlns:a16="http://schemas.microsoft.com/office/drawing/2014/main" val="10000"/>
                  </a:ext>
                </a:extLst>
              </a:tr>
              <a:tr h="457200">
                <a:tc>
                  <a:txBody>
                    <a:bodyPr/>
                    <a:lstStyle/>
                    <a:p>
                      <a:pPr marL="0" indent="0">
                        <a:buNone/>
                      </a:pPr>
                      <a:r>
                        <a:rPr lang="en-US" sz="1200" dirty="0">
                          <a:solidFill>
                            <a:srgbClr val="1B2B22"/>
                          </a:solidFill>
                          <a:latin typeface="Calibri" pitchFamily="34" charset="0"/>
                          <a:ea typeface="Calibri" pitchFamily="34" charset="-122"/>
                          <a:cs typeface="Calibri" pitchFamily="34" charset="-120"/>
                        </a:rPr>
                        <a:t>AutoFill</a:t>
                      </a:r>
                      <a:endParaRPr lang="en-US" sz="120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FFFFF"/>
                    </a:solidFill>
                  </a:tcPr>
                </a:tc>
                <a:tc>
                  <a:txBody>
                    <a:bodyPr/>
                    <a:lstStyle/>
                    <a:p>
                      <a:pPr marL="0" indent="0">
                        <a:buNone/>
                      </a:pPr>
                      <a:r>
                        <a:rPr lang="en-US" sz="1200" dirty="0">
                          <a:solidFill>
                            <a:srgbClr val="1B2B22"/>
                          </a:solidFill>
                          <a:latin typeface="Calibri" pitchFamily="34" charset="0"/>
                          <a:ea typeface="Calibri" pitchFamily="34" charset="-122"/>
                          <a:cs typeface="Calibri" pitchFamily="34" charset="-120"/>
                        </a:rPr>
                        <a:t>Series, dates, patterns</a:t>
                      </a:r>
                      <a:endParaRPr lang="en-US" sz="120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FFFFF"/>
                    </a:solidFill>
                  </a:tcPr>
                </a:tc>
                <a:tc>
                  <a:txBody>
                    <a:bodyPr/>
                    <a:lstStyle/>
                    <a:p>
                      <a:pPr marL="0" indent="0">
                        <a:buNone/>
                      </a:pPr>
                      <a:r>
                        <a:rPr lang="en-US" sz="1200" dirty="0">
                          <a:solidFill>
                            <a:srgbClr val="1B2B22"/>
                          </a:solidFill>
                          <a:latin typeface="Calibri" pitchFamily="34" charset="0"/>
                          <a:ea typeface="Calibri" pitchFamily="34" charset="-122"/>
                          <a:cs typeface="Calibri" pitchFamily="34" charset="-120"/>
                        </a:rPr>
                        <a:t>Drag handle / Ctrl+E</a:t>
                      </a:r>
                      <a:endParaRPr lang="en-US" sz="120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00" dirty="0">
                          <a:solidFill>
                            <a:srgbClr val="1B2B22"/>
                          </a:solidFill>
                          <a:latin typeface="Calibri" pitchFamily="34" charset="0"/>
                          <a:ea typeface="Calibri" pitchFamily="34" charset="-122"/>
                          <a:cs typeface="Calibri" pitchFamily="34" charset="-120"/>
                        </a:rPr>
                        <a:t>Custom Lists</a:t>
                      </a:r>
                      <a:endParaRPr lang="en-US" sz="120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FFFFF"/>
                    </a:solidFill>
                  </a:tcPr>
                </a:tc>
                <a:tc>
                  <a:txBody>
                    <a:bodyPr/>
                    <a:lstStyle/>
                    <a:p>
                      <a:pPr marL="0" indent="0">
                        <a:buNone/>
                      </a:pPr>
                      <a:r>
                        <a:rPr lang="en-US" sz="1200" dirty="0">
                          <a:solidFill>
                            <a:srgbClr val="1B2B22"/>
                          </a:solidFill>
                          <a:latin typeface="Calibri" pitchFamily="34" charset="0"/>
                          <a:ea typeface="Calibri" pitchFamily="34" charset="-122"/>
                          <a:cs typeface="Calibri" pitchFamily="34" charset="-120"/>
                        </a:rPr>
                        <a:t>Repeating names &amp; codes</a:t>
                      </a:r>
                      <a:endParaRPr lang="en-US" sz="120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FFFFF"/>
                    </a:solidFill>
                  </a:tcPr>
                </a:tc>
                <a:tc>
                  <a:txBody>
                    <a:bodyPr/>
                    <a:lstStyle/>
                    <a:p>
                      <a:pPr marL="0" indent="0">
                        <a:buNone/>
                      </a:pPr>
                      <a:r>
                        <a:rPr lang="en-US" sz="1200" dirty="0">
                          <a:solidFill>
                            <a:srgbClr val="1B2B22"/>
                          </a:solidFill>
                          <a:latin typeface="Calibri" pitchFamily="34" charset="0"/>
                          <a:ea typeface="Calibri" pitchFamily="34" charset="-122"/>
                          <a:cs typeface="Calibri" pitchFamily="34" charset="-120"/>
                        </a:rPr>
                        <a:t>File &gt; Options</a:t>
                      </a:r>
                      <a:endParaRPr lang="en-US" sz="120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200" dirty="0">
                          <a:solidFill>
                            <a:srgbClr val="1B2B22"/>
                          </a:solidFill>
                          <a:latin typeface="Calibri" pitchFamily="34" charset="0"/>
                          <a:ea typeface="Calibri" pitchFamily="34" charset="-122"/>
                          <a:cs typeface="Calibri" pitchFamily="34" charset="-120"/>
                        </a:rPr>
                        <a:t>Merging Cells</a:t>
                      </a:r>
                      <a:endParaRPr lang="en-US" sz="120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FFFFF"/>
                    </a:solidFill>
                  </a:tcPr>
                </a:tc>
                <a:tc>
                  <a:txBody>
                    <a:bodyPr/>
                    <a:lstStyle/>
                    <a:p>
                      <a:pPr marL="0" indent="0">
                        <a:buNone/>
                      </a:pPr>
                      <a:r>
                        <a:rPr lang="en-US" sz="1200" dirty="0">
                          <a:solidFill>
                            <a:srgbClr val="1B2B22"/>
                          </a:solidFill>
                          <a:latin typeface="Calibri" pitchFamily="34" charset="0"/>
                          <a:ea typeface="Calibri" pitchFamily="34" charset="-122"/>
                          <a:cs typeface="Calibri" pitchFamily="34" charset="-120"/>
                        </a:rPr>
                        <a:t>Titles &amp; headers</a:t>
                      </a:r>
                      <a:endParaRPr lang="en-US" sz="120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FFFFF"/>
                    </a:solidFill>
                  </a:tcPr>
                </a:tc>
                <a:tc>
                  <a:txBody>
                    <a:bodyPr/>
                    <a:lstStyle/>
                    <a:p>
                      <a:pPr marL="0" indent="0">
                        <a:buNone/>
                      </a:pPr>
                      <a:r>
                        <a:rPr lang="en-US" sz="1200" dirty="0">
                          <a:solidFill>
                            <a:srgbClr val="1B2B22"/>
                          </a:solidFill>
                          <a:latin typeface="Calibri" pitchFamily="34" charset="0"/>
                          <a:ea typeface="Calibri" pitchFamily="34" charset="-122"/>
                          <a:cs typeface="Calibri" pitchFamily="34" charset="-120"/>
                        </a:rPr>
                        <a:t>Merge &amp; Center</a:t>
                      </a:r>
                      <a:endParaRPr lang="en-US" sz="120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00" dirty="0">
                          <a:solidFill>
                            <a:srgbClr val="1B2B22"/>
                          </a:solidFill>
                          <a:latin typeface="Calibri" pitchFamily="34" charset="0"/>
                          <a:ea typeface="Calibri" pitchFamily="34" charset="-122"/>
                          <a:cs typeface="Calibri" pitchFamily="34" charset="-120"/>
                        </a:rPr>
                        <a:t>Table Magic</a:t>
                      </a:r>
                      <a:endParaRPr lang="en-US" sz="120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FFFFF"/>
                    </a:solidFill>
                  </a:tcPr>
                </a:tc>
                <a:tc>
                  <a:txBody>
                    <a:bodyPr/>
                    <a:lstStyle/>
                    <a:p>
                      <a:pPr marL="0" indent="0">
                        <a:buNone/>
                      </a:pPr>
                      <a:r>
                        <a:rPr lang="en-US" sz="1200" dirty="0">
                          <a:solidFill>
                            <a:srgbClr val="1B2B22"/>
                          </a:solidFill>
                          <a:latin typeface="Calibri" pitchFamily="34" charset="0"/>
                          <a:ea typeface="Calibri" pitchFamily="34" charset="-122"/>
                          <a:cs typeface="Calibri" pitchFamily="34" charset="-120"/>
                        </a:rPr>
                        <a:t>Structured datasets</a:t>
                      </a:r>
                      <a:endParaRPr lang="en-US" sz="120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FFFFF"/>
                    </a:solidFill>
                  </a:tcPr>
                </a:tc>
                <a:tc>
                  <a:txBody>
                    <a:bodyPr/>
                    <a:lstStyle/>
                    <a:p>
                      <a:pPr marL="0" indent="0">
                        <a:buNone/>
                      </a:pPr>
                      <a:r>
                        <a:rPr lang="en-US" sz="1200" dirty="0">
                          <a:solidFill>
                            <a:srgbClr val="1B2B22"/>
                          </a:solidFill>
                          <a:latin typeface="Calibri" pitchFamily="34" charset="0"/>
                          <a:ea typeface="Calibri" pitchFamily="34" charset="-122"/>
                          <a:cs typeface="Calibri" pitchFamily="34" charset="-120"/>
                        </a:rPr>
                        <a:t>Ctrl+T</a:t>
                      </a:r>
                      <a:endParaRPr lang="en-US" sz="1200" dirty="0">
                        <a:latin typeface="Calibri" charset="0"/>
                        <a:ea typeface="Calibri" charset="0"/>
                        <a:cs typeface="Calibri" charset="0"/>
                      </a:endParaRPr>
                    </a:p>
                  </a:txBody>
                  <a:tcPr>
                    <a:lnL w="9525" cap="flat" cmpd="sng" algn="ctr">
                      <a:solidFill>
                        <a:srgbClr val="CFE6D8"/>
                      </a:solidFill>
                      <a:prstDash val="solid"/>
                      <a:round/>
                      <a:headEnd type="none" w="med" len="med"/>
                      <a:tailEnd type="none" w="med" len="med"/>
                    </a:lnL>
                    <a:lnR w="9525" cap="flat" cmpd="sng" algn="ctr">
                      <a:solidFill>
                        <a:srgbClr val="CFE6D8"/>
                      </a:solidFill>
                      <a:prstDash val="solid"/>
                      <a:round/>
                      <a:headEnd type="none" w="med" len="med"/>
                      <a:tailEnd type="none" w="med" len="med"/>
                    </a:lnR>
                    <a:lnT w="9525" cap="flat" cmpd="sng" algn="ctr">
                      <a:solidFill>
                        <a:srgbClr val="CFE6D8"/>
                      </a:solidFill>
                      <a:prstDash val="solid"/>
                      <a:round/>
                      <a:headEnd type="none" w="med" len="med"/>
                      <a:tailEnd type="none" w="med" len="med"/>
                    </a:lnT>
                    <a:lnB w="9525" cap="flat" cmpd="sng" algn="ctr">
                      <a:solidFill>
                        <a:srgbClr val="CFE6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0" name="Shape 14"/>
          <p:cNvSpPr/>
          <p:nvPr/>
        </p:nvSpPr>
        <p:spPr>
          <a:xfrm>
            <a:off x="5760720" y="4572000"/>
            <a:ext cx="5852160" cy="1417320"/>
          </a:xfrm>
          <a:prstGeom prst="roundRect">
            <a:avLst>
              <a:gd name="adj" fmla="val 5161"/>
            </a:avLst>
          </a:prstGeom>
          <a:solidFill>
            <a:srgbClr val="0F4C2C"/>
          </a:solidFill>
          <a:ln/>
        </p:spPr>
      </p:sp>
      <p:pic>
        <p:nvPicPr>
          <p:cNvPr id="21" name="Image 3" descr="/home/claude/excel_pptx/icons/bolt_white.png"/>
          <p:cNvPicPr>
            <a:picLocks noChangeAspect="1"/>
          </p:cNvPicPr>
          <p:nvPr/>
        </p:nvPicPr>
        <p:blipFill>
          <a:blip r:embed="rId6"/>
          <a:stretch>
            <a:fillRect/>
          </a:stretch>
        </p:blipFill>
        <p:spPr>
          <a:xfrm>
            <a:off x="6035040" y="4892040"/>
            <a:ext cx="548640" cy="548640"/>
          </a:xfrm>
          <a:prstGeom prst="rect">
            <a:avLst/>
          </a:prstGeom>
        </p:spPr>
      </p:pic>
      <p:sp>
        <p:nvSpPr>
          <p:cNvPr id="22" name="Text 15"/>
          <p:cNvSpPr/>
          <p:nvPr/>
        </p:nvSpPr>
        <p:spPr>
          <a:xfrm>
            <a:off x="6766560" y="4754880"/>
            <a:ext cx="2743200" cy="320040"/>
          </a:xfrm>
          <a:prstGeom prst="rect">
            <a:avLst/>
          </a:prstGeom>
          <a:noFill/>
          <a:ln/>
        </p:spPr>
        <p:txBody>
          <a:bodyPr wrap="square" rtlCol="0" anchor="ctr"/>
          <a:lstStyle/>
          <a:p>
            <a:pPr marL="0" indent="0">
              <a:buNone/>
            </a:pPr>
            <a:r>
              <a:rPr lang="en-US" sz="1200" dirty="0">
                <a:solidFill>
                  <a:srgbClr val="9FC9AE"/>
                </a:solidFill>
                <a:latin typeface="Calibri" pitchFamily="34" charset="0"/>
                <a:ea typeface="Calibri" pitchFamily="34" charset="-122"/>
                <a:cs typeface="Calibri" pitchFamily="34" charset="-120"/>
              </a:rPr>
              <a:t>Hours Saved Weekly</a:t>
            </a:r>
            <a:endParaRPr lang="en-US" sz="1200" dirty="0"/>
          </a:p>
        </p:txBody>
      </p:sp>
      <p:sp>
        <p:nvSpPr>
          <p:cNvPr id="23" name="Text 16"/>
          <p:cNvSpPr/>
          <p:nvPr/>
        </p:nvSpPr>
        <p:spPr>
          <a:xfrm>
            <a:off x="6766560" y="5029200"/>
            <a:ext cx="2743200" cy="54864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Up to 40%</a:t>
            </a:r>
            <a:endParaRPr lang="en-US" sz="2800" dirty="0"/>
          </a:p>
        </p:txBody>
      </p:sp>
      <p:sp>
        <p:nvSpPr>
          <p:cNvPr id="24" name="Text 17"/>
          <p:cNvSpPr/>
          <p:nvPr/>
        </p:nvSpPr>
        <p:spPr>
          <a:xfrm>
            <a:off x="9601200" y="4892040"/>
            <a:ext cx="1828800" cy="777240"/>
          </a:xfrm>
          <a:prstGeom prst="rect">
            <a:avLst/>
          </a:prstGeom>
          <a:noFill/>
          <a:ln/>
        </p:spPr>
        <p:txBody>
          <a:bodyPr wrap="square" rtlCol="0" anchor="ctr"/>
          <a:lstStyle/>
          <a:p>
            <a:pPr marL="0" indent="0">
              <a:buNone/>
            </a:pPr>
            <a:r>
              <a:rPr lang="en-US" sz="1000" dirty="0">
                <a:solidFill>
                  <a:srgbClr val="C9E6D4"/>
                </a:solidFill>
                <a:latin typeface="Calibri" pitchFamily="34" charset="0"/>
                <a:ea typeface="Calibri" pitchFamily="34" charset="-122"/>
                <a:cs typeface="Calibri" pitchFamily="34" charset="-120"/>
              </a:rPr>
              <a:t>less time on repetitive</a:t>
            </a:r>
            <a:endParaRPr lang="en-US" sz="1000" dirty="0"/>
          </a:p>
          <a:p>
            <a:pPr marL="0" indent="0">
              <a:buNone/>
            </a:pPr>
            <a:r>
              <a:rPr lang="en-US" sz="1000" dirty="0">
                <a:solidFill>
                  <a:srgbClr val="C9E6D4"/>
                </a:solidFill>
                <a:latin typeface="Calibri" pitchFamily="34" charset="0"/>
                <a:ea typeface="Calibri" pitchFamily="34" charset="-122"/>
                <a:cs typeface="Calibri" pitchFamily="34" charset="-120"/>
              </a:rPr>
              <a:t>data entry &amp; formatting tasks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4C2C"/>
        </a:solidFill>
        <a:effectLst/>
      </p:bgPr>
    </p:bg>
    <p:spTree>
      <p:nvGrpSpPr>
        <p:cNvPr id="1" name=""/>
        <p:cNvGrpSpPr/>
        <p:nvPr/>
      </p:nvGrpSpPr>
      <p:grpSpPr>
        <a:xfrm>
          <a:off x="0" y="0"/>
          <a:ext cx="0" cy="0"/>
          <a:chOff x="0" y="0"/>
          <a:chExt cx="0" cy="0"/>
        </a:xfrm>
      </p:grpSpPr>
      <p:sp>
        <p:nvSpPr>
          <p:cNvPr id="2" name="Shape 0"/>
          <p:cNvSpPr/>
          <p:nvPr/>
        </p:nvSpPr>
        <p:spPr>
          <a:xfrm>
            <a:off x="-1371600" y="-1645920"/>
            <a:ext cx="4023360" cy="4023360"/>
          </a:xfrm>
          <a:prstGeom prst="ellipse">
            <a:avLst/>
          </a:prstGeom>
          <a:solidFill>
            <a:srgbClr val="1E7145">
              <a:alpha val="45000"/>
            </a:srgbClr>
          </a:solidFill>
          <a:ln/>
        </p:spPr>
      </p:sp>
      <p:sp>
        <p:nvSpPr>
          <p:cNvPr id="3" name="Shape 1"/>
          <p:cNvSpPr/>
          <p:nvPr/>
        </p:nvSpPr>
        <p:spPr>
          <a:xfrm>
            <a:off x="9814255" y="4480560"/>
            <a:ext cx="3657600" cy="3657600"/>
          </a:xfrm>
          <a:prstGeom prst="ellipse">
            <a:avLst/>
          </a:prstGeom>
          <a:solidFill>
            <a:srgbClr val="2E8B57">
              <a:alpha val="40000"/>
            </a:srgbClr>
          </a:solidFill>
          <a:ln/>
        </p:spPr>
      </p:sp>
      <p:sp>
        <p:nvSpPr>
          <p:cNvPr id="4" name="Text 2"/>
          <p:cNvSpPr/>
          <p:nvPr/>
        </p:nvSpPr>
        <p:spPr>
          <a:xfrm>
            <a:off x="548640" y="502920"/>
            <a:ext cx="7315200" cy="5486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Key Takeaways</a:t>
            </a:r>
            <a:endParaRPr lang="en-US" sz="3000" dirty="0"/>
          </a:p>
        </p:txBody>
      </p:sp>
      <p:sp>
        <p:nvSpPr>
          <p:cNvPr id="5" name="Shape 3"/>
          <p:cNvSpPr/>
          <p:nvPr/>
        </p:nvSpPr>
        <p:spPr>
          <a:xfrm>
            <a:off x="548640" y="1325880"/>
            <a:ext cx="2542032" cy="2194560"/>
          </a:xfrm>
          <a:prstGeom prst="roundRect">
            <a:avLst>
              <a:gd name="adj" fmla="val 3333"/>
            </a:avLst>
          </a:prstGeom>
          <a:solidFill>
            <a:srgbClr val="1E7145">
              <a:alpha val="85000"/>
            </a:srgbClr>
          </a:solidFill>
          <a:ln/>
        </p:spPr>
      </p:sp>
      <p:sp>
        <p:nvSpPr>
          <p:cNvPr id="6" name="Shape 4"/>
          <p:cNvSpPr/>
          <p:nvPr/>
        </p:nvSpPr>
        <p:spPr>
          <a:xfrm>
            <a:off x="1527048" y="1600200"/>
            <a:ext cx="585216" cy="585216"/>
          </a:xfrm>
          <a:prstGeom prst="ellipse">
            <a:avLst/>
          </a:prstGeom>
          <a:solidFill>
            <a:srgbClr val="FFFFFF"/>
          </a:solidFill>
          <a:ln/>
        </p:spPr>
      </p:sp>
      <p:pic>
        <p:nvPicPr>
          <p:cNvPr id="7" name="Image 0" descr="/home/claude/excel_pptx/icons/fill.png"/>
          <p:cNvPicPr>
            <a:picLocks noChangeAspect="1"/>
          </p:cNvPicPr>
          <p:nvPr/>
        </p:nvPicPr>
        <p:blipFill>
          <a:blip r:embed="rId3"/>
          <a:stretch>
            <a:fillRect/>
          </a:stretch>
        </p:blipFill>
        <p:spPr>
          <a:xfrm>
            <a:off x="1664208" y="1737360"/>
            <a:ext cx="310896" cy="310896"/>
          </a:xfrm>
          <a:prstGeom prst="rect">
            <a:avLst/>
          </a:prstGeom>
        </p:spPr>
      </p:pic>
      <p:sp>
        <p:nvSpPr>
          <p:cNvPr id="8" name="Text 5"/>
          <p:cNvSpPr/>
          <p:nvPr/>
        </p:nvSpPr>
        <p:spPr>
          <a:xfrm>
            <a:off x="685800" y="2331720"/>
            <a:ext cx="2267712" cy="3200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AutoFill</a:t>
            </a:r>
            <a:endParaRPr lang="en-US" sz="1400" dirty="0"/>
          </a:p>
        </p:txBody>
      </p:sp>
      <p:sp>
        <p:nvSpPr>
          <p:cNvPr id="9" name="Text 6"/>
          <p:cNvSpPr/>
          <p:nvPr/>
        </p:nvSpPr>
        <p:spPr>
          <a:xfrm>
            <a:off x="731520" y="2679192"/>
            <a:ext cx="2176272" cy="777240"/>
          </a:xfrm>
          <a:prstGeom prst="rect">
            <a:avLst/>
          </a:prstGeom>
          <a:noFill/>
          <a:ln/>
        </p:spPr>
        <p:txBody>
          <a:bodyPr wrap="square" rtlCol="0" anchor="t"/>
          <a:lstStyle/>
          <a:p>
            <a:pPr marL="0" indent="0" algn="ctr">
              <a:buNone/>
            </a:pPr>
            <a:r>
              <a:rPr lang="en-US" sz="1050" dirty="0">
                <a:solidFill>
                  <a:srgbClr val="C9E6D4"/>
                </a:solidFill>
                <a:latin typeface="Calibri" pitchFamily="34" charset="0"/>
                <a:ea typeface="Calibri" pitchFamily="34" charset="-122"/>
                <a:cs typeface="Calibri" pitchFamily="34" charset="-120"/>
              </a:rPr>
              <a:t>Drag the fill handle to complete patterns, dates, and series instantly.</a:t>
            </a:r>
            <a:endParaRPr lang="en-US" sz="1050" dirty="0"/>
          </a:p>
        </p:txBody>
      </p:sp>
      <p:sp>
        <p:nvSpPr>
          <p:cNvPr id="10" name="Shape 7"/>
          <p:cNvSpPr/>
          <p:nvPr/>
        </p:nvSpPr>
        <p:spPr>
          <a:xfrm>
            <a:off x="3273552" y="1325880"/>
            <a:ext cx="2542032" cy="2194560"/>
          </a:xfrm>
          <a:prstGeom prst="roundRect">
            <a:avLst>
              <a:gd name="adj" fmla="val 3333"/>
            </a:avLst>
          </a:prstGeom>
          <a:solidFill>
            <a:srgbClr val="1E7145">
              <a:alpha val="85000"/>
            </a:srgbClr>
          </a:solidFill>
          <a:ln/>
        </p:spPr>
      </p:sp>
      <p:sp>
        <p:nvSpPr>
          <p:cNvPr id="11" name="Shape 8"/>
          <p:cNvSpPr/>
          <p:nvPr/>
        </p:nvSpPr>
        <p:spPr>
          <a:xfrm>
            <a:off x="4251960" y="1600200"/>
            <a:ext cx="585216" cy="585216"/>
          </a:xfrm>
          <a:prstGeom prst="ellipse">
            <a:avLst/>
          </a:prstGeom>
          <a:solidFill>
            <a:srgbClr val="FFFFFF"/>
          </a:solidFill>
          <a:ln/>
        </p:spPr>
      </p:sp>
      <p:pic>
        <p:nvPicPr>
          <p:cNvPr id="12" name="Image 1" descr="/home/claude/excel_pptx/icons/list.png"/>
          <p:cNvPicPr>
            <a:picLocks noChangeAspect="1"/>
          </p:cNvPicPr>
          <p:nvPr/>
        </p:nvPicPr>
        <p:blipFill>
          <a:blip r:embed="rId4"/>
          <a:stretch>
            <a:fillRect/>
          </a:stretch>
        </p:blipFill>
        <p:spPr>
          <a:xfrm>
            <a:off x="4389120" y="1737360"/>
            <a:ext cx="310896" cy="310896"/>
          </a:xfrm>
          <a:prstGeom prst="rect">
            <a:avLst/>
          </a:prstGeom>
        </p:spPr>
      </p:pic>
      <p:sp>
        <p:nvSpPr>
          <p:cNvPr id="13" name="Text 9"/>
          <p:cNvSpPr/>
          <p:nvPr/>
        </p:nvSpPr>
        <p:spPr>
          <a:xfrm>
            <a:off x="3410712" y="2331720"/>
            <a:ext cx="2267712" cy="3200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Custom Lists</a:t>
            </a:r>
            <a:endParaRPr lang="en-US" sz="1400" dirty="0"/>
          </a:p>
        </p:txBody>
      </p:sp>
      <p:sp>
        <p:nvSpPr>
          <p:cNvPr id="14" name="Text 10"/>
          <p:cNvSpPr/>
          <p:nvPr/>
        </p:nvSpPr>
        <p:spPr>
          <a:xfrm>
            <a:off x="3456432" y="2679192"/>
            <a:ext cx="2176272" cy="777240"/>
          </a:xfrm>
          <a:prstGeom prst="rect">
            <a:avLst/>
          </a:prstGeom>
          <a:noFill/>
          <a:ln/>
        </p:spPr>
        <p:txBody>
          <a:bodyPr wrap="square" rtlCol="0" anchor="t"/>
          <a:lstStyle/>
          <a:p>
            <a:pPr marL="0" indent="0" algn="ctr">
              <a:buNone/>
            </a:pPr>
            <a:r>
              <a:rPr lang="en-US" sz="1050" dirty="0">
                <a:solidFill>
                  <a:srgbClr val="C9E6D4"/>
                </a:solidFill>
                <a:latin typeface="Calibri" pitchFamily="34" charset="0"/>
                <a:ea typeface="Calibri" pitchFamily="34" charset="-122"/>
                <a:cs typeface="Calibri" pitchFamily="34" charset="-120"/>
              </a:rPr>
              <a:t>Save your own sequences so AutoFill follows your custom order.</a:t>
            </a:r>
            <a:endParaRPr lang="en-US" sz="1050" dirty="0"/>
          </a:p>
        </p:txBody>
      </p:sp>
      <p:sp>
        <p:nvSpPr>
          <p:cNvPr id="15" name="Shape 11"/>
          <p:cNvSpPr/>
          <p:nvPr/>
        </p:nvSpPr>
        <p:spPr>
          <a:xfrm>
            <a:off x="5998464" y="1325880"/>
            <a:ext cx="2542032" cy="2194560"/>
          </a:xfrm>
          <a:prstGeom prst="roundRect">
            <a:avLst>
              <a:gd name="adj" fmla="val 3333"/>
            </a:avLst>
          </a:prstGeom>
          <a:solidFill>
            <a:srgbClr val="1E7145">
              <a:alpha val="85000"/>
            </a:srgbClr>
          </a:solidFill>
          <a:ln/>
        </p:spPr>
      </p:sp>
      <p:sp>
        <p:nvSpPr>
          <p:cNvPr id="16" name="Shape 12"/>
          <p:cNvSpPr/>
          <p:nvPr/>
        </p:nvSpPr>
        <p:spPr>
          <a:xfrm>
            <a:off x="6976872" y="1600200"/>
            <a:ext cx="585216" cy="585216"/>
          </a:xfrm>
          <a:prstGeom prst="ellipse">
            <a:avLst/>
          </a:prstGeom>
          <a:solidFill>
            <a:srgbClr val="FFFFFF"/>
          </a:solidFill>
          <a:ln/>
        </p:spPr>
      </p:sp>
      <p:pic>
        <p:nvPicPr>
          <p:cNvPr id="17" name="Image 2" descr="/home/claude/excel_pptx/icons/group.png"/>
          <p:cNvPicPr>
            <a:picLocks noChangeAspect="1"/>
          </p:cNvPicPr>
          <p:nvPr/>
        </p:nvPicPr>
        <p:blipFill>
          <a:blip r:embed="rId5"/>
          <a:stretch>
            <a:fillRect/>
          </a:stretch>
        </p:blipFill>
        <p:spPr>
          <a:xfrm>
            <a:off x="7114032" y="1737360"/>
            <a:ext cx="310896" cy="310896"/>
          </a:xfrm>
          <a:prstGeom prst="rect">
            <a:avLst/>
          </a:prstGeom>
        </p:spPr>
      </p:pic>
      <p:sp>
        <p:nvSpPr>
          <p:cNvPr id="18" name="Text 13"/>
          <p:cNvSpPr/>
          <p:nvPr/>
        </p:nvSpPr>
        <p:spPr>
          <a:xfrm>
            <a:off x="6135624" y="2331720"/>
            <a:ext cx="2267712" cy="3200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Merging</a:t>
            </a:r>
            <a:endParaRPr lang="en-US" sz="1400" dirty="0"/>
          </a:p>
        </p:txBody>
      </p:sp>
      <p:sp>
        <p:nvSpPr>
          <p:cNvPr id="19" name="Text 14"/>
          <p:cNvSpPr/>
          <p:nvPr/>
        </p:nvSpPr>
        <p:spPr>
          <a:xfrm>
            <a:off x="6181344" y="2679192"/>
            <a:ext cx="2176272" cy="777240"/>
          </a:xfrm>
          <a:prstGeom prst="rect">
            <a:avLst/>
          </a:prstGeom>
          <a:noFill/>
          <a:ln/>
        </p:spPr>
        <p:txBody>
          <a:bodyPr wrap="square" rtlCol="0" anchor="t"/>
          <a:lstStyle/>
          <a:p>
            <a:pPr marL="0" indent="0" algn="ctr">
              <a:buNone/>
            </a:pPr>
            <a:r>
              <a:rPr lang="en-US" sz="1050" dirty="0">
                <a:solidFill>
                  <a:srgbClr val="C9E6D4"/>
                </a:solidFill>
                <a:latin typeface="Calibri" pitchFamily="34" charset="0"/>
                <a:ea typeface="Calibri" pitchFamily="34" charset="-122"/>
                <a:cs typeface="Calibri" pitchFamily="34" charset="-120"/>
              </a:rPr>
              <a:t>Merge &amp; Center joins cells for headers — use carefully to avoid formula issues.</a:t>
            </a:r>
            <a:endParaRPr lang="en-US" sz="1050" dirty="0"/>
          </a:p>
        </p:txBody>
      </p:sp>
      <p:sp>
        <p:nvSpPr>
          <p:cNvPr id="20" name="Shape 15"/>
          <p:cNvSpPr/>
          <p:nvPr/>
        </p:nvSpPr>
        <p:spPr>
          <a:xfrm>
            <a:off x="8723376" y="1325880"/>
            <a:ext cx="2542032" cy="2194560"/>
          </a:xfrm>
          <a:prstGeom prst="roundRect">
            <a:avLst>
              <a:gd name="adj" fmla="val 3333"/>
            </a:avLst>
          </a:prstGeom>
          <a:solidFill>
            <a:srgbClr val="1E7145">
              <a:alpha val="85000"/>
            </a:srgbClr>
          </a:solidFill>
          <a:ln/>
        </p:spPr>
      </p:sp>
      <p:sp>
        <p:nvSpPr>
          <p:cNvPr id="21" name="Shape 16"/>
          <p:cNvSpPr/>
          <p:nvPr/>
        </p:nvSpPr>
        <p:spPr>
          <a:xfrm>
            <a:off x="9701784" y="1600200"/>
            <a:ext cx="585216" cy="585216"/>
          </a:xfrm>
          <a:prstGeom prst="ellipse">
            <a:avLst/>
          </a:prstGeom>
          <a:solidFill>
            <a:srgbClr val="FFFFFF"/>
          </a:solidFill>
          <a:ln/>
        </p:spPr>
      </p:sp>
      <p:pic>
        <p:nvPicPr>
          <p:cNvPr id="22" name="Image 3" descr="/home/claude/excel_pptx/icons/table.png"/>
          <p:cNvPicPr>
            <a:picLocks noChangeAspect="1"/>
          </p:cNvPicPr>
          <p:nvPr/>
        </p:nvPicPr>
        <p:blipFill>
          <a:blip r:embed="rId6"/>
          <a:stretch>
            <a:fillRect/>
          </a:stretch>
        </p:blipFill>
        <p:spPr>
          <a:xfrm>
            <a:off x="9838944" y="1737360"/>
            <a:ext cx="310896" cy="310896"/>
          </a:xfrm>
          <a:prstGeom prst="rect">
            <a:avLst/>
          </a:prstGeom>
        </p:spPr>
      </p:pic>
      <p:sp>
        <p:nvSpPr>
          <p:cNvPr id="23" name="Text 17"/>
          <p:cNvSpPr/>
          <p:nvPr/>
        </p:nvSpPr>
        <p:spPr>
          <a:xfrm>
            <a:off x="8860536" y="2331720"/>
            <a:ext cx="2267712" cy="3200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Table Magic</a:t>
            </a:r>
            <a:endParaRPr lang="en-US" sz="1400" dirty="0"/>
          </a:p>
        </p:txBody>
      </p:sp>
      <p:sp>
        <p:nvSpPr>
          <p:cNvPr id="24" name="Text 18"/>
          <p:cNvSpPr/>
          <p:nvPr/>
        </p:nvSpPr>
        <p:spPr>
          <a:xfrm>
            <a:off x="8906256" y="2679192"/>
            <a:ext cx="2176272" cy="777240"/>
          </a:xfrm>
          <a:prstGeom prst="rect">
            <a:avLst/>
          </a:prstGeom>
          <a:noFill/>
          <a:ln/>
        </p:spPr>
        <p:txBody>
          <a:bodyPr wrap="square" rtlCol="0" anchor="t"/>
          <a:lstStyle/>
          <a:p>
            <a:pPr marL="0" indent="0" algn="ctr">
              <a:buNone/>
            </a:pPr>
            <a:r>
              <a:rPr lang="en-US" sz="1050" dirty="0">
                <a:solidFill>
                  <a:srgbClr val="C9E6D4"/>
                </a:solidFill>
                <a:latin typeface="Calibri" pitchFamily="34" charset="0"/>
                <a:ea typeface="Calibri" pitchFamily="34" charset="-122"/>
                <a:cs typeface="Calibri" pitchFamily="34" charset="-120"/>
              </a:rPr>
              <a:t>Convert data with Ctrl+T for auto-filters, styles, and structured references.</a:t>
            </a:r>
            <a:endParaRPr lang="en-US" sz="1050" dirty="0"/>
          </a:p>
        </p:txBody>
      </p:sp>
      <p:sp>
        <p:nvSpPr>
          <p:cNvPr id="25" name="Text 19"/>
          <p:cNvSpPr/>
          <p:nvPr/>
        </p:nvSpPr>
        <p:spPr>
          <a:xfrm>
            <a:off x="548640" y="3840480"/>
            <a:ext cx="11094415" cy="411480"/>
          </a:xfrm>
          <a:prstGeom prst="rect">
            <a:avLst/>
          </a:prstGeom>
          <a:noFill/>
          <a:ln/>
        </p:spPr>
        <p:txBody>
          <a:bodyPr wrap="square" rtlCol="0" anchor="ctr"/>
          <a:lstStyle/>
          <a:p>
            <a:pPr marL="0" indent="0" algn="ctr">
              <a:buNone/>
            </a:pPr>
            <a:r>
              <a:rPr lang="en-US" sz="1400" i="1" dirty="0">
                <a:solidFill>
                  <a:srgbClr val="9FC9AE"/>
                </a:solidFill>
                <a:latin typeface="Calibri" pitchFamily="34" charset="0"/>
                <a:ea typeface="Calibri" pitchFamily="34" charset="-122"/>
                <a:cs typeface="Calibri" pitchFamily="34" charset="-120"/>
              </a:rPr>
              <a:t>Practice these features daily — they save hours of work!</a:t>
            </a:r>
            <a:endParaRPr lang="en-US" sz="1400" dirty="0"/>
          </a:p>
        </p:txBody>
      </p:sp>
      <p:sp>
        <p:nvSpPr>
          <p:cNvPr id="26" name="Shape 20"/>
          <p:cNvSpPr/>
          <p:nvPr/>
        </p:nvSpPr>
        <p:spPr>
          <a:xfrm>
            <a:off x="5638648" y="4434840"/>
            <a:ext cx="914400" cy="914400"/>
          </a:xfrm>
          <a:prstGeom prst="ellipse">
            <a:avLst/>
          </a:prstGeom>
          <a:solidFill>
            <a:srgbClr val="FFFFFF"/>
          </a:solidFill>
          <a:ln/>
        </p:spPr>
      </p:sp>
      <p:pic>
        <p:nvPicPr>
          <p:cNvPr id="27" name="Image 4" descr="/home/claude/excel_pptx/icons/check.png"/>
          <p:cNvPicPr>
            <a:picLocks noChangeAspect="1"/>
          </p:cNvPicPr>
          <p:nvPr/>
        </p:nvPicPr>
        <p:blipFill>
          <a:blip r:embed="rId7"/>
          <a:stretch>
            <a:fillRect/>
          </a:stretch>
        </p:blipFill>
        <p:spPr>
          <a:xfrm>
            <a:off x="5848960" y="4645152"/>
            <a:ext cx="493776" cy="493776"/>
          </a:xfrm>
          <a:prstGeom prst="rect">
            <a:avLst/>
          </a:prstGeom>
        </p:spPr>
      </p:pic>
      <p:sp>
        <p:nvSpPr>
          <p:cNvPr id="28" name="Text 21"/>
          <p:cNvSpPr/>
          <p:nvPr/>
        </p:nvSpPr>
        <p:spPr>
          <a:xfrm>
            <a:off x="548640" y="5394960"/>
            <a:ext cx="11094415" cy="502920"/>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Thank You</a:t>
            </a:r>
            <a:endParaRPr lang="en-US" sz="2600" dirty="0"/>
          </a:p>
        </p:txBody>
      </p:sp>
      <p:sp>
        <p:nvSpPr>
          <p:cNvPr id="29" name="Text 22"/>
          <p:cNvSpPr/>
          <p:nvPr/>
        </p:nvSpPr>
        <p:spPr>
          <a:xfrm>
            <a:off x="548640" y="5897880"/>
            <a:ext cx="11094415" cy="365760"/>
          </a:xfrm>
          <a:prstGeom prst="rect">
            <a:avLst/>
          </a:prstGeom>
          <a:noFill/>
          <a:ln/>
        </p:spPr>
        <p:txBody>
          <a:bodyPr wrap="square" rtlCol="0" anchor="ctr"/>
          <a:lstStyle/>
          <a:p>
            <a:pPr marL="0" indent="0" algn="ctr">
              <a:buNone/>
            </a:pP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1017</Words>
  <Application>Microsoft Office PowerPoint</Application>
  <PresentationFormat>Widescreen</PresentationFormat>
  <Paragraphs>143</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 Magic Report</dc:title>
  <dc:subject>PptxGenJS Presentation</dc:subject>
  <dc:creator>Student</dc:creator>
  <cp:lastModifiedBy>visxnugosali123@gmail.com</cp:lastModifiedBy>
  <cp:revision>2</cp:revision>
  <dcterms:created xsi:type="dcterms:W3CDTF">2026-06-20T07:50:40Z</dcterms:created>
  <dcterms:modified xsi:type="dcterms:W3CDTF">2026-06-20T08:08:16Z</dcterms:modified>
</cp:coreProperties>
</file>